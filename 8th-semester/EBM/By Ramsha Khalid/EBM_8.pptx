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93"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94" r:id="rId27"/>
    <p:sldId id="280" r:id="rId28"/>
    <p:sldId id="283" r:id="rId29"/>
    <p:sldId id="284" r:id="rId30"/>
    <p:sldId id="295" r:id="rId31"/>
    <p:sldId id="286" r:id="rId32"/>
    <p:sldId id="287" r:id="rId33"/>
    <p:sldId id="288" r:id="rId34"/>
    <p:sldId id="289" r:id="rId35"/>
    <p:sldId id="290" r:id="rId36"/>
    <p:sldId id="291" r:id="rId37"/>
    <p:sldId id="292" r:id="rId38"/>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320" y="1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4/9/2023</a:t>
            </a:fld>
            <a:endParaRPr lang="en-US"/>
          </a:p>
        </p:txBody>
      </p:sp>
      <p:sp>
        <p:nvSpPr>
          <p:cNvPr id="6" name="Holder 6"/>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7-1</a:t>
            </a:r>
            <a:fld id="{81D60167-4931-47E6-BA6A-407CBD079E47}" type="slidenum">
              <a:rPr spc="15" dirty="0"/>
              <a:t>‹#›</a:t>
            </a:fld>
            <a:endParaRPr spc="1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6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4/9/2023</a:t>
            </a:fld>
            <a:endParaRPr lang="en-US"/>
          </a:p>
        </p:txBody>
      </p:sp>
      <p:sp>
        <p:nvSpPr>
          <p:cNvPr id="6" name="Holder 6"/>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7-1</a:t>
            </a:r>
            <a:fld id="{81D60167-4931-47E6-BA6A-407CBD079E47}" type="slidenum">
              <a:rPr spc="15" dirty="0"/>
              <a:t>‹#›</a:t>
            </a:fld>
            <a:endParaRPr spc="1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4/9/2023</a:t>
            </a:fld>
            <a:endParaRPr lang="en-US"/>
          </a:p>
        </p:txBody>
      </p:sp>
      <p:sp>
        <p:nvSpPr>
          <p:cNvPr id="7" name="Holder 7"/>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7-1</a:t>
            </a:r>
            <a:fld id="{81D60167-4931-47E6-BA6A-407CBD079E47}" type="slidenum">
              <a:rPr spc="15" dirty="0"/>
              <a:t>‹#›</a:t>
            </a:fld>
            <a:endParaRPr spc="1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4/9/2023</a:t>
            </a:fld>
            <a:endParaRPr lang="en-US"/>
          </a:p>
        </p:txBody>
      </p:sp>
      <p:sp>
        <p:nvSpPr>
          <p:cNvPr id="5" name="Holder 5"/>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7-1</a:t>
            </a:r>
            <a:fld id="{81D60167-4931-47E6-BA6A-407CBD079E47}" type="slidenum">
              <a:rPr spc="15" dirty="0"/>
              <a:t>‹#›</a:t>
            </a:fld>
            <a:endParaRPr spc="1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4/9/2023</a:t>
            </a:fld>
            <a:endParaRPr lang="en-US"/>
          </a:p>
        </p:txBody>
      </p:sp>
      <p:sp>
        <p:nvSpPr>
          <p:cNvPr id="4" name="Holder 4"/>
          <p:cNvSpPr>
            <a:spLocks noGrp="1"/>
          </p:cNvSpPr>
          <p:nvPr>
            <p:ph type="sldNum" sz="quarter" idx="7"/>
          </p:nvPr>
        </p:nvSpPr>
        <p:spPr/>
        <p:txBody>
          <a:bodyPr lIns="0" tIns="0" rIns="0" bIns="0"/>
          <a:lstStyle>
            <a:lvl1pPr>
              <a:defRPr sz="1500" b="0" i="0">
                <a:solidFill>
                  <a:schemeClr val="tx1"/>
                </a:solidFill>
                <a:latin typeface="Arial MT"/>
                <a:cs typeface="Arial MT"/>
              </a:defRPr>
            </a:lvl1pPr>
          </a:lstStyle>
          <a:p>
            <a:pPr marL="12700">
              <a:lnSpc>
                <a:spcPts val="1789"/>
              </a:lnSpc>
            </a:pPr>
            <a:r>
              <a:rPr spc="15" dirty="0"/>
              <a:t>7-1</a:t>
            </a:r>
            <a:fld id="{81D60167-4931-47E6-BA6A-407CBD079E47}" type="slidenum">
              <a:rPr spc="15" dirty="0"/>
              <a:t>‹#›</a:t>
            </a:fld>
            <a:endParaRPr spc="1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14300"/>
            <a:ext cx="10058400" cy="7543800"/>
          </a:xfrm>
          <a:prstGeom prst="rect">
            <a:avLst/>
          </a:prstGeom>
        </p:spPr>
      </p:pic>
      <p:sp>
        <p:nvSpPr>
          <p:cNvPr id="2" name="Holder 2"/>
          <p:cNvSpPr>
            <a:spLocks noGrp="1"/>
          </p:cNvSpPr>
          <p:nvPr>
            <p:ph type="title"/>
          </p:nvPr>
        </p:nvSpPr>
        <p:spPr>
          <a:xfrm>
            <a:off x="1426075" y="110820"/>
            <a:ext cx="7206249" cy="1574800"/>
          </a:xfrm>
          <a:prstGeom prst="rect">
            <a:avLst/>
          </a:prstGeom>
        </p:spPr>
        <p:txBody>
          <a:bodyPr wrap="square" lIns="0" tIns="0" rIns="0" bIns="0">
            <a:spAutoFit/>
          </a:bodyPr>
          <a:lstStyle>
            <a:lvl1pPr>
              <a:defRPr sz="395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111183" y="1899937"/>
            <a:ext cx="5520690" cy="4451350"/>
          </a:xfrm>
          <a:prstGeom prst="rect">
            <a:avLst/>
          </a:prstGeom>
        </p:spPr>
        <p:txBody>
          <a:bodyPr wrap="square" lIns="0" tIns="0" rIns="0" bIns="0">
            <a:spAutoFit/>
          </a:bodyPr>
          <a:lstStyle>
            <a:lvl1pPr>
              <a:defRPr sz="26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072377" y="7191899"/>
            <a:ext cx="1513205" cy="212725"/>
          </a:xfrm>
          <a:prstGeom prst="rect">
            <a:avLst/>
          </a:prstGeom>
        </p:spPr>
        <p:txBody>
          <a:bodyPr wrap="square" lIns="0" tIns="0" rIns="0" bIns="0">
            <a:spAutoFit/>
          </a:bodyPr>
          <a:lstStyle>
            <a:lvl1pPr>
              <a:defRPr sz="1300" b="0" i="0">
                <a:solidFill>
                  <a:schemeClr val="tx1"/>
                </a:solidFill>
                <a:latin typeface="Arial MT"/>
                <a:cs typeface="Arial MT"/>
              </a:defRPr>
            </a:lvl1pPr>
          </a:lstStyle>
          <a:p>
            <a:pPr marL="12700">
              <a:lnSpc>
                <a:spcPts val="1555"/>
              </a:lnSpc>
            </a:pPr>
            <a:r>
              <a:rPr spc="5" dirty="0"/>
              <a:t>©2010</a:t>
            </a:r>
            <a:r>
              <a:rPr spc="-25" dirty="0"/>
              <a:t> </a:t>
            </a:r>
            <a:r>
              <a:rPr spc="5" dirty="0"/>
              <a:t>Prentice</a:t>
            </a:r>
            <a:r>
              <a:rPr spc="-35" dirty="0"/>
              <a:t> </a:t>
            </a:r>
            <a:r>
              <a:rPr dirty="0"/>
              <a:t>Hall</a:t>
            </a: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4/9/2023</a:t>
            </a:fld>
            <a:endParaRPr lang="en-US"/>
          </a:p>
        </p:txBody>
      </p:sp>
      <p:sp>
        <p:nvSpPr>
          <p:cNvPr id="6" name="Holder 6"/>
          <p:cNvSpPr>
            <a:spLocks noGrp="1"/>
          </p:cNvSpPr>
          <p:nvPr>
            <p:ph type="sldNum" sz="quarter" idx="7"/>
          </p:nvPr>
        </p:nvSpPr>
        <p:spPr>
          <a:xfrm>
            <a:off x="9050515" y="7185318"/>
            <a:ext cx="442595" cy="243840"/>
          </a:xfrm>
          <a:prstGeom prst="rect">
            <a:avLst/>
          </a:prstGeom>
        </p:spPr>
        <p:txBody>
          <a:bodyPr wrap="square" lIns="0" tIns="0" rIns="0" bIns="0">
            <a:spAutoFit/>
          </a:bodyPr>
          <a:lstStyle>
            <a:lvl1pPr>
              <a:defRPr sz="1500" b="0" i="0">
                <a:solidFill>
                  <a:schemeClr val="tx1"/>
                </a:solidFill>
                <a:latin typeface="Arial MT"/>
                <a:cs typeface="Arial MT"/>
              </a:defRPr>
            </a:lvl1pPr>
          </a:lstStyle>
          <a:p>
            <a:pPr marL="12700">
              <a:lnSpc>
                <a:spcPts val="1789"/>
              </a:lnSpc>
            </a:pPr>
            <a:r>
              <a:rPr spc="15" dirty="0"/>
              <a:t>7-1</a:t>
            </a:r>
            <a:fld id="{81D60167-4931-47E6-BA6A-407CBD079E47}" type="slidenum">
              <a:rPr spc="15" dirty="0"/>
              <a:t>‹#›</a:t>
            </a:fld>
            <a:endParaRPr spc="1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338327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3" name="object 3"/>
          <p:cNvSpPr txBox="1">
            <a:spLocks noGrp="1"/>
          </p:cNvSpPr>
          <p:nvPr>
            <p:ph type="title"/>
          </p:nvPr>
        </p:nvSpPr>
        <p:spPr>
          <a:xfrm>
            <a:off x="3411809" y="1805475"/>
            <a:ext cx="2647315" cy="830580"/>
          </a:xfrm>
          <a:prstGeom prst="rect">
            <a:avLst/>
          </a:prstGeom>
        </p:spPr>
        <p:txBody>
          <a:bodyPr vert="horz" wrap="square" lIns="0" tIns="16510" rIns="0" bIns="0" rtlCol="0">
            <a:spAutoFit/>
          </a:bodyPr>
          <a:lstStyle/>
          <a:p>
            <a:pPr marL="12700">
              <a:lnSpc>
                <a:spcPct val="100000"/>
              </a:lnSpc>
              <a:spcBef>
                <a:spcPts val="130"/>
              </a:spcBef>
            </a:pPr>
            <a:r>
              <a:rPr sz="5250" spc="10" dirty="0"/>
              <a:t>Chapter</a:t>
            </a:r>
            <a:r>
              <a:rPr sz="5250" spc="-105" dirty="0"/>
              <a:t> </a:t>
            </a:r>
            <a:r>
              <a:rPr sz="5250" spc="15" dirty="0"/>
              <a:t>7</a:t>
            </a:r>
            <a:endParaRPr sz="5250"/>
          </a:p>
        </p:txBody>
      </p:sp>
      <p:sp>
        <p:nvSpPr>
          <p:cNvPr id="4" name="object 4"/>
          <p:cNvSpPr txBox="1"/>
          <p:nvPr/>
        </p:nvSpPr>
        <p:spPr>
          <a:xfrm>
            <a:off x="3137429" y="3823297"/>
            <a:ext cx="4117340" cy="3047365"/>
          </a:xfrm>
          <a:prstGeom prst="rect">
            <a:avLst/>
          </a:prstGeom>
        </p:spPr>
        <p:txBody>
          <a:bodyPr vert="horz" wrap="square" lIns="0" tIns="12700" rIns="0" bIns="0" rtlCol="0">
            <a:spAutoFit/>
          </a:bodyPr>
          <a:lstStyle/>
          <a:p>
            <a:pPr marL="12700" marR="5080" indent="1905" algn="ctr">
              <a:lnSpc>
                <a:spcPct val="100200"/>
              </a:lnSpc>
              <a:spcBef>
                <a:spcPts val="100"/>
              </a:spcBef>
            </a:pPr>
            <a:r>
              <a:rPr sz="3950" b="1" spc="-10" dirty="0">
                <a:latin typeface="Times New Roman"/>
                <a:cs typeface="Times New Roman"/>
              </a:rPr>
              <a:t>Preparing</a:t>
            </a:r>
            <a:r>
              <a:rPr sz="3950" b="1" spc="30" dirty="0">
                <a:latin typeface="Times New Roman"/>
                <a:cs typeface="Times New Roman"/>
              </a:rPr>
              <a:t> </a:t>
            </a:r>
            <a:r>
              <a:rPr sz="3950" b="1" dirty="0">
                <a:latin typeface="Times New Roman"/>
                <a:cs typeface="Times New Roman"/>
              </a:rPr>
              <a:t>the </a:t>
            </a:r>
            <a:r>
              <a:rPr sz="3950" b="1" spc="5" dirty="0">
                <a:latin typeface="Times New Roman"/>
                <a:cs typeface="Times New Roman"/>
              </a:rPr>
              <a:t> </a:t>
            </a:r>
            <a:r>
              <a:rPr sz="3950" b="1" spc="-10" dirty="0">
                <a:latin typeface="Times New Roman"/>
                <a:cs typeface="Times New Roman"/>
              </a:rPr>
              <a:t>Proper</a:t>
            </a:r>
            <a:r>
              <a:rPr sz="3950" b="1" spc="-85" dirty="0">
                <a:latin typeface="Times New Roman"/>
                <a:cs typeface="Times New Roman"/>
              </a:rPr>
              <a:t> </a:t>
            </a:r>
            <a:r>
              <a:rPr sz="3950" b="1" spc="-5" dirty="0">
                <a:latin typeface="Times New Roman"/>
                <a:cs typeface="Times New Roman"/>
              </a:rPr>
              <a:t>Ethical</a:t>
            </a:r>
            <a:r>
              <a:rPr sz="3950" b="1" spc="-15" dirty="0">
                <a:latin typeface="Times New Roman"/>
                <a:cs typeface="Times New Roman"/>
              </a:rPr>
              <a:t> </a:t>
            </a:r>
            <a:r>
              <a:rPr sz="3950" b="1" spc="10" dirty="0">
                <a:latin typeface="Times New Roman"/>
                <a:cs typeface="Times New Roman"/>
              </a:rPr>
              <a:t>and </a:t>
            </a:r>
            <a:r>
              <a:rPr sz="3950" b="1" spc="-969" dirty="0">
                <a:latin typeface="Times New Roman"/>
                <a:cs typeface="Times New Roman"/>
              </a:rPr>
              <a:t> </a:t>
            </a:r>
            <a:r>
              <a:rPr sz="3950" b="1" dirty="0">
                <a:latin typeface="Times New Roman"/>
                <a:cs typeface="Times New Roman"/>
              </a:rPr>
              <a:t>Legal</a:t>
            </a:r>
            <a:r>
              <a:rPr sz="3950" b="1" spc="-10" dirty="0">
                <a:latin typeface="Times New Roman"/>
                <a:cs typeface="Times New Roman"/>
              </a:rPr>
              <a:t> </a:t>
            </a:r>
            <a:r>
              <a:rPr sz="3950" b="1" spc="5" dirty="0">
                <a:latin typeface="Times New Roman"/>
                <a:cs typeface="Times New Roman"/>
              </a:rPr>
              <a:t>Foundation</a:t>
            </a:r>
            <a:endParaRPr sz="3950">
              <a:latin typeface="Times New Roman"/>
              <a:cs typeface="Times New Roman"/>
            </a:endParaRPr>
          </a:p>
          <a:p>
            <a:pPr marL="779145">
              <a:lnSpc>
                <a:spcPct val="100000"/>
              </a:lnSpc>
              <a:spcBef>
                <a:spcPts val="1610"/>
              </a:spcBef>
            </a:pPr>
            <a:r>
              <a:rPr sz="2650" spc="-5" dirty="0">
                <a:latin typeface="Times New Roman"/>
                <a:cs typeface="Times New Roman"/>
              </a:rPr>
              <a:t>Bruce</a:t>
            </a:r>
            <a:r>
              <a:rPr sz="2650" spc="-35" dirty="0">
                <a:latin typeface="Times New Roman"/>
                <a:cs typeface="Times New Roman"/>
              </a:rPr>
              <a:t> </a:t>
            </a:r>
            <a:r>
              <a:rPr sz="2650" spc="-15" dirty="0">
                <a:latin typeface="Times New Roman"/>
                <a:cs typeface="Times New Roman"/>
              </a:rPr>
              <a:t>R.</a:t>
            </a:r>
            <a:r>
              <a:rPr sz="2650" spc="-20" dirty="0">
                <a:latin typeface="Times New Roman"/>
                <a:cs typeface="Times New Roman"/>
              </a:rPr>
              <a:t> </a:t>
            </a:r>
            <a:r>
              <a:rPr sz="2650" spc="-10" dirty="0">
                <a:latin typeface="Times New Roman"/>
                <a:cs typeface="Times New Roman"/>
              </a:rPr>
              <a:t>Barringer</a:t>
            </a:r>
            <a:endParaRPr sz="2650">
              <a:latin typeface="Times New Roman"/>
              <a:cs typeface="Times New Roman"/>
            </a:endParaRPr>
          </a:p>
          <a:p>
            <a:pPr marL="908685">
              <a:lnSpc>
                <a:spcPct val="100000"/>
              </a:lnSpc>
              <a:spcBef>
                <a:spcPts val="1570"/>
              </a:spcBef>
            </a:pPr>
            <a:r>
              <a:rPr sz="2650" spc="-5" dirty="0">
                <a:latin typeface="Times New Roman"/>
                <a:cs typeface="Times New Roman"/>
              </a:rPr>
              <a:t>R.</a:t>
            </a:r>
            <a:r>
              <a:rPr sz="2650" spc="-25" dirty="0">
                <a:latin typeface="Times New Roman"/>
                <a:cs typeface="Times New Roman"/>
              </a:rPr>
              <a:t> </a:t>
            </a:r>
            <a:r>
              <a:rPr sz="2650" spc="-5" dirty="0">
                <a:latin typeface="Times New Roman"/>
                <a:cs typeface="Times New Roman"/>
              </a:rPr>
              <a:t>Duane</a:t>
            </a:r>
            <a:r>
              <a:rPr sz="2650" spc="-35" dirty="0">
                <a:latin typeface="Times New Roman"/>
                <a:cs typeface="Times New Roman"/>
              </a:rPr>
              <a:t> </a:t>
            </a:r>
            <a:r>
              <a:rPr sz="2650" spc="-10" dirty="0">
                <a:latin typeface="Times New Roman"/>
                <a:cs typeface="Times New Roman"/>
              </a:rPr>
              <a:t>Ireland</a:t>
            </a:r>
            <a:endParaRPr sz="2650">
              <a:latin typeface="Times New Roman"/>
              <a:cs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Chapter</a:t>
            </a:r>
            <a:r>
              <a:rPr spc="-15" dirty="0"/>
              <a:t> </a:t>
            </a:r>
            <a:r>
              <a:rPr spc="-5" dirty="0"/>
              <a:t>Objectives</a:t>
            </a:r>
          </a:p>
          <a:p>
            <a:pPr algn="ctr">
              <a:lnSpc>
                <a:spcPct val="100000"/>
              </a:lnSpc>
              <a:spcBef>
                <a:spcPts val="55"/>
              </a:spcBef>
            </a:pPr>
            <a:r>
              <a:rPr sz="2200" spc="-5" dirty="0"/>
              <a:t>1</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51161"/>
            <a:ext cx="8822690" cy="4672965"/>
          </a:xfrm>
          <a:prstGeom prst="rect">
            <a:avLst/>
          </a:prstGeom>
        </p:spPr>
        <p:txBody>
          <a:bodyPr vert="horz" wrap="square" lIns="0" tIns="66675" rIns="0" bIns="0" rtlCol="0">
            <a:spAutoFit/>
          </a:bodyPr>
          <a:lstStyle/>
          <a:p>
            <a:pPr marL="682625" marR="5080" indent="-670560">
              <a:lnSpc>
                <a:spcPts val="3320"/>
              </a:lnSpc>
              <a:spcBef>
                <a:spcPts val="525"/>
              </a:spcBef>
              <a:buAutoNum type="arabicPeriod"/>
              <a:tabLst>
                <a:tab pos="681990" algn="l"/>
                <a:tab pos="682625" algn="l"/>
              </a:tabLst>
            </a:pPr>
            <a:r>
              <a:rPr sz="3050" spc="10" dirty="0">
                <a:latin typeface="Times New Roman"/>
                <a:cs typeface="Times New Roman"/>
              </a:rPr>
              <a:t>Describe</a:t>
            </a:r>
            <a:r>
              <a:rPr sz="3050" spc="-10" dirty="0">
                <a:latin typeface="Times New Roman"/>
                <a:cs typeface="Times New Roman"/>
              </a:rPr>
              <a:t> </a:t>
            </a:r>
            <a:r>
              <a:rPr sz="3050" spc="15" dirty="0">
                <a:latin typeface="Times New Roman"/>
                <a:cs typeface="Times New Roman"/>
              </a:rPr>
              <a:t>how</a:t>
            </a:r>
            <a:r>
              <a:rPr sz="3050" dirty="0">
                <a:latin typeface="Times New Roman"/>
                <a:cs typeface="Times New Roman"/>
              </a:rPr>
              <a:t> to</a:t>
            </a:r>
            <a:r>
              <a:rPr sz="3050" spc="5" dirty="0">
                <a:latin typeface="Times New Roman"/>
                <a:cs typeface="Times New Roman"/>
              </a:rPr>
              <a:t> </a:t>
            </a:r>
            <a:r>
              <a:rPr sz="3050" spc="10" dirty="0">
                <a:latin typeface="Times New Roman"/>
                <a:cs typeface="Times New Roman"/>
              </a:rPr>
              <a:t>create</a:t>
            </a:r>
            <a:r>
              <a:rPr sz="3050" spc="-5" dirty="0">
                <a:latin typeface="Times New Roman"/>
                <a:cs typeface="Times New Roman"/>
              </a:rPr>
              <a:t> </a:t>
            </a:r>
            <a:r>
              <a:rPr sz="3050" spc="15" dirty="0">
                <a:latin typeface="Times New Roman"/>
                <a:cs typeface="Times New Roman"/>
              </a:rPr>
              <a:t>a</a:t>
            </a:r>
            <a:r>
              <a:rPr sz="3050" spc="-5" dirty="0">
                <a:latin typeface="Times New Roman"/>
                <a:cs typeface="Times New Roman"/>
              </a:rPr>
              <a:t> </a:t>
            </a:r>
            <a:r>
              <a:rPr sz="3050" spc="10" dirty="0">
                <a:latin typeface="Times New Roman"/>
                <a:cs typeface="Times New Roman"/>
              </a:rPr>
              <a:t>strong</a:t>
            </a:r>
            <a:r>
              <a:rPr sz="3050" spc="-25" dirty="0">
                <a:latin typeface="Times New Roman"/>
                <a:cs typeface="Times New Roman"/>
              </a:rPr>
              <a:t> </a:t>
            </a:r>
            <a:r>
              <a:rPr sz="3050" spc="10" dirty="0">
                <a:latin typeface="Times New Roman"/>
                <a:cs typeface="Times New Roman"/>
              </a:rPr>
              <a:t>ethical</a:t>
            </a:r>
            <a:r>
              <a:rPr sz="3050" spc="-20" dirty="0">
                <a:latin typeface="Times New Roman"/>
                <a:cs typeface="Times New Roman"/>
              </a:rPr>
              <a:t> </a:t>
            </a:r>
            <a:r>
              <a:rPr sz="3050" spc="10" dirty="0">
                <a:latin typeface="Times New Roman"/>
                <a:cs typeface="Times New Roman"/>
              </a:rPr>
              <a:t>culture</a:t>
            </a:r>
            <a:r>
              <a:rPr sz="3050" spc="-5" dirty="0">
                <a:latin typeface="Times New Roman"/>
                <a:cs typeface="Times New Roman"/>
              </a:rPr>
              <a:t> </a:t>
            </a:r>
            <a:r>
              <a:rPr sz="3050" dirty="0">
                <a:latin typeface="Times New Roman"/>
                <a:cs typeface="Times New Roman"/>
              </a:rPr>
              <a:t>in</a:t>
            </a:r>
            <a:r>
              <a:rPr sz="3050" spc="5" dirty="0">
                <a:latin typeface="Times New Roman"/>
                <a:cs typeface="Times New Roman"/>
              </a:rPr>
              <a:t> </a:t>
            </a:r>
            <a:r>
              <a:rPr sz="3050" spc="20" dirty="0">
                <a:latin typeface="Times New Roman"/>
                <a:cs typeface="Times New Roman"/>
              </a:rPr>
              <a:t>an </a:t>
            </a:r>
            <a:r>
              <a:rPr sz="3050" spc="-750" dirty="0">
                <a:latin typeface="Times New Roman"/>
                <a:cs typeface="Times New Roman"/>
              </a:rPr>
              <a:t> </a:t>
            </a:r>
            <a:r>
              <a:rPr sz="3050" spc="10" dirty="0">
                <a:latin typeface="Times New Roman"/>
                <a:cs typeface="Times New Roman"/>
              </a:rPr>
              <a:t>entrepreneurial</a:t>
            </a:r>
            <a:r>
              <a:rPr sz="3050" spc="-25" dirty="0">
                <a:latin typeface="Times New Roman"/>
                <a:cs typeface="Times New Roman"/>
              </a:rPr>
              <a:t> </a:t>
            </a:r>
            <a:r>
              <a:rPr sz="3050" spc="10" dirty="0">
                <a:latin typeface="Times New Roman"/>
                <a:cs typeface="Times New Roman"/>
              </a:rPr>
              <a:t>venture.</a:t>
            </a:r>
            <a:endParaRPr sz="3050">
              <a:latin typeface="Times New Roman"/>
              <a:cs typeface="Times New Roman"/>
            </a:endParaRPr>
          </a:p>
          <a:p>
            <a:pPr marL="682625" marR="161290" indent="-670560">
              <a:lnSpc>
                <a:spcPts val="3320"/>
              </a:lnSpc>
              <a:spcBef>
                <a:spcPts val="755"/>
              </a:spcBef>
              <a:buAutoNum type="arabicPeriod"/>
              <a:tabLst>
                <a:tab pos="681990" algn="l"/>
                <a:tab pos="682625" algn="l"/>
              </a:tabLst>
            </a:pPr>
            <a:r>
              <a:rPr sz="3050" spc="10" dirty="0">
                <a:latin typeface="Times New Roman"/>
                <a:cs typeface="Times New Roman"/>
              </a:rPr>
              <a:t>Explain</a:t>
            </a:r>
            <a:r>
              <a:rPr sz="3050" dirty="0">
                <a:latin typeface="Times New Roman"/>
                <a:cs typeface="Times New Roman"/>
              </a:rPr>
              <a:t> </a:t>
            </a:r>
            <a:r>
              <a:rPr sz="3050" spc="5" dirty="0">
                <a:latin typeface="Times New Roman"/>
                <a:cs typeface="Times New Roman"/>
              </a:rPr>
              <a:t>the</a:t>
            </a:r>
            <a:r>
              <a:rPr sz="3050" spc="-10" dirty="0">
                <a:latin typeface="Times New Roman"/>
                <a:cs typeface="Times New Roman"/>
              </a:rPr>
              <a:t> </a:t>
            </a:r>
            <a:r>
              <a:rPr sz="3050" spc="15" dirty="0">
                <a:latin typeface="Times New Roman"/>
                <a:cs typeface="Times New Roman"/>
              </a:rPr>
              <a:t>importance</a:t>
            </a:r>
            <a:r>
              <a:rPr sz="3050" spc="-5" dirty="0">
                <a:latin typeface="Times New Roman"/>
                <a:cs typeface="Times New Roman"/>
              </a:rPr>
              <a:t> </a:t>
            </a:r>
            <a:r>
              <a:rPr sz="3050" spc="10" dirty="0">
                <a:latin typeface="Times New Roman"/>
                <a:cs typeface="Times New Roman"/>
              </a:rPr>
              <a:t>of</a:t>
            </a:r>
            <a:r>
              <a:rPr sz="3050" spc="-40" dirty="0">
                <a:latin typeface="Times New Roman"/>
                <a:cs typeface="Times New Roman"/>
              </a:rPr>
              <a:t> </a:t>
            </a:r>
            <a:r>
              <a:rPr sz="3050" spc="10" dirty="0">
                <a:latin typeface="Times New Roman"/>
                <a:cs typeface="Times New Roman"/>
              </a:rPr>
              <a:t>“leading</a:t>
            </a:r>
            <a:r>
              <a:rPr sz="3050" spc="-25" dirty="0">
                <a:latin typeface="Times New Roman"/>
                <a:cs typeface="Times New Roman"/>
              </a:rPr>
              <a:t> </a:t>
            </a:r>
            <a:r>
              <a:rPr sz="3050" spc="30" dirty="0">
                <a:latin typeface="Times New Roman"/>
                <a:cs typeface="Times New Roman"/>
              </a:rPr>
              <a:t>by</a:t>
            </a:r>
            <a:r>
              <a:rPr sz="3050" spc="-60" dirty="0">
                <a:latin typeface="Times New Roman"/>
                <a:cs typeface="Times New Roman"/>
              </a:rPr>
              <a:t> </a:t>
            </a:r>
            <a:r>
              <a:rPr sz="3050" spc="15" dirty="0">
                <a:latin typeface="Times New Roman"/>
                <a:cs typeface="Times New Roman"/>
              </a:rPr>
              <a:t>example”</a:t>
            </a:r>
            <a:r>
              <a:rPr sz="3050" spc="-40" dirty="0">
                <a:latin typeface="Times New Roman"/>
                <a:cs typeface="Times New Roman"/>
              </a:rPr>
              <a:t> </a:t>
            </a:r>
            <a:r>
              <a:rPr sz="3050" dirty="0">
                <a:latin typeface="Times New Roman"/>
                <a:cs typeface="Times New Roman"/>
              </a:rPr>
              <a:t>in </a:t>
            </a:r>
            <a:r>
              <a:rPr sz="3050" spc="-745" dirty="0">
                <a:latin typeface="Times New Roman"/>
                <a:cs typeface="Times New Roman"/>
              </a:rPr>
              <a:t> </a:t>
            </a:r>
            <a:r>
              <a:rPr sz="3050" spc="10" dirty="0">
                <a:latin typeface="Times New Roman"/>
                <a:cs typeface="Times New Roman"/>
              </a:rPr>
              <a:t>terms of establishing </a:t>
            </a:r>
            <a:r>
              <a:rPr sz="3050" spc="15" dirty="0">
                <a:latin typeface="Times New Roman"/>
                <a:cs typeface="Times New Roman"/>
              </a:rPr>
              <a:t>a strong </a:t>
            </a:r>
            <a:r>
              <a:rPr sz="3050" spc="5" dirty="0">
                <a:latin typeface="Times New Roman"/>
                <a:cs typeface="Times New Roman"/>
              </a:rPr>
              <a:t>ethical </a:t>
            </a:r>
            <a:r>
              <a:rPr sz="3050" spc="10" dirty="0">
                <a:latin typeface="Times New Roman"/>
                <a:cs typeface="Times New Roman"/>
              </a:rPr>
              <a:t>culture </a:t>
            </a:r>
            <a:r>
              <a:rPr sz="3050" dirty="0">
                <a:latin typeface="Times New Roman"/>
                <a:cs typeface="Times New Roman"/>
              </a:rPr>
              <a:t>in </a:t>
            </a:r>
            <a:r>
              <a:rPr sz="3050" spc="15" dirty="0">
                <a:latin typeface="Times New Roman"/>
                <a:cs typeface="Times New Roman"/>
              </a:rPr>
              <a:t>a </a:t>
            </a:r>
            <a:r>
              <a:rPr sz="3050" spc="20" dirty="0">
                <a:latin typeface="Times New Roman"/>
                <a:cs typeface="Times New Roman"/>
              </a:rPr>
              <a:t> </a:t>
            </a:r>
            <a:r>
              <a:rPr sz="3050" spc="10" dirty="0">
                <a:latin typeface="Times New Roman"/>
                <a:cs typeface="Times New Roman"/>
              </a:rPr>
              <a:t>firm.</a:t>
            </a:r>
            <a:endParaRPr sz="3050">
              <a:latin typeface="Times New Roman"/>
              <a:cs typeface="Times New Roman"/>
            </a:endParaRPr>
          </a:p>
          <a:p>
            <a:pPr marL="682625" marR="33020" indent="-670560">
              <a:lnSpc>
                <a:spcPts val="3320"/>
              </a:lnSpc>
              <a:spcBef>
                <a:spcPts val="755"/>
              </a:spcBef>
              <a:buAutoNum type="arabicPeriod"/>
              <a:tabLst>
                <a:tab pos="681990" algn="l"/>
                <a:tab pos="682625" algn="l"/>
              </a:tabLst>
            </a:pPr>
            <a:r>
              <a:rPr sz="3050" spc="10" dirty="0">
                <a:latin typeface="Times New Roman"/>
                <a:cs typeface="Times New Roman"/>
              </a:rPr>
              <a:t>Explain</a:t>
            </a:r>
            <a:r>
              <a:rPr sz="3050" dirty="0">
                <a:latin typeface="Times New Roman"/>
                <a:cs typeface="Times New Roman"/>
              </a:rPr>
              <a:t> </a:t>
            </a:r>
            <a:r>
              <a:rPr sz="3050" spc="5" dirty="0">
                <a:latin typeface="Times New Roman"/>
                <a:cs typeface="Times New Roman"/>
              </a:rPr>
              <a:t>the</a:t>
            </a:r>
            <a:r>
              <a:rPr sz="3050" spc="-5" dirty="0">
                <a:latin typeface="Times New Roman"/>
                <a:cs typeface="Times New Roman"/>
              </a:rPr>
              <a:t> </a:t>
            </a:r>
            <a:r>
              <a:rPr sz="3050" spc="15" dirty="0">
                <a:latin typeface="Times New Roman"/>
                <a:cs typeface="Times New Roman"/>
              </a:rPr>
              <a:t>importance</a:t>
            </a:r>
            <a:r>
              <a:rPr sz="3050" spc="-5" dirty="0">
                <a:latin typeface="Times New Roman"/>
                <a:cs typeface="Times New Roman"/>
              </a:rPr>
              <a:t> </a:t>
            </a:r>
            <a:r>
              <a:rPr sz="3050" spc="10" dirty="0">
                <a:latin typeface="Times New Roman"/>
                <a:cs typeface="Times New Roman"/>
              </a:rPr>
              <a:t>of</a:t>
            </a:r>
            <a:r>
              <a:rPr sz="3050" spc="-35" dirty="0">
                <a:latin typeface="Times New Roman"/>
                <a:cs typeface="Times New Roman"/>
              </a:rPr>
              <a:t> </a:t>
            </a:r>
            <a:r>
              <a:rPr sz="3050" spc="15" dirty="0">
                <a:latin typeface="Times New Roman"/>
                <a:cs typeface="Times New Roman"/>
              </a:rPr>
              <a:t>having</a:t>
            </a:r>
            <a:r>
              <a:rPr sz="3050" spc="-60" dirty="0">
                <a:latin typeface="Times New Roman"/>
                <a:cs typeface="Times New Roman"/>
              </a:rPr>
              <a:t> </a:t>
            </a:r>
            <a:r>
              <a:rPr sz="3050" spc="15" dirty="0">
                <a:latin typeface="Times New Roman"/>
                <a:cs typeface="Times New Roman"/>
              </a:rPr>
              <a:t>a</a:t>
            </a:r>
            <a:r>
              <a:rPr sz="3050" spc="25" dirty="0">
                <a:latin typeface="Times New Roman"/>
                <a:cs typeface="Times New Roman"/>
              </a:rPr>
              <a:t> </a:t>
            </a:r>
            <a:r>
              <a:rPr sz="3050" spc="15" dirty="0">
                <a:latin typeface="Times New Roman"/>
                <a:cs typeface="Times New Roman"/>
              </a:rPr>
              <a:t>code</a:t>
            </a:r>
            <a:r>
              <a:rPr sz="3050" spc="-35" dirty="0">
                <a:latin typeface="Times New Roman"/>
                <a:cs typeface="Times New Roman"/>
              </a:rPr>
              <a:t> </a:t>
            </a:r>
            <a:r>
              <a:rPr sz="3050" spc="10" dirty="0">
                <a:latin typeface="Times New Roman"/>
                <a:cs typeface="Times New Roman"/>
              </a:rPr>
              <a:t>of</a:t>
            </a:r>
            <a:r>
              <a:rPr sz="3050" spc="-5" dirty="0">
                <a:latin typeface="Times New Roman"/>
                <a:cs typeface="Times New Roman"/>
              </a:rPr>
              <a:t> </a:t>
            </a:r>
            <a:r>
              <a:rPr sz="3050" spc="15" dirty="0">
                <a:latin typeface="Times New Roman"/>
                <a:cs typeface="Times New Roman"/>
              </a:rPr>
              <a:t>conduct </a:t>
            </a:r>
            <a:r>
              <a:rPr sz="3050" spc="-750" dirty="0">
                <a:latin typeface="Times New Roman"/>
                <a:cs typeface="Times New Roman"/>
              </a:rPr>
              <a:t> </a:t>
            </a:r>
            <a:r>
              <a:rPr sz="3050" spc="20" dirty="0">
                <a:latin typeface="Times New Roman"/>
                <a:cs typeface="Times New Roman"/>
              </a:rPr>
              <a:t>and</a:t>
            </a:r>
            <a:r>
              <a:rPr sz="3050" spc="-30" dirty="0">
                <a:latin typeface="Times New Roman"/>
                <a:cs typeface="Times New Roman"/>
              </a:rPr>
              <a:t> </a:t>
            </a:r>
            <a:r>
              <a:rPr sz="3050" spc="5" dirty="0">
                <a:latin typeface="Times New Roman"/>
                <a:cs typeface="Times New Roman"/>
              </a:rPr>
              <a:t>an ethics</a:t>
            </a:r>
            <a:r>
              <a:rPr sz="3050" spc="-20" dirty="0">
                <a:latin typeface="Times New Roman"/>
                <a:cs typeface="Times New Roman"/>
              </a:rPr>
              <a:t> </a:t>
            </a:r>
            <a:r>
              <a:rPr sz="3050" spc="10" dirty="0">
                <a:latin typeface="Times New Roman"/>
                <a:cs typeface="Times New Roman"/>
              </a:rPr>
              <a:t>training</a:t>
            </a:r>
            <a:r>
              <a:rPr sz="3050" spc="5" dirty="0">
                <a:latin typeface="Times New Roman"/>
                <a:cs typeface="Times New Roman"/>
              </a:rPr>
              <a:t> </a:t>
            </a:r>
            <a:r>
              <a:rPr sz="3050" spc="15" dirty="0">
                <a:latin typeface="Times New Roman"/>
                <a:cs typeface="Times New Roman"/>
              </a:rPr>
              <a:t>program.</a:t>
            </a:r>
            <a:endParaRPr sz="3050">
              <a:latin typeface="Times New Roman"/>
              <a:cs typeface="Times New Roman"/>
            </a:endParaRPr>
          </a:p>
          <a:p>
            <a:pPr marL="682625" marR="1167765" indent="-670560">
              <a:lnSpc>
                <a:spcPts val="3320"/>
              </a:lnSpc>
              <a:spcBef>
                <a:spcPts val="750"/>
              </a:spcBef>
              <a:buAutoNum type="arabicPeriod"/>
              <a:tabLst>
                <a:tab pos="681990" algn="l"/>
                <a:tab pos="682625" algn="l"/>
              </a:tabLst>
            </a:pPr>
            <a:r>
              <a:rPr sz="3050" spc="10" dirty="0">
                <a:latin typeface="Times New Roman"/>
                <a:cs typeface="Times New Roman"/>
              </a:rPr>
              <a:t>Explain</a:t>
            </a:r>
            <a:r>
              <a:rPr sz="3050" spc="-5" dirty="0">
                <a:latin typeface="Times New Roman"/>
                <a:cs typeface="Times New Roman"/>
              </a:rPr>
              <a:t> </a:t>
            </a:r>
            <a:r>
              <a:rPr sz="3050" spc="5" dirty="0">
                <a:latin typeface="Times New Roman"/>
                <a:cs typeface="Times New Roman"/>
              </a:rPr>
              <a:t>the</a:t>
            </a:r>
            <a:r>
              <a:rPr sz="3050" spc="-10" dirty="0">
                <a:latin typeface="Times New Roman"/>
                <a:cs typeface="Times New Roman"/>
              </a:rPr>
              <a:t> </a:t>
            </a:r>
            <a:r>
              <a:rPr sz="3050" spc="10" dirty="0">
                <a:latin typeface="Times New Roman"/>
                <a:cs typeface="Times New Roman"/>
              </a:rPr>
              <a:t>criteria</a:t>
            </a:r>
            <a:r>
              <a:rPr sz="3050" spc="-40" dirty="0">
                <a:latin typeface="Times New Roman"/>
                <a:cs typeface="Times New Roman"/>
              </a:rPr>
              <a:t> </a:t>
            </a:r>
            <a:r>
              <a:rPr sz="3050" spc="15" dirty="0">
                <a:latin typeface="Times New Roman"/>
                <a:cs typeface="Times New Roman"/>
              </a:rPr>
              <a:t>important</a:t>
            </a:r>
            <a:r>
              <a:rPr sz="3050" spc="-55" dirty="0">
                <a:latin typeface="Times New Roman"/>
                <a:cs typeface="Times New Roman"/>
              </a:rPr>
              <a:t> </a:t>
            </a:r>
            <a:r>
              <a:rPr sz="3050" spc="15" dirty="0">
                <a:latin typeface="Times New Roman"/>
                <a:cs typeface="Times New Roman"/>
              </a:rPr>
              <a:t>to</a:t>
            </a:r>
            <a:r>
              <a:rPr sz="3050" dirty="0">
                <a:latin typeface="Times New Roman"/>
                <a:cs typeface="Times New Roman"/>
              </a:rPr>
              <a:t> </a:t>
            </a:r>
            <a:r>
              <a:rPr sz="3050" spc="10" dirty="0">
                <a:latin typeface="Times New Roman"/>
                <a:cs typeface="Times New Roman"/>
              </a:rPr>
              <a:t>selecting</a:t>
            </a:r>
            <a:r>
              <a:rPr sz="3050" spc="-30" dirty="0">
                <a:latin typeface="Times New Roman"/>
                <a:cs typeface="Times New Roman"/>
              </a:rPr>
              <a:t> </a:t>
            </a:r>
            <a:r>
              <a:rPr sz="3050" spc="5" dirty="0">
                <a:latin typeface="Times New Roman"/>
                <a:cs typeface="Times New Roman"/>
              </a:rPr>
              <a:t>an </a:t>
            </a:r>
            <a:r>
              <a:rPr sz="3050" spc="-750" dirty="0">
                <a:latin typeface="Times New Roman"/>
                <a:cs typeface="Times New Roman"/>
              </a:rPr>
              <a:t> </a:t>
            </a:r>
            <a:r>
              <a:rPr sz="3050" spc="10" dirty="0">
                <a:latin typeface="Times New Roman"/>
                <a:cs typeface="Times New Roman"/>
              </a:rPr>
              <a:t>attorney</a:t>
            </a:r>
            <a:r>
              <a:rPr sz="3050" spc="-30" dirty="0">
                <a:latin typeface="Times New Roman"/>
                <a:cs typeface="Times New Roman"/>
              </a:rPr>
              <a:t> </a:t>
            </a:r>
            <a:r>
              <a:rPr sz="3050" spc="5" dirty="0">
                <a:latin typeface="Times New Roman"/>
                <a:cs typeface="Times New Roman"/>
              </a:rPr>
              <a:t>for</a:t>
            </a:r>
            <a:r>
              <a:rPr sz="3050" spc="-5" dirty="0">
                <a:latin typeface="Times New Roman"/>
                <a:cs typeface="Times New Roman"/>
              </a:rPr>
              <a:t> </a:t>
            </a:r>
            <a:r>
              <a:rPr sz="3050" spc="15" dirty="0">
                <a:latin typeface="Times New Roman"/>
                <a:cs typeface="Times New Roman"/>
              </a:rPr>
              <a:t>a</a:t>
            </a:r>
            <a:r>
              <a:rPr sz="3050" spc="25" dirty="0">
                <a:latin typeface="Times New Roman"/>
                <a:cs typeface="Times New Roman"/>
              </a:rPr>
              <a:t> </a:t>
            </a:r>
            <a:r>
              <a:rPr sz="3050" spc="10" dirty="0">
                <a:latin typeface="Times New Roman"/>
                <a:cs typeface="Times New Roman"/>
              </a:rPr>
              <a:t>new</a:t>
            </a:r>
            <a:r>
              <a:rPr sz="3050" dirty="0">
                <a:latin typeface="Times New Roman"/>
                <a:cs typeface="Times New Roman"/>
              </a:rPr>
              <a:t> </a:t>
            </a:r>
            <a:r>
              <a:rPr sz="3050" spc="10" dirty="0">
                <a:latin typeface="Times New Roman"/>
                <a:cs typeface="Times New Roman"/>
              </a:rPr>
              <a:t>firm.</a:t>
            </a:r>
            <a:endParaRPr sz="3050">
              <a:latin typeface="Times New Roman"/>
              <a:cs typeface="Times New Roman"/>
            </a:endParaRPr>
          </a:p>
          <a:p>
            <a:pPr marL="681990" indent="-669925">
              <a:lnSpc>
                <a:spcPct val="100000"/>
              </a:lnSpc>
              <a:spcBef>
                <a:spcPts val="360"/>
              </a:spcBef>
              <a:buAutoNum type="arabicPeriod"/>
              <a:tabLst>
                <a:tab pos="681990" algn="l"/>
                <a:tab pos="682625" algn="l"/>
              </a:tabLst>
            </a:pPr>
            <a:r>
              <a:rPr sz="3050" spc="15" dirty="0">
                <a:latin typeface="Times New Roman"/>
                <a:cs typeface="Times New Roman"/>
              </a:rPr>
              <a:t>Discuss</a:t>
            </a:r>
            <a:r>
              <a:rPr sz="3050" spc="-30" dirty="0">
                <a:latin typeface="Times New Roman"/>
                <a:cs typeface="Times New Roman"/>
              </a:rPr>
              <a:t> </a:t>
            </a:r>
            <a:r>
              <a:rPr sz="3050" spc="5" dirty="0">
                <a:latin typeface="Times New Roman"/>
                <a:cs typeface="Times New Roman"/>
              </a:rPr>
              <a:t>the</a:t>
            </a:r>
            <a:r>
              <a:rPr sz="3050" spc="-10" dirty="0">
                <a:latin typeface="Times New Roman"/>
                <a:cs typeface="Times New Roman"/>
              </a:rPr>
              <a:t> </a:t>
            </a:r>
            <a:r>
              <a:rPr sz="3050" spc="15" dirty="0">
                <a:latin typeface="Times New Roman"/>
                <a:cs typeface="Times New Roman"/>
              </a:rPr>
              <a:t>importance</a:t>
            </a:r>
            <a:r>
              <a:rPr sz="3050" spc="-10" dirty="0">
                <a:latin typeface="Times New Roman"/>
                <a:cs typeface="Times New Roman"/>
              </a:rPr>
              <a:t> </a:t>
            </a:r>
            <a:r>
              <a:rPr sz="3050" spc="10" dirty="0">
                <a:latin typeface="Times New Roman"/>
                <a:cs typeface="Times New Roman"/>
              </a:rPr>
              <a:t>of</a:t>
            </a:r>
            <a:r>
              <a:rPr sz="3050" spc="-40" dirty="0">
                <a:latin typeface="Times New Roman"/>
                <a:cs typeface="Times New Roman"/>
              </a:rPr>
              <a:t> </a:t>
            </a:r>
            <a:r>
              <a:rPr sz="3050" spc="15" dirty="0">
                <a:latin typeface="Times New Roman"/>
                <a:cs typeface="Times New Roman"/>
              </a:rPr>
              <a:t>a</a:t>
            </a:r>
            <a:r>
              <a:rPr sz="3050" spc="-15" dirty="0">
                <a:latin typeface="Times New Roman"/>
                <a:cs typeface="Times New Roman"/>
              </a:rPr>
              <a:t> </a:t>
            </a:r>
            <a:r>
              <a:rPr sz="3050" spc="15" dirty="0">
                <a:latin typeface="Times New Roman"/>
                <a:cs typeface="Times New Roman"/>
              </a:rPr>
              <a:t>founder’s</a:t>
            </a:r>
            <a:r>
              <a:rPr sz="3050" spc="-25" dirty="0">
                <a:latin typeface="Times New Roman"/>
                <a:cs typeface="Times New Roman"/>
              </a:rPr>
              <a:t> </a:t>
            </a:r>
            <a:r>
              <a:rPr sz="3050" spc="10" dirty="0">
                <a:latin typeface="Times New Roman"/>
                <a:cs typeface="Times New Roman"/>
              </a:rPr>
              <a:t>agreement.</a:t>
            </a:r>
            <a:endParaRPr sz="30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Chapter</a:t>
            </a:r>
            <a:r>
              <a:rPr spc="-15" dirty="0"/>
              <a:t> </a:t>
            </a:r>
            <a:r>
              <a:rPr spc="-5" dirty="0"/>
              <a:t>Objectives</a:t>
            </a:r>
          </a:p>
          <a:p>
            <a:pPr algn="ctr">
              <a:lnSpc>
                <a:spcPct val="100000"/>
              </a:lnSpc>
              <a:spcBef>
                <a:spcPts val="55"/>
              </a:spcBef>
            </a:pPr>
            <a:r>
              <a:rPr sz="2200" spc="-5" dirty="0"/>
              <a:t>2</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98398"/>
            <a:ext cx="8833485" cy="5001895"/>
          </a:xfrm>
          <a:prstGeom prst="rect">
            <a:avLst/>
          </a:prstGeom>
        </p:spPr>
        <p:txBody>
          <a:bodyPr vert="horz" wrap="square" lIns="0" tIns="12065" rIns="0" bIns="0" rtlCol="0">
            <a:spAutoFit/>
          </a:bodyPr>
          <a:lstStyle/>
          <a:p>
            <a:pPr marL="682625" marR="5080" indent="-670560">
              <a:lnSpc>
                <a:spcPct val="101000"/>
              </a:lnSpc>
              <a:spcBef>
                <a:spcPts val="95"/>
              </a:spcBef>
              <a:buAutoNum type="arabicPeriod" startAt="6"/>
              <a:tabLst>
                <a:tab pos="681990" algn="l"/>
                <a:tab pos="682625" algn="l"/>
              </a:tabLst>
            </a:pPr>
            <a:r>
              <a:rPr sz="3050" spc="20" dirty="0">
                <a:latin typeface="Times New Roman"/>
                <a:cs typeface="Times New Roman"/>
              </a:rPr>
              <a:t>Provide</a:t>
            </a:r>
            <a:r>
              <a:rPr sz="3050" spc="-35" dirty="0">
                <a:latin typeface="Times New Roman"/>
                <a:cs typeface="Times New Roman"/>
              </a:rPr>
              <a:t> </a:t>
            </a:r>
            <a:r>
              <a:rPr sz="3050" spc="10" dirty="0">
                <a:latin typeface="Times New Roman"/>
                <a:cs typeface="Times New Roman"/>
              </a:rPr>
              <a:t>several</a:t>
            </a:r>
            <a:r>
              <a:rPr sz="3050" spc="-45" dirty="0">
                <a:latin typeface="Times New Roman"/>
                <a:cs typeface="Times New Roman"/>
              </a:rPr>
              <a:t> </a:t>
            </a:r>
            <a:r>
              <a:rPr sz="3050" spc="10" dirty="0">
                <a:latin typeface="Times New Roman"/>
                <a:cs typeface="Times New Roman"/>
              </a:rPr>
              <a:t>suggestions</a:t>
            </a:r>
            <a:r>
              <a:rPr sz="3050" spc="-15" dirty="0">
                <a:latin typeface="Times New Roman"/>
                <a:cs typeface="Times New Roman"/>
              </a:rPr>
              <a:t> </a:t>
            </a:r>
            <a:r>
              <a:rPr sz="3050" spc="5" dirty="0">
                <a:latin typeface="Times New Roman"/>
                <a:cs typeface="Times New Roman"/>
              </a:rPr>
              <a:t>for</a:t>
            </a:r>
            <a:r>
              <a:rPr sz="3050" dirty="0">
                <a:latin typeface="Times New Roman"/>
                <a:cs typeface="Times New Roman"/>
              </a:rPr>
              <a:t> </a:t>
            </a:r>
            <a:r>
              <a:rPr sz="3050" spc="25" dirty="0">
                <a:latin typeface="Times New Roman"/>
                <a:cs typeface="Times New Roman"/>
              </a:rPr>
              <a:t>how</a:t>
            </a:r>
            <a:r>
              <a:rPr sz="3050" spc="5" dirty="0">
                <a:latin typeface="Times New Roman"/>
                <a:cs typeface="Times New Roman"/>
              </a:rPr>
              <a:t> </a:t>
            </a:r>
            <a:r>
              <a:rPr sz="3050" spc="10" dirty="0">
                <a:latin typeface="Times New Roman"/>
                <a:cs typeface="Times New Roman"/>
              </a:rPr>
              <a:t>entrepreneurial </a:t>
            </a:r>
            <a:r>
              <a:rPr sz="3050" spc="-745" dirty="0">
                <a:latin typeface="Times New Roman"/>
                <a:cs typeface="Times New Roman"/>
              </a:rPr>
              <a:t> </a:t>
            </a:r>
            <a:r>
              <a:rPr sz="3050" spc="10" dirty="0">
                <a:latin typeface="Times New Roman"/>
                <a:cs typeface="Times New Roman"/>
              </a:rPr>
              <a:t>firms</a:t>
            </a:r>
            <a:r>
              <a:rPr sz="3050" spc="5" dirty="0">
                <a:latin typeface="Times New Roman"/>
                <a:cs typeface="Times New Roman"/>
              </a:rPr>
              <a:t> </a:t>
            </a:r>
            <a:r>
              <a:rPr sz="3050" spc="15" dirty="0">
                <a:latin typeface="Times New Roman"/>
                <a:cs typeface="Times New Roman"/>
              </a:rPr>
              <a:t>can</a:t>
            </a:r>
            <a:r>
              <a:rPr sz="3050" spc="-25" dirty="0">
                <a:latin typeface="Times New Roman"/>
                <a:cs typeface="Times New Roman"/>
              </a:rPr>
              <a:t> </a:t>
            </a:r>
            <a:r>
              <a:rPr sz="3050" spc="15" dirty="0">
                <a:latin typeface="Times New Roman"/>
                <a:cs typeface="Times New Roman"/>
              </a:rPr>
              <a:t>avoid</a:t>
            </a:r>
            <a:r>
              <a:rPr sz="3050" spc="-25" dirty="0">
                <a:latin typeface="Times New Roman"/>
                <a:cs typeface="Times New Roman"/>
              </a:rPr>
              <a:t> </a:t>
            </a:r>
            <a:r>
              <a:rPr sz="3050" spc="5" dirty="0">
                <a:latin typeface="Times New Roman"/>
                <a:cs typeface="Times New Roman"/>
              </a:rPr>
              <a:t>litigation.</a:t>
            </a:r>
            <a:endParaRPr sz="3050">
              <a:latin typeface="Times New Roman"/>
              <a:cs typeface="Times New Roman"/>
            </a:endParaRPr>
          </a:p>
          <a:p>
            <a:pPr marL="682625" marR="1139825" indent="-670560">
              <a:lnSpc>
                <a:spcPct val="101000"/>
              </a:lnSpc>
              <a:spcBef>
                <a:spcPts val="735"/>
              </a:spcBef>
              <a:buAutoNum type="arabicPeriod" startAt="6"/>
              <a:tabLst>
                <a:tab pos="681990" algn="l"/>
                <a:tab pos="682625" algn="l"/>
              </a:tabLst>
            </a:pPr>
            <a:r>
              <a:rPr sz="3050" spc="15" dirty="0">
                <a:latin typeface="Times New Roman"/>
                <a:cs typeface="Times New Roman"/>
              </a:rPr>
              <a:t>Discuss</a:t>
            </a:r>
            <a:r>
              <a:rPr sz="3050" spc="-30" dirty="0">
                <a:latin typeface="Times New Roman"/>
                <a:cs typeface="Times New Roman"/>
              </a:rPr>
              <a:t> </a:t>
            </a:r>
            <a:r>
              <a:rPr sz="3050" spc="5" dirty="0">
                <a:latin typeface="Times New Roman"/>
                <a:cs typeface="Times New Roman"/>
              </a:rPr>
              <a:t>the</a:t>
            </a:r>
            <a:r>
              <a:rPr sz="3050" spc="-10" dirty="0">
                <a:latin typeface="Times New Roman"/>
                <a:cs typeface="Times New Roman"/>
              </a:rPr>
              <a:t> </a:t>
            </a:r>
            <a:r>
              <a:rPr sz="3050" spc="15" dirty="0">
                <a:latin typeface="Times New Roman"/>
                <a:cs typeface="Times New Roman"/>
              </a:rPr>
              <a:t>importance</a:t>
            </a:r>
            <a:r>
              <a:rPr sz="3050" spc="-10" dirty="0">
                <a:latin typeface="Times New Roman"/>
                <a:cs typeface="Times New Roman"/>
              </a:rPr>
              <a:t> </a:t>
            </a:r>
            <a:r>
              <a:rPr sz="3050" spc="10" dirty="0">
                <a:latin typeface="Times New Roman"/>
                <a:cs typeface="Times New Roman"/>
              </a:rPr>
              <a:t>of</a:t>
            </a:r>
            <a:r>
              <a:rPr sz="3050" spc="-40" dirty="0">
                <a:latin typeface="Times New Roman"/>
                <a:cs typeface="Times New Roman"/>
              </a:rPr>
              <a:t> </a:t>
            </a:r>
            <a:r>
              <a:rPr sz="3050" spc="10" dirty="0">
                <a:latin typeface="Times New Roman"/>
                <a:cs typeface="Times New Roman"/>
              </a:rPr>
              <a:t>nondisclosure</a:t>
            </a:r>
            <a:r>
              <a:rPr sz="3050" spc="-40" dirty="0">
                <a:latin typeface="Times New Roman"/>
                <a:cs typeface="Times New Roman"/>
              </a:rPr>
              <a:t> </a:t>
            </a:r>
            <a:r>
              <a:rPr sz="3050" spc="20" dirty="0">
                <a:latin typeface="Times New Roman"/>
                <a:cs typeface="Times New Roman"/>
              </a:rPr>
              <a:t>and </a:t>
            </a:r>
            <a:r>
              <a:rPr sz="3050" spc="-750" dirty="0">
                <a:latin typeface="Times New Roman"/>
                <a:cs typeface="Times New Roman"/>
              </a:rPr>
              <a:t> </a:t>
            </a:r>
            <a:r>
              <a:rPr sz="3050" spc="10" dirty="0">
                <a:latin typeface="Times New Roman"/>
                <a:cs typeface="Times New Roman"/>
              </a:rPr>
              <a:t>noncompete</a:t>
            </a:r>
            <a:r>
              <a:rPr sz="3050" spc="-10" dirty="0">
                <a:latin typeface="Times New Roman"/>
                <a:cs typeface="Times New Roman"/>
              </a:rPr>
              <a:t> </a:t>
            </a:r>
            <a:r>
              <a:rPr sz="3050" spc="5" dirty="0">
                <a:latin typeface="Times New Roman"/>
                <a:cs typeface="Times New Roman"/>
              </a:rPr>
              <a:t>agreements.</a:t>
            </a:r>
            <a:endParaRPr sz="3050">
              <a:latin typeface="Times New Roman"/>
              <a:cs typeface="Times New Roman"/>
            </a:endParaRPr>
          </a:p>
          <a:p>
            <a:pPr marL="682625" marR="271780" indent="-670560">
              <a:lnSpc>
                <a:spcPct val="101000"/>
              </a:lnSpc>
              <a:spcBef>
                <a:spcPts val="740"/>
              </a:spcBef>
              <a:buAutoNum type="arabicPeriod" startAt="6"/>
              <a:tabLst>
                <a:tab pos="681990" algn="l"/>
                <a:tab pos="682625" algn="l"/>
              </a:tabLst>
            </a:pPr>
            <a:r>
              <a:rPr sz="3050" spc="20" dirty="0">
                <a:latin typeface="Times New Roman"/>
                <a:cs typeface="Times New Roman"/>
              </a:rPr>
              <a:t>Provide </a:t>
            </a:r>
            <a:r>
              <a:rPr sz="3050" spc="5" dirty="0">
                <a:latin typeface="Times New Roman"/>
                <a:cs typeface="Times New Roman"/>
              </a:rPr>
              <a:t>an </a:t>
            </a:r>
            <a:r>
              <a:rPr sz="3050" spc="15" dirty="0">
                <a:latin typeface="Times New Roman"/>
                <a:cs typeface="Times New Roman"/>
              </a:rPr>
              <a:t>overview </a:t>
            </a:r>
            <a:r>
              <a:rPr sz="3050" spc="10" dirty="0">
                <a:latin typeface="Times New Roman"/>
                <a:cs typeface="Times New Roman"/>
              </a:rPr>
              <a:t>of </a:t>
            </a:r>
            <a:r>
              <a:rPr sz="3050" spc="15" dirty="0">
                <a:latin typeface="Times New Roman"/>
                <a:cs typeface="Times New Roman"/>
              </a:rPr>
              <a:t>the business </a:t>
            </a:r>
            <a:r>
              <a:rPr sz="3050" spc="5" dirty="0">
                <a:latin typeface="Times New Roman"/>
                <a:cs typeface="Times New Roman"/>
              </a:rPr>
              <a:t>licenses </a:t>
            </a:r>
            <a:r>
              <a:rPr sz="3050" spc="10" dirty="0">
                <a:latin typeface="Times New Roman"/>
                <a:cs typeface="Times New Roman"/>
              </a:rPr>
              <a:t>and </a:t>
            </a:r>
            <a:r>
              <a:rPr sz="3050" spc="15" dirty="0">
                <a:latin typeface="Times New Roman"/>
                <a:cs typeface="Times New Roman"/>
              </a:rPr>
              <a:t> </a:t>
            </a:r>
            <a:r>
              <a:rPr sz="3050" spc="10" dirty="0">
                <a:latin typeface="Times New Roman"/>
                <a:cs typeface="Times New Roman"/>
              </a:rPr>
              <a:t>business</a:t>
            </a:r>
            <a:r>
              <a:rPr sz="3050" spc="-20" dirty="0">
                <a:latin typeface="Times New Roman"/>
                <a:cs typeface="Times New Roman"/>
              </a:rPr>
              <a:t> </a:t>
            </a:r>
            <a:r>
              <a:rPr sz="3050" spc="10" dirty="0">
                <a:latin typeface="Times New Roman"/>
                <a:cs typeface="Times New Roman"/>
              </a:rPr>
              <a:t>permits</a:t>
            </a:r>
            <a:r>
              <a:rPr sz="3050" spc="-15" dirty="0">
                <a:latin typeface="Times New Roman"/>
                <a:cs typeface="Times New Roman"/>
              </a:rPr>
              <a:t> </a:t>
            </a:r>
            <a:r>
              <a:rPr sz="3050" spc="10" dirty="0">
                <a:latin typeface="Times New Roman"/>
                <a:cs typeface="Times New Roman"/>
              </a:rPr>
              <a:t>that</a:t>
            </a:r>
            <a:r>
              <a:rPr sz="3050" spc="-15" dirty="0">
                <a:latin typeface="Times New Roman"/>
                <a:cs typeface="Times New Roman"/>
              </a:rPr>
              <a:t> </a:t>
            </a:r>
            <a:r>
              <a:rPr sz="3050" spc="15" dirty="0">
                <a:latin typeface="Times New Roman"/>
                <a:cs typeface="Times New Roman"/>
              </a:rPr>
              <a:t>a</a:t>
            </a:r>
            <a:r>
              <a:rPr sz="3050" dirty="0">
                <a:latin typeface="Times New Roman"/>
                <a:cs typeface="Times New Roman"/>
              </a:rPr>
              <a:t> </a:t>
            </a:r>
            <a:r>
              <a:rPr sz="3050" spc="10" dirty="0">
                <a:latin typeface="Times New Roman"/>
                <a:cs typeface="Times New Roman"/>
              </a:rPr>
              <a:t>start-up</a:t>
            </a:r>
            <a:r>
              <a:rPr sz="3050" spc="-20" dirty="0">
                <a:latin typeface="Times New Roman"/>
                <a:cs typeface="Times New Roman"/>
              </a:rPr>
              <a:t> </a:t>
            </a:r>
            <a:r>
              <a:rPr sz="3050" spc="15" dirty="0">
                <a:latin typeface="Times New Roman"/>
                <a:cs typeface="Times New Roman"/>
              </a:rPr>
              <a:t>must</a:t>
            </a:r>
            <a:r>
              <a:rPr sz="3050" spc="-15" dirty="0">
                <a:latin typeface="Times New Roman"/>
                <a:cs typeface="Times New Roman"/>
              </a:rPr>
              <a:t> </a:t>
            </a:r>
            <a:r>
              <a:rPr sz="3050" spc="10" dirty="0">
                <a:latin typeface="Times New Roman"/>
                <a:cs typeface="Times New Roman"/>
              </a:rPr>
              <a:t>obtain</a:t>
            </a:r>
            <a:r>
              <a:rPr sz="3050" spc="5" dirty="0">
                <a:latin typeface="Times New Roman"/>
                <a:cs typeface="Times New Roman"/>
              </a:rPr>
              <a:t> </a:t>
            </a:r>
            <a:r>
              <a:rPr sz="3050" spc="10" dirty="0">
                <a:latin typeface="Times New Roman"/>
                <a:cs typeface="Times New Roman"/>
              </a:rPr>
              <a:t>before </a:t>
            </a:r>
            <a:r>
              <a:rPr sz="3050" spc="-745" dirty="0">
                <a:latin typeface="Times New Roman"/>
                <a:cs typeface="Times New Roman"/>
              </a:rPr>
              <a:t> </a:t>
            </a:r>
            <a:r>
              <a:rPr sz="3050" spc="10" dirty="0">
                <a:latin typeface="Times New Roman"/>
                <a:cs typeface="Times New Roman"/>
              </a:rPr>
              <a:t>it</a:t>
            </a:r>
            <a:r>
              <a:rPr sz="3050" spc="-25" dirty="0">
                <a:latin typeface="Times New Roman"/>
                <a:cs typeface="Times New Roman"/>
              </a:rPr>
              <a:t> </a:t>
            </a:r>
            <a:r>
              <a:rPr sz="3050" spc="5" dirty="0">
                <a:latin typeface="Times New Roman"/>
                <a:cs typeface="Times New Roman"/>
              </a:rPr>
              <a:t>starts</a:t>
            </a:r>
            <a:r>
              <a:rPr sz="3050" spc="10" dirty="0">
                <a:latin typeface="Times New Roman"/>
                <a:cs typeface="Times New Roman"/>
              </a:rPr>
              <a:t> conducting</a:t>
            </a:r>
            <a:r>
              <a:rPr sz="3050" spc="-25" dirty="0">
                <a:latin typeface="Times New Roman"/>
                <a:cs typeface="Times New Roman"/>
              </a:rPr>
              <a:t> </a:t>
            </a:r>
            <a:r>
              <a:rPr sz="3050" spc="10" dirty="0">
                <a:latin typeface="Times New Roman"/>
                <a:cs typeface="Times New Roman"/>
              </a:rPr>
              <a:t>business.</a:t>
            </a:r>
            <a:endParaRPr sz="3050">
              <a:latin typeface="Times New Roman"/>
              <a:cs typeface="Times New Roman"/>
            </a:endParaRPr>
          </a:p>
          <a:p>
            <a:pPr marL="682625" marR="62865" indent="-670560">
              <a:lnSpc>
                <a:spcPct val="101000"/>
              </a:lnSpc>
              <a:spcBef>
                <a:spcPts val="745"/>
              </a:spcBef>
              <a:buAutoNum type="arabicPeriod" startAt="6"/>
              <a:tabLst>
                <a:tab pos="681990" algn="l"/>
                <a:tab pos="682625" algn="l"/>
              </a:tabLst>
            </a:pPr>
            <a:r>
              <a:rPr sz="3050" spc="15" dirty="0">
                <a:latin typeface="Times New Roman"/>
                <a:cs typeface="Times New Roman"/>
              </a:rPr>
              <a:t>Discuss</a:t>
            </a:r>
            <a:r>
              <a:rPr sz="3050" spc="-15" dirty="0">
                <a:latin typeface="Times New Roman"/>
                <a:cs typeface="Times New Roman"/>
              </a:rPr>
              <a:t> </a:t>
            </a:r>
            <a:r>
              <a:rPr sz="3050" spc="5" dirty="0">
                <a:latin typeface="Times New Roman"/>
                <a:cs typeface="Times New Roman"/>
              </a:rPr>
              <a:t>the </a:t>
            </a:r>
            <a:r>
              <a:rPr sz="3050" spc="10" dirty="0">
                <a:latin typeface="Times New Roman"/>
                <a:cs typeface="Times New Roman"/>
              </a:rPr>
              <a:t>differences</a:t>
            </a:r>
            <a:r>
              <a:rPr sz="3050" spc="-45" dirty="0">
                <a:latin typeface="Times New Roman"/>
                <a:cs typeface="Times New Roman"/>
              </a:rPr>
              <a:t> </a:t>
            </a:r>
            <a:r>
              <a:rPr sz="3050" spc="20" dirty="0">
                <a:latin typeface="Times New Roman"/>
                <a:cs typeface="Times New Roman"/>
              </a:rPr>
              <a:t>among</a:t>
            </a:r>
            <a:r>
              <a:rPr sz="3050" spc="-15" dirty="0">
                <a:latin typeface="Times New Roman"/>
                <a:cs typeface="Times New Roman"/>
              </a:rPr>
              <a:t> </a:t>
            </a:r>
            <a:r>
              <a:rPr sz="3050" spc="10" dirty="0">
                <a:latin typeface="Times New Roman"/>
                <a:cs typeface="Times New Roman"/>
              </a:rPr>
              <a:t>sole</a:t>
            </a:r>
            <a:r>
              <a:rPr sz="3050" spc="-30" dirty="0">
                <a:latin typeface="Times New Roman"/>
                <a:cs typeface="Times New Roman"/>
              </a:rPr>
              <a:t> </a:t>
            </a:r>
            <a:r>
              <a:rPr sz="3050" spc="10" dirty="0">
                <a:latin typeface="Times New Roman"/>
                <a:cs typeface="Times New Roman"/>
              </a:rPr>
              <a:t>proprietorships, </a:t>
            </a:r>
            <a:r>
              <a:rPr sz="3050" spc="-745" dirty="0">
                <a:latin typeface="Times New Roman"/>
                <a:cs typeface="Times New Roman"/>
              </a:rPr>
              <a:t> </a:t>
            </a:r>
            <a:r>
              <a:rPr sz="3050" spc="10" dirty="0">
                <a:latin typeface="Times New Roman"/>
                <a:cs typeface="Times New Roman"/>
              </a:rPr>
              <a:t>partnerships, corporations, </a:t>
            </a:r>
            <a:r>
              <a:rPr sz="3050" spc="20" dirty="0">
                <a:latin typeface="Times New Roman"/>
                <a:cs typeface="Times New Roman"/>
              </a:rPr>
              <a:t>and </a:t>
            </a:r>
            <a:r>
              <a:rPr sz="3050" spc="5" dirty="0">
                <a:latin typeface="Times New Roman"/>
                <a:cs typeface="Times New Roman"/>
              </a:rPr>
              <a:t>limited liability </a:t>
            </a:r>
            <a:r>
              <a:rPr sz="3050" spc="10" dirty="0">
                <a:latin typeface="Times New Roman"/>
                <a:cs typeface="Times New Roman"/>
              </a:rPr>
              <a:t> companies.</a:t>
            </a:r>
            <a:endParaRPr sz="30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Chapter</a:t>
            </a:r>
            <a:r>
              <a:rPr spc="-15" dirty="0"/>
              <a:t> </a:t>
            </a:r>
            <a:r>
              <a:rPr spc="-5" dirty="0"/>
              <a:t>Objectives</a:t>
            </a:r>
          </a:p>
          <a:p>
            <a:pPr algn="ctr">
              <a:lnSpc>
                <a:spcPct val="100000"/>
              </a:lnSpc>
              <a:spcBef>
                <a:spcPts val="55"/>
              </a:spcBef>
            </a:pPr>
            <a:r>
              <a:rPr sz="2200" spc="-5" dirty="0"/>
              <a:t>3</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98398"/>
            <a:ext cx="8874125" cy="1903730"/>
          </a:xfrm>
          <a:prstGeom prst="rect">
            <a:avLst/>
          </a:prstGeom>
        </p:spPr>
        <p:txBody>
          <a:bodyPr vert="horz" wrap="square" lIns="0" tIns="12065" rIns="0" bIns="0" rtlCol="0">
            <a:spAutoFit/>
          </a:bodyPr>
          <a:lstStyle/>
          <a:p>
            <a:pPr marL="682625" marR="5080" indent="-670560">
              <a:lnSpc>
                <a:spcPct val="101000"/>
              </a:lnSpc>
              <a:spcBef>
                <a:spcPts val="95"/>
              </a:spcBef>
              <a:tabLst>
                <a:tab pos="681990" algn="l"/>
              </a:tabLst>
            </a:pPr>
            <a:r>
              <a:rPr sz="3050" spc="10" dirty="0">
                <a:latin typeface="Times New Roman"/>
                <a:cs typeface="Times New Roman"/>
              </a:rPr>
              <a:t>10.	Explain </a:t>
            </a:r>
            <a:r>
              <a:rPr sz="3050" spc="15" dirty="0">
                <a:latin typeface="Times New Roman"/>
                <a:cs typeface="Times New Roman"/>
              </a:rPr>
              <a:t>why most </a:t>
            </a:r>
            <a:r>
              <a:rPr sz="3050" spc="10" dirty="0">
                <a:latin typeface="Times New Roman"/>
                <a:cs typeface="Times New Roman"/>
              </a:rPr>
              <a:t>fast-growth </a:t>
            </a:r>
            <a:r>
              <a:rPr sz="3050" spc="5" dirty="0">
                <a:latin typeface="Times New Roman"/>
                <a:cs typeface="Times New Roman"/>
              </a:rPr>
              <a:t>entrepreneurial </a:t>
            </a:r>
            <a:r>
              <a:rPr sz="3050" spc="10" dirty="0">
                <a:latin typeface="Times New Roman"/>
                <a:cs typeface="Times New Roman"/>
              </a:rPr>
              <a:t> ventures organize </a:t>
            </a:r>
            <a:r>
              <a:rPr sz="3050" spc="5" dirty="0">
                <a:latin typeface="Times New Roman"/>
                <a:cs typeface="Times New Roman"/>
              </a:rPr>
              <a:t>as </a:t>
            </a:r>
            <a:r>
              <a:rPr sz="3050" spc="10" dirty="0">
                <a:latin typeface="Times New Roman"/>
                <a:cs typeface="Times New Roman"/>
              </a:rPr>
              <a:t>corporations or limited </a:t>
            </a:r>
            <a:r>
              <a:rPr sz="3050" dirty="0">
                <a:latin typeface="Times New Roman"/>
                <a:cs typeface="Times New Roman"/>
              </a:rPr>
              <a:t>liability </a:t>
            </a:r>
            <a:r>
              <a:rPr sz="3050" spc="-755" dirty="0">
                <a:latin typeface="Times New Roman"/>
                <a:cs typeface="Times New Roman"/>
              </a:rPr>
              <a:t> </a:t>
            </a:r>
            <a:r>
              <a:rPr sz="3050" spc="15" dirty="0">
                <a:latin typeface="Times New Roman"/>
                <a:cs typeface="Times New Roman"/>
              </a:rPr>
              <a:t>companies </a:t>
            </a:r>
            <a:r>
              <a:rPr sz="3050" spc="10" dirty="0">
                <a:latin typeface="Times New Roman"/>
                <a:cs typeface="Times New Roman"/>
              </a:rPr>
              <a:t>rather than sole proprietorships or </a:t>
            </a:r>
            <a:r>
              <a:rPr sz="3050" spc="15" dirty="0">
                <a:latin typeface="Times New Roman"/>
                <a:cs typeface="Times New Roman"/>
              </a:rPr>
              <a:t> </a:t>
            </a:r>
            <a:r>
              <a:rPr sz="3050" spc="10" dirty="0">
                <a:latin typeface="Times New Roman"/>
                <a:cs typeface="Times New Roman"/>
              </a:rPr>
              <a:t>partnerships.</a:t>
            </a:r>
            <a:endParaRPr sz="30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7916" y="278296"/>
            <a:ext cx="8099425" cy="1232535"/>
          </a:xfrm>
          <a:prstGeom prst="rect">
            <a:avLst/>
          </a:prstGeom>
        </p:spPr>
        <p:txBody>
          <a:bodyPr vert="horz" wrap="square" lIns="0" tIns="12065" rIns="0" bIns="0" rtlCol="0">
            <a:spAutoFit/>
          </a:bodyPr>
          <a:lstStyle/>
          <a:p>
            <a:pPr marL="3022600" marR="5080" indent="-3010535">
              <a:lnSpc>
                <a:spcPct val="100299"/>
              </a:lnSpc>
              <a:spcBef>
                <a:spcPts val="95"/>
              </a:spcBef>
            </a:pPr>
            <a:r>
              <a:rPr dirty="0"/>
              <a:t>Initial</a:t>
            </a:r>
            <a:r>
              <a:rPr spc="5" dirty="0"/>
              <a:t> </a:t>
            </a:r>
            <a:r>
              <a:rPr spc="-5" dirty="0"/>
              <a:t>Ethical</a:t>
            </a:r>
            <a:r>
              <a:rPr spc="10" dirty="0"/>
              <a:t> </a:t>
            </a:r>
            <a:r>
              <a:rPr spc="-5" dirty="0"/>
              <a:t>and</a:t>
            </a:r>
            <a:r>
              <a:rPr spc="40" dirty="0"/>
              <a:t> </a:t>
            </a:r>
            <a:r>
              <a:rPr dirty="0"/>
              <a:t>Legal</a:t>
            </a:r>
            <a:r>
              <a:rPr spc="5" dirty="0"/>
              <a:t> </a:t>
            </a:r>
            <a:r>
              <a:rPr spc="-5" dirty="0"/>
              <a:t>Issues</a:t>
            </a:r>
            <a:r>
              <a:rPr spc="5" dirty="0"/>
              <a:t> </a:t>
            </a:r>
            <a:r>
              <a:rPr dirty="0"/>
              <a:t>Facing a </a:t>
            </a:r>
            <a:r>
              <a:rPr spc="-975" dirty="0"/>
              <a:t> </a:t>
            </a:r>
            <a:r>
              <a:rPr spc="-5" dirty="0"/>
              <a:t>New</a:t>
            </a:r>
            <a:r>
              <a:rPr spc="25" dirty="0"/>
              <a:t> </a:t>
            </a:r>
            <a:r>
              <a:rPr spc="5" dirty="0"/>
              <a:t>Firm</a:t>
            </a:r>
          </a:p>
        </p:txBody>
      </p:sp>
      <p:sp>
        <p:nvSpPr>
          <p:cNvPr id="3" name="object 3"/>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335280" y="2796539"/>
            <a:ext cx="2766060" cy="1225977"/>
          </a:xfrm>
          <a:prstGeom prst="rect">
            <a:avLst/>
          </a:prstGeom>
          <a:solidFill>
            <a:srgbClr val="FFFFCC"/>
          </a:solidFill>
          <a:ln w="10667">
            <a:solidFill>
              <a:srgbClr val="000000"/>
            </a:solidFill>
          </a:ln>
        </p:spPr>
        <p:txBody>
          <a:bodyPr vert="horz" wrap="square" lIns="0" tIns="208280" rIns="0" bIns="0" rtlCol="0">
            <a:spAutoFit/>
          </a:bodyPr>
          <a:lstStyle/>
          <a:p>
            <a:pPr marL="589280" marR="205104" indent="-376555">
              <a:lnSpc>
                <a:spcPct val="100000"/>
              </a:lnSpc>
              <a:spcBef>
                <a:spcPts val="1640"/>
              </a:spcBef>
            </a:pPr>
            <a:r>
              <a:rPr sz="2200" spc="-5" dirty="0">
                <a:latin typeface="Times New Roman"/>
                <a:cs typeface="Times New Roman"/>
              </a:rPr>
              <a:t>Establishing</a:t>
            </a:r>
            <a:r>
              <a:rPr sz="2200" spc="-55" dirty="0">
                <a:latin typeface="Times New Roman"/>
                <a:cs typeface="Times New Roman"/>
              </a:rPr>
              <a:t> </a:t>
            </a:r>
            <a:r>
              <a:rPr sz="2200" spc="-5" dirty="0">
                <a:latin typeface="Times New Roman"/>
                <a:cs typeface="Times New Roman"/>
              </a:rPr>
              <a:t>a</a:t>
            </a:r>
            <a:r>
              <a:rPr sz="2200" spc="-20" dirty="0">
                <a:latin typeface="Times New Roman"/>
                <a:cs typeface="Times New Roman"/>
              </a:rPr>
              <a:t> </a:t>
            </a:r>
            <a:r>
              <a:rPr sz="2200" spc="-5" dirty="0" smtClean="0">
                <a:latin typeface="Times New Roman"/>
                <a:cs typeface="Times New Roman"/>
              </a:rPr>
              <a:t>strong</a:t>
            </a:r>
            <a:r>
              <a:rPr lang="en-US" sz="2200" spc="-5" dirty="0" smtClean="0">
                <a:latin typeface="Times New Roman"/>
                <a:cs typeface="Times New Roman"/>
              </a:rPr>
              <a:t> </a:t>
            </a:r>
            <a:r>
              <a:rPr sz="2200" spc="-5" dirty="0" smtClean="0">
                <a:latin typeface="Times New Roman"/>
                <a:cs typeface="Times New Roman"/>
              </a:rPr>
              <a:t>ethical</a:t>
            </a:r>
            <a:r>
              <a:rPr sz="2200" spc="-30" dirty="0" smtClean="0">
                <a:latin typeface="Times New Roman"/>
                <a:cs typeface="Times New Roman"/>
              </a:rPr>
              <a:t> </a:t>
            </a:r>
            <a:r>
              <a:rPr sz="2200" spc="-5" dirty="0" smtClean="0">
                <a:latin typeface="Times New Roman"/>
                <a:cs typeface="Times New Roman"/>
              </a:rPr>
              <a:t>culture</a:t>
            </a:r>
            <a:r>
              <a:rPr lang="en-US" sz="2200" spc="-5" dirty="0" smtClean="0">
                <a:latin typeface="Times New Roman"/>
                <a:cs typeface="Times New Roman"/>
              </a:rPr>
              <a:t> for a Firm</a:t>
            </a:r>
            <a:endParaRPr sz="2200" dirty="0">
              <a:latin typeface="Times New Roman"/>
              <a:cs typeface="Times New Roman"/>
            </a:endParaRPr>
          </a:p>
        </p:txBody>
      </p:sp>
      <p:sp>
        <p:nvSpPr>
          <p:cNvPr id="5" name="object 5"/>
          <p:cNvSpPr txBox="1"/>
          <p:nvPr/>
        </p:nvSpPr>
        <p:spPr>
          <a:xfrm>
            <a:off x="3604259" y="2796539"/>
            <a:ext cx="2766060" cy="1173480"/>
          </a:xfrm>
          <a:prstGeom prst="rect">
            <a:avLst/>
          </a:prstGeom>
          <a:solidFill>
            <a:srgbClr val="FFFFCC"/>
          </a:solidFill>
          <a:ln w="10668">
            <a:solidFill>
              <a:srgbClr val="000000"/>
            </a:solidFill>
          </a:ln>
        </p:spPr>
        <p:txBody>
          <a:bodyPr vert="horz" wrap="square" lIns="0" tIns="3175" rIns="0" bIns="0" rtlCol="0">
            <a:spAutoFit/>
          </a:bodyPr>
          <a:lstStyle/>
          <a:p>
            <a:pPr>
              <a:lnSpc>
                <a:spcPct val="100000"/>
              </a:lnSpc>
              <a:spcBef>
                <a:spcPts val="25"/>
              </a:spcBef>
            </a:pPr>
            <a:endParaRPr sz="2550" dirty="0">
              <a:latin typeface="Times New Roman"/>
              <a:cs typeface="Times New Roman"/>
            </a:endParaRPr>
          </a:p>
          <a:p>
            <a:pPr marL="271145">
              <a:lnSpc>
                <a:spcPct val="100000"/>
              </a:lnSpc>
            </a:pPr>
            <a:r>
              <a:rPr sz="2200" spc="-5" dirty="0">
                <a:latin typeface="Times New Roman"/>
                <a:cs typeface="Times New Roman"/>
              </a:rPr>
              <a:t>Choosing</a:t>
            </a:r>
            <a:r>
              <a:rPr sz="2200" spc="-15" dirty="0">
                <a:latin typeface="Times New Roman"/>
                <a:cs typeface="Times New Roman"/>
              </a:rPr>
              <a:t> </a:t>
            </a:r>
            <a:r>
              <a:rPr sz="2200" spc="-10" dirty="0">
                <a:latin typeface="Times New Roman"/>
                <a:cs typeface="Times New Roman"/>
              </a:rPr>
              <a:t>an</a:t>
            </a:r>
            <a:r>
              <a:rPr sz="2200" spc="-15" dirty="0">
                <a:latin typeface="Times New Roman"/>
                <a:cs typeface="Times New Roman"/>
              </a:rPr>
              <a:t> </a:t>
            </a:r>
            <a:r>
              <a:rPr sz="2200" spc="-5" dirty="0">
                <a:latin typeface="Times New Roman"/>
                <a:cs typeface="Times New Roman"/>
              </a:rPr>
              <a:t>attorney</a:t>
            </a:r>
            <a:endParaRPr sz="2200" dirty="0">
              <a:latin typeface="Times New Roman"/>
              <a:cs typeface="Times New Roman"/>
            </a:endParaRPr>
          </a:p>
        </p:txBody>
      </p:sp>
      <p:sp>
        <p:nvSpPr>
          <p:cNvPr id="6" name="object 6"/>
          <p:cNvSpPr txBox="1"/>
          <p:nvPr/>
        </p:nvSpPr>
        <p:spPr>
          <a:xfrm>
            <a:off x="335280" y="4556759"/>
            <a:ext cx="2766060" cy="1173480"/>
          </a:xfrm>
          <a:prstGeom prst="rect">
            <a:avLst/>
          </a:prstGeom>
          <a:solidFill>
            <a:srgbClr val="FFFFCC"/>
          </a:solidFill>
          <a:ln w="10667">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marL="924560" marR="552450" indent="-364490">
              <a:lnSpc>
                <a:spcPct val="100000"/>
              </a:lnSpc>
            </a:pPr>
            <a:r>
              <a:rPr sz="2200" spc="-25" dirty="0">
                <a:latin typeface="Times New Roman"/>
                <a:cs typeface="Times New Roman"/>
              </a:rPr>
              <a:t>Avoiding</a:t>
            </a:r>
            <a:r>
              <a:rPr sz="2200" spc="-55" dirty="0">
                <a:latin typeface="Times New Roman"/>
                <a:cs typeface="Times New Roman"/>
              </a:rPr>
              <a:t> </a:t>
            </a:r>
            <a:r>
              <a:rPr sz="2200" spc="-10" dirty="0">
                <a:latin typeface="Times New Roman"/>
                <a:cs typeface="Times New Roman"/>
              </a:rPr>
              <a:t>legal </a:t>
            </a:r>
            <a:r>
              <a:rPr sz="2200" spc="-535" dirty="0">
                <a:latin typeface="Times New Roman"/>
                <a:cs typeface="Times New Roman"/>
              </a:rPr>
              <a:t> </a:t>
            </a:r>
            <a:r>
              <a:rPr sz="2200" spc="-5" dirty="0">
                <a:latin typeface="Times New Roman"/>
                <a:cs typeface="Times New Roman"/>
              </a:rPr>
              <a:t>disputes</a:t>
            </a:r>
            <a:endParaRPr sz="2200">
              <a:latin typeface="Times New Roman"/>
              <a:cs typeface="Times New Roman"/>
            </a:endParaRPr>
          </a:p>
        </p:txBody>
      </p:sp>
      <p:sp>
        <p:nvSpPr>
          <p:cNvPr id="7" name="object 7"/>
          <p:cNvSpPr txBox="1"/>
          <p:nvPr/>
        </p:nvSpPr>
        <p:spPr>
          <a:xfrm>
            <a:off x="3604259" y="4556759"/>
            <a:ext cx="2766060" cy="1173480"/>
          </a:xfrm>
          <a:prstGeom prst="rect">
            <a:avLst/>
          </a:prstGeom>
          <a:solidFill>
            <a:srgbClr val="FFFFCC"/>
          </a:solidFill>
          <a:ln w="10668">
            <a:solidFill>
              <a:srgbClr val="000000"/>
            </a:solidFill>
          </a:ln>
        </p:spPr>
        <p:txBody>
          <a:bodyPr vert="horz" wrap="square" lIns="0" tIns="208280" rIns="0" bIns="0" rtlCol="0">
            <a:spAutoFit/>
          </a:bodyPr>
          <a:lstStyle/>
          <a:p>
            <a:pPr marL="250825" marR="245110" indent="63500">
              <a:lnSpc>
                <a:spcPct val="100000"/>
              </a:lnSpc>
              <a:spcBef>
                <a:spcPts val="1640"/>
              </a:spcBef>
            </a:pPr>
            <a:r>
              <a:rPr sz="2200" spc="-5" dirty="0">
                <a:latin typeface="Times New Roman"/>
                <a:cs typeface="Times New Roman"/>
              </a:rPr>
              <a:t>Obtaining business </a:t>
            </a:r>
            <a:r>
              <a:rPr sz="2200" spc="-535" dirty="0">
                <a:latin typeface="Times New Roman"/>
                <a:cs typeface="Times New Roman"/>
              </a:rPr>
              <a:t> </a:t>
            </a:r>
            <a:r>
              <a:rPr sz="2200" spc="-5" dirty="0">
                <a:latin typeface="Times New Roman"/>
                <a:cs typeface="Times New Roman"/>
              </a:rPr>
              <a:t>licenses</a:t>
            </a:r>
            <a:r>
              <a:rPr sz="2200" spc="-55" dirty="0">
                <a:latin typeface="Times New Roman"/>
                <a:cs typeface="Times New Roman"/>
              </a:rPr>
              <a:t> </a:t>
            </a:r>
            <a:r>
              <a:rPr sz="2200" spc="-10" dirty="0">
                <a:latin typeface="Times New Roman"/>
                <a:cs typeface="Times New Roman"/>
              </a:rPr>
              <a:t>and</a:t>
            </a:r>
            <a:r>
              <a:rPr sz="2200" spc="-15" dirty="0">
                <a:latin typeface="Times New Roman"/>
                <a:cs typeface="Times New Roman"/>
              </a:rPr>
              <a:t> </a:t>
            </a:r>
            <a:r>
              <a:rPr sz="2200" spc="-5" dirty="0">
                <a:latin typeface="Times New Roman"/>
                <a:cs typeface="Times New Roman"/>
              </a:rPr>
              <a:t>permits</a:t>
            </a:r>
            <a:endParaRPr sz="2200">
              <a:latin typeface="Times New Roman"/>
              <a:cs typeface="Times New Roman"/>
            </a:endParaRPr>
          </a:p>
        </p:txBody>
      </p:sp>
      <p:sp>
        <p:nvSpPr>
          <p:cNvPr id="8" name="object 8"/>
          <p:cNvSpPr txBox="1"/>
          <p:nvPr/>
        </p:nvSpPr>
        <p:spPr>
          <a:xfrm>
            <a:off x="6957059" y="4556759"/>
            <a:ext cx="2766060" cy="1173480"/>
          </a:xfrm>
          <a:prstGeom prst="rect">
            <a:avLst/>
          </a:prstGeom>
          <a:solidFill>
            <a:srgbClr val="FFFFCC"/>
          </a:solidFill>
          <a:ln w="10667">
            <a:solidFill>
              <a:srgbClr val="000000"/>
            </a:solidFill>
          </a:ln>
        </p:spPr>
        <p:txBody>
          <a:bodyPr vert="horz" wrap="square" lIns="0" tIns="208280" rIns="0" bIns="0" rtlCol="0">
            <a:spAutoFit/>
          </a:bodyPr>
          <a:lstStyle/>
          <a:p>
            <a:pPr marL="179705" marR="171450" indent="113664">
              <a:lnSpc>
                <a:spcPct val="100000"/>
              </a:lnSpc>
              <a:spcBef>
                <a:spcPts val="1640"/>
              </a:spcBef>
            </a:pPr>
            <a:r>
              <a:rPr sz="2200" spc="-5" dirty="0">
                <a:latin typeface="Times New Roman"/>
                <a:cs typeface="Times New Roman"/>
              </a:rPr>
              <a:t>Choosing a form </a:t>
            </a:r>
            <a:r>
              <a:rPr sz="2200" spc="5" dirty="0">
                <a:latin typeface="Times New Roman"/>
                <a:cs typeface="Times New Roman"/>
              </a:rPr>
              <a:t>of </a:t>
            </a:r>
            <a:r>
              <a:rPr sz="2200" spc="10" dirty="0">
                <a:latin typeface="Times New Roman"/>
                <a:cs typeface="Times New Roman"/>
              </a:rPr>
              <a:t> </a:t>
            </a:r>
            <a:r>
              <a:rPr sz="2200" spc="-5" dirty="0">
                <a:latin typeface="Times New Roman"/>
                <a:cs typeface="Times New Roman"/>
              </a:rPr>
              <a:t>business</a:t>
            </a:r>
            <a:r>
              <a:rPr sz="2200" spc="-90" dirty="0">
                <a:latin typeface="Times New Roman"/>
                <a:cs typeface="Times New Roman"/>
              </a:rPr>
              <a:t> </a:t>
            </a:r>
            <a:r>
              <a:rPr sz="2200" spc="-5" dirty="0">
                <a:latin typeface="Times New Roman"/>
                <a:cs typeface="Times New Roman"/>
              </a:rPr>
              <a:t>organization</a:t>
            </a:r>
            <a:endParaRPr sz="2200">
              <a:latin typeface="Times New Roman"/>
              <a:cs typeface="Times New Roman"/>
            </a:endParaRPr>
          </a:p>
        </p:txBody>
      </p:sp>
      <p:sp>
        <p:nvSpPr>
          <p:cNvPr id="9" name="object 9"/>
          <p:cNvSpPr txBox="1"/>
          <p:nvPr/>
        </p:nvSpPr>
        <p:spPr>
          <a:xfrm>
            <a:off x="6957059" y="2796539"/>
            <a:ext cx="2766060" cy="1173480"/>
          </a:xfrm>
          <a:prstGeom prst="rect">
            <a:avLst/>
          </a:prstGeom>
          <a:solidFill>
            <a:srgbClr val="FFFFCC"/>
          </a:solidFill>
          <a:ln w="10667">
            <a:solidFill>
              <a:srgbClr val="000000"/>
            </a:solidFill>
          </a:ln>
        </p:spPr>
        <p:txBody>
          <a:bodyPr vert="horz" wrap="square" lIns="0" tIns="208280" rIns="0" bIns="0" rtlCol="0">
            <a:spAutoFit/>
          </a:bodyPr>
          <a:lstStyle/>
          <a:p>
            <a:pPr marL="802640" marR="234315" indent="-558165">
              <a:lnSpc>
                <a:spcPct val="100000"/>
              </a:lnSpc>
              <a:spcBef>
                <a:spcPts val="1640"/>
              </a:spcBef>
            </a:pPr>
            <a:r>
              <a:rPr sz="2200" spc="-5" dirty="0">
                <a:latin typeface="Times New Roman"/>
                <a:cs typeface="Times New Roman"/>
              </a:rPr>
              <a:t>Drafting</a:t>
            </a:r>
            <a:r>
              <a:rPr sz="2200" spc="-30" dirty="0">
                <a:latin typeface="Times New Roman"/>
                <a:cs typeface="Times New Roman"/>
              </a:rPr>
              <a:t> </a:t>
            </a:r>
            <a:r>
              <a:rPr sz="2200" spc="-5" dirty="0">
                <a:latin typeface="Times New Roman"/>
                <a:cs typeface="Times New Roman"/>
              </a:rPr>
              <a:t>a</a:t>
            </a:r>
            <a:r>
              <a:rPr sz="2200" spc="-30" dirty="0">
                <a:latin typeface="Times New Roman"/>
                <a:cs typeface="Times New Roman"/>
              </a:rPr>
              <a:t> </a:t>
            </a:r>
            <a:r>
              <a:rPr sz="2200" spc="-5" dirty="0">
                <a:latin typeface="Times New Roman"/>
                <a:cs typeface="Times New Roman"/>
              </a:rPr>
              <a:t>founder’s </a:t>
            </a:r>
            <a:r>
              <a:rPr sz="2200" spc="-535" dirty="0">
                <a:latin typeface="Times New Roman"/>
                <a:cs typeface="Times New Roman"/>
              </a:rPr>
              <a:t> </a:t>
            </a:r>
            <a:r>
              <a:rPr sz="2200" spc="-10" dirty="0">
                <a:latin typeface="Times New Roman"/>
                <a:cs typeface="Times New Roman"/>
              </a:rPr>
              <a:t>agreement</a:t>
            </a:r>
            <a:endParaRPr sz="22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2104" y="412376"/>
            <a:ext cx="7515859" cy="971550"/>
          </a:xfrm>
          <a:prstGeom prst="rect">
            <a:avLst/>
          </a:prstGeom>
        </p:spPr>
        <p:txBody>
          <a:bodyPr vert="horz" wrap="square" lIns="0" tIns="13970" rIns="0" bIns="0" rtlCol="0">
            <a:spAutoFit/>
          </a:bodyPr>
          <a:lstStyle/>
          <a:p>
            <a:pPr algn="ctr">
              <a:lnSpc>
                <a:spcPct val="100000"/>
              </a:lnSpc>
              <a:spcBef>
                <a:spcPts val="110"/>
              </a:spcBef>
            </a:pPr>
            <a:r>
              <a:rPr dirty="0"/>
              <a:t>Establishing</a:t>
            </a:r>
            <a:r>
              <a:rPr spc="-45" dirty="0"/>
              <a:t> </a:t>
            </a:r>
            <a:r>
              <a:rPr dirty="0"/>
              <a:t>a</a:t>
            </a:r>
            <a:r>
              <a:rPr spc="20" dirty="0"/>
              <a:t> </a:t>
            </a:r>
            <a:r>
              <a:rPr spc="5" dirty="0"/>
              <a:t>Strong</a:t>
            </a:r>
            <a:r>
              <a:rPr spc="-5" dirty="0"/>
              <a:t> Ethical</a:t>
            </a:r>
            <a:r>
              <a:rPr spc="5" dirty="0"/>
              <a:t> Culture</a:t>
            </a:r>
          </a:p>
          <a:p>
            <a:pPr algn="ctr">
              <a:lnSpc>
                <a:spcPct val="100000"/>
              </a:lnSpc>
              <a:spcBef>
                <a:spcPts val="55"/>
              </a:spcBef>
            </a:pPr>
            <a:r>
              <a:rPr sz="2200" spc="-5" dirty="0"/>
              <a:t>1</a:t>
            </a:r>
            <a:r>
              <a:rPr sz="2200" spc="-35" dirty="0"/>
              <a:t> </a:t>
            </a:r>
            <a:r>
              <a:rPr sz="2200" spc="-5" dirty="0"/>
              <a:t>of</a:t>
            </a:r>
            <a:r>
              <a:rPr sz="2200" spc="-15" dirty="0"/>
              <a:t> </a:t>
            </a:r>
            <a:r>
              <a:rPr sz="2200" spc="-5" dirty="0"/>
              <a:t>2</a:t>
            </a:r>
            <a:endParaRPr sz="2200"/>
          </a:p>
        </p:txBody>
      </p:sp>
      <p:sp>
        <p:nvSpPr>
          <p:cNvPr id="3" name="object 3"/>
          <p:cNvSpPr txBox="1"/>
          <p:nvPr/>
        </p:nvSpPr>
        <p:spPr>
          <a:xfrm>
            <a:off x="590865" y="1803066"/>
            <a:ext cx="8726805" cy="5153334"/>
          </a:xfrm>
          <a:prstGeom prst="rect">
            <a:avLst/>
          </a:prstGeom>
        </p:spPr>
        <p:txBody>
          <a:bodyPr vert="horz" wrap="square" lIns="0" tIns="112395" rIns="0" bIns="0" rtlCol="0">
            <a:spAutoFit/>
          </a:bodyPr>
          <a:lstStyle/>
          <a:p>
            <a:pPr marL="12065" algn="just">
              <a:lnSpc>
                <a:spcPct val="100000"/>
              </a:lnSpc>
              <a:spcBef>
                <a:spcPts val="885"/>
              </a:spcBef>
              <a:tabLst>
                <a:tab pos="388620" algn="l"/>
                <a:tab pos="389255" algn="l"/>
              </a:tabLst>
            </a:pPr>
            <a:r>
              <a:rPr lang="en-US" sz="2600" spc="15" dirty="0" smtClean="0">
                <a:latin typeface="Times New Roman"/>
                <a:cs typeface="Times New Roman"/>
              </a:rPr>
              <a:t>It takes </a:t>
            </a:r>
            <a:r>
              <a:rPr lang="en-US" sz="2600" spc="15" dirty="0">
                <a:latin typeface="Times New Roman"/>
                <a:cs typeface="Times New Roman"/>
              </a:rPr>
              <a:t>entrepreneurs </a:t>
            </a:r>
            <a:r>
              <a:rPr lang="en-US" sz="2600" spc="15" dirty="0" smtClean="0">
                <a:latin typeface="Times New Roman"/>
                <a:cs typeface="Times New Roman"/>
              </a:rPr>
              <a:t>who make </a:t>
            </a:r>
            <a:r>
              <a:rPr lang="en-US" sz="2600" spc="15" dirty="0">
                <a:latin typeface="Times New Roman"/>
                <a:cs typeface="Times New Roman"/>
              </a:rPr>
              <a:t>ethics a priority </a:t>
            </a:r>
            <a:r>
              <a:rPr lang="en-US" sz="2600" spc="15" dirty="0" smtClean="0">
                <a:latin typeface="Times New Roman"/>
                <a:cs typeface="Times New Roman"/>
              </a:rPr>
              <a:t>and organizational </a:t>
            </a:r>
            <a:r>
              <a:rPr lang="en-US" sz="2600" spc="15" dirty="0">
                <a:latin typeface="Times New Roman"/>
                <a:cs typeface="Times New Roman"/>
              </a:rPr>
              <a:t>policies and procedures that encourage ethical behavior (and punish unethical behavior) to make it </a:t>
            </a:r>
            <a:r>
              <a:rPr lang="en-US" sz="2600" spc="15" dirty="0" smtClean="0">
                <a:latin typeface="Times New Roman"/>
                <a:cs typeface="Times New Roman"/>
              </a:rPr>
              <a:t>happen. </a:t>
            </a:r>
          </a:p>
          <a:p>
            <a:pPr marL="12065" algn="just">
              <a:lnSpc>
                <a:spcPct val="100000"/>
              </a:lnSpc>
              <a:spcBef>
                <a:spcPts val="885"/>
              </a:spcBef>
              <a:tabLst>
                <a:tab pos="388620" algn="l"/>
                <a:tab pos="389255" algn="l"/>
              </a:tabLst>
            </a:pPr>
            <a:r>
              <a:rPr lang="en-US" sz="2400" spc="15" dirty="0" smtClean="0">
                <a:latin typeface="Times New Roman"/>
                <a:cs typeface="Times New Roman"/>
              </a:rPr>
              <a:t>The following </a:t>
            </a:r>
            <a:r>
              <a:rPr lang="en-US" sz="2400" spc="15" dirty="0">
                <a:latin typeface="Times New Roman"/>
                <a:cs typeface="Times New Roman"/>
              </a:rPr>
              <a:t>are specific steps that an entrepreneurial organization can take </a:t>
            </a:r>
            <a:r>
              <a:rPr lang="en-US" sz="2400" spc="15" dirty="0" smtClean="0">
                <a:latin typeface="Times New Roman"/>
                <a:cs typeface="Times New Roman"/>
              </a:rPr>
              <a:t>to build </a:t>
            </a:r>
            <a:r>
              <a:rPr lang="en-US" sz="2400" spc="15" dirty="0">
                <a:latin typeface="Times New Roman"/>
                <a:cs typeface="Times New Roman"/>
              </a:rPr>
              <a:t>a strong ethical culture.</a:t>
            </a:r>
          </a:p>
          <a:p>
            <a:pPr marL="388620" indent="-376555" algn="just">
              <a:lnSpc>
                <a:spcPct val="100000"/>
              </a:lnSpc>
              <a:spcBef>
                <a:spcPts val="885"/>
              </a:spcBef>
              <a:buChar char="•"/>
              <a:tabLst>
                <a:tab pos="388620" algn="l"/>
                <a:tab pos="389255" algn="l"/>
              </a:tabLst>
            </a:pPr>
            <a:r>
              <a:rPr sz="2400" b="1" spc="15" dirty="0" smtClean="0">
                <a:latin typeface="Times New Roman"/>
                <a:cs typeface="Times New Roman"/>
              </a:rPr>
              <a:t>Lead</a:t>
            </a:r>
            <a:r>
              <a:rPr sz="2400" b="1" spc="-25" dirty="0" smtClean="0">
                <a:latin typeface="Times New Roman"/>
                <a:cs typeface="Times New Roman"/>
              </a:rPr>
              <a:t> </a:t>
            </a:r>
            <a:r>
              <a:rPr sz="2400" b="1" spc="5" dirty="0">
                <a:latin typeface="Times New Roman"/>
                <a:cs typeface="Times New Roman"/>
              </a:rPr>
              <a:t>By</a:t>
            </a:r>
            <a:r>
              <a:rPr sz="2400" b="1" spc="-20" dirty="0">
                <a:latin typeface="Times New Roman"/>
                <a:cs typeface="Times New Roman"/>
              </a:rPr>
              <a:t> </a:t>
            </a:r>
            <a:r>
              <a:rPr sz="2400" b="1" spc="20" dirty="0" smtClean="0">
                <a:latin typeface="Times New Roman"/>
                <a:cs typeface="Times New Roman"/>
              </a:rPr>
              <a:t>Example</a:t>
            </a:r>
            <a:r>
              <a:rPr lang="en-US" sz="2400" b="1" dirty="0">
                <a:latin typeface="Times New Roman"/>
                <a:cs typeface="Times New Roman"/>
              </a:rPr>
              <a:t> </a:t>
            </a:r>
            <a:r>
              <a:rPr lang="en-US" sz="2400" b="1" dirty="0" smtClean="0">
                <a:latin typeface="Times New Roman"/>
                <a:cs typeface="Times New Roman"/>
              </a:rPr>
              <a:t>: </a:t>
            </a:r>
            <a:r>
              <a:rPr sz="2400" spc="-10" dirty="0" smtClean="0">
                <a:latin typeface="Times New Roman"/>
                <a:cs typeface="Times New Roman"/>
              </a:rPr>
              <a:t>The </a:t>
            </a:r>
            <a:r>
              <a:rPr sz="2400" spc="-15" dirty="0">
                <a:latin typeface="Times New Roman"/>
                <a:cs typeface="Times New Roman"/>
              </a:rPr>
              <a:t>most </a:t>
            </a:r>
            <a:r>
              <a:rPr sz="2400" spc="-10" dirty="0">
                <a:latin typeface="Times New Roman"/>
                <a:cs typeface="Times New Roman"/>
              </a:rPr>
              <a:t>important </a:t>
            </a:r>
            <a:r>
              <a:rPr sz="2400" spc="-5" dirty="0">
                <a:latin typeface="Times New Roman"/>
                <a:cs typeface="Times New Roman"/>
              </a:rPr>
              <a:t>thing </a:t>
            </a:r>
            <a:r>
              <a:rPr sz="2400" dirty="0">
                <a:latin typeface="Times New Roman"/>
                <a:cs typeface="Times New Roman"/>
              </a:rPr>
              <a:t>that </a:t>
            </a:r>
            <a:r>
              <a:rPr sz="2400" spc="-10" dirty="0">
                <a:latin typeface="Times New Roman"/>
                <a:cs typeface="Times New Roman"/>
              </a:rPr>
              <a:t>any </a:t>
            </a:r>
            <a:r>
              <a:rPr sz="2400" spc="-10" dirty="0" smtClean="0">
                <a:latin typeface="Times New Roman"/>
                <a:cs typeface="Times New Roman"/>
              </a:rPr>
              <a:t>entrepreneu</a:t>
            </a:r>
            <a:r>
              <a:rPr lang="en-US" sz="2400" spc="-10" dirty="0" smtClean="0">
                <a:latin typeface="Times New Roman"/>
                <a:cs typeface="Times New Roman"/>
              </a:rPr>
              <a:t>r </a:t>
            </a:r>
            <a:r>
              <a:rPr sz="2400" spc="-5" dirty="0" smtClean="0">
                <a:latin typeface="Times New Roman"/>
                <a:cs typeface="Times New Roman"/>
              </a:rPr>
              <a:t>can </a:t>
            </a:r>
            <a:r>
              <a:rPr sz="2400" spc="-5" dirty="0">
                <a:latin typeface="Times New Roman"/>
                <a:cs typeface="Times New Roman"/>
              </a:rPr>
              <a:t>do to </a:t>
            </a:r>
            <a:r>
              <a:rPr sz="2400" spc="-10" dirty="0">
                <a:latin typeface="Times New Roman"/>
                <a:cs typeface="Times New Roman"/>
              </a:rPr>
              <a:t>build </a:t>
            </a:r>
            <a:r>
              <a:rPr sz="2400" spc="-5" dirty="0">
                <a:latin typeface="Times New Roman"/>
                <a:cs typeface="Times New Roman"/>
              </a:rPr>
              <a:t>a </a:t>
            </a:r>
            <a:r>
              <a:rPr sz="2400" spc="-10" dirty="0">
                <a:latin typeface="Times New Roman"/>
                <a:cs typeface="Times New Roman"/>
              </a:rPr>
              <a:t>strong </a:t>
            </a:r>
            <a:r>
              <a:rPr sz="2400" spc="-5" dirty="0">
                <a:latin typeface="Times New Roman"/>
                <a:cs typeface="Times New Roman"/>
              </a:rPr>
              <a:t>ethical </a:t>
            </a:r>
            <a:r>
              <a:rPr sz="2400" spc="-10" dirty="0">
                <a:latin typeface="Times New Roman"/>
                <a:cs typeface="Times New Roman"/>
              </a:rPr>
              <a:t>culture </a:t>
            </a:r>
            <a:r>
              <a:rPr sz="2400" spc="-5" dirty="0">
                <a:latin typeface="Times New Roman"/>
                <a:cs typeface="Times New Roman"/>
              </a:rPr>
              <a:t>in </a:t>
            </a:r>
            <a:r>
              <a:rPr sz="2400" dirty="0">
                <a:latin typeface="Times New Roman"/>
                <a:cs typeface="Times New Roman"/>
              </a:rPr>
              <a:t> </a:t>
            </a:r>
            <a:r>
              <a:rPr sz="2400" spc="-5" dirty="0">
                <a:latin typeface="Times New Roman"/>
                <a:cs typeface="Times New Roman"/>
              </a:rPr>
              <a:t>their</a:t>
            </a:r>
            <a:r>
              <a:rPr sz="2400" spc="-20" dirty="0">
                <a:latin typeface="Times New Roman"/>
                <a:cs typeface="Times New Roman"/>
              </a:rPr>
              <a:t> </a:t>
            </a:r>
            <a:r>
              <a:rPr sz="2400" spc="-5" dirty="0" smtClean="0">
                <a:latin typeface="Times New Roman"/>
                <a:cs typeface="Times New Roman"/>
              </a:rPr>
              <a:t>organization</a:t>
            </a:r>
            <a:r>
              <a:rPr lang="en-US" sz="2400" spc="-30" dirty="0" smtClean="0">
                <a:latin typeface="Times New Roman"/>
                <a:cs typeface="Times New Roman"/>
              </a:rPr>
              <a:t>.</a:t>
            </a:r>
          </a:p>
          <a:p>
            <a:pPr marL="354965" indent="-342900" algn="just">
              <a:lnSpc>
                <a:spcPct val="100000"/>
              </a:lnSpc>
              <a:spcBef>
                <a:spcPts val="885"/>
              </a:spcBef>
              <a:buFont typeface="Wingdings" pitchFamily="2" charset="2"/>
              <a:buChar char="ü"/>
              <a:tabLst>
                <a:tab pos="388620" algn="l"/>
                <a:tab pos="389255" algn="l"/>
              </a:tabLst>
            </a:pPr>
            <a:r>
              <a:rPr lang="en-US" sz="2400" dirty="0">
                <a:latin typeface="Times New Roman"/>
                <a:cs typeface="Times New Roman"/>
              </a:rPr>
              <a:t> </a:t>
            </a:r>
            <a:r>
              <a:rPr lang="en-US" sz="2200" dirty="0">
                <a:latin typeface="Times New Roman"/>
                <a:cs typeface="Times New Roman"/>
              </a:rPr>
              <a:t>Leaders who intentionally make ethics a part of their daily </a:t>
            </a:r>
            <a:r>
              <a:rPr lang="en-US" sz="2200" dirty="0" smtClean="0">
                <a:latin typeface="Times New Roman"/>
                <a:cs typeface="Times New Roman"/>
              </a:rPr>
              <a:t>conversations and </a:t>
            </a:r>
            <a:r>
              <a:rPr lang="en-US" sz="2200" dirty="0">
                <a:latin typeface="Times New Roman"/>
                <a:cs typeface="Times New Roman"/>
              </a:rPr>
              <a:t>decision making</a:t>
            </a:r>
          </a:p>
          <a:p>
            <a:pPr marL="354965" indent="-342900" algn="just">
              <a:lnSpc>
                <a:spcPct val="100000"/>
              </a:lnSpc>
              <a:spcBef>
                <a:spcPts val="885"/>
              </a:spcBef>
              <a:buFont typeface="Wingdings" pitchFamily="2" charset="2"/>
              <a:buChar char="ü"/>
              <a:tabLst>
                <a:tab pos="388620" algn="l"/>
                <a:tab pos="389255" algn="l"/>
              </a:tabLst>
            </a:pPr>
            <a:r>
              <a:rPr lang="en-US" sz="2200" dirty="0">
                <a:latin typeface="Times New Roman"/>
                <a:cs typeface="Times New Roman"/>
              </a:rPr>
              <a:t> Supervisors who emphasize integrity when working with their direct reports</a:t>
            </a:r>
          </a:p>
          <a:p>
            <a:pPr marL="354965" indent="-342900" algn="just">
              <a:lnSpc>
                <a:spcPct val="100000"/>
              </a:lnSpc>
              <a:spcBef>
                <a:spcPts val="885"/>
              </a:spcBef>
              <a:buFont typeface="Wingdings" pitchFamily="2" charset="2"/>
              <a:buChar char="ü"/>
              <a:tabLst>
                <a:tab pos="388620" algn="l"/>
                <a:tab pos="389255" algn="l"/>
              </a:tabLst>
            </a:pPr>
            <a:r>
              <a:rPr lang="en-US" sz="2200" dirty="0">
                <a:latin typeface="Times New Roman"/>
                <a:cs typeface="Times New Roman"/>
              </a:rPr>
              <a:t> Peers who encourage each other to act </a:t>
            </a:r>
            <a:r>
              <a:rPr lang="en-US" sz="2200" dirty="0" smtClean="0">
                <a:latin typeface="Times New Roman"/>
                <a:cs typeface="Times New Roman"/>
              </a:rPr>
              <a:t>ethically</a:t>
            </a:r>
            <a:endParaRPr sz="2200" dirty="0">
              <a:latin typeface="Times New Roman"/>
              <a:cs typeface="Times New Roman"/>
            </a:endParaRPr>
          </a:p>
        </p:txBody>
      </p:sp>
      <p:sp>
        <p:nvSpPr>
          <p:cNvPr id="4" name="object 4"/>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2104" y="412376"/>
            <a:ext cx="7515859" cy="971550"/>
          </a:xfrm>
          <a:prstGeom prst="rect">
            <a:avLst/>
          </a:prstGeom>
        </p:spPr>
        <p:txBody>
          <a:bodyPr vert="horz" wrap="square" lIns="0" tIns="13970" rIns="0" bIns="0" rtlCol="0">
            <a:spAutoFit/>
          </a:bodyPr>
          <a:lstStyle/>
          <a:p>
            <a:pPr algn="ctr">
              <a:lnSpc>
                <a:spcPct val="100000"/>
              </a:lnSpc>
              <a:spcBef>
                <a:spcPts val="110"/>
              </a:spcBef>
            </a:pPr>
            <a:r>
              <a:rPr dirty="0"/>
              <a:t>Establishing</a:t>
            </a:r>
            <a:r>
              <a:rPr spc="-45" dirty="0"/>
              <a:t> </a:t>
            </a:r>
            <a:r>
              <a:rPr dirty="0"/>
              <a:t>a</a:t>
            </a:r>
            <a:r>
              <a:rPr spc="20" dirty="0"/>
              <a:t> </a:t>
            </a:r>
            <a:r>
              <a:rPr spc="5" dirty="0"/>
              <a:t>Strong</a:t>
            </a:r>
            <a:r>
              <a:rPr spc="-5" dirty="0"/>
              <a:t> Ethical</a:t>
            </a:r>
            <a:r>
              <a:rPr spc="5" dirty="0"/>
              <a:t> Culture</a:t>
            </a:r>
          </a:p>
          <a:p>
            <a:pPr algn="ctr">
              <a:lnSpc>
                <a:spcPct val="100000"/>
              </a:lnSpc>
              <a:spcBef>
                <a:spcPts val="55"/>
              </a:spcBef>
            </a:pPr>
            <a:r>
              <a:rPr sz="2200" spc="-5" dirty="0"/>
              <a:t>2</a:t>
            </a:r>
            <a:r>
              <a:rPr sz="2200" spc="-35" dirty="0"/>
              <a:t> </a:t>
            </a:r>
            <a:r>
              <a:rPr sz="2200" spc="-5" dirty="0"/>
              <a:t>of</a:t>
            </a:r>
            <a:r>
              <a:rPr sz="2200" spc="-15" dirty="0"/>
              <a:t> </a:t>
            </a:r>
            <a:r>
              <a:rPr sz="2200" spc="-5" dirty="0"/>
              <a:t>2</a:t>
            </a:r>
            <a:endParaRPr sz="2200"/>
          </a:p>
        </p:txBody>
      </p:sp>
      <p:sp>
        <p:nvSpPr>
          <p:cNvPr id="3" name="object 3"/>
          <p:cNvSpPr txBox="1"/>
          <p:nvPr/>
        </p:nvSpPr>
        <p:spPr>
          <a:xfrm>
            <a:off x="590865" y="1803066"/>
            <a:ext cx="8627745" cy="5455981"/>
          </a:xfrm>
          <a:prstGeom prst="rect">
            <a:avLst/>
          </a:prstGeom>
        </p:spPr>
        <p:txBody>
          <a:bodyPr vert="horz" wrap="square" lIns="0" tIns="112395" rIns="0" bIns="0" rtlCol="0">
            <a:spAutoFit/>
          </a:bodyPr>
          <a:lstStyle/>
          <a:p>
            <a:pPr marL="388620" lvl="0" indent="-376555" algn="just">
              <a:spcBef>
                <a:spcPts val="645"/>
              </a:spcBef>
              <a:buFontTx/>
              <a:buChar char="•"/>
              <a:tabLst>
                <a:tab pos="388620" algn="l"/>
                <a:tab pos="389255" algn="l"/>
              </a:tabLst>
            </a:pPr>
            <a:r>
              <a:rPr lang="en-US" sz="2400" b="1" spc="10" dirty="0">
                <a:solidFill>
                  <a:prstClr val="black"/>
                </a:solidFill>
                <a:latin typeface="Times New Roman"/>
                <a:cs typeface="Times New Roman"/>
              </a:rPr>
              <a:t>Establish</a:t>
            </a:r>
            <a:r>
              <a:rPr lang="en-US" sz="2400" b="1" spc="-35" dirty="0">
                <a:solidFill>
                  <a:prstClr val="black"/>
                </a:solidFill>
                <a:latin typeface="Times New Roman"/>
                <a:cs typeface="Times New Roman"/>
              </a:rPr>
              <a:t> </a:t>
            </a:r>
            <a:r>
              <a:rPr lang="en-US" sz="2400" b="1" spc="15" dirty="0">
                <a:solidFill>
                  <a:prstClr val="black"/>
                </a:solidFill>
                <a:latin typeface="Times New Roman"/>
                <a:cs typeface="Times New Roman"/>
              </a:rPr>
              <a:t>a</a:t>
            </a:r>
            <a:r>
              <a:rPr lang="en-US" sz="2400" b="1" spc="-15" dirty="0">
                <a:solidFill>
                  <a:prstClr val="black"/>
                </a:solidFill>
                <a:latin typeface="Times New Roman"/>
                <a:cs typeface="Times New Roman"/>
              </a:rPr>
              <a:t> </a:t>
            </a:r>
            <a:r>
              <a:rPr lang="en-US" sz="2400" b="1" spc="15" dirty="0">
                <a:solidFill>
                  <a:prstClr val="black"/>
                </a:solidFill>
                <a:latin typeface="Times New Roman"/>
                <a:cs typeface="Times New Roman"/>
              </a:rPr>
              <a:t>Code</a:t>
            </a:r>
            <a:r>
              <a:rPr lang="en-US" sz="2400" b="1" spc="-40" dirty="0">
                <a:solidFill>
                  <a:prstClr val="black"/>
                </a:solidFill>
                <a:latin typeface="Times New Roman"/>
                <a:cs typeface="Times New Roman"/>
              </a:rPr>
              <a:t> </a:t>
            </a:r>
            <a:r>
              <a:rPr lang="en-US" sz="2400" b="1" spc="25" dirty="0">
                <a:solidFill>
                  <a:prstClr val="black"/>
                </a:solidFill>
                <a:latin typeface="Times New Roman"/>
                <a:cs typeface="Times New Roman"/>
              </a:rPr>
              <a:t>of</a:t>
            </a:r>
            <a:r>
              <a:rPr lang="en-US" sz="2400" b="1" spc="-15" dirty="0">
                <a:solidFill>
                  <a:prstClr val="black"/>
                </a:solidFill>
                <a:latin typeface="Times New Roman"/>
                <a:cs typeface="Times New Roman"/>
              </a:rPr>
              <a:t> </a:t>
            </a:r>
            <a:r>
              <a:rPr lang="en-US" sz="2400" b="1" spc="15" dirty="0">
                <a:solidFill>
                  <a:prstClr val="black"/>
                </a:solidFill>
                <a:latin typeface="Times New Roman"/>
                <a:cs typeface="Times New Roman"/>
              </a:rPr>
              <a:t>Conduct</a:t>
            </a:r>
            <a:endParaRPr lang="en-US" sz="2400" b="1" dirty="0">
              <a:solidFill>
                <a:prstClr val="black"/>
              </a:solidFill>
              <a:latin typeface="Times New Roman"/>
              <a:cs typeface="Times New Roman"/>
            </a:endParaRPr>
          </a:p>
          <a:p>
            <a:pPr marL="829310" marR="6350" lvl="1" indent="-314325" algn="just">
              <a:lnSpc>
                <a:spcPts val="3170"/>
              </a:lnSpc>
              <a:spcBef>
                <a:spcPts val="755"/>
              </a:spcBef>
              <a:buFontTx/>
              <a:buChar char="–"/>
              <a:tabLst>
                <a:tab pos="830580" algn="l"/>
                <a:tab pos="831215" algn="l"/>
              </a:tabLst>
            </a:pPr>
            <a:r>
              <a:rPr lang="en-US" sz="2400" spc="-10" dirty="0">
                <a:solidFill>
                  <a:prstClr val="black"/>
                </a:solidFill>
                <a:latin typeface="Times New Roman"/>
                <a:cs typeface="Times New Roman"/>
              </a:rPr>
              <a:t>A</a:t>
            </a:r>
            <a:r>
              <a:rPr lang="en-US" sz="2400" spc="-15" dirty="0">
                <a:solidFill>
                  <a:prstClr val="black"/>
                </a:solidFill>
                <a:latin typeface="Times New Roman"/>
                <a:cs typeface="Times New Roman"/>
              </a:rPr>
              <a:t> </a:t>
            </a:r>
            <a:r>
              <a:rPr lang="en-US" sz="2400" spc="-10" dirty="0">
                <a:solidFill>
                  <a:prstClr val="black"/>
                </a:solidFill>
                <a:latin typeface="Times New Roman"/>
                <a:cs typeface="Times New Roman"/>
              </a:rPr>
              <a:t>code</a:t>
            </a:r>
            <a:r>
              <a:rPr lang="en-US" sz="2400" spc="10" dirty="0">
                <a:solidFill>
                  <a:prstClr val="black"/>
                </a:solidFill>
                <a:latin typeface="Times New Roman"/>
                <a:cs typeface="Times New Roman"/>
              </a:rPr>
              <a:t> </a:t>
            </a:r>
            <a:r>
              <a:rPr lang="en-US" sz="2400" spc="-5" dirty="0">
                <a:solidFill>
                  <a:prstClr val="black"/>
                </a:solidFill>
                <a:latin typeface="Times New Roman"/>
                <a:cs typeface="Times New Roman"/>
              </a:rPr>
              <a:t>of</a:t>
            </a:r>
            <a:r>
              <a:rPr lang="en-US" sz="2400" spc="-20" dirty="0">
                <a:solidFill>
                  <a:prstClr val="black"/>
                </a:solidFill>
                <a:latin typeface="Times New Roman"/>
                <a:cs typeface="Times New Roman"/>
              </a:rPr>
              <a:t> </a:t>
            </a:r>
            <a:r>
              <a:rPr lang="en-US" sz="2400" spc="-5" dirty="0">
                <a:solidFill>
                  <a:prstClr val="black"/>
                </a:solidFill>
                <a:latin typeface="Times New Roman"/>
                <a:cs typeface="Times New Roman"/>
              </a:rPr>
              <a:t>conduct</a:t>
            </a:r>
            <a:r>
              <a:rPr lang="en-US" sz="2400" spc="-25" dirty="0">
                <a:solidFill>
                  <a:prstClr val="black"/>
                </a:solidFill>
                <a:latin typeface="Times New Roman"/>
                <a:cs typeface="Times New Roman"/>
              </a:rPr>
              <a:t> </a:t>
            </a:r>
            <a:r>
              <a:rPr lang="en-US" sz="2400" spc="-10" dirty="0">
                <a:solidFill>
                  <a:prstClr val="black"/>
                </a:solidFill>
                <a:latin typeface="Times New Roman"/>
                <a:cs typeface="Times New Roman"/>
              </a:rPr>
              <a:t>(or</a:t>
            </a:r>
            <a:r>
              <a:rPr lang="en-US" sz="2400" spc="10" dirty="0">
                <a:solidFill>
                  <a:prstClr val="black"/>
                </a:solidFill>
                <a:latin typeface="Times New Roman"/>
                <a:cs typeface="Times New Roman"/>
              </a:rPr>
              <a:t> </a:t>
            </a:r>
            <a:r>
              <a:rPr lang="en-US" sz="2400" spc="-10" dirty="0">
                <a:solidFill>
                  <a:prstClr val="black"/>
                </a:solidFill>
                <a:latin typeface="Times New Roman"/>
                <a:cs typeface="Times New Roman"/>
              </a:rPr>
              <a:t>code</a:t>
            </a:r>
            <a:r>
              <a:rPr lang="en-US" sz="2400" spc="-15" dirty="0">
                <a:solidFill>
                  <a:prstClr val="black"/>
                </a:solidFill>
                <a:latin typeface="Times New Roman"/>
                <a:cs typeface="Times New Roman"/>
              </a:rPr>
              <a:t> </a:t>
            </a:r>
            <a:r>
              <a:rPr lang="en-US" sz="2400" spc="-5" dirty="0">
                <a:solidFill>
                  <a:prstClr val="black"/>
                </a:solidFill>
                <a:latin typeface="Times New Roman"/>
                <a:cs typeface="Times New Roman"/>
              </a:rPr>
              <a:t>of</a:t>
            </a:r>
            <a:r>
              <a:rPr lang="en-US" sz="2400" spc="10" dirty="0">
                <a:solidFill>
                  <a:prstClr val="black"/>
                </a:solidFill>
                <a:latin typeface="Times New Roman"/>
                <a:cs typeface="Times New Roman"/>
              </a:rPr>
              <a:t> </a:t>
            </a:r>
            <a:r>
              <a:rPr lang="en-US" sz="2400" spc="-10" dirty="0">
                <a:solidFill>
                  <a:prstClr val="black"/>
                </a:solidFill>
                <a:latin typeface="Times New Roman"/>
                <a:cs typeface="Times New Roman"/>
              </a:rPr>
              <a:t>ethics)</a:t>
            </a:r>
            <a:r>
              <a:rPr lang="en-US" sz="2400" spc="-15" dirty="0">
                <a:solidFill>
                  <a:prstClr val="black"/>
                </a:solidFill>
                <a:latin typeface="Times New Roman"/>
                <a:cs typeface="Times New Roman"/>
              </a:rPr>
              <a:t> </a:t>
            </a:r>
            <a:r>
              <a:rPr lang="en-US" sz="2400" spc="-20" dirty="0">
                <a:solidFill>
                  <a:prstClr val="black"/>
                </a:solidFill>
                <a:latin typeface="Times New Roman"/>
                <a:cs typeface="Times New Roman"/>
              </a:rPr>
              <a:t>is</a:t>
            </a:r>
            <a:r>
              <a:rPr lang="en-US" sz="2400" spc="-10" dirty="0">
                <a:solidFill>
                  <a:prstClr val="black"/>
                </a:solidFill>
                <a:latin typeface="Times New Roman"/>
                <a:cs typeface="Times New Roman"/>
              </a:rPr>
              <a:t> </a:t>
            </a:r>
            <a:r>
              <a:rPr lang="en-US" sz="2400" spc="-5" dirty="0">
                <a:solidFill>
                  <a:prstClr val="black"/>
                </a:solidFill>
                <a:latin typeface="Times New Roman"/>
                <a:cs typeface="Times New Roman"/>
              </a:rPr>
              <a:t>a</a:t>
            </a:r>
            <a:r>
              <a:rPr lang="en-US" sz="2400" spc="10" dirty="0">
                <a:solidFill>
                  <a:prstClr val="black"/>
                </a:solidFill>
                <a:latin typeface="Times New Roman"/>
                <a:cs typeface="Times New Roman"/>
              </a:rPr>
              <a:t> </a:t>
            </a:r>
            <a:r>
              <a:rPr lang="en-US" sz="2400" spc="-10" dirty="0">
                <a:solidFill>
                  <a:prstClr val="black"/>
                </a:solidFill>
                <a:latin typeface="Times New Roman"/>
                <a:cs typeface="Times New Roman"/>
              </a:rPr>
              <a:t>formal</a:t>
            </a:r>
            <a:r>
              <a:rPr lang="en-US" sz="2400" spc="-5" dirty="0">
                <a:solidFill>
                  <a:prstClr val="black"/>
                </a:solidFill>
                <a:latin typeface="Times New Roman"/>
                <a:cs typeface="Times New Roman"/>
              </a:rPr>
              <a:t> statement </a:t>
            </a:r>
            <a:r>
              <a:rPr lang="en-US" sz="2400" spc="-5" dirty="0" smtClean="0">
                <a:solidFill>
                  <a:prstClr val="black"/>
                </a:solidFill>
                <a:latin typeface="Times New Roman"/>
                <a:cs typeface="Times New Roman"/>
              </a:rPr>
              <a:t>of </a:t>
            </a:r>
            <a:r>
              <a:rPr lang="en-US" sz="2400" dirty="0">
                <a:solidFill>
                  <a:prstClr val="black"/>
                </a:solidFill>
                <a:latin typeface="Times New Roman"/>
                <a:cs typeface="Times New Roman"/>
              </a:rPr>
              <a:t>an </a:t>
            </a:r>
            <a:r>
              <a:rPr lang="en-US" sz="2400" spc="-10" dirty="0">
                <a:solidFill>
                  <a:prstClr val="black"/>
                </a:solidFill>
                <a:latin typeface="Times New Roman"/>
                <a:cs typeface="Times New Roman"/>
              </a:rPr>
              <a:t>organization’s </a:t>
            </a:r>
            <a:r>
              <a:rPr lang="en-US" sz="2400" spc="-5" dirty="0">
                <a:solidFill>
                  <a:prstClr val="black"/>
                </a:solidFill>
                <a:latin typeface="Times New Roman"/>
                <a:cs typeface="Times New Roman"/>
              </a:rPr>
              <a:t>values on </a:t>
            </a:r>
            <a:r>
              <a:rPr lang="en-US" sz="2400" spc="-10" dirty="0">
                <a:solidFill>
                  <a:prstClr val="black"/>
                </a:solidFill>
                <a:latin typeface="Times New Roman"/>
                <a:cs typeface="Times New Roman"/>
              </a:rPr>
              <a:t>certain </a:t>
            </a:r>
            <a:r>
              <a:rPr lang="en-US" sz="2400" spc="-5" dirty="0">
                <a:solidFill>
                  <a:prstClr val="black"/>
                </a:solidFill>
                <a:latin typeface="Times New Roman"/>
                <a:cs typeface="Times New Roman"/>
              </a:rPr>
              <a:t>ethical </a:t>
            </a:r>
            <a:r>
              <a:rPr lang="en-US" sz="2400" dirty="0">
                <a:solidFill>
                  <a:prstClr val="black"/>
                </a:solidFill>
                <a:latin typeface="Times New Roman"/>
                <a:cs typeface="Times New Roman"/>
              </a:rPr>
              <a:t>and </a:t>
            </a:r>
            <a:r>
              <a:rPr lang="en-US" sz="2400" spc="-5" dirty="0">
                <a:solidFill>
                  <a:prstClr val="black"/>
                </a:solidFill>
                <a:latin typeface="Times New Roman"/>
                <a:cs typeface="Times New Roman"/>
              </a:rPr>
              <a:t>social </a:t>
            </a:r>
            <a:r>
              <a:rPr lang="en-US" sz="2400" dirty="0">
                <a:solidFill>
                  <a:prstClr val="black"/>
                </a:solidFill>
                <a:latin typeface="Times New Roman"/>
                <a:cs typeface="Times New Roman"/>
              </a:rPr>
              <a:t> </a:t>
            </a:r>
            <a:r>
              <a:rPr lang="en-US" sz="2400" spc="-5" dirty="0">
                <a:solidFill>
                  <a:prstClr val="black"/>
                </a:solidFill>
                <a:latin typeface="Times New Roman"/>
                <a:cs typeface="Times New Roman"/>
              </a:rPr>
              <a:t>issues</a:t>
            </a:r>
            <a:r>
              <a:rPr lang="en-US" sz="2400" spc="-5" dirty="0" smtClean="0">
                <a:solidFill>
                  <a:prstClr val="black"/>
                </a:solidFill>
                <a:latin typeface="Times New Roman"/>
                <a:cs typeface="Times New Roman"/>
              </a:rPr>
              <a:t>.</a:t>
            </a:r>
          </a:p>
          <a:p>
            <a:pPr marL="514985" marR="6350" lvl="1" algn="just">
              <a:lnSpc>
                <a:spcPts val="3170"/>
              </a:lnSpc>
              <a:spcBef>
                <a:spcPts val="755"/>
              </a:spcBef>
              <a:tabLst>
                <a:tab pos="830580" algn="l"/>
                <a:tab pos="831215" algn="l"/>
              </a:tabLst>
            </a:pPr>
            <a:r>
              <a:rPr lang="en-US" sz="2200" spc="15" dirty="0">
                <a:latin typeface="Times New Roman"/>
                <a:cs typeface="Times New Roman"/>
              </a:rPr>
              <a:t>The advantage of having a code of conduct is that it provides </a:t>
            </a:r>
            <a:r>
              <a:rPr lang="en-US" sz="2200" spc="15" dirty="0" smtClean="0">
                <a:latin typeface="Times New Roman"/>
                <a:cs typeface="Times New Roman"/>
              </a:rPr>
              <a:t>specific guidance </a:t>
            </a:r>
            <a:r>
              <a:rPr lang="en-US" sz="2200" spc="15" dirty="0">
                <a:latin typeface="Times New Roman"/>
                <a:cs typeface="Times New Roman"/>
              </a:rPr>
              <a:t>to managers and employees regarding expectations of them in </a:t>
            </a:r>
            <a:r>
              <a:rPr lang="en-US" sz="2200" spc="15" dirty="0" smtClean="0">
                <a:latin typeface="Times New Roman"/>
                <a:cs typeface="Times New Roman"/>
              </a:rPr>
              <a:t>terms of </a:t>
            </a:r>
            <a:r>
              <a:rPr lang="en-US" sz="2200" spc="15" dirty="0">
                <a:latin typeface="Times New Roman"/>
                <a:cs typeface="Times New Roman"/>
              </a:rPr>
              <a:t>ethical behavior.</a:t>
            </a:r>
            <a:endParaRPr lang="en-US" sz="2200" spc="15" dirty="0" smtClean="0">
              <a:latin typeface="Times New Roman"/>
              <a:cs typeface="Times New Roman"/>
            </a:endParaRPr>
          </a:p>
          <a:p>
            <a:pPr marL="388620" indent="-376555" algn="just">
              <a:lnSpc>
                <a:spcPct val="100000"/>
              </a:lnSpc>
              <a:spcBef>
                <a:spcPts val="885"/>
              </a:spcBef>
              <a:buChar char="•"/>
              <a:tabLst>
                <a:tab pos="388620" algn="l"/>
                <a:tab pos="389255" algn="l"/>
              </a:tabLst>
            </a:pPr>
            <a:r>
              <a:rPr sz="2400" b="1" spc="15" dirty="0" smtClean="0">
                <a:latin typeface="Times New Roman"/>
                <a:cs typeface="Times New Roman"/>
              </a:rPr>
              <a:t>Implement</a:t>
            </a:r>
            <a:r>
              <a:rPr sz="2400" b="1" spc="-55" dirty="0" smtClean="0">
                <a:latin typeface="Times New Roman"/>
                <a:cs typeface="Times New Roman"/>
              </a:rPr>
              <a:t> </a:t>
            </a:r>
            <a:r>
              <a:rPr sz="2400" b="1" spc="20" dirty="0">
                <a:latin typeface="Times New Roman"/>
                <a:cs typeface="Times New Roman"/>
              </a:rPr>
              <a:t>an</a:t>
            </a:r>
            <a:r>
              <a:rPr sz="2400" b="1" spc="-30" dirty="0">
                <a:latin typeface="Times New Roman"/>
                <a:cs typeface="Times New Roman"/>
              </a:rPr>
              <a:t> </a:t>
            </a:r>
            <a:r>
              <a:rPr sz="2400" b="1" spc="10" dirty="0">
                <a:latin typeface="Times New Roman"/>
                <a:cs typeface="Times New Roman"/>
              </a:rPr>
              <a:t>Ethics</a:t>
            </a:r>
            <a:r>
              <a:rPr sz="2400" b="1" spc="5" dirty="0">
                <a:latin typeface="Times New Roman"/>
                <a:cs typeface="Times New Roman"/>
              </a:rPr>
              <a:t> </a:t>
            </a:r>
            <a:r>
              <a:rPr sz="2400" b="1" spc="10" dirty="0">
                <a:latin typeface="Times New Roman"/>
                <a:cs typeface="Times New Roman"/>
              </a:rPr>
              <a:t>Training</a:t>
            </a:r>
            <a:r>
              <a:rPr sz="2400" b="1" dirty="0">
                <a:latin typeface="Times New Roman"/>
                <a:cs typeface="Times New Roman"/>
              </a:rPr>
              <a:t> </a:t>
            </a:r>
            <a:r>
              <a:rPr sz="2400" b="1" spc="15" dirty="0">
                <a:latin typeface="Times New Roman"/>
                <a:cs typeface="Times New Roman"/>
              </a:rPr>
              <a:t>Program</a:t>
            </a:r>
            <a:endParaRPr sz="2400" b="1" dirty="0">
              <a:latin typeface="Times New Roman"/>
              <a:cs typeface="Times New Roman"/>
            </a:endParaRPr>
          </a:p>
          <a:p>
            <a:pPr marL="829310" marR="215265" lvl="1" indent="-314325" algn="just">
              <a:lnSpc>
                <a:spcPts val="3170"/>
              </a:lnSpc>
              <a:spcBef>
                <a:spcPts val="750"/>
              </a:spcBef>
              <a:buChar char="–"/>
              <a:tabLst>
                <a:tab pos="830580" algn="l"/>
                <a:tab pos="831215" algn="l"/>
              </a:tabLst>
            </a:pPr>
            <a:r>
              <a:rPr sz="2400" spc="-10" dirty="0">
                <a:latin typeface="Times New Roman"/>
                <a:cs typeface="Times New Roman"/>
              </a:rPr>
              <a:t>Ethics training programs </a:t>
            </a:r>
            <a:r>
              <a:rPr sz="2400" spc="-5" dirty="0">
                <a:latin typeface="Times New Roman"/>
                <a:cs typeface="Times New Roman"/>
              </a:rPr>
              <a:t>teach business ethics </a:t>
            </a:r>
            <a:r>
              <a:rPr sz="2400" spc="-20" dirty="0">
                <a:latin typeface="Times New Roman"/>
                <a:cs typeface="Times New Roman"/>
              </a:rPr>
              <a:t>to </a:t>
            </a:r>
            <a:r>
              <a:rPr sz="2400" spc="-10" dirty="0">
                <a:latin typeface="Times New Roman"/>
                <a:cs typeface="Times New Roman"/>
              </a:rPr>
              <a:t>help </a:t>
            </a:r>
            <a:r>
              <a:rPr sz="2400" spc="-5" dirty="0">
                <a:latin typeface="Times New Roman"/>
                <a:cs typeface="Times New Roman"/>
              </a:rPr>
              <a:t> </a:t>
            </a:r>
            <a:r>
              <a:rPr sz="2400" spc="-10" dirty="0">
                <a:latin typeface="Times New Roman"/>
                <a:cs typeface="Times New Roman"/>
              </a:rPr>
              <a:t>employees </a:t>
            </a:r>
            <a:r>
              <a:rPr sz="2400" spc="-5" dirty="0">
                <a:latin typeface="Times New Roman"/>
                <a:cs typeface="Times New Roman"/>
              </a:rPr>
              <a:t>deal with ethical </a:t>
            </a:r>
            <a:r>
              <a:rPr sz="2400" spc="-10" dirty="0">
                <a:latin typeface="Times New Roman"/>
                <a:cs typeface="Times New Roman"/>
              </a:rPr>
              <a:t>dilemmas and improve </a:t>
            </a:r>
            <a:r>
              <a:rPr sz="2400" spc="-5" dirty="0">
                <a:latin typeface="Times New Roman"/>
                <a:cs typeface="Times New Roman"/>
              </a:rPr>
              <a:t>their </a:t>
            </a:r>
            <a:r>
              <a:rPr sz="2400" spc="-655" dirty="0">
                <a:latin typeface="Times New Roman"/>
                <a:cs typeface="Times New Roman"/>
              </a:rPr>
              <a:t> </a:t>
            </a:r>
            <a:r>
              <a:rPr sz="2400" spc="-5" dirty="0">
                <a:latin typeface="Times New Roman"/>
                <a:cs typeface="Times New Roman"/>
              </a:rPr>
              <a:t>overall</a:t>
            </a:r>
            <a:r>
              <a:rPr sz="2400" spc="-30" dirty="0">
                <a:latin typeface="Times New Roman"/>
                <a:cs typeface="Times New Roman"/>
              </a:rPr>
              <a:t> </a:t>
            </a:r>
            <a:r>
              <a:rPr sz="2400" spc="-5" dirty="0">
                <a:latin typeface="Times New Roman"/>
                <a:cs typeface="Times New Roman"/>
              </a:rPr>
              <a:t>ethical</a:t>
            </a:r>
            <a:r>
              <a:rPr sz="2400" spc="-25" dirty="0">
                <a:latin typeface="Times New Roman"/>
                <a:cs typeface="Times New Roman"/>
              </a:rPr>
              <a:t> </a:t>
            </a:r>
            <a:r>
              <a:rPr sz="2400" spc="-5" dirty="0">
                <a:latin typeface="Times New Roman"/>
                <a:cs typeface="Times New Roman"/>
              </a:rPr>
              <a:t>conduct.</a:t>
            </a:r>
            <a:endParaRPr sz="2400" dirty="0">
              <a:latin typeface="Times New Roman"/>
              <a:cs typeface="Times New Roman"/>
            </a:endParaRPr>
          </a:p>
          <a:p>
            <a:pPr marL="514985" marR="5080" lvl="1" algn="just">
              <a:lnSpc>
                <a:spcPts val="3170"/>
              </a:lnSpc>
              <a:spcBef>
                <a:spcPts val="620"/>
              </a:spcBef>
              <a:tabLst>
                <a:tab pos="830580" algn="l"/>
                <a:tab pos="831215" algn="l"/>
              </a:tabLst>
            </a:pPr>
            <a:r>
              <a:rPr sz="2200" spc="-15" dirty="0">
                <a:latin typeface="Times New Roman"/>
                <a:cs typeface="Times New Roman"/>
              </a:rPr>
              <a:t>An </a:t>
            </a:r>
            <a:r>
              <a:rPr sz="2200" spc="-5" dirty="0">
                <a:latin typeface="Times New Roman"/>
                <a:cs typeface="Times New Roman"/>
              </a:rPr>
              <a:t>ethical </a:t>
            </a:r>
            <a:r>
              <a:rPr sz="2200" spc="-10" dirty="0">
                <a:latin typeface="Times New Roman"/>
                <a:cs typeface="Times New Roman"/>
              </a:rPr>
              <a:t>dilemma </a:t>
            </a:r>
            <a:r>
              <a:rPr sz="2200" spc="-5" dirty="0">
                <a:latin typeface="Times New Roman"/>
                <a:cs typeface="Times New Roman"/>
              </a:rPr>
              <a:t>is a situation </a:t>
            </a:r>
            <a:r>
              <a:rPr sz="2200" dirty="0">
                <a:latin typeface="Times New Roman"/>
                <a:cs typeface="Times New Roman"/>
              </a:rPr>
              <a:t>that </a:t>
            </a:r>
            <a:r>
              <a:rPr sz="2200" spc="-5" dirty="0">
                <a:latin typeface="Times New Roman"/>
                <a:cs typeface="Times New Roman"/>
              </a:rPr>
              <a:t>involves doing </a:t>
            </a:r>
            <a:r>
              <a:rPr sz="2200" spc="-5" dirty="0" smtClean="0">
                <a:latin typeface="Times New Roman"/>
                <a:cs typeface="Times New Roman"/>
              </a:rPr>
              <a:t>something</a:t>
            </a:r>
            <a:r>
              <a:rPr sz="2200" spc="-40" dirty="0" smtClean="0">
                <a:latin typeface="Times New Roman"/>
                <a:cs typeface="Times New Roman"/>
              </a:rPr>
              <a:t> </a:t>
            </a:r>
            <a:r>
              <a:rPr sz="2200" dirty="0">
                <a:latin typeface="Times New Roman"/>
                <a:cs typeface="Times New Roman"/>
              </a:rPr>
              <a:t>that</a:t>
            </a:r>
            <a:r>
              <a:rPr sz="2200" spc="-55"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beneficial</a:t>
            </a:r>
            <a:r>
              <a:rPr sz="2200" spc="-55" dirty="0">
                <a:latin typeface="Times New Roman"/>
                <a:cs typeface="Times New Roman"/>
              </a:rPr>
              <a:t> </a:t>
            </a:r>
            <a:r>
              <a:rPr sz="2200" spc="-5" dirty="0">
                <a:latin typeface="Times New Roman"/>
                <a:cs typeface="Times New Roman"/>
              </a:rPr>
              <a:t>to</a:t>
            </a:r>
            <a:r>
              <a:rPr sz="2200" spc="-10" dirty="0">
                <a:latin typeface="Times New Roman"/>
                <a:cs typeface="Times New Roman"/>
              </a:rPr>
              <a:t> </a:t>
            </a:r>
            <a:r>
              <a:rPr sz="2200" spc="-5" dirty="0">
                <a:latin typeface="Times New Roman"/>
                <a:cs typeface="Times New Roman"/>
              </a:rPr>
              <a:t>oneself</a:t>
            </a:r>
            <a:r>
              <a:rPr sz="2200" spc="-20" dirty="0">
                <a:latin typeface="Times New Roman"/>
                <a:cs typeface="Times New Roman"/>
              </a:rPr>
              <a:t> </a:t>
            </a:r>
            <a:r>
              <a:rPr sz="2200" spc="-5" dirty="0">
                <a:latin typeface="Times New Roman"/>
                <a:cs typeface="Times New Roman"/>
              </a:rPr>
              <a:t>or</a:t>
            </a:r>
            <a:r>
              <a:rPr sz="2200" spc="-25" dirty="0">
                <a:latin typeface="Times New Roman"/>
                <a:cs typeface="Times New Roman"/>
              </a:rPr>
              <a:t> </a:t>
            </a:r>
            <a:r>
              <a:rPr sz="2200" spc="-5" dirty="0">
                <a:latin typeface="Times New Roman"/>
                <a:cs typeface="Times New Roman"/>
              </a:rPr>
              <a:t>the</a:t>
            </a:r>
            <a:r>
              <a:rPr sz="2200" spc="-20" dirty="0">
                <a:latin typeface="Times New Roman"/>
                <a:cs typeface="Times New Roman"/>
              </a:rPr>
              <a:t> </a:t>
            </a:r>
            <a:r>
              <a:rPr sz="2200" spc="-5" dirty="0">
                <a:latin typeface="Times New Roman"/>
                <a:cs typeface="Times New Roman"/>
              </a:rPr>
              <a:t>organization, </a:t>
            </a:r>
            <a:r>
              <a:rPr sz="2200" spc="-645" dirty="0">
                <a:latin typeface="Times New Roman"/>
                <a:cs typeface="Times New Roman"/>
              </a:rPr>
              <a:t> </a:t>
            </a:r>
            <a:r>
              <a:rPr sz="2200" spc="-5" dirty="0">
                <a:latin typeface="Times New Roman"/>
                <a:cs typeface="Times New Roman"/>
              </a:rPr>
              <a:t>but </a:t>
            </a:r>
            <a:r>
              <a:rPr sz="2200" spc="-10" dirty="0">
                <a:latin typeface="Times New Roman"/>
                <a:cs typeface="Times New Roman"/>
              </a:rPr>
              <a:t>may</a:t>
            </a:r>
            <a:r>
              <a:rPr sz="2200" spc="-5" dirty="0">
                <a:latin typeface="Times New Roman"/>
                <a:cs typeface="Times New Roman"/>
              </a:rPr>
              <a:t> be</a:t>
            </a:r>
            <a:r>
              <a:rPr sz="2200" spc="-15" dirty="0">
                <a:latin typeface="Times New Roman"/>
                <a:cs typeface="Times New Roman"/>
              </a:rPr>
              <a:t> </a:t>
            </a:r>
            <a:r>
              <a:rPr sz="2200" spc="-10" dirty="0">
                <a:latin typeface="Times New Roman"/>
                <a:cs typeface="Times New Roman"/>
              </a:rPr>
              <a:t>unethical.</a:t>
            </a:r>
            <a:endParaRPr sz="2200" dirty="0">
              <a:latin typeface="Times New Roman"/>
              <a:cs typeface="Times New Roman"/>
            </a:endParaRPr>
          </a:p>
        </p:txBody>
      </p:sp>
      <p:sp>
        <p:nvSpPr>
          <p:cNvPr id="4" name="object 4"/>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72104" y="412376"/>
            <a:ext cx="7515859" cy="971550"/>
          </a:xfrm>
          <a:prstGeom prst="rect">
            <a:avLst/>
          </a:prstGeom>
        </p:spPr>
        <p:txBody>
          <a:bodyPr vert="horz" wrap="square" lIns="0" tIns="13970" rIns="0" bIns="0" rtlCol="0">
            <a:spAutoFit/>
          </a:bodyPr>
          <a:lstStyle/>
          <a:p>
            <a:pPr algn="ctr">
              <a:lnSpc>
                <a:spcPct val="100000"/>
              </a:lnSpc>
              <a:spcBef>
                <a:spcPts val="110"/>
              </a:spcBef>
            </a:pPr>
            <a:r>
              <a:rPr dirty="0"/>
              <a:t>Establishing</a:t>
            </a:r>
            <a:r>
              <a:rPr spc="-45" dirty="0"/>
              <a:t> </a:t>
            </a:r>
            <a:r>
              <a:rPr dirty="0"/>
              <a:t>a</a:t>
            </a:r>
            <a:r>
              <a:rPr spc="20" dirty="0"/>
              <a:t> </a:t>
            </a:r>
            <a:r>
              <a:rPr spc="5" dirty="0"/>
              <a:t>Strong</a:t>
            </a:r>
            <a:r>
              <a:rPr spc="-5" dirty="0"/>
              <a:t> Ethical</a:t>
            </a:r>
            <a:r>
              <a:rPr spc="5" dirty="0"/>
              <a:t> Culture</a:t>
            </a:r>
          </a:p>
          <a:p>
            <a:pPr algn="ctr">
              <a:lnSpc>
                <a:spcPct val="100000"/>
              </a:lnSpc>
              <a:spcBef>
                <a:spcPts val="55"/>
              </a:spcBef>
            </a:pPr>
            <a:r>
              <a:rPr sz="2200" spc="-5" dirty="0"/>
              <a:t>2</a:t>
            </a:r>
            <a:r>
              <a:rPr sz="2200" spc="-35" dirty="0"/>
              <a:t> </a:t>
            </a:r>
            <a:r>
              <a:rPr sz="2200" spc="-5" dirty="0"/>
              <a:t>of</a:t>
            </a:r>
            <a:r>
              <a:rPr sz="2200" spc="-15" dirty="0"/>
              <a:t> </a:t>
            </a:r>
            <a:r>
              <a:rPr lang="en-US" sz="2200" spc="-5" dirty="0"/>
              <a:t>3</a:t>
            </a:r>
            <a:endParaRPr sz="2200" dirty="0"/>
          </a:p>
        </p:txBody>
      </p:sp>
      <p:sp>
        <p:nvSpPr>
          <p:cNvPr id="3" name="object 3"/>
          <p:cNvSpPr txBox="1"/>
          <p:nvPr/>
        </p:nvSpPr>
        <p:spPr>
          <a:xfrm>
            <a:off x="590865" y="1803066"/>
            <a:ext cx="8627745" cy="3550331"/>
          </a:xfrm>
          <a:prstGeom prst="rect">
            <a:avLst/>
          </a:prstGeom>
        </p:spPr>
        <p:txBody>
          <a:bodyPr vert="horz" wrap="square" lIns="0" tIns="112395" rIns="0" bIns="0" rtlCol="0">
            <a:spAutoFit/>
          </a:bodyPr>
          <a:lstStyle/>
          <a:p>
            <a:pPr marL="514985" marR="5080" lvl="1" algn="just">
              <a:lnSpc>
                <a:spcPts val="3170"/>
              </a:lnSpc>
              <a:spcBef>
                <a:spcPts val="620"/>
              </a:spcBef>
              <a:tabLst>
                <a:tab pos="830580" algn="l"/>
                <a:tab pos="831215" algn="l"/>
              </a:tabLst>
            </a:pPr>
            <a:r>
              <a:rPr lang="en-US" sz="2400" dirty="0" smtClean="0">
                <a:latin typeface="Times New Roman"/>
                <a:cs typeface="Times New Roman"/>
              </a:rPr>
              <a:t>Ethics </a:t>
            </a:r>
            <a:r>
              <a:rPr lang="en-US" sz="2400" dirty="0">
                <a:latin typeface="Times New Roman"/>
                <a:cs typeface="Times New Roman"/>
              </a:rPr>
              <a:t>training programs can be provided by outside vendors or can </a:t>
            </a:r>
            <a:r>
              <a:rPr lang="en-US" sz="2400" dirty="0" smtClean="0">
                <a:latin typeface="Times New Roman"/>
                <a:cs typeface="Times New Roman"/>
              </a:rPr>
              <a:t>be developed in-house, offers </a:t>
            </a:r>
            <a:r>
              <a:rPr lang="en-US" sz="2400" dirty="0">
                <a:latin typeface="Times New Roman"/>
                <a:cs typeface="Times New Roman"/>
              </a:rPr>
              <a:t>a variety of </a:t>
            </a:r>
            <a:r>
              <a:rPr lang="en-US" sz="2400" dirty="0" smtClean="0">
                <a:latin typeface="Times New Roman"/>
                <a:cs typeface="Times New Roman"/>
              </a:rPr>
              <a:t>ethics-related training </a:t>
            </a:r>
            <a:r>
              <a:rPr lang="en-US" sz="2400" dirty="0">
                <a:latin typeface="Times New Roman"/>
                <a:cs typeface="Times New Roman"/>
              </a:rPr>
              <a:t>services, including on-site workshops, speeches, a </a:t>
            </a:r>
            <a:r>
              <a:rPr lang="en-US" sz="2400" dirty="0" smtClean="0">
                <a:latin typeface="Times New Roman"/>
                <a:cs typeface="Times New Roman"/>
              </a:rPr>
              <a:t>train-the-trainer curriculum</a:t>
            </a:r>
            <a:r>
              <a:rPr lang="en-US" sz="2400" dirty="0">
                <a:latin typeface="Times New Roman"/>
                <a:cs typeface="Times New Roman"/>
              </a:rPr>
              <a:t>, videos, and consulting services. </a:t>
            </a:r>
            <a:endParaRPr lang="en-US" sz="2400" dirty="0" smtClean="0">
              <a:latin typeface="Times New Roman"/>
              <a:cs typeface="Times New Roman"/>
            </a:endParaRPr>
          </a:p>
          <a:p>
            <a:pPr marL="514985" marR="5080" lvl="1" algn="just">
              <a:lnSpc>
                <a:spcPts val="3170"/>
              </a:lnSpc>
              <a:spcBef>
                <a:spcPts val="620"/>
              </a:spcBef>
              <a:tabLst>
                <a:tab pos="830580" algn="l"/>
                <a:tab pos="831215" algn="l"/>
              </a:tabLst>
            </a:pPr>
            <a:endParaRPr lang="en-US" sz="2400" dirty="0" smtClean="0">
              <a:latin typeface="Times New Roman"/>
              <a:cs typeface="Times New Roman"/>
            </a:endParaRPr>
          </a:p>
          <a:p>
            <a:pPr marL="514985" marR="5080" lvl="1" algn="just">
              <a:lnSpc>
                <a:spcPts val="3170"/>
              </a:lnSpc>
              <a:spcBef>
                <a:spcPts val="620"/>
              </a:spcBef>
              <a:tabLst>
                <a:tab pos="830580" algn="l"/>
                <a:tab pos="831215" algn="l"/>
              </a:tabLst>
            </a:pPr>
            <a:r>
              <a:rPr lang="en-US" sz="2200" dirty="0">
                <a:latin typeface="Times New Roman"/>
                <a:cs typeface="Times New Roman"/>
              </a:rPr>
              <a:t>In summary, ethical cultures are built through both strong ethical leadership and administrative tools that reinforce and govern ethical behavior </a:t>
            </a:r>
            <a:r>
              <a:rPr lang="en-US" sz="2200" dirty="0" smtClean="0">
                <a:latin typeface="Times New Roman"/>
                <a:cs typeface="Times New Roman"/>
              </a:rPr>
              <a:t>in organizations</a:t>
            </a:r>
            <a:r>
              <a:rPr lang="en-US" sz="2200" dirty="0">
                <a:latin typeface="Times New Roman"/>
                <a:cs typeface="Times New Roman"/>
              </a:rPr>
              <a:t>.</a:t>
            </a:r>
            <a:endParaRPr sz="2200" dirty="0">
              <a:latin typeface="Times New Roman"/>
              <a:cs typeface="Times New Roman"/>
            </a:endParaRPr>
          </a:p>
        </p:txBody>
      </p:sp>
      <p:sp>
        <p:nvSpPr>
          <p:cNvPr id="4" name="object 4"/>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extLst>
      <p:ext uri="{BB962C8B-B14F-4D97-AF65-F5344CB8AC3E}">
        <p14:creationId xmlns:p14="http://schemas.microsoft.com/office/powerpoint/2010/main" val="647718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8843" y="278296"/>
            <a:ext cx="8620760" cy="1232535"/>
          </a:xfrm>
          <a:prstGeom prst="rect">
            <a:avLst/>
          </a:prstGeom>
        </p:spPr>
        <p:txBody>
          <a:bodyPr vert="horz" wrap="square" lIns="0" tIns="12065" rIns="0" bIns="0" rtlCol="0">
            <a:spAutoFit/>
          </a:bodyPr>
          <a:lstStyle/>
          <a:p>
            <a:pPr marL="2780030" marR="5080" indent="-2767965">
              <a:lnSpc>
                <a:spcPct val="100299"/>
              </a:lnSpc>
              <a:spcBef>
                <a:spcPts val="95"/>
              </a:spcBef>
            </a:pPr>
            <a:r>
              <a:rPr dirty="0"/>
              <a:t>Potential </a:t>
            </a:r>
            <a:r>
              <a:rPr spc="-5" dirty="0"/>
              <a:t>Payoffs </a:t>
            </a:r>
            <a:r>
              <a:rPr spc="10" dirty="0"/>
              <a:t>for </a:t>
            </a:r>
            <a:r>
              <a:rPr dirty="0"/>
              <a:t>Establishing a </a:t>
            </a:r>
            <a:r>
              <a:rPr spc="5" dirty="0"/>
              <a:t>Strong </a:t>
            </a:r>
            <a:r>
              <a:rPr spc="-975" dirty="0"/>
              <a:t> </a:t>
            </a:r>
            <a:r>
              <a:rPr spc="-5" dirty="0"/>
              <a:t>Ethical</a:t>
            </a:r>
            <a:r>
              <a:rPr spc="5" dirty="0"/>
              <a:t> Culture</a:t>
            </a:r>
          </a:p>
        </p:txBody>
      </p:sp>
      <p:sp>
        <p:nvSpPr>
          <p:cNvPr id="3" name="object 3"/>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922019" y="2125980"/>
            <a:ext cx="8125967" cy="45780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3784" y="543602"/>
            <a:ext cx="7367905" cy="696595"/>
          </a:xfrm>
          <a:prstGeom prst="rect">
            <a:avLst/>
          </a:prstGeom>
        </p:spPr>
        <p:txBody>
          <a:bodyPr vert="horz" wrap="square" lIns="0" tIns="12700" rIns="0" bIns="0" rtlCol="0">
            <a:spAutoFit/>
          </a:bodyPr>
          <a:lstStyle/>
          <a:p>
            <a:pPr marL="12700">
              <a:lnSpc>
                <a:spcPct val="100000"/>
              </a:lnSpc>
              <a:spcBef>
                <a:spcPts val="100"/>
              </a:spcBef>
            </a:pPr>
            <a:r>
              <a:rPr sz="4400" dirty="0"/>
              <a:t>Choosing</a:t>
            </a:r>
            <a:r>
              <a:rPr sz="4400" spc="-55" dirty="0"/>
              <a:t> </a:t>
            </a:r>
            <a:r>
              <a:rPr sz="4400" spc="10" dirty="0"/>
              <a:t>an</a:t>
            </a:r>
            <a:r>
              <a:rPr sz="4400" spc="-50" dirty="0"/>
              <a:t> </a:t>
            </a:r>
            <a:r>
              <a:rPr sz="4400" dirty="0"/>
              <a:t>Attorney</a:t>
            </a:r>
            <a:r>
              <a:rPr sz="4400" spc="-5" dirty="0"/>
              <a:t> for</a:t>
            </a:r>
            <a:r>
              <a:rPr sz="4400" spc="-20" dirty="0"/>
              <a:t> </a:t>
            </a:r>
            <a:r>
              <a:rPr sz="4400" dirty="0"/>
              <a:t>a</a:t>
            </a:r>
            <a:r>
              <a:rPr sz="4400" spc="20" dirty="0"/>
              <a:t> </a:t>
            </a:r>
            <a:r>
              <a:rPr sz="4400" spc="-10" dirty="0"/>
              <a:t>Firm</a:t>
            </a:r>
            <a:endParaRPr sz="4400"/>
          </a:p>
        </p:txBody>
      </p:sp>
      <p:sp>
        <p:nvSpPr>
          <p:cNvPr id="3" name="object 3"/>
          <p:cNvSpPr txBox="1"/>
          <p:nvPr/>
        </p:nvSpPr>
        <p:spPr>
          <a:xfrm>
            <a:off x="590865" y="1803066"/>
            <a:ext cx="8580755" cy="5181547"/>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0" dirty="0" smtClean="0">
                <a:latin typeface="Times New Roman"/>
                <a:cs typeface="Times New Roman"/>
              </a:rPr>
              <a:t>Select</a:t>
            </a:r>
            <a:r>
              <a:rPr sz="3050" spc="-30" dirty="0" smtClean="0">
                <a:latin typeface="Times New Roman"/>
                <a:cs typeface="Times New Roman"/>
              </a:rPr>
              <a:t> </a:t>
            </a:r>
            <a:r>
              <a:rPr sz="3050" spc="5" dirty="0" smtClean="0">
                <a:latin typeface="Times New Roman"/>
                <a:cs typeface="Times New Roman"/>
              </a:rPr>
              <a:t>an</a:t>
            </a:r>
            <a:r>
              <a:rPr sz="3050" spc="-5" dirty="0" smtClean="0">
                <a:latin typeface="Times New Roman"/>
                <a:cs typeface="Times New Roman"/>
              </a:rPr>
              <a:t> </a:t>
            </a:r>
            <a:r>
              <a:rPr sz="3050" spc="15" dirty="0" smtClean="0">
                <a:latin typeface="Times New Roman"/>
                <a:cs typeface="Times New Roman"/>
              </a:rPr>
              <a:t>Attorney</a:t>
            </a:r>
            <a:r>
              <a:rPr sz="3050" spc="-35" dirty="0" smtClean="0">
                <a:latin typeface="Times New Roman"/>
                <a:cs typeface="Times New Roman"/>
              </a:rPr>
              <a:t> </a:t>
            </a:r>
            <a:r>
              <a:rPr sz="3050" spc="5" dirty="0" smtClean="0">
                <a:latin typeface="Times New Roman"/>
                <a:cs typeface="Times New Roman"/>
              </a:rPr>
              <a:t>Early</a:t>
            </a:r>
            <a:endParaRPr sz="3050" dirty="0" smtClean="0">
              <a:latin typeface="Times New Roman"/>
              <a:cs typeface="Times New Roman"/>
            </a:endParaRPr>
          </a:p>
          <a:p>
            <a:pPr marL="829310" marR="64135" lvl="1" indent="-314325">
              <a:lnSpc>
                <a:spcPts val="3170"/>
              </a:lnSpc>
              <a:spcBef>
                <a:spcPts val="750"/>
              </a:spcBef>
              <a:buChar char="–"/>
              <a:tabLst>
                <a:tab pos="830580" algn="l"/>
                <a:tab pos="831215" algn="l"/>
              </a:tabLst>
            </a:pPr>
            <a:r>
              <a:rPr sz="2650" spc="-10" dirty="0" smtClean="0">
                <a:latin typeface="Times New Roman"/>
                <a:cs typeface="Times New Roman"/>
              </a:rPr>
              <a:t>It</a:t>
            </a:r>
            <a:r>
              <a:rPr sz="2650" spc="5" dirty="0" smtClean="0">
                <a:latin typeface="Times New Roman"/>
                <a:cs typeface="Times New Roman"/>
              </a:rPr>
              <a:t> </a:t>
            </a:r>
            <a:r>
              <a:rPr sz="2650" spc="-20" dirty="0">
                <a:latin typeface="Times New Roman"/>
                <a:cs typeface="Times New Roman"/>
              </a:rPr>
              <a:t>is</a:t>
            </a:r>
            <a:r>
              <a:rPr sz="2650" spc="5" dirty="0">
                <a:latin typeface="Times New Roman"/>
                <a:cs typeface="Times New Roman"/>
              </a:rPr>
              <a:t> </a:t>
            </a:r>
            <a:r>
              <a:rPr sz="2650" spc="-10" dirty="0">
                <a:latin typeface="Times New Roman"/>
                <a:cs typeface="Times New Roman"/>
              </a:rPr>
              <a:t>important</a:t>
            </a:r>
            <a:r>
              <a:rPr sz="2650" spc="-15" dirty="0">
                <a:latin typeface="Times New Roman"/>
                <a:cs typeface="Times New Roman"/>
              </a:rPr>
              <a:t> </a:t>
            </a:r>
            <a:r>
              <a:rPr sz="2650" spc="-10" dirty="0">
                <a:latin typeface="Times New Roman"/>
                <a:cs typeface="Times New Roman"/>
              </a:rPr>
              <a:t>for</a:t>
            </a:r>
            <a:r>
              <a:rPr sz="2650" spc="20" dirty="0">
                <a:latin typeface="Times New Roman"/>
                <a:cs typeface="Times New Roman"/>
              </a:rPr>
              <a:t> </a:t>
            </a:r>
            <a:r>
              <a:rPr sz="2650" spc="-15" dirty="0">
                <a:latin typeface="Times New Roman"/>
                <a:cs typeface="Times New Roman"/>
              </a:rPr>
              <a:t>an</a:t>
            </a:r>
            <a:r>
              <a:rPr sz="2650" spc="5" dirty="0">
                <a:latin typeface="Times New Roman"/>
                <a:cs typeface="Times New Roman"/>
              </a:rPr>
              <a:t> </a:t>
            </a:r>
            <a:r>
              <a:rPr sz="2650" spc="-10" dirty="0">
                <a:latin typeface="Times New Roman"/>
                <a:cs typeface="Times New Roman"/>
              </a:rPr>
              <a:t>entrepreneur</a:t>
            </a:r>
            <a:r>
              <a:rPr sz="2650" spc="-5" dirty="0">
                <a:latin typeface="Times New Roman"/>
                <a:cs typeface="Times New Roman"/>
              </a:rPr>
              <a:t> to</a:t>
            </a:r>
            <a:r>
              <a:rPr sz="2650" spc="-25" dirty="0">
                <a:latin typeface="Times New Roman"/>
                <a:cs typeface="Times New Roman"/>
              </a:rPr>
              <a:t> </a:t>
            </a:r>
            <a:r>
              <a:rPr sz="2650" spc="-5" dirty="0">
                <a:latin typeface="Times New Roman"/>
                <a:cs typeface="Times New Roman"/>
              </a:rPr>
              <a:t>select</a:t>
            </a:r>
            <a:r>
              <a:rPr sz="2650" spc="-15" dirty="0">
                <a:latin typeface="Times New Roman"/>
                <a:cs typeface="Times New Roman"/>
              </a:rPr>
              <a:t> an</a:t>
            </a:r>
            <a:r>
              <a:rPr sz="2650" spc="5" dirty="0">
                <a:latin typeface="Times New Roman"/>
                <a:cs typeface="Times New Roman"/>
              </a:rPr>
              <a:t> </a:t>
            </a:r>
            <a:r>
              <a:rPr sz="2650" spc="-10" dirty="0">
                <a:latin typeface="Times New Roman"/>
                <a:cs typeface="Times New Roman"/>
              </a:rPr>
              <a:t>attorney</a:t>
            </a:r>
            <a:r>
              <a:rPr sz="2650" dirty="0">
                <a:latin typeface="Times New Roman"/>
                <a:cs typeface="Times New Roman"/>
              </a:rPr>
              <a:t> </a:t>
            </a:r>
            <a:r>
              <a:rPr sz="2650" spc="-15" dirty="0">
                <a:latin typeface="Times New Roman"/>
                <a:cs typeface="Times New Roman"/>
              </a:rPr>
              <a:t>as </a:t>
            </a:r>
            <a:r>
              <a:rPr sz="2650" spc="-645" dirty="0">
                <a:latin typeface="Times New Roman"/>
                <a:cs typeface="Times New Roman"/>
              </a:rPr>
              <a:t> </a:t>
            </a:r>
            <a:r>
              <a:rPr sz="2650" spc="-5" dirty="0">
                <a:latin typeface="Times New Roman"/>
                <a:cs typeface="Times New Roman"/>
              </a:rPr>
              <a:t>early </a:t>
            </a:r>
            <a:r>
              <a:rPr sz="2650" spc="-15" dirty="0">
                <a:latin typeface="Times New Roman"/>
                <a:cs typeface="Times New Roman"/>
              </a:rPr>
              <a:t>as</a:t>
            </a:r>
            <a:r>
              <a:rPr sz="2650" spc="-5" dirty="0">
                <a:latin typeface="Times New Roman"/>
                <a:cs typeface="Times New Roman"/>
              </a:rPr>
              <a:t> </a:t>
            </a:r>
            <a:r>
              <a:rPr sz="2650" spc="-10" dirty="0">
                <a:latin typeface="Times New Roman"/>
                <a:cs typeface="Times New Roman"/>
              </a:rPr>
              <a:t>possible </a:t>
            </a:r>
            <a:r>
              <a:rPr sz="2650" spc="-5" dirty="0">
                <a:latin typeface="Times New Roman"/>
                <a:cs typeface="Times New Roman"/>
              </a:rPr>
              <a:t>when developing</a:t>
            </a:r>
            <a:r>
              <a:rPr sz="2650" spc="-25"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10" dirty="0">
                <a:latin typeface="Times New Roman"/>
                <a:cs typeface="Times New Roman"/>
              </a:rPr>
              <a:t>business</a:t>
            </a:r>
            <a:r>
              <a:rPr sz="2650" dirty="0">
                <a:latin typeface="Times New Roman"/>
                <a:cs typeface="Times New Roman"/>
              </a:rPr>
              <a:t> </a:t>
            </a:r>
            <a:r>
              <a:rPr sz="2650" spc="-10" dirty="0">
                <a:latin typeface="Times New Roman"/>
                <a:cs typeface="Times New Roman"/>
              </a:rPr>
              <a:t>venture.</a:t>
            </a:r>
            <a:endParaRPr sz="2650" dirty="0">
              <a:latin typeface="Times New Roman"/>
              <a:cs typeface="Times New Roman"/>
            </a:endParaRPr>
          </a:p>
          <a:p>
            <a:pPr marL="829310" marR="93980" lvl="1" indent="-314325">
              <a:lnSpc>
                <a:spcPts val="3170"/>
              </a:lnSpc>
              <a:spcBef>
                <a:spcPts val="635"/>
              </a:spcBef>
              <a:buChar char="–"/>
              <a:tabLst>
                <a:tab pos="830580" algn="l"/>
                <a:tab pos="831215" algn="l"/>
              </a:tabLst>
            </a:pPr>
            <a:r>
              <a:rPr sz="2650" spc="-10" dirty="0">
                <a:latin typeface="Times New Roman"/>
                <a:cs typeface="Times New Roman"/>
              </a:rPr>
              <a:t>It </a:t>
            </a:r>
            <a:r>
              <a:rPr sz="2650" spc="-20" dirty="0">
                <a:latin typeface="Times New Roman"/>
                <a:cs typeface="Times New Roman"/>
              </a:rPr>
              <a:t>is </a:t>
            </a:r>
            <a:r>
              <a:rPr sz="2650" spc="-5" dirty="0">
                <a:latin typeface="Times New Roman"/>
                <a:cs typeface="Times New Roman"/>
              </a:rPr>
              <a:t>critically </a:t>
            </a:r>
            <a:r>
              <a:rPr sz="2650" spc="-10" dirty="0">
                <a:latin typeface="Times New Roman"/>
                <a:cs typeface="Times New Roman"/>
              </a:rPr>
              <a:t>important that </a:t>
            </a:r>
            <a:r>
              <a:rPr sz="2650" spc="-15" dirty="0">
                <a:latin typeface="Times New Roman"/>
                <a:cs typeface="Times New Roman"/>
              </a:rPr>
              <a:t>the </a:t>
            </a:r>
            <a:r>
              <a:rPr sz="2650" spc="-5" dirty="0">
                <a:latin typeface="Times New Roman"/>
                <a:cs typeface="Times New Roman"/>
              </a:rPr>
              <a:t>attorney be familiar with </a:t>
            </a:r>
            <a:r>
              <a:rPr sz="2650" spc="-650" dirty="0">
                <a:latin typeface="Times New Roman"/>
                <a:cs typeface="Times New Roman"/>
              </a:rPr>
              <a:t> </a:t>
            </a:r>
            <a:r>
              <a:rPr sz="2650" spc="-10" dirty="0">
                <a:latin typeface="Times New Roman"/>
                <a:cs typeface="Times New Roman"/>
              </a:rPr>
              <a:t>startup issues.</a:t>
            </a:r>
            <a:endParaRPr sz="2650" dirty="0">
              <a:latin typeface="Times New Roman"/>
              <a:cs typeface="Times New Roman"/>
            </a:endParaRPr>
          </a:p>
          <a:p>
            <a:pPr marL="388620" indent="-376555">
              <a:lnSpc>
                <a:spcPct val="100000"/>
              </a:lnSpc>
              <a:spcBef>
                <a:spcPts val="645"/>
              </a:spcBef>
              <a:buChar char="•"/>
              <a:tabLst>
                <a:tab pos="388620" algn="l"/>
                <a:tab pos="389255" algn="l"/>
              </a:tabLst>
            </a:pPr>
            <a:r>
              <a:rPr sz="3050" spc="10" dirty="0">
                <a:latin typeface="Times New Roman"/>
                <a:cs typeface="Times New Roman"/>
              </a:rPr>
              <a:t>Intellectual</a:t>
            </a:r>
            <a:r>
              <a:rPr sz="3050" spc="-55" dirty="0">
                <a:latin typeface="Times New Roman"/>
                <a:cs typeface="Times New Roman"/>
              </a:rPr>
              <a:t> </a:t>
            </a:r>
            <a:r>
              <a:rPr sz="3050" spc="15" dirty="0">
                <a:latin typeface="Times New Roman"/>
                <a:cs typeface="Times New Roman"/>
              </a:rPr>
              <a:t>Property</a:t>
            </a:r>
            <a:endParaRPr sz="3050" dirty="0">
              <a:latin typeface="Times New Roman"/>
              <a:cs typeface="Times New Roman"/>
            </a:endParaRPr>
          </a:p>
          <a:p>
            <a:pPr marL="829310" marR="5080" lvl="1" indent="-314325">
              <a:lnSpc>
                <a:spcPts val="3170"/>
              </a:lnSpc>
              <a:spcBef>
                <a:spcPts val="745"/>
              </a:spcBef>
              <a:buChar char="–"/>
              <a:tabLst>
                <a:tab pos="830580" algn="l"/>
                <a:tab pos="831215" algn="l"/>
              </a:tabLst>
            </a:pPr>
            <a:r>
              <a:rPr sz="2650" spc="-15" dirty="0">
                <a:latin typeface="Times New Roman"/>
                <a:cs typeface="Times New Roman"/>
              </a:rPr>
              <a:t>For </a:t>
            </a:r>
            <a:r>
              <a:rPr sz="2650" spc="-10" dirty="0">
                <a:latin typeface="Times New Roman"/>
                <a:cs typeface="Times New Roman"/>
              </a:rPr>
              <a:t>issues dealing </a:t>
            </a:r>
            <a:r>
              <a:rPr sz="2650" spc="-5" dirty="0">
                <a:latin typeface="Times New Roman"/>
                <a:cs typeface="Times New Roman"/>
              </a:rPr>
              <a:t>with intellectual property </a:t>
            </a:r>
            <a:r>
              <a:rPr sz="2650" spc="-10" dirty="0">
                <a:latin typeface="Times New Roman"/>
                <a:cs typeface="Times New Roman"/>
              </a:rPr>
              <a:t>(patents, </a:t>
            </a:r>
            <a:r>
              <a:rPr sz="2650" spc="-5" dirty="0">
                <a:latin typeface="Times New Roman"/>
                <a:cs typeface="Times New Roman"/>
              </a:rPr>
              <a:t> trademarks, </a:t>
            </a:r>
            <a:r>
              <a:rPr sz="2650" spc="-10" dirty="0">
                <a:latin typeface="Times New Roman"/>
                <a:cs typeface="Times New Roman"/>
              </a:rPr>
              <a:t>copyrights, </a:t>
            </a:r>
            <a:r>
              <a:rPr sz="2650" dirty="0">
                <a:latin typeface="Times New Roman"/>
                <a:cs typeface="Times New Roman"/>
              </a:rPr>
              <a:t>and </a:t>
            </a:r>
            <a:r>
              <a:rPr sz="2650" spc="-10" dirty="0">
                <a:latin typeface="Times New Roman"/>
                <a:cs typeface="Times New Roman"/>
              </a:rPr>
              <a:t>trade secrets) </a:t>
            </a:r>
            <a:r>
              <a:rPr sz="2650" spc="-20" dirty="0">
                <a:latin typeface="Times New Roman"/>
                <a:cs typeface="Times New Roman"/>
              </a:rPr>
              <a:t>it </a:t>
            </a:r>
            <a:r>
              <a:rPr sz="2650" spc="-5" dirty="0">
                <a:latin typeface="Times New Roman"/>
                <a:cs typeface="Times New Roman"/>
              </a:rPr>
              <a:t>is essential to </a:t>
            </a:r>
            <a:r>
              <a:rPr sz="2650" spc="-650" dirty="0">
                <a:latin typeface="Times New Roman"/>
                <a:cs typeface="Times New Roman"/>
              </a:rPr>
              <a:t> </a:t>
            </a:r>
            <a:r>
              <a:rPr sz="2650" spc="-5" dirty="0">
                <a:latin typeface="Times New Roman"/>
                <a:cs typeface="Times New Roman"/>
              </a:rPr>
              <a:t>use</a:t>
            </a:r>
            <a:r>
              <a:rPr sz="2650" spc="-20" dirty="0">
                <a:latin typeface="Times New Roman"/>
                <a:cs typeface="Times New Roman"/>
              </a:rPr>
              <a:t> </a:t>
            </a:r>
            <a:r>
              <a:rPr sz="2650" dirty="0">
                <a:latin typeface="Times New Roman"/>
                <a:cs typeface="Times New Roman"/>
              </a:rPr>
              <a:t>an</a:t>
            </a:r>
            <a:r>
              <a:rPr sz="2650" spc="-5" dirty="0">
                <a:latin typeface="Times New Roman"/>
                <a:cs typeface="Times New Roman"/>
              </a:rPr>
              <a:t> </a:t>
            </a:r>
            <a:r>
              <a:rPr sz="2650" spc="-10" dirty="0">
                <a:latin typeface="Times New Roman"/>
                <a:cs typeface="Times New Roman"/>
              </a:rPr>
              <a:t>attorney</a:t>
            </a:r>
            <a:r>
              <a:rPr sz="2650" spc="-5" dirty="0">
                <a:latin typeface="Times New Roman"/>
                <a:cs typeface="Times New Roman"/>
              </a:rPr>
              <a:t> </a:t>
            </a:r>
            <a:r>
              <a:rPr sz="2650" spc="-10" dirty="0">
                <a:latin typeface="Times New Roman"/>
                <a:cs typeface="Times New Roman"/>
              </a:rPr>
              <a:t>who</a:t>
            </a:r>
            <a:r>
              <a:rPr sz="2650" spc="-5" dirty="0">
                <a:latin typeface="Times New Roman"/>
                <a:cs typeface="Times New Roman"/>
              </a:rPr>
              <a:t> specializes</a:t>
            </a:r>
            <a:r>
              <a:rPr sz="2650" spc="-30" dirty="0">
                <a:latin typeface="Times New Roman"/>
                <a:cs typeface="Times New Roman"/>
              </a:rPr>
              <a:t> </a:t>
            </a:r>
            <a:r>
              <a:rPr sz="2650" spc="-20" dirty="0">
                <a:latin typeface="Times New Roman"/>
                <a:cs typeface="Times New Roman"/>
              </a:rPr>
              <a:t>in</a:t>
            </a:r>
            <a:r>
              <a:rPr sz="2650" spc="-10" dirty="0">
                <a:latin typeface="Times New Roman"/>
                <a:cs typeface="Times New Roman"/>
              </a:rPr>
              <a:t> this</a:t>
            </a:r>
            <a:r>
              <a:rPr sz="2650" spc="-5" dirty="0">
                <a:latin typeface="Times New Roman"/>
                <a:cs typeface="Times New Roman"/>
              </a:rPr>
              <a:t> field</a:t>
            </a:r>
            <a:r>
              <a:rPr sz="2650" spc="-5" dirty="0" smtClean="0">
                <a:latin typeface="Times New Roman"/>
                <a:cs typeface="Times New Roman"/>
              </a:rPr>
              <a:t>.</a:t>
            </a:r>
            <a:endParaRPr lang="en-US" sz="2650" spc="-5" dirty="0" smtClean="0">
              <a:latin typeface="Times New Roman"/>
              <a:cs typeface="Times New Roman"/>
            </a:endParaRPr>
          </a:p>
          <a:p>
            <a:pPr marL="514985" marR="5080" lvl="1">
              <a:lnSpc>
                <a:spcPts val="3170"/>
              </a:lnSpc>
              <a:spcBef>
                <a:spcPts val="745"/>
              </a:spcBef>
              <a:tabLst>
                <a:tab pos="830580" algn="l"/>
                <a:tab pos="831215" algn="l"/>
              </a:tabLst>
            </a:pPr>
            <a:r>
              <a:rPr lang="en-US" sz="2000" spc="-5" dirty="0" smtClean="0">
                <a:latin typeface="Times New Roman"/>
                <a:cs typeface="Times New Roman"/>
              </a:rPr>
              <a:t>Intellectual property: set of intangible assets that are not physical in nature but owned, includes intangible creations </a:t>
            </a:r>
            <a:r>
              <a:rPr lang="en-US" sz="2000" spc="-5" smtClean="0">
                <a:latin typeface="Times New Roman"/>
                <a:cs typeface="Times New Roman"/>
              </a:rPr>
              <a:t>of the </a:t>
            </a:r>
            <a:r>
              <a:rPr lang="en-US" sz="2000" spc="-5" dirty="0" smtClean="0">
                <a:latin typeface="Times New Roman"/>
                <a:cs typeface="Times New Roman"/>
              </a:rPr>
              <a:t>human intellect. </a:t>
            </a:r>
            <a:endParaRPr sz="2000" dirty="0">
              <a:latin typeface="Times New Roman"/>
              <a:cs typeface="Times New Roman"/>
            </a:endParaRPr>
          </a:p>
        </p:txBody>
      </p:sp>
      <p:sp>
        <p:nvSpPr>
          <p:cNvPr id="4" name="object 4"/>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5691" y="647054"/>
            <a:ext cx="3064510" cy="725199"/>
          </a:xfrm>
          <a:prstGeom prst="rect">
            <a:avLst/>
          </a:prstGeom>
        </p:spPr>
        <p:txBody>
          <a:bodyPr vert="horz" wrap="square" lIns="0" tIns="17145" rIns="0" bIns="0" rtlCol="0">
            <a:spAutoFit/>
          </a:bodyPr>
          <a:lstStyle/>
          <a:p>
            <a:pPr marL="12700">
              <a:lnSpc>
                <a:spcPct val="100000"/>
              </a:lnSpc>
              <a:spcBef>
                <a:spcPts val="135"/>
              </a:spcBef>
            </a:pPr>
            <a:r>
              <a:rPr sz="4600" spc="10" dirty="0">
                <a:latin typeface="Arial MT"/>
                <a:cs typeface="Arial MT"/>
              </a:rPr>
              <a:t>Definitions:</a:t>
            </a:r>
            <a:endParaRPr sz="4600" dirty="0">
              <a:latin typeface="Arial MT"/>
              <a:cs typeface="Arial MT"/>
            </a:endParaRPr>
          </a:p>
        </p:txBody>
      </p:sp>
      <p:sp>
        <p:nvSpPr>
          <p:cNvPr id="3" name="object 3"/>
          <p:cNvSpPr txBox="1"/>
          <p:nvPr/>
        </p:nvSpPr>
        <p:spPr>
          <a:xfrm>
            <a:off x="304800" y="1813322"/>
            <a:ext cx="9372599" cy="4354269"/>
          </a:xfrm>
          <a:prstGeom prst="rect">
            <a:avLst/>
          </a:prstGeom>
        </p:spPr>
        <p:txBody>
          <a:bodyPr vert="horz" wrap="square" lIns="0" tIns="97790" rIns="0" bIns="0" rtlCol="0">
            <a:spAutoFit/>
          </a:bodyPr>
          <a:lstStyle/>
          <a:p>
            <a:pPr marL="12700" algn="just">
              <a:lnSpc>
                <a:spcPct val="100000"/>
              </a:lnSpc>
              <a:spcBef>
                <a:spcPts val="770"/>
              </a:spcBef>
            </a:pPr>
            <a:r>
              <a:rPr sz="2650" b="1" spc="-10" dirty="0" smtClean="0">
                <a:latin typeface="Times New Roman" pitchFamily="18" charset="0"/>
                <a:cs typeface="Times New Roman" pitchFamily="18" charset="0"/>
              </a:rPr>
              <a:t>Patent</a:t>
            </a:r>
            <a:endParaRPr sz="2650" dirty="0">
              <a:latin typeface="Times New Roman" pitchFamily="18" charset="0"/>
              <a:cs typeface="Times New Roman" pitchFamily="18" charset="0"/>
            </a:endParaRPr>
          </a:p>
          <a:p>
            <a:pPr marL="390525" marR="5080" indent="-378460" algn="just">
              <a:lnSpc>
                <a:spcPct val="100600"/>
              </a:lnSpc>
              <a:spcBef>
                <a:spcPts val="455"/>
              </a:spcBef>
            </a:pPr>
            <a:r>
              <a:rPr sz="2000" spc="10" dirty="0">
                <a:latin typeface="Times New Roman" pitchFamily="18" charset="0"/>
                <a:cs typeface="Times New Roman" pitchFamily="18" charset="0"/>
              </a:rPr>
              <a:t>A</a:t>
            </a:r>
            <a:r>
              <a:rPr sz="2000" dirty="0">
                <a:latin typeface="Times New Roman" pitchFamily="18" charset="0"/>
                <a:cs typeface="Times New Roman" pitchFamily="18" charset="0"/>
              </a:rPr>
              <a:t> government</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authority</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or</a:t>
            </a:r>
            <a:r>
              <a:rPr sz="2000" spc="25" dirty="0">
                <a:latin typeface="Times New Roman" pitchFamily="18" charset="0"/>
                <a:cs typeface="Times New Roman" pitchFamily="18" charset="0"/>
              </a:rPr>
              <a:t> </a:t>
            </a:r>
            <a:r>
              <a:rPr sz="2000" dirty="0">
                <a:latin typeface="Times New Roman" pitchFamily="18" charset="0"/>
                <a:cs typeface="Times New Roman" pitchFamily="18" charset="0"/>
              </a:rPr>
              <a:t>license conferring</a:t>
            </a:r>
            <a:r>
              <a:rPr sz="2000" spc="5" dirty="0">
                <a:latin typeface="Times New Roman" pitchFamily="18" charset="0"/>
                <a:cs typeface="Times New Roman" pitchFamily="18" charset="0"/>
              </a:rPr>
              <a:t> a</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right</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or</a:t>
            </a:r>
            <a:r>
              <a:rPr sz="2000" spc="25" dirty="0">
                <a:latin typeface="Times New Roman" pitchFamily="18" charset="0"/>
                <a:cs typeface="Times New Roman" pitchFamily="18" charset="0"/>
              </a:rPr>
              <a:t> </a:t>
            </a:r>
            <a:r>
              <a:rPr sz="2000" dirty="0">
                <a:latin typeface="Times New Roman" pitchFamily="18" charset="0"/>
                <a:cs typeface="Times New Roman" pitchFamily="18" charset="0"/>
              </a:rPr>
              <a:t>title</a:t>
            </a:r>
            <a:r>
              <a:rPr sz="2000" spc="15" dirty="0">
                <a:latin typeface="Times New Roman" pitchFamily="18" charset="0"/>
                <a:cs typeface="Times New Roman" pitchFamily="18" charset="0"/>
              </a:rPr>
              <a:t> </a:t>
            </a:r>
            <a:r>
              <a:rPr sz="2000" dirty="0">
                <a:latin typeface="Times New Roman" pitchFamily="18" charset="0"/>
                <a:cs typeface="Times New Roman" pitchFamily="18" charset="0"/>
              </a:rPr>
              <a:t>for </a:t>
            </a:r>
            <a:r>
              <a:rPr sz="2000" spc="5" dirty="0">
                <a:latin typeface="Times New Roman" pitchFamily="18" charset="0"/>
                <a:cs typeface="Times New Roman" pitchFamily="18" charset="0"/>
              </a:rPr>
              <a:t>a</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set</a:t>
            </a:r>
            <a:r>
              <a:rPr sz="2000" spc="30" dirty="0">
                <a:latin typeface="Times New Roman" pitchFamily="18" charset="0"/>
                <a:cs typeface="Times New Roman" pitchFamily="18" charset="0"/>
              </a:rPr>
              <a:t> </a:t>
            </a:r>
            <a:r>
              <a:rPr sz="2000" spc="5" dirty="0" smtClean="0">
                <a:latin typeface="Times New Roman" pitchFamily="18" charset="0"/>
                <a:cs typeface="Times New Roman" pitchFamily="18" charset="0"/>
              </a:rPr>
              <a:t>period,</a:t>
            </a:r>
            <a:r>
              <a:rPr lang="en-US" sz="2000" spc="-10" dirty="0">
                <a:latin typeface="Times New Roman" pitchFamily="18" charset="0"/>
                <a:cs typeface="Times New Roman" pitchFamily="18" charset="0"/>
              </a:rPr>
              <a:t> </a:t>
            </a:r>
            <a:r>
              <a:rPr sz="2000" dirty="0" smtClean="0">
                <a:latin typeface="Times New Roman" pitchFamily="18" charset="0"/>
                <a:cs typeface="Times New Roman" pitchFamily="18" charset="0"/>
              </a:rPr>
              <a:t>especially</a:t>
            </a:r>
            <a:r>
              <a:rPr sz="2000" spc="30" dirty="0" smtClean="0">
                <a:latin typeface="Times New Roman" pitchFamily="18" charset="0"/>
                <a:cs typeface="Times New Roman" pitchFamily="18" charset="0"/>
              </a:rPr>
              <a:t> </a:t>
            </a:r>
            <a:r>
              <a:rPr sz="2000" spc="5" dirty="0">
                <a:latin typeface="Times New Roman" pitchFamily="18" charset="0"/>
                <a:cs typeface="Times New Roman" pitchFamily="18" charset="0"/>
              </a:rPr>
              <a:t>the</a:t>
            </a:r>
            <a:r>
              <a:rPr sz="2000" dirty="0">
                <a:latin typeface="Times New Roman" pitchFamily="18" charset="0"/>
                <a:cs typeface="Times New Roman" pitchFamily="18" charset="0"/>
              </a:rPr>
              <a:t> </a:t>
            </a:r>
            <a:r>
              <a:rPr sz="2000" spc="5" dirty="0" smtClean="0">
                <a:latin typeface="Times New Roman" pitchFamily="18" charset="0"/>
                <a:cs typeface="Times New Roman" pitchFamily="18" charset="0"/>
              </a:rPr>
              <a:t>sole</a:t>
            </a:r>
            <a:r>
              <a:rPr lang="en-US" sz="2000" spc="5" dirty="0" smtClean="0">
                <a:latin typeface="Times New Roman" pitchFamily="18" charset="0"/>
                <a:cs typeface="Times New Roman" pitchFamily="18" charset="0"/>
              </a:rPr>
              <a:t> </a:t>
            </a:r>
            <a:r>
              <a:rPr sz="2000" spc="5" dirty="0" smtClean="0">
                <a:latin typeface="Times New Roman" pitchFamily="18" charset="0"/>
                <a:cs typeface="Times New Roman" pitchFamily="18" charset="0"/>
              </a:rPr>
              <a:t>right</a:t>
            </a:r>
            <a:r>
              <a:rPr sz="2000" spc="-15" dirty="0" smtClean="0">
                <a:latin typeface="Times New Roman" pitchFamily="18" charset="0"/>
                <a:cs typeface="Times New Roman" pitchFamily="18" charset="0"/>
              </a:rPr>
              <a:t> </a:t>
            </a:r>
            <a:r>
              <a:rPr sz="2000" spc="5" dirty="0">
                <a:latin typeface="Times New Roman" pitchFamily="18" charset="0"/>
                <a:cs typeface="Times New Roman" pitchFamily="18" charset="0"/>
              </a:rPr>
              <a:t>to</a:t>
            </a:r>
            <a:r>
              <a:rPr sz="2000" dirty="0">
                <a:latin typeface="Times New Roman" pitchFamily="18" charset="0"/>
                <a:cs typeface="Times New Roman" pitchFamily="18" charset="0"/>
              </a:rPr>
              <a:t> </a:t>
            </a:r>
            <a:r>
              <a:rPr sz="2000" spc="5" dirty="0">
                <a:latin typeface="Times New Roman" pitchFamily="18" charset="0"/>
                <a:cs typeface="Times New Roman" pitchFamily="18" charset="0"/>
              </a:rPr>
              <a:t>exclude</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others</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from</a:t>
            </a:r>
            <a:r>
              <a:rPr sz="2000" spc="25" dirty="0">
                <a:latin typeface="Times New Roman" pitchFamily="18" charset="0"/>
                <a:cs typeface="Times New Roman" pitchFamily="18" charset="0"/>
              </a:rPr>
              <a:t> </a:t>
            </a:r>
            <a:r>
              <a:rPr sz="2000" dirty="0">
                <a:latin typeface="Times New Roman" pitchFamily="18" charset="0"/>
                <a:cs typeface="Times New Roman" pitchFamily="18" charset="0"/>
              </a:rPr>
              <a:t>making,</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using,</a:t>
            </a:r>
            <a:r>
              <a:rPr sz="2000" spc="-15" dirty="0">
                <a:latin typeface="Times New Roman" pitchFamily="18" charset="0"/>
                <a:cs typeface="Times New Roman" pitchFamily="18" charset="0"/>
              </a:rPr>
              <a:t> </a:t>
            </a:r>
            <a:r>
              <a:rPr sz="2000" spc="10" dirty="0">
                <a:latin typeface="Times New Roman" pitchFamily="18" charset="0"/>
                <a:cs typeface="Times New Roman" pitchFamily="18" charset="0"/>
              </a:rPr>
              <a:t>or</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selling</a:t>
            </a:r>
            <a:r>
              <a:rPr sz="2000" spc="20" dirty="0">
                <a:latin typeface="Times New Roman" pitchFamily="18" charset="0"/>
                <a:cs typeface="Times New Roman" pitchFamily="18" charset="0"/>
              </a:rPr>
              <a:t> </a:t>
            </a:r>
            <a:r>
              <a:rPr sz="2000" dirty="0" smtClean="0">
                <a:latin typeface="Times New Roman" pitchFamily="18" charset="0"/>
                <a:cs typeface="Times New Roman" pitchFamily="18" charset="0"/>
              </a:rPr>
              <a:t>an</a:t>
            </a:r>
            <a:r>
              <a:rPr lang="en-US" sz="2000" dirty="0" smtClean="0">
                <a:latin typeface="Times New Roman" pitchFamily="18" charset="0"/>
                <a:cs typeface="Times New Roman" pitchFamily="18" charset="0"/>
              </a:rPr>
              <a:t> </a:t>
            </a:r>
            <a:r>
              <a:rPr sz="2000" spc="5" dirty="0" smtClean="0">
                <a:latin typeface="Times New Roman" pitchFamily="18" charset="0"/>
                <a:cs typeface="Times New Roman" pitchFamily="18" charset="0"/>
              </a:rPr>
              <a:t>invention</a:t>
            </a:r>
            <a:r>
              <a:rPr sz="2000" spc="5" dirty="0">
                <a:latin typeface="Times New Roman" pitchFamily="18" charset="0"/>
                <a:cs typeface="Times New Roman" pitchFamily="18" charset="0"/>
              </a:rPr>
              <a:t>.</a:t>
            </a:r>
            <a:endParaRPr sz="2000" dirty="0">
              <a:latin typeface="Times New Roman" pitchFamily="18" charset="0"/>
              <a:cs typeface="Times New Roman" pitchFamily="18" charset="0"/>
            </a:endParaRPr>
          </a:p>
          <a:p>
            <a:pPr marL="12700" algn="just">
              <a:lnSpc>
                <a:spcPct val="100000"/>
              </a:lnSpc>
              <a:spcBef>
                <a:spcPts val="590"/>
              </a:spcBef>
            </a:pPr>
            <a:r>
              <a:rPr sz="2650" b="1" spc="-10" dirty="0">
                <a:latin typeface="Times New Roman" pitchFamily="18" charset="0"/>
                <a:cs typeface="Times New Roman" pitchFamily="18" charset="0"/>
              </a:rPr>
              <a:t>Copy</a:t>
            </a:r>
            <a:r>
              <a:rPr sz="2650" b="1" spc="-30" dirty="0">
                <a:latin typeface="Times New Roman" pitchFamily="18" charset="0"/>
                <a:cs typeface="Times New Roman" pitchFamily="18" charset="0"/>
              </a:rPr>
              <a:t> </a:t>
            </a:r>
            <a:r>
              <a:rPr sz="2650" b="1" spc="-10" dirty="0">
                <a:latin typeface="Times New Roman" pitchFamily="18" charset="0"/>
                <a:cs typeface="Times New Roman" pitchFamily="18" charset="0"/>
              </a:rPr>
              <a:t>Rights</a:t>
            </a:r>
            <a:endParaRPr sz="2650" dirty="0">
              <a:latin typeface="Times New Roman" pitchFamily="18" charset="0"/>
              <a:cs typeface="Times New Roman" pitchFamily="18" charset="0"/>
            </a:endParaRPr>
          </a:p>
          <a:p>
            <a:pPr marL="12700" marR="241300" algn="just">
              <a:lnSpc>
                <a:spcPct val="120600"/>
              </a:lnSpc>
              <a:spcBef>
                <a:spcPts val="45"/>
              </a:spcBef>
            </a:pPr>
            <a:r>
              <a:rPr lang="en-US" sz="2000" spc="5" dirty="0">
                <a:latin typeface="Times New Roman" pitchFamily="18" charset="0"/>
                <a:cs typeface="Times New Roman" pitchFamily="18" charset="0"/>
              </a:rPr>
              <a:t>T</a:t>
            </a:r>
            <a:r>
              <a:rPr sz="2000" spc="5" dirty="0" smtClean="0">
                <a:latin typeface="Times New Roman" pitchFamily="18" charset="0"/>
                <a:cs typeface="Times New Roman" pitchFamily="18" charset="0"/>
              </a:rPr>
              <a:t>he </a:t>
            </a:r>
            <a:r>
              <a:rPr sz="2000" dirty="0">
                <a:latin typeface="Times New Roman" pitchFamily="18" charset="0"/>
                <a:cs typeface="Times New Roman" pitchFamily="18" charset="0"/>
              </a:rPr>
              <a:t>exclusive </a:t>
            </a:r>
            <a:r>
              <a:rPr sz="2000" spc="10" dirty="0">
                <a:latin typeface="Times New Roman" pitchFamily="18" charset="0"/>
                <a:cs typeface="Times New Roman" pitchFamily="18" charset="0"/>
              </a:rPr>
              <a:t>and </a:t>
            </a:r>
            <a:r>
              <a:rPr sz="2000" dirty="0">
                <a:latin typeface="Times New Roman" pitchFamily="18" charset="0"/>
                <a:cs typeface="Times New Roman" pitchFamily="18" charset="0"/>
              </a:rPr>
              <a:t>assignable legal </a:t>
            </a:r>
            <a:r>
              <a:rPr sz="2000" spc="5" dirty="0">
                <a:latin typeface="Times New Roman" pitchFamily="18" charset="0"/>
                <a:cs typeface="Times New Roman" pitchFamily="18" charset="0"/>
              </a:rPr>
              <a:t>right, given to </a:t>
            </a:r>
            <a:r>
              <a:rPr sz="2000" dirty="0">
                <a:latin typeface="Times New Roman" pitchFamily="18" charset="0"/>
                <a:cs typeface="Times New Roman" pitchFamily="18" charset="0"/>
              </a:rPr>
              <a:t>the originator for </a:t>
            </a:r>
            <a:r>
              <a:rPr sz="2000" spc="5" dirty="0">
                <a:latin typeface="Times New Roman" pitchFamily="18" charset="0"/>
                <a:cs typeface="Times New Roman" pitchFamily="18" charset="0"/>
              </a:rPr>
              <a:t>a </a:t>
            </a:r>
            <a:r>
              <a:rPr sz="2000" dirty="0">
                <a:latin typeface="Times New Roman" pitchFamily="18" charset="0"/>
                <a:cs typeface="Times New Roman" pitchFamily="18" charset="0"/>
              </a:rPr>
              <a:t>fixed </a:t>
            </a:r>
            <a:r>
              <a:rPr sz="2000" spc="5" dirty="0">
                <a:latin typeface="Times New Roman" pitchFamily="18" charset="0"/>
                <a:cs typeface="Times New Roman" pitchFamily="18" charset="0"/>
              </a:rPr>
              <a:t>number of </a:t>
            </a:r>
            <a:r>
              <a:rPr sz="2000" spc="-475" dirty="0">
                <a:latin typeface="Times New Roman" pitchFamily="18" charset="0"/>
                <a:cs typeface="Times New Roman" pitchFamily="18" charset="0"/>
              </a:rPr>
              <a:t> </a:t>
            </a:r>
            <a:r>
              <a:rPr sz="2000" dirty="0">
                <a:latin typeface="Times New Roman" pitchFamily="18" charset="0"/>
                <a:cs typeface="Times New Roman" pitchFamily="18" charset="0"/>
              </a:rPr>
              <a:t>years,</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to</a:t>
            </a:r>
            <a:r>
              <a:rPr sz="2000" spc="15" dirty="0">
                <a:latin typeface="Times New Roman" pitchFamily="18" charset="0"/>
                <a:cs typeface="Times New Roman" pitchFamily="18" charset="0"/>
              </a:rPr>
              <a:t> </a:t>
            </a:r>
            <a:r>
              <a:rPr sz="2000" dirty="0">
                <a:latin typeface="Times New Roman" pitchFamily="18" charset="0"/>
                <a:cs typeface="Times New Roman" pitchFamily="18" charset="0"/>
              </a:rPr>
              <a:t>print, publish,</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perform,</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film,</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or </a:t>
            </a:r>
            <a:r>
              <a:rPr sz="2000" dirty="0">
                <a:latin typeface="Times New Roman" pitchFamily="18" charset="0"/>
                <a:cs typeface="Times New Roman" pitchFamily="18" charset="0"/>
              </a:rPr>
              <a:t>record literary,</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artistic,</a:t>
            </a:r>
            <a:r>
              <a:rPr sz="2000" spc="-5" dirty="0">
                <a:latin typeface="Times New Roman" pitchFamily="18" charset="0"/>
                <a:cs typeface="Times New Roman" pitchFamily="18" charset="0"/>
              </a:rPr>
              <a:t> </a:t>
            </a:r>
            <a:r>
              <a:rPr sz="2000" spc="5" dirty="0">
                <a:latin typeface="Times New Roman" pitchFamily="18" charset="0"/>
                <a:cs typeface="Times New Roman" pitchFamily="18" charset="0"/>
              </a:rPr>
              <a:t>or musical</a:t>
            </a:r>
            <a:r>
              <a:rPr sz="2000" spc="-25" dirty="0">
                <a:latin typeface="Times New Roman" pitchFamily="18" charset="0"/>
                <a:cs typeface="Times New Roman" pitchFamily="18" charset="0"/>
              </a:rPr>
              <a:t> </a:t>
            </a:r>
            <a:r>
              <a:rPr sz="2000" spc="5" dirty="0">
                <a:latin typeface="Times New Roman" pitchFamily="18" charset="0"/>
                <a:cs typeface="Times New Roman" pitchFamily="18" charset="0"/>
              </a:rPr>
              <a:t>material</a:t>
            </a:r>
            <a:r>
              <a:rPr sz="2000" spc="5" dirty="0" smtClean="0">
                <a:latin typeface="Times New Roman" pitchFamily="18" charset="0"/>
                <a:cs typeface="Times New Roman" pitchFamily="18" charset="0"/>
              </a:rPr>
              <a:t>.</a:t>
            </a:r>
            <a:endParaRPr sz="2700" dirty="0">
              <a:latin typeface="Times New Roman" pitchFamily="18" charset="0"/>
              <a:cs typeface="Times New Roman" pitchFamily="18" charset="0"/>
            </a:endParaRPr>
          </a:p>
          <a:p>
            <a:pPr marL="12700" algn="just">
              <a:lnSpc>
                <a:spcPct val="100000"/>
              </a:lnSpc>
            </a:pPr>
            <a:r>
              <a:rPr sz="2650" b="1" spc="-10" dirty="0">
                <a:latin typeface="Times New Roman" pitchFamily="18" charset="0"/>
                <a:cs typeface="Times New Roman" pitchFamily="18" charset="0"/>
              </a:rPr>
              <a:t>Trade</a:t>
            </a:r>
            <a:r>
              <a:rPr sz="2650" b="1" spc="-50" dirty="0">
                <a:latin typeface="Times New Roman" pitchFamily="18" charset="0"/>
                <a:cs typeface="Times New Roman" pitchFamily="18" charset="0"/>
              </a:rPr>
              <a:t> </a:t>
            </a:r>
            <a:r>
              <a:rPr sz="2650" b="1" spc="-10" dirty="0">
                <a:latin typeface="Times New Roman" pitchFamily="18" charset="0"/>
                <a:cs typeface="Times New Roman" pitchFamily="18" charset="0"/>
              </a:rPr>
              <a:t>Marks</a:t>
            </a:r>
            <a:endParaRPr sz="2650" dirty="0">
              <a:latin typeface="Times New Roman" pitchFamily="18" charset="0"/>
              <a:cs typeface="Times New Roman" pitchFamily="18" charset="0"/>
            </a:endParaRPr>
          </a:p>
          <a:p>
            <a:pPr marL="12700" marR="288925" algn="just">
              <a:lnSpc>
                <a:spcPct val="120500"/>
              </a:lnSpc>
              <a:spcBef>
                <a:spcPts val="40"/>
              </a:spcBef>
            </a:pPr>
            <a:r>
              <a:rPr sz="2000" spc="5" dirty="0">
                <a:latin typeface="Times New Roman" pitchFamily="18" charset="0"/>
                <a:cs typeface="Times New Roman" pitchFamily="18" charset="0"/>
              </a:rPr>
              <a:t>A</a:t>
            </a:r>
            <a:r>
              <a:rPr sz="2000" spc="15" dirty="0">
                <a:latin typeface="Times New Roman" pitchFamily="18" charset="0"/>
                <a:cs typeface="Times New Roman" pitchFamily="18" charset="0"/>
              </a:rPr>
              <a:t> </a:t>
            </a:r>
            <a:r>
              <a:rPr sz="2000" dirty="0">
                <a:latin typeface="Times New Roman" pitchFamily="18" charset="0"/>
                <a:cs typeface="Times New Roman" pitchFamily="18" charset="0"/>
              </a:rPr>
              <a:t>symbol,</a:t>
            </a:r>
            <a:r>
              <a:rPr sz="2000" spc="20" dirty="0">
                <a:latin typeface="Times New Roman" pitchFamily="18" charset="0"/>
                <a:cs typeface="Times New Roman" pitchFamily="18" charset="0"/>
              </a:rPr>
              <a:t> </a:t>
            </a:r>
            <a:r>
              <a:rPr sz="2000" dirty="0">
                <a:latin typeface="Times New Roman" pitchFamily="18" charset="0"/>
                <a:cs typeface="Times New Roman" pitchFamily="18" charset="0"/>
              </a:rPr>
              <a:t>word,</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or</a:t>
            </a:r>
            <a:r>
              <a:rPr sz="2000" spc="10" dirty="0">
                <a:latin typeface="Times New Roman" pitchFamily="18" charset="0"/>
                <a:cs typeface="Times New Roman" pitchFamily="18" charset="0"/>
              </a:rPr>
              <a:t> </a:t>
            </a:r>
            <a:r>
              <a:rPr sz="2000" dirty="0">
                <a:latin typeface="Times New Roman" pitchFamily="18" charset="0"/>
                <a:cs typeface="Times New Roman" pitchFamily="18" charset="0"/>
              </a:rPr>
              <a:t>words</a:t>
            </a:r>
            <a:r>
              <a:rPr sz="2000" spc="10" dirty="0">
                <a:latin typeface="Times New Roman" pitchFamily="18" charset="0"/>
                <a:cs typeface="Times New Roman" pitchFamily="18" charset="0"/>
              </a:rPr>
              <a:t> </a:t>
            </a:r>
            <a:r>
              <a:rPr sz="2000" dirty="0">
                <a:latin typeface="Times New Roman" pitchFamily="18" charset="0"/>
                <a:cs typeface="Times New Roman" pitchFamily="18" charset="0"/>
              </a:rPr>
              <a:t>legally</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registered</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or </a:t>
            </a:r>
            <a:r>
              <a:rPr sz="2000" dirty="0">
                <a:latin typeface="Times New Roman" pitchFamily="18" charset="0"/>
                <a:cs typeface="Times New Roman" pitchFamily="18" charset="0"/>
              </a:rPr>
              <a:t>established</a:t>
            </a:r>
            <a:r>
              <a:rPr sz="2000" spc="-30" dirty="0">
                <a:latin typeface="Times New Roman" pitchFamily="18" charset="0"/>
                <a:cs typeface="Times New Roman" pitchFamily="18" charset="0"/>
              </a:rPr>
              <a:t> </a:t>
            </a:r>
            <a:r>
              <a:rPr sz="2000" spc="5" dirty="0">
                <a:latin typeface="Times New Roman" pitchFamily="18" charset="0"/>
                <a:cs typeface="Times New Roman" pitchFamily="18" charset="0"/>
              </a:rPr>
              <a:t>by</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use </a:t>
            </a:r>
            <a:r>
              <a:rPr sz="2000" spc="-5" dirty="0">
                <a:latin typeface="Times New Roman" pitchFamily="18" charset="0"/>
                <a:cs typeface="Times New Roman" pitchFamily="18" charset="0"/>
              </a:rPr>
              <a:t>as</a:t>
            </a:r>
            <a:r>
              <a:rPr sz="2000" spc="10" dirty="0">
                <a:latin typeface="Times New Roman" pitchFamily="18" charset="0"/>
                <a:cs typeface="Times New Roman" pitchFamily="18" charset="0"/>
              </a:rPr>
              <a:t> </a:t>
            </a:r>
            <a:r>
              <a:rPr sz="2000" dirty="0">
                <a:latin typeface="Times New Roman" pitchFamily="18" charset="0"/>
                <a:cs typeface="Times New Roman" pitchFamily="18" charset="0"/>
              </a:rPr>
              <a:t>representing</a:t>
            </a:r>
            <a:r>
              <a:rPr sz="2000" spc="5" dirty="0">
                <a:latin typeface="Times New Roman" pitchFamily="18" charset="0"/>
                <a:cs typeface="Times New Roman" pitchFamily="18" charset="0"/>
              </a:rPr>
              <a:t> a </a:t>
            </a:r>
            <a:r>
              <a:rPr sz="2000" spc="-470" dirty="0">
                <a:latin typeface="Times New Roman" pitchFamily="18" charset="0"/>
                <a:cs typeface="Times New Roman" pitchFamily="18" charset="0"/>
              </a:rPr>
              <a:t> </a:t>
            </a:r>
            <a:r>
              <a:rPr sz="2000" spc="5" dirty="0">
                <a:latin typeface="Times New Roman" pitchFamily="18" charset="0"/>
                <a:cs typeface="Times New Roman" pitchFamily="18" charset="0"/>
              </a:rPr>
              <a:t>company</a:t>
            </a:r>
            <a:r>
              <a:rPr sz="2000" spc="-15" dirty="0">
                <a:latin typeface="Times New Roman" pitchFamily="18" charset="0"/>
                <a:cs typeface="Times New Roman" pitchFamily="18" charset="0"/>
              </a:rPr>
              <a:t> </a:t>
            </a:r>
            <a:r>
              <a:rPr sz="2000" spc="-5" dirty="0">
                <a:latin typeface="Times New Roman" pitchFamily="18" charset="0"/>
                <a:cs typeface="Times New Roman" pitchFamily="18" charset="0"/>
              </a:rPr>
              <a:t>or</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product</a:t>
            </a:r>
            <a:r>
              <a:rPr sz="2000" spc="5" dirty="0" smtClean="0">
                <a:latin typeface="Times New Roman" pitchFamily="18" charset="0"/>
                <a:cs typeface="Times New Roman" pitchFamily="18" charset="0"/>
              </a:rPr>
              <a:t>.</a:t>
            </a:r>
            <a:endParaRPr sz="2700" dirty="0">
              <a:latin typeface="Times New Roman" pitchFamily="18" charset="0"/>
              <a:cs typeface="Times New Roman" pitchFamily="18" charset="0"/>
            </a:endParaRPr>
          </a:p>
          <a:p>
            <a:pPr marL="12700" algn="just">
              <a:lnSpc>
                <a:spcPct val="100000"/>
              </a:lnSpc>
            </a:pPr>
            <a:r>
              <a:rPr sz="2650" b="1" spc="-10" dirty="0">
                <a:latin typeface="Times New Roman" pitchFamily="18" charset="0"/>
                <a:cs typeface="Times New Roman" pitchFamily="18" charset="0"/>
              </a:rPr>
              <a:t>Trade</a:t>
            </a:r>
            <a:r>
              <a:rPr sz="2650" b="1" spc="-50" dirty="0">
                <a:latin typeface="Times New Roman" pitchFamily="18" charset="0"/>
                <a:cs typeface="Times New Roman" pitchFamily="18" charset="0"/>
              </a:rPr>
              <a:t> </a:t>
            </a:r>
            <a:r>
              <a:rPr sz="2650" b="1" spc="-5" dirty="0">
                <a:latin typeface="Times New Roman" pitchFamily="18" charset="0"/>
                <a:cs typeface="Times New Roman" pitchFamily="18" charset="0"/>
              </a:rPr>
              <a:t>Secrets</a:t>
            </a:r>
            <a:endParaRPr sz="2650" dirty="0">
              <a:latin typeface="Times New Roman" pitchFamily="18" charset="0"/>
              <a:cs typeface="Times New Roman" pitchFamily="18" charset="0"/>
            </a:endParaRPr>
          </a:p>
          <a:p>
            <a:pPr marL="68580" algn="just">
              <a:lnSpc>
                <a:spcPct val="100000"/>
              </a:lnSpc>
              <a:spcBef>
                <a:spcPts val="465"/>
              </a:spcBef>
            </a:pPr>
            <a:r>
              <a:rPr lang="en-US" sz="2000" spc="5" dirty="0">
                <a:latin typeface="Times New Roman" pitchFamily="18" charset="0"/>
                <a:cs typeface="Times New Roman" pitchFamily="18" charset="0"/>
              </a:rPr>
              <a:t>A</a:t>
            </a:r>
            <a:r>
              <a:rPr sz="2000" spc="-5" dirty="0" smtClean="0">
                <a:latin typeface="Times New Roman" pitchFamily="18" charset="0"/>
                <a:cs typeface="Times New Roman" pitchFamily="18" charset="0"/>
              </a:rPr>
              <a:t> </a:t>
            </a:r>
            <a:r>
              <a:rPr sz="2000" spc="5" dirty="0">
                <a:latin typeface="Times New Roman" pitchFamily="18" charset="0"/>
                <a:cs typeface="Times New Roman" pitchFamily="18" charset="0"/>
              </a:rPr>
              <a:t>secret</a:t>
            </a:r>
            <a:r>
              <a:rPr sz="2000" spc="-25" dirty="0">
                <a:latin typeface="Times New Roman" pitchFamily="18" charset="0"/>
                <a:cs typeface="Times New Roman" pitchFamily="18" charset="0"/>
              </a:rPr>
              <a:t> </a:t>
            </a:r>
            <a:r>
              <a:rPr sz="2000" spc="10" dirty="0">
                <a:latin typeface="Times New Roman" pitchFamily="18" charset="0"/>
                <a:cs typeface="Times New Roman" pitchFamily="18" charset="0"/>
              </a:rPr>
              <a:t>device</a:t>
            </a:r>
            <a:r>
              <a:rPr sz="2000" spc="-40" dirty="0">
                <a:latin typeface="Times New Roman" pitchFamily="18" charset="0"/>
                <a:cs typeface="Times New Roman" pitchFamily="18" charset="0"/>
              </a:rPr>
              <a:t> </a:t>
            </a:r>
            <a:r>
              <a:rPr sz="2000" spc="-5" dirty="0">
                <a:latin typeface="Times New Roman" pitchFamily="18" charset="0"/>
                <a:cs typeface="Times New Roman" pitchFamily="18" charset="0"/>
              </a:rPr>
              <a:t>or</a:t>
            </a:r>
            <a:r>
              <a:rPr sz="2000" spc="25" dirty="0">
                <a:latin typeface="Times New Roman" pitchFamily="18" charset="0"/>
                <a:cs typeface="Times New Roman" pitchFamily="18" charset="0"/>
              </a:rPr>
              <a:t> </a:t>
            </a:r>
            <a:r>
              <a:rPr sz="2000" spc="5" dirty="0">
                <a:latin typeface="Times New Roman" pitchFamily="18" charset="0"/>
                <a:cs typeface="Times New Roman" pitchFamily="18" charset="0"/>
              </a:rPr>
              <a:t>technique</a:t>
            </a:r>
            <a:r>
              <a:rPr sz="2000" spc="-60" dirty="0">
                <a:latin typeface="Times New Roman" pitchFamily="18" charset="0"/>
                <a:cs typeface="Times New Roman" pitchFamily="18" charset="0"/>
              </a:rPr>
              <a:t> </a:t>
            </a:r>
            <a:r>
              <a:rPr sz="2000" spc="5" dirty="0">
                <a:latin typeface="Times New Roman" pitchFamily="18" charset="0"/>
                <a:cs typeface="Times New Roman" pitchFamily="18" charset="0"/>
              </a:rPr>
              <a:t>used</a:t>
            </a:r>
            <a:r>
              <a:rPr sz="2000" spc="-5" dirty="0">
                <a:latin typeface="Times New Roman" pitchFamily="18" charset="0"/>
                <a:cs typeface="Times New Roman" pitchFamily="18" charset="0"/>
              </a:rPr>
              <a:t> by</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a</a:t>
            </a:r>
            <a:r>
              <a:rPr sz="2000" spc="10" dirty="0">
                <a:latin typeface="Times New Roman" pitchFamily="18" charset="0"/>
                <a:cs typeface="Times New Roman" pitchFamily="18" charset="0"/>
              </a:rPr>
              <a:t> </a:t>
            </a:r>
            <a:r>
              <a:rPr sz="2000" spc="5" dirty="0">
                <a:latin typeface="Times New Roman" pitchFamily="18" charset="0"/>
                <a:cs typeface="Times New Roman" pitchFamily="18" charset="0"/>
              </a:rPr>
              <a:t>company</a:t>
            </a:r>
            <a:r>
              <a:rPr sz="2000" spc="-30" dirty="0">
                <a:latin typeface="Times New Roman" pitchFamily="18" charset="0"/>
                <a:cs typeface="Times New Roman" pitchFamily="18" charset="0"/>
              </a:rPr>
              <a:t> </a:t>
            </a:r>
            <a:r>
              <a:rPr sz="2000" spc="10" dirty="0">
                <a:latin typeface="Times New Roman" pitchFamily="18" charset="0"/>
                <a:cs typeface="Times New Roman" pitchFamily="18" charset="0"/>
              </a:rPr>
              <a:t>in</a:t>
            </a:r>
            <a:r>
              <a:rPr sz="2000" spc="-20" dirty="0">
                <a:latin typeface="Times New Roman" pitchFamily="18" charset="0"/>
                <a:cs typeface="Times New Roman" pitchFamily="18" charset="0"/>
              </a:rPr>
              <a:t> </a:t>
            </a:r>
            <a:r>
              <a:rPr sz="2000" spc="5" dirty="0">
                <a:latin typeface="Times New Roman" pitchFamily="18" charset="0"/>
                <a:cs typeface="Times New Roman" pitchFamily="18" charset="0"/>
              </a:rPr>
              <a:t>manufacturing</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its</a:t>
            </a:r>
            <a:r>
              <a:rPr sz="2000" spc="5" dirty="0">
                <a:latin typeface="Times New Roman" pitchFamily="18" charset="0"/>
                <a:cs typeface="Times New Roman" pitchFamily="18" charset="0"/>
              </a:rPr>
              <a:t> </a:t>
            </a:r>
            <a:r>
              <a:rPr sz="2000" dirty="0">
                <a:latin typeface="Times New Roman" pitchFamily="18" charset="0"/>
                <a:cs typeface="Times New Roman" pitchFamily="18" charset="0"/>
              </a:rPr>
              <a:t>products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5544" y="543602"/>
            <a:ext cx="5988050" cy="696595"/>
          </a:xfrm>
          <a:prstGeom prst="rect">
            <a:avLst/>
          </a:prstGeom>
        </p:spPr>
        <p:txBody>
          <a:bodyPr vert="horz" wrap="square" lIns="0" tIns="12700" rIns="0" bIns="0" rtlCol="0">
            <a:spAutoFit/>
          </a:bodyPr>
          <a:lstStyle/>
          <a:p>
            <a:pPr marL="12700">
              <a:lnSpc>
                <a:spcPct val="100000"/>
              </a:lnSpc>
              <a:spcBef>
                <a:spcPts val="100"/>
              </a:spcBef>
            </a:pPr>
            <a:r>
              <a:rPr sz="4400" spc="-5" dirty="0"/>
              <a:t>How</a:t>
            </a:r>
            <a:r>
              <a:rPr sz="4400" spc="-25" dirty="0"/>
              <a:t> </a:t>
            </a:r>
            <a:r>
              <a:rPr sz="4400" dirty="0"/>
              <a:t>to</a:t>
            </a:r>
            <a:r>
              <a:rPr sz="4400" spc="-10" dirty="0"/>
              <a:t> </a:t>
            </a:r>
            <a:r>
              <a:rPr sz="4400" spc="-5" dirty="0"/>
              <a:t>Select </a:t>
            </a:r>
            <a:r>
              <a:rPr sz="4400" spc="-10" dirty="0"/>
              <a:t>an </a:t>
            </a:r>
            <a:r>
              <a:rPr sz="4400" dirty="0"/>
              <a:t>Attorney</a:t>
            </a:r>
            <a:endParaRPr sz="4400"/>
          </a:p>
        </p:txBody>
      </p:sp>
      <p:sp>
        <p:nvSpPr>
          <p:cNvPr id="3" name="object 3"/>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grpSp>
        <p:nvGrpSpPr>
          <p:cNvPr id="4" name="object 4"/>
          <p:cNvGrpSpPr/>
          <p:nvPr/>
        </p:nvGrpSpPr>
        <p:grpSpPr>
          <a:xfrm>
            <a:off x="581405" y="1869186"/>
            <a:ext cx="8895715" cy="5123815"/>
            <a:chOff x="581405" y="1869186"/>
            <a:chExt cx="8895715" cy="5123815"/>
          </a:xfrm>
        </p:grpSpPr>
        <p:sp>
          <p:nvSpPr>
            <p:cNvPr id="5" name="object 5"/>
            <p:cNvSpPr/>
            <p:nvPr/>
          </p:nvSpPr>
          <p:spPr>
            <a:xfrm>
              <a:off x="586739" y="1874520"/>
              <a:ext cx="8884920" cy="5113020"/>
            </a:xfrm>
            <a:custGeom>
              <a:avLst/>
              <a:gdLst/>
              <a:ahLst/>
              <a:cxnLst/>
              <a:rect l="l" t="t" r="r" b="b"/>
              <a:pathLst>
                <a:path w="8884920" h="5113020">
                  <a:moveTo>
                    <a:pt x="8884920" y="5113019"/>
                  </a:moveTo>
                  <a:lnTo>
                    <a:pt x="0" y="5113019"/>
                  </a:lnTo>
                  <a:lnTo>
                    <a:pt x="0" y="0"/>
                  </a:lnTo>
                  <a:lnTo>
                    <a:pt x="8884920" y="0"/>
                  </a:lnTo>
                  <a:lnTo>
                    <a:pt x="8884920" y="5113019"/>
                  </a:lnTo>
                  <a:close/>
                </a:path>
              </a:pathLst>
            </a:custGeom>
            <a:solidFill>
              <a:srgbClr val="FFFFCC"/>
            </a:solidFill>
          </p:spPr>
          <p:txBody>
            <a:bodyPr wrap="square" lIns="0" tIns="0" rIns="0" bIns="0" rtlCol="0"/>
            <a:lstStyle/>
            <a:p>
              <a:endParaRPr/>
            </a:p>
          </p:txBody>
        </p:sp>
        <p:sp>
          <p:nvSpPr>
            <p:cNvPr id="6" name="object 6"/>
            <p:cNvSpPr/>
            <p:nvPr/>
          </p:nvSpPr>
          <p:spPr>
            <a:xfrm>
              <a:off x="586739" y="1874520"/>
              <a:ext cx="8884920" cy="5113020"/>
            </a:xfrm>
            <a:custGeom>
              <a:avLst/>
              <a:gdLst/>
              <a:ahLst/>
              <a:cxnLst/>
              <a:rect l="l" t="t" r="r" b="b"/>
              <a:pathLst>
                <a:path w="8884920" h="5113020">
                  <a:moveTo>
                    <a:pt x="0" y="0"/>
                  </a:moveTo>
                  <a:lnTo>
                    <a:pt x="8884920" y="0"/>
                  </a:lnTo>
                  <a:lnTo>
                    <a:pt x="8884920" y="5113019"/>
                  </a:lnTo>
                  <a:lnTo>
                    <a:pt x="0" y="5113019"/>
                  </a:lnTo>
                  <a:lnTo>
                    <a:pt x="0" y="0"/>
                  </a:lnTo>
                  <a:close/>
                </a:path>
              </a:pathLst>
            </a:custGeom>
            <a:ln w="10668">
              <a:solidFill>
                <a:srgbClr val="000000"/>
              </a:solidFill>
            </a:ln>
          </p:spPr>
          <p:txBody>
            <a:bodyPr wrap="square" lIns="0" tIns="0" rIns="0" bIns="0" rtlCol="0"/>
            <a:lstStyle/>
            <a:p>
              <a:endParaRPr/>
            </a:p>
          </p:txBody>
        </p:sp>
      </p:grpSp>
      <p:sp>
        <p:nvSpPr>
          <p:cNvPr id="7" name="object 7"/>
          <p:cNvSpPr txBox="1"/>
          <p:nvPr/>
        </p:nvSpPr>
        <p:spPr>
          <a:xfrm>
            <a:off x="758497" y="1737835"/>
            <a:ext cx="8346440" cy="5054600"/>
          </a:xfrm>
          <a:prstGeom prst="rect">
            <a:avLst/>
          </a:prstGeom>
        </p:spPr>
        <p:txBody>
          <a:bodyPr vert="horz" wrap="square" lIns="0" tIns="12700" rIns="0" bIns="0" rtlCol="0">
            <a:spAutoFit/>
          </a:bodyPr>
          <a:lstStyle/>
          <a:p>
            <a:pPr marL="152400" marR="696595" indent="-140335">
              <a:lnSpc>
                <a:spcPct val="125000"/>
              </a:lnSpc>
              <a:spcBef>
                <a:spcPts val="100"/>
              </a:spcBef>
              <a:buSzPct val="88636"/>
              <a:buChar char="•"/>
              <a:tabLst>
                <a:tab pos="162560" algn="l"/>
              </a:tabLst>
            </a:pPr>
            <a:r>
              <a:rPr sz="2200" spc="-5" dirty="0">
                <a:latin typeface="Times New Roman"/>
                <a:cs typeface="Times New Roman"/>
              </a:rPr>
              <a:t>Contact</a:t>
            </a:r>
            <a:r>
              <a:rPr sz="2200" spc="5"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10" dirty="0">
                <a:latin typeface="Times New Roman"/>
                <a:cs typeface="Times New Roman"/>
              </a:rPr>
              <a:t>local</a:t>
            </a:r>
            <a:r>
              <a:rPr sz="2200" spc="5" dirty="0">
                <a:latin typeface="Times New Roman"/>
                <a:cs typeface="Times New Roman"/>
              </a:rPr>
              <a:t> </a:t>
            </a:r>
            <a:r>
              <a:rPr sz="2200" spc="-5" dirty="0">
                <a:latin typeface="Times New Roman"/>
                <a:cs typeface="Times New Roman"/>
              </a:rPr>
              <a:t>bar</a:t>
            </a:r>
            <a:r>
              <a:rPr sz="2200" dirty="0">
                <a:latin typeface="Times New Roman"/>
                <a:cs typeface="Times New Roman"/>
              </a:rPr>
              <a:t> </a:t>
            </a:r>
            <a:r>
              <a:rPr sz="2200" spc="-5" dirty="0">
                <a:latin typeface="Times New Roman"/>
                <a:cs typeface="Times New Roman"/>
              </a:rPr>
              <a:t>association</a:t>
            </a:r>
            <a:r>
              <a:rPr sz="2200" dirty="0">
                <a:latin typeface="Times New Roman"/>
                <a:cs typeface="Times New Roman"/>
              </a:rPr>
              <a:t> </a:t>
            </a:r>
            <a:r>
              <a:rPr sz="2200" spc="-10" dirty="0">
                <a:latin typeface="Times New Roman"/>
                <a:cs typeface="Times New Roman"/>
              </a:rPr>
              <a:t>and</a:t>
            </a:r>
            <a:r>
              <a:rPr sz="2200" spc="5" dirty="0">
                <a:latin typeface="Times New Roman"/>
                <a:cs typeface="Times New Roman"/>
              </a:rPr>
              <a:t> </a:t>
            </a:r>
            <a:r>
              <a:rPr sz="2200" spc="-10" dirty="0">
                <a:latin typeface="Times New Roman"/>
                <a:cs typeface="Times New Roman"/>
              </a:rPr>
              <a:t>ask</a:t>
            </a:r>
            <a:r>
              <a:rPr sz="2200" dirty="0">
                <a:latin typeface="Times New Roman"/>
                <a:cs typeface="Times New Roman"/>
              </a:rPr>
              <a:t> for </a:t>
            </a:r>
            <a:r>
              <a:rPr sz="2200" spc="-5" dirty="0">
                <a:latin typeface="Times New Roman"/>
                <a:cs typeface="Times New Roman"/>
              </a:rPr>
              <a:t>a list</a:t>
            </a:r>
            <a:r>
              <a:rPr sz="2200" spc="-10" dirty="0">
                <a:latin typeface="Times New Roman"/>
                <a:cs typeface="Times New Roman"/>
              </a:rPr>
              <a:t> </a:t>
            </a:r>
            <a:r>
              <a:rPr sz="2200" spc="-5" dirty="0">
                <a:latin typeface="Times New Roman"/>
                <a:cs typeface="Times New Roman"/>
              </a:rPr>
              <a:t>of</a:t>
            </a:r>
            <a:r>
              <a:rPr sz="2200" spc="20" dirty="0">
                <a:latin typeface="Times New Roman"/>
                <a:cs typeface="Times New Roman"/>
              </a:rPr>
              <a:t> </a:t>
            </a:r>
            <a:r>
              <a:rPr sz="2200" spc="-5" dirty="0">
                <a:latin typeface="Times New Roman"/>
                <a:cs typeface="Times New Roman"/>
              </a:rPr>
              <a:t>attorneys</a:t>
            </a:r>
            <a:r>
              <a:rPr sz="2200" spc="-40" dirty="0">
                <a:latin typeface="Times New Roman"/>
                <a:cs typeface="Times New Roman"/>
              </a:rPr>
              <a:t> </a:t>
            </a:r>
            <a:r>
              <a:rPr sz="2200" spc="-5" dirty="0">
                <a:latin typeface="Times New Roman"/>
                <a:cs typeface="Times New Roman"/>
              </a:rPr>
              <a:t>who </a:t>
            </a:r>
            <a:r>
              <a:rPr sz="2200" spc="-535" dirty="0">
                <a:latin typeface="Times New Roman"/>
                <a:cs typeface="Times New Roman"/>
              </a:rPr>
              <a:t> </a:t>
            </a:r>
            <a:r>
              <a:rPr sz="2200" spc="-5" dirty="0">
                <a:latin typeface="Times New Roman"/>
                <a:cs typeface="Times New Roman"/>
              </a:rPr>
              <a:t>specialize</a:t>
            </a:r>
            <a:r>
              <a:rPr sz="2200" spc="-15" dirty="0">
                <a:latin typeface="Times New Roman"/>
                <a:cs typeface="Times New Roman"/>
              </a:rPr>
              <a:t> in</a:t>
            </a:r>
            <a:r>
              <a:rPr sz="2200" spc="-5" dirty="0">
                <a:latin typeface="Times New Roman"/>
                <a:cs typeface="Times New Roman"/>
              </a:rPr>
              <a:t> start-ups</a:t>
            </a:r>
            <a:r>
              <a:rPr sz="2200" spc="-25" dirty="0">
                <a:latin typeface="Times New Roman"/>
                <a:cs typeface="Times New Roman"/>
              </a:rPr>
              <a:t> </a:t>
            </a:r>
            <a:r>
              <a:rPr sz="2200" spc="-5" dirty="0">
                <a:latin typeface="Times New Roman"/>
                <a:cs typeface="Times New Roman"/>
              </a:rPr>
              <a:t>in </a:t>
            </a:r>
            <a:r>
              <a:rPr sz="2200" dirty="0">
                <a:latin typeface="Times New Roman"/>
                <a:cs typeface="Times New Roman"/>
              </a:rPr>
              <a:t>your</a:t>
            </a:r>
            <a:r>
              <a:rPr sz="2200" spc="-10" dirty="0">
                <a:latin typeface="Times New Roman"/>
                <a:cs typeface="Times New Roman"/>
              </a:rPr>
              <a:t> area.</a:t>
            </a:r>
            <a:endParaRPr sz="2200" dirty="0">
              <a:latin typeface="Times New Roman"/>
              <a:cs typeface="Times New Roman"/>
            </a:endParaRPr>
          </a:p>
          <a:p>
            <a:pPr marL="161925" indent="-149860">
              <a:lnSpc>
                <a:spcPct val="100000"/>
              </a:lnSpc>
              <a:spcBef>
                <a:spcPts val="660"/>
              </a:spcBef>
              <a:buSzPct val="88636"/>
              <a:buChar char="•"/>
              <a:tabLst>
                <a:tab pos="162560" algn="l"/>
              </a:tabLst>
            </a:pPr>
            <a:r>
              <a:rPr sz="2200" spc="-5" dirty="0">
                <a:latin typeface="Times New Roman"/>
                <a:cs typeface="Times New Roman"/>
              </a:rPr>
              <a:t>Interview</a:t>
            </a:r>
            <a:r>
              <a:rPr sz="2200" spc="-25" dirty="0">
                <a:latin typeface="Times New Roman"/>
                <a:cs typeface="Times New Roman"/>
              </a:rPr>
              <a:t> </a:t>
            </a:r>
            <a:r>
              <a:rPr sz="2200" spc="-5" dirty="0">
                <a:latin typeface="Times New Roman"/>
                <a:cs typeface="Times New Roman"/>
              </a:rPr>
              <a:t>several</a:t>
            </a:r>
            <a:r>
              <a:rPr sz="2200" spc="-15" dirty="0">
                <a:latin typeface="Times New Roman"/>
                <a:cs typeface="Times New Roman"/>
              </a:rPr>
              <a:t> </a:t>
            </a:r>
            <a:r>
              <a:rPr sz="2200" spc="-5" dirty="0">
                <a:latin typeface="Times New Roman"/>
                <a:cs typeface="Times New Roman"/>
              </a:rPr>
              <a:t>attorneys.</a:t>
            </a:r>
            <a:endParaRPr sz="2200" dirty="0">
              <a:latin typeface="Times New Roman"/>
              <a:cs typeface="Times New Roman"/>
            </a:endParaRPr>
          </a:p>
          <a:p>
            <a:pPr marL="161925" indent="-149860">
              <a:lnSpc>
                <a:spcPct val="100000"/>
              </a:lnSpc>
              <a:spcBef>
                <a:spcPts val="660"/>
              </a:spcBef>
              <a:buSzPct val="88636"/>
              <a:buChar char="•"/>
              <a:tabLst>
                <a:tab pos="162560" algn="l"/>
              </a:tabLst>
            </a:pPr>
            <a:r>
              <a:rPr sz="2200" spc="-10" dirty="0">
                <a:latin typeface="Times New Roman"/>
                <a:cs typeface="Times New Roman"/>
              </a:rPr>
              <a:t>Select</a:t>
            </a:r>
            <a:r>
              <a:rPr sz="2200" dirty="0">
                <a:latin typeface="Times New Roman"/>
                <a:cs typeface="Times New Roman"/>
              </a:rPr>
              <a:t> an </a:t>
            </a:r>
            <a:r>
              <a:rPr sz="2200" spc="-5" dirty="0">
                <a:latin typeface="Times New Roman"/>
                <a:cs typeface="Times New Roman"/>
              </a:rPr>
              <a:t>attorney</a:t>
            </a:r>
            <a:r>
              <a:rPr sz="2200" dirty="0">
                <a:latin typeface="Times New Roman"/>
                <a:cs typeface="Times New Roman"/>
              </a:rPr>
              <a:t> </a:t>
            </a:r>
            <a:r>
              <a:rPr sz="2200" spc="-5" dirty="0">
                <a:latin typeface="Times New Roman"/>
                <a:cs typeface="Times New Roman"/>
              </a:rPr>
              <a:t>who</a:t>
            </a:r>
            <a:r>
              <a:rPr sz="220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10" dirty="0">
                <a:latin typeface="Times New Roman"/>
                <a:cs typeface="Times New Roman"/>
              </a:rPr>
              <a:t>familiar</a:t>
            </a:r>
            <a:r>
              <a:rPr sz="2200" spc="15" dirty="0">
                <a:latin typeface="Times New Roman"/>
                <a:cs typeface="Times New Roman"/>
              </a:rPr>
              <a:t> </a:t>
            </a:r>
            <a:r>
              <a:rPr sz="2200" spc="-10" dirty="0">
                <a:latin typeface="Times New Roman"/>
                <a:cs typeface="Times New Roman"/>
              </a:rPr>
              <a:t>with</a:t>
            </a:r>
            <a:r>
              <a:rPr sz="2200" dirty="0">
                <a:latin typeface="Times New Roman"/>
                <a:cs typeface="Times New Roman"/>
              </a:rPr>
              <a:t> </a:t>
            </a:r>
            <a:r>
              <a:rPr sz="2200" spc="-5" dirty="0">
                <a:latin typeface="Times New Roman"/>
                <a:cs typeface="Times New Roman"/>
              </a:rPr>
              <a:t>the start-up</a:t>
            </a:r>
            <a:r>
              <a:rPr sz="2200" spc="-25" dirty="0">
                <a:latin typeface="Times New Roman"/>
                <a:cs typeface="Times New Roman"/>
              </a:rPr>
              <a:t> </a:t>
            </a:r>
            <a:r>
              <a:rPr sz="2200" spc="-5" dirty="0">
                <a:latin typeface="Times New Roman"/>
                <a:cs typeface="Times New Roman"/>
              </a:rPr>
              <a:t>process.</a:t>
            </a:r>
            <a:endParaRPr sz="2200" dirty="0">
              <a:latin typeface="Times New Roman"/>
              <a:cs typeface="Times New Roman"/>
            </a:endParaRPr>
          </a:p>
          <a:p>
            <a:pPr marL="152400" marR="553720" indent="-140335">
              <a:lnSpc>
                <a:spcPct val="125000"/>
              </a:lnSpc>
              <a:buSzPct val="88636"/>
              <a:buChar char="•"/>
              <a:tabLst>
                <a:tab pos="162560" algn="l"/>
              </a:tabLst>
            </a:pPr>
            <a:r>
              <a:rPr sz="2200" spc="-10" dirty="0">
                <a:latin typeface="Times New Roman"/>
                <a:cs typeface="Times New Roman"/>
              </a:rPr>
              <a:t>Select </a:t>
            </a:r>
            <a:r>
              <a:rPr sz="2200" dirty="0">
                <a:latin typeface="Times New Roman"/>
                <a:cs typeface="Times New Roman"/>
              </a:rPr>
              <a:t>an </a:t>
            </a:r>
            <a:r>
              <a:rPr sz="2200" spc="-5" dirty="0">
                <a:latin typeface="Times New Roman"/>
                <a:cs typeface="Times New Roman"/>
              </a:rPr>
              <a:t>attorney who can assist </a:t>
            </a:r>
            <a:r>
              <a:rPr sz="2200" dirty="0">
                <a:latin typeface="Times New Roman"/>
                <a:cs typeface="Times New Roman"/>
              </a:rPr>
              <a:t>you </a:t>
            </a:r>
            <a:r>
              <a:rPr sz="2200" spc="-5" dirty="0">
                <a:latin typeface="Times New Roman"/>
                <a:cs typeface="Times New Roman"/>
              </a:rPr>
              <a:t>in raising money </a:t>
            </a:r>
            <a:r>
              <a:rPr sz="2200" dirty="0">
                <a:latin typeface="Times New Roman"/>
                <a:cs typeface="Times New Roman"/>
              </a:rPr>
              <a:t>for your </a:t>
            </a:r>
            <a:r>
              <a:rPr sz="2200" spc="-10" dirty="0">
                <a:latin typeface="Times New Roman"/>
                <a:cs typeface="Times New Roman"/>
              </a:rPr>
              <a:t>new </a:t>
            </a:r>
            <a:r>
              <a:rPr sz="2200" spc="-535" dirty="0">
                <a:latin typeface="Times New Roman"/>
                <a:cs typeface="Times New Roman"/>
              </a:rPr>
              <a:t> </a:t>
            </a:r>
            <a:r>
              <a:rPr sz="2200" spc="-5" dirty="0">
                <a:latin typeface="Times New Roman"/>
                <a:cs typeface="Times New Roman"/>
              </a:rPr>
              <a:t>venture.</a:t>
            </a:r>
            <a:endParaRPr sz="2200" dirty="0">
              <a:latin typeface="Times New Roman"/>
              <a:cs typeface="Times New Roman"/>
            </a:endParaRPr>
          </a:p>
          <a:p>
            <a:pPr marL="152400" marR="5080" indent="-140335">
              <a:lnSpc>
                <a:spcPct val="125000"/>
              </a:lnSpc>
              <a:buSzPct val="88636"/>
              <a:buChar char="•"/>
              <a:tabLst>
                <a:tab pos="162560" algn="l"/>
              </a:tabLst>
            </a:pPr>
            <a:r>
              <a:rPr sz="2200" dirty="0">
                <a:latin typeface="Times New Roman"/>
                <a:cs typeface="Times New Roman"/>
              </a:rPr>
              <a:t>Make </a:t>
            </a:r>
            <a:r>
              <a:rPr sz="2200" spc="-5" dirty="0">
                <a:latin typeface="Times New Roman"/>
                <a:cs typeface="Times New Roman"/>
              </a:rPr>
              <a:t>sure </a:t>
            </a:r>
            <a:r>
              <a:rPr sz="2200" dirty="0">
                <a:latin typeface="Times New Roman"/>
                <a:cs typeface="Times New Roman"/>
              </a:rPr>
              <a:t>your </a:t>
            </a:r>
            <a:r>
              <a:rPr sz="2200" spc="-5" dirty="0">
                <a:latin typeface="Times New Roman"/>
                <a:cs typeface="Times New Roman"/>
              </a:rPr>
              <a:t>attorney </a:t>
            </a:r>
            <a:r>
              <a:rPr sz="2200" dirty="0">
                <a:latin typeface="Times New Roman"/>
                <a:cs typeface="Times New Roman"/>
              </a:rPr>
              <a:t>has </a:t>
            </a:r>
            <a:r>
              <a:rPr sz="2200" spc="-5" dirty="0">
                <a:latin typeface="Times New Roman"/>
                <a:cs typeface="Times New Roman"/>
              </a:rPr>
              <a:t>a track record of completing his </a:t>
            </a:r>
            <a:r>
              <a:rPr sz="2200" spc="5" dirty="0">
                <a:latin typeface="Times New Roman"/>
                <a:cs typeface="Times New Roman"/>
              </a:rPr>
              <a:t>or </a:t>
            </a:r>
            <a:r>
              <a:rPr sz="2200" spc="-5" dirty="0">
                <a:latin typeface="Times New Roman"/>
                <a:cs typeface="Times New Roman"/>
              </a:rPr>
              <a:t>her </a:t>
            </a:r>
            <a:r>
              <a:rPr sz="2200" spc="-10" dirty="0">
                <a:latin typeface="Times New Roman"/>
                <a:cs typeface="Times New Roman"/>
              </a:rPr>
              <a:t>work </a:t>
            </a:r>
            <a:r>
              <a:rPr sz="2200" spc="-535" dirty="0">
                <a:latin typeface="Times New Roman"/>
                <a:cs typeface="Times New Roman"/>
              </a:rPr>
              <a:t> </a:t>
            </a:r>
            <a:r>
              <a:rPr sz="2200" spc="-5" dirty="0">
                <a:latin typeface="Times New Roman"/>
                <a:cs typeface="Times New Roman"/>
              </a:rPr>
              <a:t>on</a:t>
            </a:r>
            <a:r>
              <a:rPr sz="2200" spc="-10" dirty="0">
                <a:latin typeface="Times New Roman"/>
                <a:cs typeface="Times New Roman"/>
              </a:rPr>
              <a:t> time.</a:t>
            </a:r>
            <a:endParaRPr sz="2200" dirty="0">
              <a:latin typeface="Times New Roman"/>
              <a:cs typeface="Times New Roman"/>
            </a:endParaRPr>
          </a:p>
          <a:p>
            <a:pPr marL="161925" indent="-149860">
              <a:lnSpc>
                <a:spcPct val="100000"/>
              </a:lnSpc>
              <a:spcBef>
                <a:spcPts val="660"/>
              </a:spcBef>
              <a:buSzPct val="88636"/>
              <a:buChar char="•"/>
              <a:tabLst>
                <a:tab pos="162560" algn="l"/>
              </a:tabLst>
            </a:pPr>
            <a:r>
              <a:rPr sz="2200" spc="-45" dirty="0">
                <a:latin typeface="Times New Roman"/>
                <a:cs typeface="Times New Roman"/>
              </a:rPr>
              <a:t>Talk</a:t>
            </a:r>
            <a:r>
              <a:rPr sz="2200" spc="-10" dirty="0">
                <a:latin typeface="Times New Roman"/>
                <a:cs typeface="Times New Roman"/>
              </a:rPr>
              <a:t> </a:t>
            </a:r>
            <a:r>
              <a:rPr sz="2200" dirty="0">
                <a:latin typeface="Times New Roman"/>
                <a:cs typeface="Times New Roman"/>
              </a:rPr>
              <a:t>about</a:t>
            </a:r>
            <a:r>
              <a:rPr sz="2200" spc="-45" dirty="0">
                <a:latin typeface="Times New Roman"/>
                <a:cs typeface="Times New Roman"/>
              </a:rPr>
              <a:t> </a:t>
            </a:r>
            <a:r>
              <a:rPr sz="2200" spc="-5" dirty="0">
                <a:latin typeface="Times New Roman"/>
                <a:cs typeface="Times New Roman"/>
              </a:rPr>
              <a:t>fees.</a:t>
            </a:r>
            <a:endParaRPr sz="2200" dirty="0">
              <a:latin typeface="Times New Roman"/>
              <a:cs typeface="Times New Roman"/>
            </a:endParaRPr>
          </a:p>
          <a:p>
            <a:pPr marL="161925" indent="-149860">
              <a:lnSpc>
                <a:spcPct val="100000"/>
              </a:lnSpc>
              <a:spcBef>
                <a:spcPts val="660"/>
              </a:spcBef>
              <a:buSzPct val="88636"/>
              <a:buChar char="•"/>
              <a:tabLst>
                <a:tab pos="162560" algn="l"/>
              </a:tabLst>
            </a:pPr>
            <a:r>
              <a:rPr sz="2200" spc="-10" dirty="0">
                <a:latin typeface="Times New Roman"/>
                <a:cs typeface="Times New Roman"/>
              </a:rPr>
              <a:t>Select</a:t>
            </a:r>
            <a:r>
              <a:rPr sz="2200" spc="5" dirty="0">
                <a:latin typeface="Times New Roman"/>
                <a:cs typeface="Times New Roman"/>
              </a:rPr>
              <a:t> </a:t>
            </a:r>
            <a:r>
              <a:rPr sz="2200" dirty="0">
                <a:latin typeface="Times New Roman"/>
                <a:cs typeface="Times New Roman"/>
              </a:rPr>
              <a:t>an</a:t>
            </a:r>
            <a:r>
              <a:rPr sz="2200" spc="5" dirty="0">
                <a:latin typeface="Times New Roman"/>
                <a:cs typeface="Times New Roman"/>
              </a:rPr>
              <a:t> </a:t>
            </a:r>
            <a:r>
              <a:rPr sz="2200" spc="-5" dirty="0">
                <a:latin typeface="Times New Roman"/>
                <a:cs typeface="Times New Roman"/>
              </a:rPr>
              <a:t>attorney</a:t>
            </a:r>
            <a:r>
              <a:rPr sz="2200" spc="5" dirty="0">
                <a:latin typeface="Times New Roman"/>
                <a:cs typeface="Times New Roman"/>
              </a:rPr>
              <a:t> </a:t>
            </a:r>
            <a:r>
              <a:rPr sz="2200" spc="-5" dirty="0">
                <a:latin typeface="Times New Roman"/>
                <a:cs typeface="Times New Roman"/>
              </a:rPr>
              <a:t>that</a:t>
            </a:r>
            <a:r>
              <a:rPr sz="2200" spc="-10" dirty="0">
                <a:latin typeface="Times New Roman"/>
                <a:cs typeface="Times New Roman"/>
              </a:rPr>
              <a:t> </a:t>
            </a:r>
            <a:r>
              <a:rPr sz="2200" dirty="0">
                <a:latin typeface="Times New Roman"/>
                <a:cs typeface="Times New Roman"/>
              </a:rPr>
              <a:t>you</a:t>
            </a:r>
            <a:r>
              <a:rPr sz="2200" spc="-20" dirty="0">
                <a:latin typeface="Times New Roman"/>
                <a:cs typeface="Times New Roman"/>
              </a:rPr>
              <a:t> </a:t>
            </a:r>
            <a:r>
              <a:rPr sz="2200" dirty="0">
                <a:latin typeface="Times New Roman"/>
                <a:cs typeface="Times New Roman"/>
              </a:rPr>
              <a:t>think</a:t>
            </a:r>
            <a:r>
              <a:rPr sz="2200" spc="-15" dirty="0">
                <a:latin typeface="Times New Roman"/>
                <a:cs typeface="Times New Roman"/>
              </a:rPr>
              <a:t> </a:t>
            </a:r>
            <a:r>
              <a:rPr sz="2200" spc="-5" dirty="0">
                <a:latin typeface="Times New Roman"/>
                <a:cs typeface="Times New Roman"/>
              </a:rPr>
              <a:t>understands</a:t>
            </a:r>
            <a:r>
              <a:rPr sz="2200" spc="-15" dirty="0">
                <a:latin typeface="Times New Roman"/>
                <a:cs typeface="Times New Roman"/>
              </a:rPr>
              <a:t> </a:t>
            </a:r>
            <a:r>
              <a:rPr sz="2200" dirty="0">
                <a:latin typeface="Times New Roman"/>
                <a:cs typeface="Times New Roman"/>
              </a:rPr>
              <a:t>your</a:t>
            </a:r>
            <a:r>
              <a:rPr sz="2200" spc="-20" dirty="0">
                <a:latin typeface="Times New Roman"/>
                <a:cs typeface="Times New Roman"/>
              </a:rPr>
              <a:t> </a:t>
            </a:r>
            <a:r>
              <a:rPr sz="2200" spc="-5" dirty="0">
                <a:latin typeface="Times New Roman"/>
                <a:cs typeface="Times New Roman"/>
              </a:rPr>
              <a:t>business.</a:t>
            </a:r>
            <a:endParaRPr sz="2200" dirty="0">
              <a:latin typeface="Times New Roman"/>
              <a:cs typeface="Times New Roman"/>
            </a:endParaRPr>
          </a:p>
          <a:p>
            <a:pPr marL="152400" marR="824865" indent="-140335">
              <a:lnSpc>
                <a:spcPct val="125000"/>
              </a:lnSpc>
              <a:buSzPct val="88636"/>
              <a:buChar char="•"/>
              <a:tabLst>
                <a:tab pos="162560" algn="l"/>
              </a:tabLst>
            </a:pPr>
            <a:r>
              <a:rPr sz="2200" spc="-5" dirty="0">
                <a:latin typeface="Times New Roman"/>
                <a:cs typeface="Times New Roman"/>
              </a:rPr>
              <a:t>Learn </a:t>
            </a:r>
            <a:r>
              <a:rPr sz="2200" dirty="0">
                <a:latin typeface="Times New Roman"/>
                <a:cs typeface="Times New Roman"/>
              </a:rPr>
              <a:t>as </a:t>
            </a:r>
            <a:r>
              <a:rPr sz="2200" spc="-5" dirty="0">
                <a:latin typeface="Times New Roman"/>
                <a:cs typeface="Times New Roman"/>
              </a:rPr>
              <a:t>much </a:t>
            </a:r>
            <a:r>
              <a:rPr sz="2200" dirty="0">
                <a:latin typeface="Times New Roman"/>
                <a:cs typeface="Times New Roman"/>
              </a:rPr>
              <a:t>about </a:t>
            </a:r>
            <a:r>
              <a:rPr sz="2200" spc="-5" dirty="0">
                <a:latin typeface="Times New Roman"/>
                <a:cs typeface="Times New Roman"/>
              </a:rPr>
              <a:t>the process of starting a business </a:t>
            </a:r>
            <a:r>
              <a:rPr sz="2200" dirty="0">
                <a:latin typeface="Times New Roman"/>
                <a:cs typeface="Times New Roman"/>
              </a:rPr>
              <a:t>yourself as </a:t>
            </a:r>
            <a:r>
              <a:rPr sz="2200" spc="-535" dirty="0">
                <a:latin typeface="Times New Roman"/>
                <a:cs typeface="Times New Roman"/>
              </a:rPr>
              <a:t> </a:t>
            </a:r>
            <a:r>
              <a:rPr sz="2200" spc="-5" dirty="0">
                <a:latin typeface="Times New Roman"/>
                <a:cs typeface="Times New Roman"/>
              </a:rPr>
              <a:t>possible.</a:t>
            </a:r>
            <a:endParaRPr sz="2200" dirty="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47850" y="580097"/>
            <a:ext cx="5958840" cy="629285"/>
          </a:xfrm>
          <a:prstGeom prst="rect">
            <a:avLst/>
          </a:prstGeom>
        </p:spPr>
        <p:txBody>
          <a:bodyPr vert="horz" wrap="square" lIns="0" tIns="13970" rIns="0" bIns="0" rtlCol="0">
            <a:spAutoFit/>
          </a:bodyPr>
          <a:lstStyle/>
          <a:p>
            <a:pPr marL="12700">
              <a:lnSpc>
                <a:spcPct val="100000"/>
              </a:lnSpc>
              <a:spcBef>
                <a:spcPts val="110"/>
              </a:spcBef>
            </a:pPr>
            <a:r>
              <a:rPr dirty="0"/>
              <a:t>Draft</a:t>
            </a:r>
            <a:r>
              <a:rPr spc="-15" dirty="0"/>
              <a:t> </a:t>
            </a:r>
            <a:r>
              <a:rPr dirty="0"/>
              <a:t>a</a:t>
            </a:r>
            <a:r>
              <a:rPr spc="-40" dirty="0"/>
              <a:t> </a:t>
            </a:r>
            <a:r>
              <a:rPr spc="5" dirty="0"/>
              <a:t>Founders’</a:t>
            </a:r>
            <a:r>
              <a:rPr spc="-35" dirty="0"/>
              <a:t> </a:t>
            </a:r>
            <a:r>
              <a:rPr dirty="0"/>
              <a:t>Agreement</a:t>
            </a:r>
          </a:p>
        </p:txBody>
      </p:sp>
      <p:sp>
        <p:nvSpPr>
          <p:cNvPr id="3" name="object 3"/>
          <p:cNvSpPr txBox="1"/>
          <p:nvPr/>
        </p:nvSpPr>
        <p:spPr>
          <a:xfrm>
            <a:off x="590865" y="1803066"/>
            <a:ext cx="8796655" cy="4253087"/>
          </a:xfrm>
          <a:prstGeom prst="rect">
            <a:avLst/>
          </a:prstGeom>
        </p:spPr>
        <p:txBody>
          <a:bodyPr vert="horz" wrap="square" lIns="0" tIns="112395" rIns="0" bIns="0" rtlCol="0">
            <a:spAutoFit/>
          </a:bodyPr>
          <a:lstStyle/>
          <a:p>
            <a:pPr marL="388620" indent="-376555" algn="just">
              <a:lnSpc>
                <a:spcPct val="100000"/>
              </a:lnSpc>
              <a:spcBef>
                <a:spcPts val="885"/>
              </a:spcBef>
              <a:buChar char="•"/>
              <a:tabLst>
                <a:tab pos="388620" algn="l"/>
                <a:tab pos="389255" algn="l"/>
              </a:tabLst>
            </a:pPr>
            <a:r>
              <a:rPr sz="2400" spc="-10" dirty="0" smtClean="0">
                <a:latin typeface="Times New Roman"/>
                <a:cs typeface="Times New Roman"/>
              </a:rPr>
              <a:t>A </a:t>
            </a:r>
            <a:r>
              <a:rPr sz="2400" spc="-10" dirty="0">
                <a:latin typeface="Times New Roman"/>
                <a:cs typeface="Times New Roman"/>
              </a:rPr>
              <a:t>founder’s agreement (or </a:t>
            </a:r>
            <a:r>
              <a:rPr sz="2400" spc="-5" dirty="0">
                <a:latin typeface="Times New Roman"/>
                <a:cs typeface="Times New Roman"/>
              </a:rPr>
              <a:t>shareholders’ agreement) is a </a:t>
            </a:r>
            <a:r>
              <a:rPr sz="2400" dirty="0">
                <a:latin typeface="Times New Roman"/>
                <a:cs typeface="Times New Roman"/>
              </a:rPr>
              <a:t> </a:t>
            </a:r>
            <a:r>
              <a:rPr sz="2400" spc="-10" dirty="0">
                <a:latin typeface="Times New Roman"/>
                <a:cs typeface="Times New Roman"/>
              </a:rPr>
              <a:t>written </a:t>
            </a:r>
            <a:r>
              <a:rPr sz="2400" spc="-5" dirty="0">
                <a:latin typeface="Times New Roman"/>
                <a:cs typeface="Times New Roman"/>
              </a:rPr>
              <a:t>document </a:t>
            </a:r>
            <a:r>
              <a:rPr sz="2400" dirty="0">
                <a:latin typeface="Times New Roman"/>
                <a:cs typeface="Times New Roman"/>
              </a:rPr>
              <a:t>that </a:t>
            </a:r>
            <a:r>
              <a:rPr sz="2400" spc="-5" dirty="0">
                <a:latin typeface="Times New Roman"/>
                <a:cs typeface="Times New Roman"/>
              </a:rPr>
              <a:t>deals with </a:t>
            </a:r>
            <a:r>
              <a:rPr sz="2400" spc="-10" dirty="0">
                <a:latin typeface="Times New Roman"/>
                <a:cs typeface="Times New Roman"/>
              </a:rPr>
              <a:t>issues such </a:t>
            </a:r>
            <a:r>
              <a:rPr sz="2400" dirty="0">
                <a:latin typeface="Times New Roman"/>
                <a:cs typeface="Times New Roman"/>
              </a:rPr>
              <a:t>as </a:t>
            </a:r>
            <a:r>
              <a:rPr sz="2400" spc="-15" dirty="0">
                <a:latin typeface="Times New Roman"/>
                <a:cs typeface="Times New Roman"/>
              </a:rPr>
              <a:t>the </a:t>
            </a:r>
            <a:r>
              <a:rPr sz="2400" spc="-5" dirty="0">
                <a:latin typeface="Times New Roman"/>
                <a:cs typeface="Times New Roman"/>
              </a:rPr>
              <a:t>relative </a:t>
            </a:r>
            <a:r>
              <a:rPr sz="2400" spc="-650" dirty="0">
                <a:latin typeface="Times New Roman"/>
                <a:cs typeface="Times New Roman"/>
              </a:rPr>
              <a:t> </a:t>
            </a:r>
            <a:r>
              <a:rPr sz="2400" spc="-5" dirty="0">
                <a:latin typeface="Times New Roman"/>
                <a:cs typeface="Times New Roman"/>
              </a:rPr>
              <a:t>split of the equity among </a:t>
            </a:r>
            <a:r>
              <a:rPr sz="2400" spc="-15" dirty="0">
                <a:latin typeface="Times New Roman"/>
                <a:cs typeface="Times New Roman"/>
              </a:rPr>
              <a:t>the </a:t>
            </a:r>
            <a:r>
              <a:rPr sz="2400" spc="-10" dirty="0">
                <a:latin typeface="Times New Roman"/>
                <a:cs typeface="Times New Roman"/>
              </a:rPr>
              <a:t>founders </a:t>
            </a:r>
            <a:r>
              <a:rPr sz="2400" spc="-5" dirty="0">
                <a:latin typeface="Times New Roman"/>
                <a:cs typeface="Times New Roman"/>
              </a:rPr>
              <a:t>of </a:t>
            </a:r>
            <a:r>
              <a:rPr sz="2400" spc="-15" dirty="0">
                <a:latin typeface="Times New Roman"/>
                <a:cs typeface="Times New Roman"/>
              </a:rPr>
              <a:t>the </a:t>
            </a:r>
            <a:r>
              <a:rPr sz="2400" spc="-10" dirty="0">
                <a:latin typeface="Times New Roman"/>
                <a:cs typeface="Times New Roman"/>
              </a:rPr>
              <a:t>firm, how </a:t>
            </a:r>
            <a:r>
              <a:rPr sz="2400" spc="-5" dirty="0">
                <a:latin typeface="Times New Roman"/>
                <a:cs typeface="Times New Roman"/>
              </a:rPr>
              <a:t> individual</a:t>
            </a:r>
            <a:r>
              <a:rPr sz="2400" spc="-30" dirty="0">
                <a:latin typeface="Times New Roman"/>
                <a:cs typeface="Times New Roman"/>
              </a:rPr>
              <a:t> </a:t>
            </a:r>
            <a:r>
              <a:rPr sz="2400" spc="-10" dirty="0">
                <a:latin typeface="Times New Roman"/>
                <a:cs typeface="Times New Roman"/>
              </a:rPr>
              <a:t>founders</a:t>
            </a:r>
            <a:r>
              <a:rPr sz="2400" spc="20" dirty="0">
                <a:latin typeface="Times New Roman"/>
                <a:cs typeface="Times New Roman"/>
              </a:rPr>
              <a:t> </a:t>
            </a:r>
            <a:r>
              <a:rPr sz="2400" spc="-15" dirty="0">
                <a:latin typeface="Times New Roman"/>
                <a:cs typeface="Times New Roman"/>
              </a:rPr>
              <a:t>will</a:t>
            </a:r>
            <a:r>
              <a:rPr sz="2400" dirty="0">
                <a:latin typeface="Times New Roman"/>
                <a:cs typeface="Times New Roman"/>
              </a:rPr>
              <a:t> </a:t>
            </a:r>
            <a:r>
              <a:rPr sz="2400" spc="-5" dirty="0">
                <a:latin typeface="Times New Roman"/>
                <a:cs typeface="Times New Roman"/>
              </a:rPr>
              <a:t>be</a:t>
            </a:r>
            <a:r>
              <a:rPr sz="2400" spc="-20" dirty="0">
                <a:latin typeface="Times New Roman"/>
                <a:cs typeface="Times New Roman"/>
              </a:rPr>
              <a:t> </a:t>
            </a:r>
            <a:r>
              <a:rPr sz="2400" spc="-5" dirty="0">
                <a:latin typeface="Times New Roman"/>
                <a:cs typeface="Times New Roman"/>
              </a:rPr>
              <a:t>compensated</a:t>
            </a:r>
            <a:r>
              <a:rPr sz="2400" spc="-65"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spc="-5" dirty="0">
                <a:latin typeface="Times New Roman"/>
                <a:cs typeface="Times New Roman"/>
              </a:rPr>
              <a:t>the</a:t>
            </a:r>
            <a:r>
              <a:rPr sz="2400" spc="-20" dirty="0">
                <a:latin typeface="Times New Roman"/>
                <a:cs typeface="Times New Roman"/>
              </a:rPr>
              <a:t> </a:t>
            </a:r>
            <a:r>
              <a:rPr sz="2400" spc="-5" dirty="0">
                <a:latin typeface="Times New Roman"/>
                <a:cs typeface="Times New Roman"/>
              </a:rPr>
              <a:t>cash</a:t>
            </a:r>
            <a:r>
              <a:rPr sz="2400" spc="-10" dirty="0">
                <a:latin typeface="Times New Roman"/>
                <a:cs typeface="Times New Roman"/>
              </a:rPr>
              <a:t> </a:t>
            </a:r>
            <a:r>
              <a:rPr sz="2400" spc="-5" dirty="0">
                <a:latin typeface="Times New Roman"/>
                <a:cs typeface="Times New Roman"/>
              </a:rPr>
              <a:t>or</a:t>
            </a:r>
            <a:r>
              <a:rPr sz="2400" spc="-15" dirty="0">
                <a:latin typeface="Times New Roman"/>
                <a:cs typeface="Times New Roman"/>
              </a:rPr>
              <a:t> </a:t>
            </a:r>
            <a:r>
              <a:rPr sz="2400" spc="-5" dirty="0">
                <a:latin typeface="Times New Roman"/>
                <a:cs typeface="Times New Roman"/>
              </a:rPr>
              <a:t>the </a:t>
            </a:r>
            <a:r>
              <a:rPr sz="2400" spc="-650" dirty="0">
                <a:latin typeface="Times New Roman"/>
                <a:cs typeface="Times New Roman"/>
              </a:rPr>
              <a:t> </a:t>
            </a:r>
            <a:r>
              <a:rPr sz="2400" spc="-5" dirty="0">
                <a:latin typeface="Times New Roman"/>
                <a:cs typeface="Times New Roman"/>
              </a:rPr>
              <a:t>“sweat equity” </a:t>
            </a:r>
            <a:r>
              <a:rPr sz="2400" dirty="0">
                <a:latin typeface="Times New Roman"/>
                <a:cs typeface="Times New Roman"/>
              </a:rPr>
              <a:t>they </a:t>
            </a:r>
            <a:r>
              <a:rPr sz="2400" spc="-5" dirty="0">
                <a:latin typeface="Times New Roman"/>
                <a:cs typeface="Times New Roman"/>
              </a:rPr>
              <a:t>put </a:t>
            </a:r>
            <a:r>
              <a:rPr sz="2400" spc="-10" dirty="0">
                <a:latin typeface="Times New Roman"/>
                <a:cs typeface="Times New Roman"/>
              </a:rPr>
              <a:t>into </a:t>
            </a:r>
            <a:r>
              <a:rPr sz="2400" spc="-5" dirty="0">
                <a:latin typeface="Times New Roman"/>
                <a:cs typeface="Times New Roman"/>
              </a:rPr>
              <a:t>the </a:t>
            </a:r>
            <a:r>
              <a:rPr sz="2400" spc="-10" dirty="0">
                <a:latin typeface="Times New Roman"/>
                <a:cs typeface="Times New Roman"/>
              </a:rPr>
              <a:t>firm, </a:t>
            </a:r>
            <a:r>
              <a:rPr sz="2400" dirty="0">
                <a:latin typeface="Times New Roman"/>
                <a:cs typeface="Times New Roman"/>
              </a:rPr>
              <a:t>and </a:t>
            </a:r>
            <a:r>
              <a:rPr sz="2400" spc="-10" dirty="0">
                <a:latin typeface="Times New Roman"/>
                <a:cs typeface="Times New Roman"/>
              </a:rPr>
              <a:t>how </a:t>
            </a:r>
            <a:r>
              <a:rPr sz="2400" spc="-5" dirty="0">
                <a:latin typeface="Times New Roman"/>
                <a:cs typeface="Times New Roman"/>
              </a:rPr>
              <a:t>long the </a:t>
            </a:r>
            <a:r>
              <a:rPr sz="2400" dirty="0">
                <a:latin typeface="Times New Roman"/>
                <a:cs typeface="Times New Roman"/>
              </a:rPr>
              <a:t> </a:t>
            </a:r>
            <a:r>
              <a:rPr sz="2400" spc="-5" dirty="0">
                <a:latin typeface="Times New Roman"/>
                <a:cs typeface="Times New Roman"/>
              </a:rPr>
              <a:t>founders will have </a:t>
            </a:r>
            <a:r>
              <a:rPr sz="2400" spc="-20" dirty="0">
                <a:latin typeface="Times New Roman"/>
                <a:cs typeface="Times New Roman"/>
              </a:rPr>
              <a:t>to </a:t>
            </a:r>
            <a:r>
              <a:rPr sz="2400" spc="-10" dirty="0">
                <a:latin typeface="Times New Roman"/>
                <a:cs typeface="Times New Roman"/>
              </a:rPr>
              <a:t>remain </a:t>
            </a:r>
            <a:r>
              <a:rPr sz="2400" spc="-15" dirty="0">
                <a:latin typeface="Times New Roman"/>
                <a:cs typeface="Times New Roman"/>
              </a:rPr>
              <a:t>with </a:t>
            </a:r>
            <a:r>
              <a:rPr sz="2400" spc="-5" dirty="0">
                <a:latin typeface="Times New Roman"/>
                <a:cs typeface="Times New Roman"/>
              </a:rPr>
              <a:t>the </a:t>
            </a:r>
            <a:r>
              <a:rPr sz="2400" spc="-10" dirty="0">
                <a:latin typeface="Times New Roman"/>
                <a:cs typeface="Times New Roman"/>
              </a:rPr>
              <a:t>firm for </a:t>
            </a:r>
            <a:r>
              <a:rPr sz="2400" spc="-5" dirty="0">
                <a:latin typeface="Times New Roman"/>
                <a:cs typeface="Times New Roman"/>
              </a:rPr>
              <a:t>their </a:t>
            </a:r>
            <a:r>
              <a:rPr sz="2400" spc="-10" dirty="0">
                <a:latin typeface="Times New Roman"/>
                <a:cs typeface="Times New Roman"/>
              </a:rPr>
              <a:t>shares </a:t>
            </a:r>
            <a:r>
              <a:rPr sz="2400" spc="-5" dirty="0">
                <a:latin typeface="Times New Roman"/>
                <a:cs typeface="Times New Roman"/>
              </a:rPr>
              <a:t> to</a:t>
            </a:r>
            <a:r>
              <a:rPr sz="2400" spc="-10" dirty="0">
                <a:latin typeface="Times New Roman"/>
                <a:cs typeface="Times New Roman"/>
              </a:rPr>
              <a:t> fully</a:t>
            </a:r>
            <a:r>
              <a:rPr sz="2400" spc="-5" dirty="0">
                <a:latin typeface="Times New Roman"/>
                <a:cs typeface="Times New Roman"/>
              </a:rPr>
              <a:t> </a:t>
            </a:r>
            <a:r>
              <a:rPr sz="2400" dirty="0">
                <a:latin typeface="Times New Roman"/>
                <a:cs typeface="Times New Roman"/>
              </a:rPr>
              <a:t>vest</a:t>
            </a:r>
            <a:r>
              <a:rPr sz="2400" dirty="0" smtClean="0">
                <a:latin typeface="Times New Roman"/>
                <a:cs typeface="Times New Roman"/>
              </a:rPr>
              <a:t>.</a:t>
            </a:r>
            <a:r>
              <a:rPr lang="en-US" sz="2400" dirty="0">
                <a:latin typeface="Times New Roman"/>
                <a:cs typeface="Times New Roman"/>
              </a:rPr>
              <a:t> </a:t>
            </a:r>
            <a:endParaRPr lang="en-US" sz="2400" dirty="0" smtClean="0">
              <a:latin typeface="Times New Roman"/>
              <a:cs typeface="Times New Roman"/>
            </a:endParaRPr>
          </a:p>
          <a:p>
            <a:pPr marL="12065" algn="just">
              <a:lnSpc>
                <a:spcPct val="100000"/>
              </a:lnSpc>
              <a:spcBef>
                <a:spcPts val="885"/>
              </a:spcBef>
              <a:tabLst>
                <a:tab pos="388620" algn="l"/>
                <a:tab pos="389255" algn="l"/>
              </a:tabLst>
            </a:pPr>
            <a:r>
              <a:rPr lang="en-US" sz="2200" dirty="0">
                <a:latin typeface="Times New Roman"/>
                <a:cs typeface="Times New Roman"/>
              </a:rPr>
              <a:t>An important issue addressed by most founders’ agreements is </a:t>
            </a:r>
            <a:r>
              <a:rPr lang="en-US" sz="2200" dirty="0" smtClean="0">
                <a:latin typeface="Times New Roman"/>
                <a:cs typeface="Times New Roman"/>
              </a:rPr>
              <a:t>what happens </a:t>
            </a:r>
            <a:r>
              <a:rPr lang="en-US" sz="2200" dirty="0">
                <a:latin typeface="Times New Roman"/>
                <a:cs typeface="Times New Roman"/>
              </a:rPr>
              <a:t>to the equity of a founder if the founder dies or decides to leave </a:t>
            </a:r>
            <a:r>
              <a:rPr lang="en-US" sz="2200" dirty="0" smtClean="0">
                <a:latin typeface="Times New Roman"/>
                <a:cs typeface="Times New Roman"/>
              </a:rPr>
              <a:t>the firm</a:t>
            </a:r>
            <a:r>
              <a:rPr lang="en-US" sz="2200" dirty="0">
                <a:latin typeface="Times New Roman"/>
                <a:cs typeface="Times New Roman"/>
              </a:rPr>
              <a:t>. </a:t>
            </a:r>
            <a:endParaRPr lang="en-US" sz="2200" dirty="0" smtClean="0">
              <a:latin typeface="Times New Roman"/>
              <a:cs typeface="Times New Roman"/>
            </a:endParaRPr>
          </a:p>
          <a:p>
            <a:pPr marL="12065" algn="just">
              <a:lnSpc>
                <a:spcPct val="100000"/>
              </a:lnSpc>
              <a:spcBef>
                <a:spcPts val="885"/>
              </a:spcBef>
              <a:tabLst>
                <a:tab pos="388620" algn="l"/>
                <a:tab pos="389255" algn="l"/>
              </a:tabLst>
            </a:pPr>
            <a:r>
              <a:rPr lang="en-US" sz="2200" dirty="0" smtClean="0">
                <a:latin typeface="Times New Roman"/>
                <a:cs typeface="Times New Roman"/>
              </a:rPr>
              <a:t>Most </a:t>
            </a:r>
            <a:r>
              <a:rPr lang="en-US" sz="2200" dirty="0">
                <a:latin typeface="Times New Roman"/>
                <a:cs typeface="Times New Roman"/>
              </a:rPr>
              <a:t>founders’ agreements include a </a:t>
            </a:r>
            <a:r>
              <a:rPr lang="en-US" sz="2200" b="1" dirty="0">
                <a:latin typeface="Times New Roman"/>
                <a:cs typeface="Times New Roman"/>
              </a:rPr>
              <a:t>buyback clause</a:t>
            </a:r>
            <a:r>
              <a:rPr lang="en-US" sz="2200" dirty="0">
                <a:latin typeface="Times New Roman"/>
                <a:cs typeface="Times New Roman"/>
              </a:rPr>
              <a:t>, which </a:t>
            </a:r>
            <a:r>
              <a:rPr lang="en-US" sz="2200" dirty="0" smtClean="0">
                <a:latin typeface="Times New Roman"/>
                <a:cs typeface="Times New Roman"/>
              </a:rPr>
              <a:t>legally obligates </a:t>
            </a:r>
            <a:r>
              <a:rPr lang="en-US" sz="2200" dirty="0">
                <a:latin typeface="Times New Roman"/>
                <a:cs typeface="Times New Roman"/>
              </a:rPr>
              <a:t>departing founders to sell to the remaining founders their </a:t>
            </a:r>
            <a:r>
              <a:rPr lang="en-US" sz="2200" dirty="0" smtClean="0">
                <a:latin typeface="Times New Roman"/>
                <a:cs typeface="Times New Roman"/>
              </a:rPr>
              <a:t>interest in </a:t>
            </a:r>
            <a:r>
              <a:rPr lang="en-US" sz="2200" dirty="0">
                <a:latin typeface="Times New Roman"/>
                <a:cs typeface="Times New Roman"/>
              </a:rPr>
              <a:t>the firm if the </a:t>
            </a:r>
            <a:r>
              <a:rPr lang="en-US" sz="2200" dirty="0" smtClean="0">
                <a:latin typeface="Times New Roman"/>
                <a:cs typeface="Times New Roman"/>
              </a:rPr>
              <a:t>remaining founders </a:t>
            </a:r>
            <a:r>
              <a:rPr lang="en-US" sz="2200" dirty="0">
                <a:latin typeface="Times New Roman"/>
                <a:cs typeface="Times New Roman"/>
              </a:rPr>
              <a:t>are interested.</a:t>
            </a:r>
            <a:endParaRPr lang="en-US" sz="2200" dirty="0" smtClean="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200" y="580097"/>
            <a:ext cx="8684895" cy="629285"/>
          </a:xfrm>
          <a:prstGeom prst="rect">
            <a:avLst/>
          </a:prstGeom>
        </p:spPr>
        <p:txBody>
          <a:bodyPr vert="horz" wrap="square" lIns="0" tIns="13970" rIns="0" bIns="0" rtlCol="0">
            <a:spAutoFit/>
          </a:bodyPr>
          <a:lstStyle/>
          <a:p>
            <a:pPr marL="12700">
              <a:lnSpc>
                <a:spcPct val="100000"/>
              </a:lnSpc>
              <a:spcBef>
                <a:spcPts val="110"/>
              </a:spcBef>
            </a:pPr>
            <a:r>
              <a:rPr spc="-5" dirty="0"/>
              <a:t>Items </a:t>
            </a:r>
            <a:r>
              <a:rPr spc="5" dirty="0"/>
              <a:t>to</a:t>
            </a:r>
            <a:r>
              <a:rPr spc="-5" dirty="0"/>
              <a:t> </a:t>
            </a:r>
            <a:r>
              <a:rPr dirty="0"/>
              <a:t>Include</a:t>
            </a:r>
            <a:r>
              <a:rPr spc="15" dirty="0"/>
              <a:t> </a:t>
            </a:r>
            <a:r>
              <a:rPr spc="5" dirty="0"/>
              <a:t>in</a:t>
            </a:r>
            <a:r>
              <a:rPr spc="-5" dirty="0"/>
              <a:t> </a:t>
            </a:r>
            <a:r>
              <a:rPr dirty="0"/>
              <a:t>a</a:t>
            </a:r>
            <a:r>
              <a:rPr spc="-20" dirty="0"/>
              <a:t> </a:t>
            </a:r>
            <a:r>
              <a:rPr dirty="0"/>
              <a:t>Founders’</a:t>
            </a:r>
            <a:r>
              <a:rPr spc="20" dirty="0"/>
              <a:t> </a:t>
            </a:r>
            <a:r>
              <a:rPr dirty="0"/>
              <a:t>Agreement</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02919" y="2125979"/>
            <a:ext cx="8968740" cy="4526280"/>
          </a:xfrm>
          <a:prstGeom prst="rect">
            <a:avLst/>
          </a:prstGeom>
          <a:solidFill>
            <a:srgbClr val="FFFFCC"/>
          </a:solidFill>
          <a:ln w="10667">
            <a:solidFill>
              <a:srgbClr val="000000"/>
            </a:solidFill>
          </a:ln>
        </p:spPr>
        <p:txBody>
          <a:bodyPr vert="horz" wrap="square" lIns="0" tIns="124460" rIns="0" bIns="0" rtlCol="0">
            <a:spAutoFit/>
          </a:bodyPr>
          <a:lstStyle/>
          <a:p>
            <a:pPr marL="351155" indent="-167640">
              <a:lnSpc>
                <a:spcPct val="100000"/>
              </a:lnSpc>
              <a:spcBef>
                <a:spcPts val="980"/>
              </a:spcBef>
              <a:buChar char="•"/>
              <a:tabLst>
                <a:tab pos="351790" algn="l"/>
              </a:tabLst>
            </a:pPr>
            <a:r>
              <a:rPr sz="2200" spc="-5" dirty="0" smtClean="0">
                <a:latin typeface="Times New Roman"/>
                <a:cs typeface="Times New Roman"/>
              </a:rPr>
              <a:t>Nature</a:t>
            </a:r>
            <a:r>
              <a:rPr lang="en-US" sz="2200" spc="-15" dirty="0">
                <a:latin typeface="Times New Roman"/>
                <a:cs typeface="Times New Roman"/>
              </a:rPr>
              <a:t> </a:t>
            </a:r>
            <a:r>
              <a:rPr sz="2200" spc="5" dirty="0" smtClean="0">
                <a:latin typeface="Times New Roman"/>
                <a:cs typeface="Times New Roman"/>
              </a:rPr>
              <a:t>of</a:t>
            </a:r>
            <a:r>
              <a:rPr sz="2200" spc="-10" dirty="0" smtClean="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prospective</a:t>
            </a:r>
            <a:r>
              <a:rPr sz="2200" spc="-35" dirty="0">
                <a:latin typeface="Times New Roman"/>
                <a:cs typeface="Times New Roman"/>
              </a:rPr>
              <a:t> </a:t>
            </a:r>
            <a:r>
              <a:rPr sz="2200" spc="-5" dirty="0">
                <a:latin typeface="Times New Roman"/>
                <a:cs typeface="Times New Roman"/>
              </a:rPr>
              <a:t>business.</a:t>
            </a:r>
            <a:endParaRPr sz="2200" dirty="0">
              <a:latin typeface="Times New Roman"/>
              <a:cs typeface="Times New Roman"/>
            </a:endParaRPr>
          </a:p>
          <a:p>
            <a:pPr marL="337185" indent="-153670">
              <a:lnSpc>
                <a:spcPct val="100000"/>
              </a:lnSpc>
              <a:spcBef>
                <a:spcPts val="1320"/>
              </a:spcBef>
              <a:buChar char="•"/>
              <a:tabLst>
                <a:tab pos="337820" algn="l"/>
              </a:tabLst>
            </a:pPr>
            <a:r>
              <a:rPr sz="2200" spc="-5" dirty="0">
                <a:latin typeface="Times New Roman"/>
                <a:cs typeface="Times New Roman"/>
              </a:rPr>
              <a:t>A</a:t>
            </a:r>
            <a:r>
              <a:rPr sz="2200" spc="-140" dirty="0">
                <a:latin typeface="Times New Roman"/>
                <a:cs typeface="Times New Roman"/>
              </a:rPr>
              <a:t> </a:t>
            </a:r>
            <a:r>
              <a:rPr sz="2200" spc="15" dirty="0">
                <a:latin typeface="Times New Roman"/>
                <a:cs typeface="Times New Roman"/>
              </a:rPr>
              <a:t>b</a:t>
            </a:r>
            <a:r>
              <a:rPr sz="2200" spc="-15" dirty="0">
                <a:latin typeface="Times New Roman"/>
                <a:cs typeface="Times New Roman"/>
              </a:rPr>
              <a:t>r</a:t>
            </a:r>
            <a:r>
              <a:rPr sz="2200" spc="-5" dirty="0">
                <a:latin typeface="Times New Roman"/>
                <a:cs typeface="Times New Roman"/>
              </a:rPr>
              <a:t>i</a:t>
            </a:r>
            <a:r>
              <a:rPr sz="2200" spc="-15" dirty="0">
                <a:latin typeface="Times New Roman"/>
                <a:cs typeface="Times New Roman"/>
              </a:rPr>
              <a:t>e</a:t>
            </a:r>
            <a:r>
              <a:rPr sz="2200" spc="-5" dirty="0">
                <a:latin typeface="Times New Roman"/>
                <a:cs typeface="Times New Roman"/>
              </a:rPr>
              <a:t>f</a:t>
            </a:r>
            <a:r>
              <a:rPr sz="2200" spc="-10" dirty="0">
                <a:latin typeface="Times New Roman"/>
                <a:cs typeface="Times New Roman"/>
              </a:rPr>
              <a:t> </a:t>
            </a:r>
            <a:r>
              <a:rPr sz="2200" spc="-5" dirty="0">
                <a:latin typeface="Times New Roman"/>
                <a:cs typeface="Times New Roman"/>
              </a:rPr>
              <a:t>b</a:t>
            </a:r>
            <a:r>
              <a:rPr sz="2200" spc="15" dirty="0">
                <a:latin typeface="Times New Roman"/>
                <a:cs typeface="Times New Roman"/>
              </a:rPr>
              <a:t>u</a:t>
            </a:r>
            <a:r>
              <a:rPr sz="2200" spc="-30" dirty="0">
                <a:latin typeface="Times New Roman"/>
                <a:cs typeface="Times New Roman"/>
              </a:rPr>
              <a:t>s</a:t>
            </a:r>
            <a:r>
              <a:rPr sz="2200" spc="-5" dirty="0">
                <a:latin typeface="Times New Roman"/>
                <a:cs typeface="Times New Roman"/>
              </a:rPr>
              <a:t>i</a:t>
            </a:r>
            <a:r>
              <a:rPr sz="2200" spc="15" dirty="0">
                <a:latin typeface="Times New Roman"/>
                <a:cs typeface="Times New Roman"/>
              </a:rPr>
              <a:t>n</a:t>
            </a:r>
            <a:r>
              <a:rPr sz="2200" spc="-15" dirty="0">
                <a:latin typeface="Times New Roman"/>
                <a:cs typeface="Times New Roman"/>
              </a:rPr>
              <a:t>e</a:t>
            </a:r>
            <a:r>
              <a:rPr sz="2200" spc="-5" dirty="0">
                <a:latin typeface="Times New Roman"/>
                <a:cs typeface="Times New Roman"/>
              </a:rPr>
              <a:t>ss</a:t>
            </a:r>
            <a:r>
              <a:rPr sz="2200" spc="-25" dirty="0">
                <a:latin typeface="Times New Roman"/>
                <a:cs typeface="Times New Roman"/>
              </a:rPr>
              <a:t> </a:t>
            </a:r>
            <a:r>
              <a:rPr sz="2200" spc="-5" dirty="0">
                <a:latin typeface="Times New Roman"/>
                <a:cs typeface="Times New Roman"/>
              </a:rPr>
              <a:t>pl</a:t>
            </a:r>
            <a:r>
              <a:rPr sz="2200" spc="-15" dirty="0">
                <a:latin typeface="Times New Roman"/>
                <a:cs typeface="Times New Roman"/>
              </a:rPr>
              <a:t>a</a:t>
            </a:r>
            <a:r>
              <a:rPr sz="2200" spc="15" dirty="0">
                <a:latin typeface="Times New Roman"/>
                <a:cs typeface="Times New Roman"/>
              </a:rPr>
              <a:t>n</a:t>
            </a:r>
            <a:r>
              <a:rPr sz="2200" spc="-5" dirty="0">
                <a:latin typeface="Times New Roman"/>
                <a:cs typeface="Times New Roman"/>
              </a:rPr>
              <a:t>.</a:t>
            </a:r>
            <a:endParaRPr sz="2200" dirty="0">
              <a:latin typeface="Times New Roman"/>
              <a:cs typeface="Times New Roman"/>
            </a:endParaRPr>
          </a:p>
          <a:p>
            <a:pPr marL="351155" indent="-167640">
              <a:lnSpc>
                <a:spcPct val="100000"/>
              </a:lnSpc>
              <a:spcBef>
                <a:spcPts val="1320"/>
              </a:spcBef>
              <a:buChar char="•"/>
              <a:tabLst>
                <a:tab pos="351790" algn="l"/>
              </a:tabLst>
            </a:pPr>
            <a:r>
              <a:rPr sz="2200" spc="-5" dirty="0">
                <a:latin typeface="Times New Roman"/>
                <a:cs typeface="Times New Roman"/>
              </a:rPr>
              <a:t>Identity</a:t>
            </a:r>
            <a:r>
              <a:rPr sz="2200" spc="-30" dirty="0">
                <a:latin typeface="Times New Roman"/>
                <a:cs typeface="Times New Roman"/>
              </a:rPr>
              <a:t> </a:t>
            </a:r>
            <a:r>
              <a:rPr sz="2200" spc="-10" dirty="0">
                <a:latin typeface="Times New Roman"/>
                <a:cs typeface="Times New Roman"/>
              </a:rPr>
              <a:t>and</a:t>
            </a:r>
            <a:r>
              <a:rPr sz="2200" spc="20" dirty="0">
                <a:latin typeface="Times New Roman"/>
                <a:cs typeface="Times New Roman"/>
              </a:rPr>
              <a:t> </a:t>
            </a:r>
            <a:r>
              <a:rPr sz="2200" spc="-5" dirty="0">
                <a:latin typeface="Times New Roman"/>
                <a:cs typeface="Times New Roman"/>
              </a:rPr>
              <a:t>proposed</a:t>
            </a:r>
            <a:r>
              <a:rPr sz="2200" spc="-25" dirty="0">
                <a:latin typeface="Times New Roman"/>
                <a:cs typeface="Times New Roman"/>
              </a:rPr>
              <a:t> </a:t>
            </a:r>
            <a:r>
              <a:rPr sz="2200" spc="-5" dirty="0">
                <a:latin typeface="Times New Roman"/>
                <a:cs typeface="Times New Roman"/>
              </a:rPr>
              <a:t>titles</a:t>
            </a:r>
            <a:r>
              <a:rPr sz="2200" spc="-25"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dirty="0">
                <a:latin typeface="Times New Roman"/>
                <a:cs typeface="Times New Roman"/>
              </a:rPr>
              <a:t>founders.</a:t>
            </a:r>
          </a:p>
          <a:p>
            <a:pPr marL="351155" indent="-167640">
              <a:lnSpc>
                <a:spcPct val="100000"/>
              </a:lnSpc>
              <a:spcBef>
                <a:spcPts val="1320"/>
              </a:spcBef>
              <a:buChar char="•"/>
              <a:tabLst>
                <a:tab pos="351790" algn="l"/>
              </a:tabLst>
            </a:pPr>
            <a:r>
              <a:rPr sz="2200" spc="-5" dirty="0">
                <a:latin typeface="Times New Roman"/>
                <a:cs typeface="Times New Roman"/>
              </a:rPr>
              <a:t>Legal</a:t>
            </a:r>
            <a:r>
              <a:rPr sz="2200" dirty="0">
                <a:latin typeface="Times New Roman"/>
                <a:cs typeface="Times New Roman"/>
              </a:rPr>
              <a:t> </a:t>
            </a:r>
            <a:r>
              <a:rPr sz="2200" spc="-5" dirty="0">
                <a:latin typeface="Times New Roman"/>
                <a:cs typeface="Times New Roman"/>
              </a:rPr>
              <a:t>form</a:t>
            </a:r>
            <a:r>
              <a:rPr sz="2200" spc="-15" dirty="0">
                <a:latin typeface="Times New Roman"/>
                <a:cs typeface="Times New Roman"/>
              </a:rPr>
              <a:t> </a:t>
            </a:r>
            <a:r>
              <a:rPr sz="2200" spc="5" dirty="0">
                <a:latin typeface="Times New Roman"/>
                <a:cs typeface="Times New Roman"/>
              </a:rPr>
              <a:t>of</a:t>
            </a:r>
            <a:r>
              <a:rPr sz="2200" spc="-30" dirty="0">
                <a:latin typeface="Times New Roman"/>
                <a:cs typeface="Times New Roman"/>
              </a:rPr>
              <a:t> </a:t>
            </a:r>
            <a:r>
              <a:rPr sz="2200" spc="-5" dirty="0">
                <a:latin typeface="Times New Roman"/>
                <a:cs typeface="Times New Roman"/>
              </a:rPr>
              <a:t>business</a:t>
            </a:r>
            <a:r>
              <a:rPr sz="2200" spc="-20" dirty="0">
                <a:latin typeface="Times New Roman"/>
                <a:cs typeface="Times New Roman"/>
              </a:rPr>
              <a:t> </a:t>
            </a:r>
            <a:r>
              <a:rPr sz="2200" spc="-5" dirty="0">
                <a:latin typeface="Times New Roman"/>
                <a:cs typeface="Times New Roman"/>
              </a:rPr>
              <a:t>ownership.</a:t>
            </a:r>
            <a:endParaRPr sz="2200" dirty="0">
              <a:latin typeface="Times New Roman"/>
              <a:cs typeface="Times New Roman"/>
            </a:endParaRPr>
          </a:p>
          <a:p>
            <a:pPr marL="337185" indent="-153670">
              <a:lnSpc>
                <a:spcPct val="100000"/>
              </a:lnSpc>
              <a:spcBef>
                <a:spcPts val="1320"/>
              </a:spcBef>
              <a:buChar char="•"/>
              <a:tabLst>
                <a:tab pos="337820" algn="l"/>
              </a:tabLst>
            </a:pPr>
            <a:r>
              <a:rPr sz="2200" spc="-5" dirty="0" smtClean="0">
                <a:latin typeface="Times New Roman"/>
                <a:cs typeface="Times New Roman"/>
              </a:rPr>
              <a:t>Apportionment</a:t>
            </a:r>
            <a:r>
              <a:rPr lang="en-US" sz="2200" spc="-35" dirty="0">
                <a:latin typeface="Times New Roman"/>
                <a:cs typeface="Times New Roman"/>
              </a:rPr>
              <a:t> </a:t>
            </a:r>
            <a:r>
              <a:rPr sz="2200" spc="-5" dirty="0" smtClean="0">
                <a:latin typeface="Times New Roman"/>
                <a:cs typeface="Times New Roman"/>
              </a:rPr>
              <a:t>of</a:t>
            </a:r>
            <a:r>
              <a:rPr sz="2200" spc="-25" dirty="0" smtClean="0">
                <a:latin typeface="Times New Roman"/>
                <a:cs typeface="Times New Roman"/>
              </a:rPr>
              <a:t> </a:t>
            </a:r>
            <a:r>
              <a:rPr sz="2200" spc="-5" dirty="0">
                <a:latin typeface="Times New Roman"/>
                <a:cs typeface="Times New Roman"/>
              </a:rPr>
              <a:t>stock</a:t>
            </a:r>
            <a:r>
              <a:rPr sz="2200" spc="-5" dirty="0" smtClean="0">
                <a:latin typeface="Times New Roman"/>
                <a:cs typeface="Times New Roman"/>
              </a:rPr>
              <a:t>.</a:t>
            </a:r>
            <a:r>
              <a:rPr lang="en-US" sz="2200" spc="-5" dirty="0">
                <a:latin typeface="Times New Roman"/>
                <a:cs typeface="Times New Roman"/>
              </a:rPr>
              <a:t> (or division of ownership)</a:t>
            </a:r>
            <a:endParaRPr sz="2200" dirty="0">
              <a:latin typeface="Times New Roman"/>
              <a:cs typeface="Times New Roman"/>
            </a:endParaRPr>
          </a:p>
          <a:p>
            <a:pPr marL="351155" indent="-167640">
              <a:lnSpc>
                <a:spcPct val="100000"/>
              </a:lnSpc>
              <a:spcBef>
                <a:spcPts val="1320"/>
              </a:spcBef>
              <a:buChar char="•"/>
              <a:tabLst>
                <a:tab pos="351790" algn="l"/>
              </a:tabLst>
            </a:pPr>
            <a:r>
              <a:rPr sz="2200" spc="-5" dirty="0">
                <a:latin typeface="Times New Roman"/>
                <a:cs typeface="Times New Roman"/>
              </a:rPr>
              <a:t>Consideration</a:t>
            </a:r>
            <a:r>
              <a:rPr sz="2200" spc="-25" dirty="0">
                <a:latin typeface="Times New Roman"/>
                <a:cs typeface="Times New Roman"/>
              </a:rPr>
              <a:t> </a:t>
            </a:r>
            <a:r>
              <a:rPr sz="2200" spc="-5" dirty="0">
                <a:latin typeface="Times New Roman"/>
                <a:cs typeface="Times New Roman"/>
              </a:rPr>
              <a:t>paid </a:t>
            </a:r>
            <a:r>
              <a:rPr sz="2200" dirty="0">
                <a:latin typeface="Times New Roman"/>
                <a:cs typeface="Times New Roman"/>
              </a:rPr>
              <a:t>for</a:t>
            </a:r>
            <a:r>
              <a:rPr sz="2200" spc="-5" dirty="0">
                <a:latin typeface="Times New Roman"/>
                <a:cs typeface="Times New Roman"/>
              </a:rPr>
              <a:t> stock or ownership share of</a:t>
            </a:r>
            <a:r>
              <a:rPr sz="2200" spc="10" dirty="0">
                <a:latin typeface="Times New Roman"/>
                <a:cs typeface="Times New Roman"/>
              </a:rPr>
              <a:t> </a:t>
            </a:r>
            <a:r>
              <a:rPr sz="2200" spc="-5" dirty="0">
                <a:latin typeface="Times New Roman"/>
                <a:cs typeface="Times New Roman"/>
              </a:rPr>
              <a:t>each</a:t>
            </a:r>
            <a:r>
              <a:rPr sz="2200"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the</a:t>
            </a:r>
            <a:r>
              <a:rPr sz="2200" spc="15" dirty="0">
                <a:latin typeface="Times New Roman"/>
                <a:cs typeface="Times New Roman"/>
              </a:rPr>
              <a:t> </a:t>
            </a:r>
            <a:r>
              <a:rPr sz="2200" dirty="0">
                <a:latin typeface="Times New Roman"/>
                <a:cs typeface="Times New Roman"/>
              </a:rPr>
              <a:t>founders.</a:t>
            </a:r>
          </a:p>
          <a:p>
            <a:pPr marL="351155" indent="-167640">
              <a:lnSpc>
                <a:spcPct val="100000"/>
              </a:lnSpc>
              <a:spcBef>
                <a:spcPts val="1320"/>
              </a:spcBef>
              <a:buChar char="•"/>
              <a:tabLst>
                <a:tab pos="351790" algn="l"/>
              </a:tabLst>
            </a:pPr>
            <a:r>
              <a:rPr sz="2200" spc="-5" dirty="0">
                <a:latin typeface="Times New Roman"/>
                <a:cs typeface="Times New Roman"/>
              </a:rPr>
              <a:t>Identification</a:t>
            </a:r>
            <a:r>
              <a:rPr sz="2200" spc="-25" dirty="0">
                <a:latin typeface="Times New Roman"/>
                <a:cs typeface="Times New Roman"/>
              </a:rPr>
              <a:t> </a:t>
            </a:r>
            <a:r>
              <a:rPr sz="2200" spc="-5" dirty="0">
                <a:latin typeface="Times New Roman"/>
                <a:cs typeface="Times New Roman"/>
              </a:rPr>
              <a:t>of </a:t>
            </a:r>
            <a:r>
              <a:rPr sz="2200" dirty="0">
                <a:latin typeface="Times New Roman"/>
                <a:cs typeface="Times New Roman"/>
              </a:rPr>
              <a:t>any </a:t>
            </a:r>
            <a:r>
              <a:rPr sz="2200" spc="-5" dirty="0">
                <a:latin typeface="Times New Roman"/>
                <a:cs typeface="Times New Roman"/>
              </a:rPr>
              <a:t>intellectual</a:t>
            </a:r>
            <a:r>
              <a:rPr sz="2200" spc="-40" dirty="0">
                <a:latin typeface="Times New Roman"/>
                <a:cs typeface="Times New Roman"/>
              </a:rPr>
              <a:t> </a:t>
            </a:r>
            <a:r>
              <a:rPr sz="2200" spc="-5" dirty="0">
                <a:latin typeface="Times New Roman"/>
                <a:cs typeface="Times New Roman"/>
              </a:rPr>
              <a:t>property</a:t>
            </a:r>
            <a:r>
              <a:rPr sz="2200" spc="-20" dirty="0">
                <a:latin typeface="Times New Roman"/>
                <a:cs typeface="Times New Roman"/>
              </a:rPr>
              <a:t> </a:t>
            </a:r>
            <a:r>
              <a:rPr sz="2200" spc="-5" dirty="0">
                <a:latin typeface="Times New Roman"/>
                <a:cs typeface="Times New Roman"/>
              </a:rPr>
              <a:t>signed</a:t>
            </a:r>
            <a:r>
              <a:rPr sz="2200" spc="-20" dirty="0">
                <a:latin typeface="Times New Roman"/>
                <a:cs typeface="Times New Roman"/>
              </a:rPr>
              <a:t> </a:t>
            </a:r>
            <a:r>
              <a:rPr sz="2200" dirty="0">
                <a:latin typeface="Times New Roman"/>
                <a:cs typeface="Times New Roman"/>
              </a:rPr>
              <a:t>over</a:t>
            </a:r>
            <a:r>
              <a:rPr sz="2200" spc="-5" dirty="0">
                <a:latin typeface="Times New Roman"/>
                <a:cs typeface="Times New Roman"/>
              </a:rPr>
              <a:t> to</a:t>
            </a:r>
            <a:r>
              <a:rPr sz="2200" dirty="0">
                <a:latin typeface="Times New Roman"/>
                <a:cs typeface="Times New Roman"/>
              </a:rPr>
              <a:t> </a:t>
            </a:r>
            <a:r>
              <a:rPr sz="2200" spc="-5" dirty="0">
                <a:latin typeface="Times New Roman"/>
                <a:cs typeface="Times New Roman"/>
              </a:rPr>
              <a:t>the business.</a:t>
            </a:r>
            <a:endParaRPr sz="2200" dirty="0">
              <a:latin typeface="Times New Roman"/>
              <a:cs typeface="Times New Roman"/>
            </a:endParaRPr>
          </a:p>
          <a:p>
            <a:pPr marL="351155" indent="-167640">
              <a:lnSpc>
                <a:spcPct val="100000"/>
              </a:lnSpc>
              <a:spcBef>
                <a:spcPts val="1320"/>
              </a:spcBef>
              <a:buChar char="•"/>
              <a:tabLst>
                <a:tab pos="351790" algn="l"/>
              </a:tabLst>
            </a:pPr>
            <a:r>
              <a:rPr sz="2200" spc="-5" dirty="0" smtClean="0">
                <a:latin typeface="Times New Roman"/>
                <a:cs typeface="Times New Roman"/>
              </a:rPr>
              <a:t>Description</a:t>
            </a:r>
            <a:r>
              <a:rPr lang="en-US" sz="2200" spc="-30" dirty="0">
                <a:latin typeface="Times New Roman"/>
                <a:cs typeface="Times New Roman"/>
              </a:rPr>
              <a:t> </a:t>
            </a:r>
            <a:r>
              <a:rPr sz="2200" spc="5" dirty="0" smtClean="0">
                <a:latin typeface="Times New Roman"/>
                <a:cs typeface="Times New Roman"/>
              </a:rPr>
              <a:t>of</a:t>
            </a:r>
            <a:r>
              <a:rPr sz="2200" spc="-10" dirty="0" smtClean="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initial</a:t>
            </a:r>
            <a:r>
              <a:rPr sz="2200" spc="-25" dirty="0">
                <a:latin typeface="Times New Roman"/>
                <a:cs typeface="Times New Roman"/>
              </a:rPr>
              <a:t> </a:t>
            </a:r>
            <a:r>
              <a:rPr sz="2200" spc="-5" dirty="0">
                <a:latin typeface="Times New Roman"/>
                <a:cs typeface="Times New Roman"/>
              </a:rPr>
              <a:t>operating</a:t>
            </a:r>
            <a:r>
              <a:rPr sz="2200" spc="-25" dirty="0">
                <a:latin typeface="Times New Roman"/>
                <a:cs typeface="Times New Roman"/>
              </a:rPr>
              <a:t> </a:t>
            </a:r>
            <a:r>
              <a:rPr sz="2200" spc="-5" dirty="0">
                <a:latin typeface="Times New Roman"/>
                <a:cs typeface="Times New Roman"/>
              </a:rPr>
              <a:t>capital.</a:t>
            </a:r>
            <a:endParaRPr sz="2200" dirty="0">
              <a:latin typeface="Times New Roman"/>
              <a:cs typeface="Times New Roman"/>
            </a:endParaRPr>
          </a:p>
          <a:p>
            <a:pPr marL="351155" indent="-167640">
              <a:lnSpc>
                <a:spcPct val="100000"/>
              </a:lnSpc>
              <a:spcBef>
                <a:spcPts val="1320"/>
              </a:spcBef>
              <a:buChar char="•"/>
              <a:tabLst>
                <a:tab pos="351790" algn="l"/>
              </a:tabLst>
            </a:pPr>
            <a:r>
              <a:rPr sz="2200" dirty="0">
                <a:latin typeface="Times New Roman"/>
                <a:cs typeface="Times New Roman"/>
              </a:rPr>
              <a:t>Buyback</a:t>
            </a:r>
            <a:r>
              <a:rPr sz="2200" spc="-35" dirty="0">
                <a:latin typeface="Times New Roman"/>
                <a:cs typeface="Times New Roman"/>
              </a:rPr>
              <a:t> </a:t>
            </a:r>
            <a:r>
              <a:rPr sz="2200" spc="-10" dirty="0">
                <a:latin typeface="Times New Roman"/>
                <a:cs typeface="Times New Roman"/>
              </a:rPr>
              <a:t>clause.</a:t>
            </a:r>
            <a:endParaRPr sz="22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Avoiding</a:t>
            </a:r>
            <a:r>
              <a:rPr spc="-20" dirty="0"/>
              <a:t> </a:t>
            </a:r>
            <a:r>
              <a:rPr spc="-5" dirty="0"/>
              <a:t>Legal</a:t>
            </a:r>
            <a:r>
              <a:rPr spc="-10" dirty="0"/>
              <a:t> </a:t>
            </a:r>
            <a:r>
              <a:rPr dirty="0"/>
              <a:t>Disputes</a:t>
            </a:r>
          </a:p>
          <a:p>
            <a:pPr algn="ctr">
              <a:lnSpc>
                <a:spcPct val="100000"/>
              </a:lnSpc>
              <a:spcBef>
                <a:spcPts val="55"/>
              </a:spcBef>
            </a:pPr>
            <a:r>
              <a:rPr sz="2200" spc="-5" dirty="0"/>
              <a:t>1</a:t>
            </a:r>
            <a:r>
              <a:rPr sz="2200" spc="-35" dirty="0"/>
              <a:t> </a:t>
            </a:r>
            <a:r>
              <a:rPr sz="2200" spc="-5" dirty="0"/>
              <a:t>of</a:t>
            </a:r>
            <a:r>
              <a:rPr sz="2200" spc="-15" dirty="0"/>
              <a:t> </a:t>
            </a:r>
            <a:r>
              <a:rPr sz="2200" spc="-5" dirty="0"/>
              <a:t>2</a:t>
            </a:r>
            <a:endParaRPr sz="2200"/>
          </a:p>
        </p:txBody>
      </p:sp>
      <p:sp>
        <p:nvSpPr>
          <p:cNvPr id="3" name="object 3"/>
          <p:cNvSpPr txBox="1"/>
          <p:nvPr/>
        </p:nvSpPr>
        <p:spPr>
          <a:xfrm>
            <a:off x="152400" y="1803066"/>
            <a:ext cx="9677400" cy="5309787"/>
          </a:xfrm>
          <a:prstGeom prst="rect">
            <a:avLst/>
          </a:prstGeom>
        </p:spPr>
        <p:txBody>
          <a:bodyPr vert="horz" wrap="square" lIns="0" tIns="112395" rIns="0" bIns="0" rtlCol="0">
            <a:spAutoFit/>
          </a:bodyPr>
          <a:lstStyle/>
          <a:p>
            <a:pPr marL="12065" algn="just">
              <a:lnSpc>
                <a:spcPct val="100000"/>
              </a:lnSpc>
              <a:spcBef>
                <a:spcPts val="885"/>
              </a:spcBef>
              <a:tabLst>
                <a:tab pos="388620" algn="l"/>
                <a:tab pos="389255" algn="l"/>
              </a:tabLst>
            </a:pPr>
            <a:r>
              <a:rPr sz="2600" spc="-10" dirty="0" smtClean="0">
                <a:latin typeface="Times New Roman"/>
                <a:cs typeface="Times New Roman"/>
              </a:rPr>
              <a:t>Most</a:t>
            </a:r>
            <a:r>
              <a:rPr sz="2600" dirty="0" smtClean="0">
                <a:latin typeface="Times New Roman"/>
                <a:cs typeface="Times New Roman"/>
              </a:rPr>
              <a:t> </a:t>
            </a:r>
            <a:r>
              <a:rPr sz="2600" spc="-10" dirty="0">
                <a:latin typeface="Times New Roman"/>
                <a:cs typeface="Times New Roman"/>
              </a:rPr>
              <a:t>legal</a:t>
            </a:r>
            <a:r>
              <a:rPr sz="2600" spc="-20" dirty="0">
                <a:latin typeface="Times New Roman"/>
                <a:cs typeface="Times New Roman"/>
              </a:rPr>
              <a:t> </a:t>
            </a:r>
            <a:r>
              <a:rPr sz="2600" spc="-5" dirty="0">
                <a:latin typeface="Times New Roman"/>
                <a:cs typeface="Times New Roman"/>
              </a:rPr>
              <a:t>disputes</a:t>
            </a:r>
            <a:r>
              <a:rPr sz="2600" dirty="0">
                <a:latin typeface="Times New Roman"/>
                <a:cs typeface="Times New Roman"/>
              </a:rPr>
              <a:t> </a:t>
            </a:r>
            <a:r>
              <a:rPr sz="2600" spc="-5" dirty="0">
                <a:latin typeface="Times New Roman"/>
                <a:cs typeface="Times New Roman"/>
              </a:rPr>
              <a:t>are</a:t>
            </a:r>
            <a:r>
              <a:rPr sz="2600" spc="-10" dirty="0">
                <a:latin typeface="Times New Roman"/>
                <a:cs typeface="Times New Roman"/>
              </a:rPr>
              <a:t> </a:t>
            </a:r>
            <a:r>
              <a:rPr sz="2600" spc="-15" dirty="0">
                <a:latin typeface="Times New Roman"/>
                <a:cs typeface="Times New Roman"/>
              </a:rPr>
              <a:t>the</a:t>
            </a:r>
            <a:r>
              <a:rPr sz="2600" spc="15" dirty="0">
                <a:latin typeface="Times New Roman"/>
                <a:cs typeface="Times New Roman"/>
              </a:rPr>
              <a:t> </a:t>
            </a:r>
            <a:r>
              <a:rPr sz="2600" spc="-10" dirty="0">
                <a:latin typeface="Times New Roman"/>
                <a:cs typeface="Times New Roman"/>
              </a:rPr>
              <a:t>result</a:t>
            </a:r>
            <a:r>
              <a:rPr sz="2600" spc="-20" dirty="0">
                <a:latin typeface="Times New Roman"/>
                <a:cs typeface="Times New Roman"/>
              </a:rPr>
              <a:t> </a:t>
            </a:r>
            <a:r>
              <a:rPr sz="2600" spc="-5" dirty="0">
                <a:latin typeface="Times New Roman"/>
                <a:cs typeface="Times New Roman"/>
              </a:rPr>
              <a:t>of</a:t>
            </a:r>
            <a:r>
              <a:rPr sz="2600" spc="20" dirty="0">
                <a:latin typeface="Times New Roman"/>
                <a:cs typeface="Times New Roman"/>
              </a:rPr>
              <a:t> </a:t>
            </a:r>
            <a:r>
              <a:rPr sz="2600" spc="-10" dirty="0">
                <a:latin typeface="Times New Roman"/>
                <a:cs typeface="Times New Roman"/>
              </a:rPr>
              <a:t>misunderstandings,</a:t>
            </a:r>
            <a:r>
              <a:rPr sz="2600" spc="-30" dirty="0">
                <a:latin typeface="Times New Roman"/>
                <a:cs typeface="Times New Roman"/>
              </a:rPr>
              <a:t> </a:t>
            </a:r>
            <a:r>
              <a:rPr sz="2600" spc="-5" dirty="0">
                <a:latin typeface="Times New Roman"/>
                <a:cs typeface="Times New Roman"/>
              </a:rPr>
              <a:t>or </a:t>
            </a:r>
            <a:r>
              <a:rPr sz="2600" dirty="0">
                <a:latin typeface="Times New Roman"/>
                <a:cs typeface="Times New Roman"/>
              </a:rPr>
              <a:t> </a:t>
            </a:r>
            <a:r>
              <a:rPr sz="2600" spc="-5" dirty="0">
                <a:latin typeface="Times New Roman"/>
                <a:cs typeface="Times New Roman"/>
              </a:rPr>
              <a:t>a</a:t>
            </a:r>
            <a:r>
              <a:rPr sz="2600" spc="-10" dirty="0">
                <a:latin typeface="Times New Roman"/>
                <a:cs typeface="Times New Roman"/>
              </a:rPr>
              <a:t> simple </a:t>
            </a:r>
            <a:r>
              <a:rPr sz="2600" spc="-5" dirty="0">
                <a:latin typeface="Times New Roman"/>
                <a:cs typeface="Times New Roman"/>
              </a:rPr>
              <a:t>lack</a:t>
            </a:r>
            <a:r>
              <a:rPr sz="2600" spc="-25" dirty="0">
                <a:latin typeface="Times New Roman"/>
                <a:cs typeface="Times New Roman"/>
              </a:rPr>
              <a:t> </a:t>
            </a:r>
            <a:r>
              <a:rPr sz="2600" spc="-5" dirty="0">
                <a:latin typeface="Times New Roman"/>
                <a:cs typeface="Times New Roman"/>
              </a:rPr>
              <a:t>of</a:t>
            </a:r>
            <a:r>
              <a:rPr sz="2600" spc="25" dirty="0">
                <a:latin typeface="Times New Roman"/>
                <a:cs typeface="Times New Roman"/>
              </a:rPr>
              <a:t> </a:t>
            </a:r>
            <a:r>
              <a:rPr sz="2600" spc="-5" dirty="0">
                <a:latin typeface="Times New Roman"/>
                <a:cs typeface="Times New Roman"/>
              </a:rPr>
              <a:t>knowledge</a:t>
            </a:r>
            <a:r>
              <a:rPr sz="2600" spc="-10" dirty="0">
                <a:latin typeface="Times New Roman"/>
                <a:cs typeface="Times New Roman"/>
              </a:rPr>
              <a:t> </a:t>
            </a:r>
            <a:r>
              <a:rPr sz="2600" spc="-5" dirty="0">
                <a:latin typeface="Times New Roman"/>
                <a:cs typeface="Times New Roman"/>
              </a:rPr>
              <a:t>of</a:t>
            </a:r>
            <a:r>
              <a:rPr sz="2600" spc="-10" dirty="0">
                <a:latin typeface="Times New Roman"/>
                <a:cs typeface="Times New Roman"/>
              </a:rPr>
              <a:t> </a:t>
            </a:r>
            <a:r>
              <a:rPr sz="2600" spc="-5" dirty="0">
                <a:latin typeface="Times New Roman"/>
                <a:cs typeface="Times New Roman"/>
              </a:rPr>
              <a:t>the</a:t>
            </a:r>
            <a:r>
              <a:rPr sz="2600" spc="-10" dirty="0">
                <a:latin typeface="Times New Roman"/>
                <a:cs typeface="Times New Roman"/>
              </a:rPr>
              <a:t> </a:t>
            </a:r>
            <a:r>
              <a:rPr sz="2600" spc="-10" dirty="0" smtClean="0">
                <a:latin typeface="Times New Roman"/>
                <a:cs typeface="Times New Roman"/>
              </a:rPr>
              <a:t>law.</a:t>
            </a:r>
            <a:r>
              <a:rPr lang="en-US" sz="2600" spc="-10" dirty="0" smtClean="0">
                <a:latin typeface="Times New Roman"/>
                <a:cs typeface="Times New Roman"/>
              </a:rPr>
              <a:t> </a:t>
            </a:r>
          </a:p>
          <a:p>
            <a:pPr marL="12065" algn="just">
              <a:lnSpc>
                <a:spcPct val="100000"/>
              </a:lnSpc>
              <a:spcBef>
                <a:spcPts val="885"/>
              </a:spcBef>
              <a:tabLst>
                <a:tab pos="388620" algn="l"/>
                <a:tab pos="389255" algn="l"/>
              </a:tabLst>
            </a:pPr>
            <a:r>
              <a:rPr lang="en-US" sz="2400" spc="-10" dirty="0" smtClean="0">
                <a:latin typeface="Times New Roman"/>
                <a:cs typeface="Times New Roman"/>
              </a:rPr>
              <a:t>It </a:t>
            </a:r>
            <a:r>
              <a:rPr lang="en-US" sz="2400" spc="-10" dirty="0">
                <a:latin typeface="Times New Roman"/>
                <a:cs typeface="Times New Roman"/>
              </a:rPr>
              <a:t>is important early </a:t>
            </a:r>
            <a:r>
              <a:rPr lang="en-US" sz="2400" spc="-10" dirty="0" smtClean="0">
                <a:latin typeface="Times New Roman"/>
                <a:cs typeface="Times New Roman"/>
              </a:rPr>
              <a:t>in the </a:t>
            </a:r>
            <a:r>
              <a:rPr lang="en-US" sz="2400" spc="-10" dirty="0">
                <a:latin typeface="Times New Roman"/>
                <a:cs typeface="Times New Roman"/>
              </a:rPr>
              <a:t>life of a new business to establish practices and procedures to help </a:t>
            </a:r>
            <a:r>
              <a:rPr lang="en-US" sz="2400" spc="-10" dirty="0" smtClean="0">
                <a:latin typeface="Times New Roman"/>
                <a:cs typeface="Times New Roman"/>
              </a:rPr>
              <a:t>avoid legal disputes.</a:t>
            </a:r>
          </a:p>
          <a:p>
            <a:pPr marL="829310" marR="5080" lvl="1" indent="-314325" algn="just">
              <a:lnSpc>
                <a:spcPts val="3170"/>
              </a:lnSpc>
              <a:spcBef>
                <a:spcPts val="750"/>
              </a:spcBef>
              <a:buChar char="–"/>
              <a:tabLst>
                <a:tab pos="830580" algn="l"/>
                <a:tab pos="831215" algn="l"/>
                <a:tab pos="6186805" algn="l"/>
              </a:tabLst>
            </a:pPr>
            <a:r>
              <a:rPr lang="en-US" sz="2400" spc="-15" dirty="0">
                <a:latin typeface="Times New Roman"/>
                <a:cs typeface="Times New Roman"/>
              </a:rPr>
              <a:t>S</a:t>
            </a:r>
            <a:r>
              <a:rPr sz="2400" dirty="0" smtClean="0">
                <a:latin typeface="Times New Roman"/>
                <a:cs typeface="Times New Roman"/>
              </a:rPr>
              <a:t>teps</a:t>
            </a:r>
            <a:r>
              <a:rPr sz="2400" spc="-25" dirty="0" smtClean="0">
                <a:latin typeface="Times New Roman"/>
                <a:cs typeface="Times New Roman"/>
              </a:rPr>
              <a:t> </a:t>
            </a:r>
            <a:r>
              <a:rPr sz="2400" dirty="0" smtClean="0">
                <a:latin typeface="Times New Roman"/>
                <a:cs typeface="Times New Roman"/>
              </a:rPr>
              <a:t>that</a:t>
            </a:r>
            <a:r>
              <a:rPr sz="2400" spc="-50" dirty="0" smtClean="0">
                <a:latin typeface="Times New Roman"/>
                <a:cs typeface="Times New Roman"/>
              </a:rPr>
              <a:t> </a:t>
            </a:r>
            <a:r>
              <a:rPr sz="2400" dirty="0" smtClean="0">
                <a:latin typeface="Times New Roman"/>
                <a:cs typeface="Times New Roman"/>
              </a:rPr>
              <a:t>an </a:t>
            </a:r>
            <a:r>
              <a:rPr sz="2400" spc="-10" dirty="0" smtClean="0">
                <a:latin typeface="Times New Roman"/>
                <a:cs typeface="Times New Roman"/>
              </a:rPr>
              <a:t>entrepreneur</a:t>
            </a:r>
            <a:r>
              <a:rPr sz="2400" spc="-15" dirty="0" smtClean="0">
                <a:latin typeface="Times New Roman"/>
                <a:cs typeface="Times New Roman"/>
              </a:rPr>
              <a:t> </a:t>
            </a:r>
            <a:r>
              <a:rPr sz="2400" spc="-5" dirty="0" smtClean="0">
                <a:latin typeface="Times New Roman"/>
                <a:cs typeface="Times New Roman"/>
              </a:rPr>
              <a:t>can</a:t>
            </a:r>
            <a:r>
              <a:rPr sz="2400" spc="-25" dirty="0" smtClean="0">
                <a:latin typeface="Times New Roman"/>
                <a:cs typeface="Times New Roman"/>
              </a:rPr>
              <a:t> </a:t>
            </a:r>
            <a:r>
              <a:rPr sz="2400" spc="-10" dirty="0" smtClean="0">
                <a:latin typeface="Times New Roman"/>
                <a:cs typeface="Times New Roman"/>
              </a:rPr>
              <a:t>take</a:t>
            </a:r>
            <a:r>
              <a:rPr sz="2400" spc="-15" dirty="0" smtClean="0">
                <a:latin typeface="Times New Roman"/>
                <a:cs typeface="Times New Roman"/>
              </a:rPr>
              <a:t> </a:t>
            </a:r>
            <a:r>
              <a:rPr sz="2400" spc="-5" dirty="0" smtClean="0">
                <a:latin typeface="Times New Roman"/>
                <a:cs typeface="Times New Roman"/>
              </a:rPr>
              <a:t>to </a:t>
            </a:r>
            <a:r>
              <a:rPr sz="2400" spc="-645" dirty="0" smtClean="0">
                <a:latin typeface="Times New Roman"/>
                <a:cs typeface="Times New Roman"/>
              </a:rPr>
              <a:t> </a:t>
            </a:r>
            <a:r>
              <a:rPr sz="2400" spc="-10" dirty="0" smtClean="0">
                <a:latin typeface="Times New Roman"/>
                <a:cs typeface="Times New Roman"/>
              </a:rPr>
              <a:t>avoid </a:t>
            </a:r>
            <a:r>
              <a:rPr sz="2400" spc="-5" dirty="0" smtClean="0">
                <a:latin typeface="Times New Roman"/>
                <a:cs typeface="Times New Roman"/>
              </a:rPr>
              <a:t>legal</a:t>
            </a:r>
            <a:r>
              <a:rPr sz="2400" spc="-50" dirty="0" smtClean="0">
                <a:latin typeface="Times New Roman"/>
                <a:cs typeface="Times New Roman"/>
              </a:rPr>
              <a:t> </a:t>
            </a:r>
            <a:r>
              <a:rPr sz="2400" spc="-5" dirty="0" smtClean="0">
                <a:latin typeface="Times New Roman"/>
                <a:cs typeface="Times New Roman"/>
              </a:rPr>
              <a:t>disputes:</a:t>
            </a:r>
            <a:endParaRPr sz="2400" dirty="0" smtClean="0">
              <a:latin typeface="Times New Roman"/>
              <a:cs typeface="Times New Roman"/>
            </a:endParaRPr>
          </a:p>
          <a:p>
            <a:pPr marL="1269365" lvl="2" indent="-252095" algn="just">
              <a:lnSpc>
                <a:spcPct val="100000"/>
              </a:lnSpc>
              <a:spcBef>
                <a:spcPts val="440"/>
              </a:spcBef>
              <a:buChar char="•"/>
              <a:tabLst>
                <a:tab pos="1269365" algn="l"/>
                <a:tab pos="1270000" algn="l"/>
              </a:tabLst>
            </a:pPr>
            <a:r>
              <a:rPr sz="2200" spc="-5" dirty="0" smtClean="0">
                <a:latin typeface="Times New Roman"/>
                <a:cs typeface="Times New Roman"/>
              </a:rPr>
              <a:t>Meet </a:t>
            </a:r>
            <a:r>
              <a:rPr sz="2200" spc="-5" dirty="0">
                <a:latin typeface="Times New Roman"/>
                <a:cs typeface="Times New Roman"/>
              </a:rPr>
              <a:t>all</a:t>
            </a:r>
            <a:r>
              <a:rPr sz="2200" spc="-20" dirty="0">
                <a:latin typeface="Times New Roman"/>
                <a:cs typeface="Times New Roman"/>
              </a:rPr>
              <a:t> </a:t>
            </a:r>
            <a:r>
              <a:rPr sz="2200" spc="-5" dirty="0">
                <a:latin typeface="Times New Roman"/>
                <a:cs typeface="Times New Roman"/>
              </a:rPr>
              <a:t>contractual</a:t>
            </a:r>
            <a:r>
              <a:rPr sz="2200" spc="-25" dirty="0">
                <a:latin typeface="Times New Roman"/>
                <a:cs typeface="Times New Roman"/>
              </a:rPr>
              <a:t> </a:t>
            </a:r>
            <a:r>
              <a:rPr sz="2200" spc="-5" dirty="0" smtClean="0">
                <a:latin typeface="Times New Roman"/>
                <a:cs typeface="Times New Roman"/>
              </a:rPr>
              <a:t>obligations</a:t>
            </a:r>
            <a:r>
              <a:rPr lang="en-US" sz="2200" spc="-5" dirty="0">
                <a:latin typeface="Times New Roman"/>
                <a:cs typeface="Times New Roman"/>
              </a:rPr>
              <a:t> </a:t>
            </a:r>
            <a:r>
              <a:rPr lang="en-US" sz="2200" spc="-5" dirty="0" smtClean="0">
                <a:latin typeface="Times New Roman"/>
                <a:cs typeface="Times New Roman"/>
              </a:rPr>
              <a:t>on time.</a:t>
            </a:r>
            <a:endParaRPr sz="2200" dirty="0">
              <a:latin typeface="Times New Roman"/>
              <a:cs typeface="Times New Roman"/>
            </a:endParaRPr>
          </a:p>
          <a:p>
            <a:pPr marL="1269365" lvl="2" indent="-252095" algn="just">
              <a:lnSpc>
                <a:spcPct val="100000"/>
              </a:lnSpc>
              <a:spcBef>
                <a:spcPts val="525"/>
              </a:spcBef>
              <a:buChar char="•"/>
              <a:tabLst>
                <a:tab pos="1269365" algn="l"/>
                <a:tab pos="1270000" algn="l"/>
              </a:tabLst>
            </a:pPr>
            <a:r>
              <a:rPr sz="2200" dirty="0">
                <a:latin typeface="Times New Roman"/>
                <a:cs typeface="Times New Roman"/>
              </a:rPr>
              <a:t>Avoid</a:t>
            </a:r>
            <a:r>
              <a:rPr sz="2200" spc="-30" dirty="0">
                <a:latin typeface="Times New Roman"/>
                <a:cs typeface="Times New Roman"/>
              </a:rPr>
              <a:t> </a:t>
            </a:r>
            <a:r>
              <a:rPr sz="2200" spc="-5" dirty="0">
                <a:latin typeface="Times New Roman"/>
                <a:cs typeface="Times New Roman"/>
              </a:rPr>
              <a:t>undercapitalization.</a:t>
            </a:r>
            <a:endParaRPr sz="2200" dirty="0">
              <a:latin typeface="Times New Roman"/>
              <a:cs typeface="Times New Roman"/>
            </a:endParaRPr>
          </a:p>
          <a:p>
            <a:pPr marL="1269365" lvl="2" indent="-252095" algn="just">
              <a:lnSpc>
                <a:spcPct val="100000"/>
              </a:lnSpc>
              <a:spcBef>
                <a:spcPts val="530"/>
              </a:spcBef>
              <a:buChar char="•"/>
              <a:tabLst>
                <a:tab pos="1269365" algn="l"/>
                <a:tab pos="1270000" algn="l"/>
              </a:tabLst>
            </a:pPr>
            <a:r>
              <a:rPr sz="2200" spc="-5" dirty="0">
                <a:latin typeface="Times New Roman"/>
                <a:cs typeface="Times New Roman"/>
              </a:rPr>
              <a:t>Get</a:t>
            </a:r>
            <a:r>
              <a:rPr sz="2200" dirty="0">
                <a:latin typeface="Times New Roman"/>
                <a:cs typeface="Times New Roman"/>
              </a:rPr>
              <a:t> </a:t>
            </a:r>
            <a:r>
              <a:rPr sz="2200" spc="-5" dirty="0">
                <a:latin typeface="Times New Roman"/>
                <a:cs typeface="Times New Roman"/>
              </a:rPr>
              <a:t>everything</a:t>
            </a:r>
            <a:r>
              <a:rPr sz="2200" spc="-25" dirty="0">
                <a:latin typeface="Times New Roman"/>
                <a:cs typeface="Times New Roman"/>
              </a:rPr>
              <a:t> </a:t>
            </a:r>
            <a:r>
              <a:rPr sz="2200" spc="-15" dirty="0">
                <a:latin typeface="Times New Roman"/>
                <a:cs typeface="Times New Roman"/>
              </a:rPr>
              <a:t>in</a:t>
            </a:r>
            <a:r>
              <a:rPr sz="2200" spc="-5" dirty="0">
                <a:latin typeface="Times New Roman"/>
                <a:cs typeface="Times New Roman"/>
              </a:rPr>
              <a:t> </a:t>
            </a:r>
            <a:r>
              <a:rPr sz="2200" spc="-5" dirty="0" smtClean="0">
                <a:latin typeface="Times New Roman"/>
                <a:cs typeface="Times New Roman"/>
              </a:rPr>
              <a:t>writing</a:t>
            </a:r>
            <a:r>
              <a:rPr lang="en-US" sz="2200" spc="-5" dirty="0">
                <a:latin typeface="Times New Roman"/>
                <a:cs typeface="Times New Roman"/>
              </a:rPr>
              <a:t>. </a:t>
            </a:r>
            <a:r>
              <a:rPr lang="en-US" sz="2200" spc="-5" dirty="0" smtClean="0">
                <a:latin typeface="Times New Roman"/>
                <a:cs typeface="Times New Roman"/>
              </a:rPr>
              <a:t>Two written </a:t>
            </a:r>
            <a:r>
              <a:rPr lang="en-US" sz="2200" spc="-5" dirty="0">
                <a:latin typeface="Times New Roman"/>
                <a:cs typeface="Times New Roman"/>
              </a:rPr>
              <a:t>agreements that the majority of </a:t>
            </a:r>
            <a:r>
              <a:rPr lang="en-US" sz="2200" spc="-5" dirty="0" smtClean="0">
                <a:latin typeface="Times New Roman"/>
                <a:cs typeface="Times New Roman"/>
              </a:rPr>
              <a:t>firms ask </a:t>
            </a:r>
            <a:r>
              <a:rPr lang="en-US" sz="2200" spc="-5" dirty="0">
                <a:latin typeface="Times New Roman"/>
                <a:cs typeface="Times New Roman"/>
              </a:rPr>
              <a:t>their employees to </a:t>
            </a:r>
            <a:r>
              <a:rPr lang="en-US" sz="2200" spc="-5" dirty="0" smtClean="0">
                <a:latin typeface="Times New Roman"/>
                <a:cs typeface="Times New Roman"/>
              </a:rPr>
              <a:t>sign: </a:t>
            </a:r>
            <a:r>
              <a:rPr lang="en-US" sz="2200" spc="-5" dirty="0">
                <a:latin typeface="Times New Roman"/>
                <a:cs typeface="Times New Roman"/>
              </a:rPr>
              <a:t>A </a:t>
            </a:r>
            <a:r>
              <a:rPr lang="en-US" sz="2200" b="1" spc="-5" dirty="0">
                <a:latin typeface="Times New Roman"/>
                <a:cs typeface="Times New Roman"/>
              </a:rPr>
              <a:t>nondisclosure agreement</a:t>
            </a:r>
            <a:r>
              <a:rPr lang="en-US" sz="2200" spc="-5" dirty="0">
                <a:latin typeface="Times New Roman"/>
                <a:cs typeface="Times New Roman"/>
              </a:rPr>
              <a:t> binds an employee </a:t>
            </a:r>
            <a:r>
              <a:rPr lang="en-US" sz="2200" spc="-5" dirty="0" smtClean="0">
                <a:latin typeface="Times New Roman"/>
                <a:cs typeface="Times New Roman"/>
              </a:rPr>
              <a:t>or another </a:t>
            </a:r>
            <a:r>
              <a:rPr lang="en-US" sz="2200" spc="-5" dirty="0">
                <a:latin typeface="Times New Roman"/>
                <a:cs typeface="Times New Roman"/>
              </a:rPr>
              <a:t>party (such </a:t>
            </a:r>
            <a:r>
              <a:rPr lang="en-US" sz="2200" spc="-5" dirty="0" smtClean="0">
                <a:latin typeface="Times New Roman"/>
                <a:cs typeface="Times New Roman"/>
              </a:rPr>
              <a:t>as </a:t>
            </a:r>
            <a:r>
              <a:rPr lang="en-US" sz="2200" spc="-5" dirty="0">
                <a:latin typeface="Times New Roman"/>
                <a:cs typeface="Times New Roman"/>
              </a:rPr>
              <a:t>supplier) to not disclose a company’s trade </a:t>
            </a:r>
            <a:r>
              <a:rPr lang="en-US" sz="2200" spc="-5" dirty="0" smtClean="0">
                <a:latin typeface="Times New Roman"/>
                <a:cs typeface="Times New Roman"/>
              </a:rPr>
              <a:t>secrets. A </a:t>
            </a:r>
            <a:r>
              <a:rPr lang="en-US" sz="2200" b="1" spc="-5" dirty="0" err="1">
                <a:latin typeface="Times New Roman"/>
                <a:cs typeface="Times New Roman"/>
              </a:rPr>
              <a:t>noncompete</a:t>
            </a:r>
            <a:r>
              <a:rPr lang="en-US" sz="2200" b="1" spc="-5" dirty="0">
                <a:latin typeface="Times New Roman"/>
                <a:cs typeface="Times New Roman"/>
              </a:rPr>
              <a:t> agreement </a:t>
            </a:r>
            <a:r>
              <a:rPr lang="en-US" sz="2200" spc="-5" dirty="0">
                <a:latin typeface="Times New Roman"/>
                <a:cs typeface="Times New Roman"/>
              </a:rPr>
              <a:t>prevents an individual from competing against </a:t>
            </a:r>
            <a:r>
              <a:rPr lang="en-US" sz="2200" spc="-5" dirty="0" smtClean="0">
                <a:latin typeface="Times New Roman"/>
                <a:cs typeface="Times New Roman"/>
              </a:rPr>
              <a:t>a former </a:t>
            </a:r>
            <a:r>
              <a:rPr lang="en-US" sz="2200" spc="-5" dirty="0">
                <a:latin typeface="Times New Roman"/>
                <a:cs typeface="Times New Roman"/>
              </a:rPr>
              <a:t>employer for a specific period of time.</a:t>
            </a:r>
            <a:endParaRPr sz="2200" dirty="0">
              <a:latin typeface="Times New Roman"/>
              <a:cs typeface="Times New Roman"/>
            </a:endParaRPr>
          </a:p>
          <a:p>
            <a:pPr marL="1269365" lvl="2" indent="-252095" algn="just">
              <a:lnSpc>
                <a:spcPct val="100000"/>
              </a:lnSpc>
              <a:spcBef>
                <a:spcPts val="530"/>
              </a:spcBef>
              <a:buChar char="•"/>
              <a:tabLst>
                <a:tab pos="1269365" algn="l"/>
                <a:tab pos="1270000" algn="l"/>
              </a:tabLst>
            </a:pPr>
            <a:r>
              <a:rPr sz="2200" spc="-5" dirty="0">
                <a:latin typeface="Times New Roman"/>
                <a:cs typeface="Times New Roman"/>
              </a:rPr>
              <a:t>Set</a:t>
            </a:r>
            <a:r>
              <a:rPr sz="2200" spc="-35" dirty="0">
                <a:latin typeface="Times New Roman"/>
                <a:cs typeface="Times New Roman"/>
              </a:rPr>
              <a:t> </a:t>
            </a:r>
            <a:r>
              <a:rPr sz="2200" spc="-5" dirty="0">
                <a:latin typeface="Times New Roman"/>
                <a:cs typeface="Times New Roman"/>
              </a:rPr>
              <a:t>standards.</a:t>
            </a:r>
            <a:endParaRPr sz="22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Avoiding</a:t>
            </a:r>
            <a:r>
              <a:rPr spc="-20" dirty="0"/>
              <a:t> </a:t>
            </a:r>
            <a:r>
              <a:rPr spc="-5" dirty="0"/>
              <a:t>Legal</a:t>
            </a:r>
            <a:r>
              <a:rPr spc="-10" dirty="0"/>
              <a:t> </a:t>
            </a:r>
            <a:r>
              <a:rPr dirty="0"/>
              <a:t>Disputes</a:t>
            </a:r>
          </a:p>
          <a:p>
            <a:pPr algn="ctr">
              <a:lnSpc>
                <a:spcPct val="100000"/>
              </a:lnSpc>
              <a:spcBef>
                <a:spcPts val="55"/>
              </a:spcBef>
            </a:pPr>
            <a:r>
              <a:rPr sz="2200" spc="-5" dirty="0"/>
              <a:t>2</a:t>
            </a:r>
            <a:r>
              <a:rPr sz="2200" spc="-35" dirty="0"/>
              <a:t> </a:t>
            </a:r>
            <a:r>
              <a:rPr sz="2200" spc="-5" dirty="0"/>
              <a:t>of</a:t>
            </a:r>
            <a:r>
              <a:rPr sz="2200" spc="-15" dirty="0"/>
              <a:t> </a:t>
            </a:r>
            <a:r>
              <a:rPr sz="2200" spc="-5" dirty="0"/>
              <a:t>2</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419100" y="2461260"/>
            <a:ext cx="4861559" cy="3791711"/>
          </a:xfrm>
          <a:prstGeom prst="rect">
            <a:avLst/>
          </a:prstGeom>
        </p:spPr>
      </p:pic>
      <p:sp>
        <p:nvSpPr>
          <p:cNvPr id="5" name="object 5"/>
          <p:cNvSpPr txBox="1"/>
          <p:nvPr/>
        </p:nvSpPr>
        <p:spPr>
          <a:xfrm>
            <a:off x="5619944" y="2319037"/>
            <a:ext cx="4070350" cy="4048760"/>
          </a:xfrm>
          <a:prstGeom prst="rect">
            <a:avLst/>
          </a:prstGeom>
        </p:spPr>
        <p:txBody>
          <a:bodyPr vert="horz" wrap="square" lIns="0" tIns="26034" rIns="0" bIns="0" rtlCol="0">
            <a:spAutoFit/>
          </a:bodyPr>
          <a:lstStyle/>
          <a:p>
            <a:pPr marL="180340" marR="5080" indent="-167640">
              <a:lnSpc>
                <a:spcPts val="3170"/>
              </a:lnSpc>
              <a:spcBef>
                <a:spcPts val="204"/>
              </a:spcBef>
              <a:buFont typeface="Arial MT"/>
              <a:buChar char="•"/>
              <a:tabLst>
                <a:tab pos="195580" algn="l"/>
              </a:tabLst>
            </a:pPr>
            <a:r>
              <a:rPr sz="2650" spc="-5" dirty="0">
                <a:latin typeface="Times New Roman"/>
                <a:cs typeface="Times New Roman"/>
              </a:rPr>
              <a:t>Although </a:t>
            </a:r>
            <a:r>
              <a:rPr sz="2650" spc="-10" dirty="0">
                <a:latin typeface="Times New Roman"/>
                <a:cs typeface="Times New Roman"/>
              </a:rPr>
              <a:t>its tempting </a:t>
            </a:r>
            <a:r>
              <a:rPr sz="2650" spc="-5" dirty="0">
                <a:latin typeface="Times New Roman"/>
                <a:cs typeface="Times New Roman"/>
              </a:rPr>
              <a:t>to </a:t>
            </a:r>
            <a:r>
              <a:rPr sz="2650" spc="-10" dirty="0">
                <a:latin typeface="Times New Roman"/>
                <a:cs typeface="Times New Roman"/>
              </a:rPr>
              <a:t>try </a:t>
            </a:r>
            <a:r>
              <a:rPr sz="2650" spc="-5" dirty="0">
                <a:latin typeface="Times New Roman"/>
                <a:cs typeface="Times New Roman"/>
              </a:rPr>
              <a:t> to </a:t>
            </a:r>
            <a:r>
              <a:rPr sz="2650" spc="-10" dirty="0">
                <a:latin typeface="Times New Roman"/>
                <a:cs typeface="Times New Roman"/>
              </a:rPr>
              <a:t>show people </a:t>
            </a:r>
            <a:r>
              <a:rPr sz="2650" spc="-5" dirty="0">
                <a:latin typeface="Times New Roman"/>
                <a:cs typeface="Times New Roman"/>
              </a:rPr>
              <a:t>you trust </a:t>
            </a:r>
            <a:r>
              <a:rPr sz="2650" dirty="0">
                <a:latin typeface="Times New Roman"/>
                <a:cs typeface="Times New Roman"/>
              </a:rPr>
              <a:t> </a:t>
            </a:r>
            <a:r>
              <a:rPr sz="2650" spc="-10" dirty="0">
                <a:latin typeface="Times New Roman"/>
                <a:cs typeface="Times New Roman"/>
              </a:rPr>
              <a:t>them </a:t>
            </a:r>
            <a:r>
              <a:rPr sz="2650" spc="-5" dirty="0">
                <a:latin typeface="Times New Roman"/>
                <a:cs typeface="Times New Roman"/>
              </a:rPr>
              <a:t>by not insisting on </a:t>
            </a:r>
            <a:r>
              <a:rPr sz="2650" dirty="0">
                <a:latin typeface="Times New Roman"/>
                <a:cs typeface="Times New Roman"/>
              </a:rPr>
              <a:t> </a:t>
            </a:r>
            <a:r>
              <a:rPr sz="2650" spc="-10" dirty="0">
                <a:latin typeface="Times New Roman"/>
                <a:cs typeface="Times New Roman"/>
              </a:rPr>
              <a:t>written</a:t>
            </a:r>
            <a:r>
              <a:rPr sz="2650" spc="-25" dirty="0">
                <a:latin typeface="Times New Roman"/>
                <a:cs typeface="Times New Roman"/>
              </a:rPr>
              <a:t> </a:t>
            </a:r>
            <a:r>
              <a:rPr sz="2650" spc="-5" dirty="0">
                <a:latin typeface="Times New Roman"/>
                <a:cs typeface="Times New Roman"/>
              </a:rPr>
              <a:t>agreements,</a:t>
            </a:r>
            <a:r>
              <a:rPr sz="2650" spc="-40" dirty="0">
                <a:latin typeface="Times New Roman"/>
                <a:cs typeface="Times New Roman"/>
              </a:rPr>
              <a:t> </a:t>
            </a:r>
            <a:r>
              <a:rPr sz="2650" spc="-45" dirty="0">
                <a:latin typeface="Times New Roman"/>
                <a:cs typeface="Times New Roman"/>
              </a:rPr>
              <a:t>it’s</a:t>
            </a:r>
            <a:r>
              <a:rPr sz="2650" spc="-25" dirty="0">
                <a:latin typeface="Times New Roman"/>
                <a:cs typeface="Times New Roman"/>
              </a:rPr>
              <a:t> </a:t>
            </a:r>
            <a:r>
              <a:rPr sz="2650" spc="-5" dirty="0">
                <a:latin typeface="Times New Roman"/>
                <a:cs typeface="Times New Roman"/>
              </a:rPr>
              <a:t>not</a:t>
            </a:r>
            <a:r>
              <a:rPr sz="2650" spc="-35" dirty="0">
                <a:latin typeface="Times New Roman"/>
                <a:cs typeface="Times New Roman"/>
              </a:rPr>
              <a:t> </a:t>
            </a:r>
            <a:r>
              <a:rPr sz="2650" spc="-5" dirty="0">
                <a:latin typeface="Times New Roman"/>
                <a:cs typeface="Times New Roman"/>
              </a:rPr>
              <a:t>a </a:t>
            </a:r>
            <a:r>
              <a:rPr sz="2650" spc="-650" dirty="0">
                <a:latin typeface="Times New Roman"/>
                <a:cs typeface="Times New Roman"/>
              </a:rPr>
              <a:t> </a:t>
            </a:r>
            <a:r>
              <a:rPr sz="2650" spc="-5" dirty="0">
                <a:latin typeface="Times New Roman"/>
                <a:cs typeface="Times New Roman"/>
              </a:rPr>
              <a:t>good</a:t>
            </a:r>
            <a:r>
              <a:rPr sz="2650" spc="-10" dirty="0">
                <a:latin typeface="Times New Roman"/>
                <a:cs typeface="Times New Roman"/>
              </a:rPr>
              <a:t> </a:t>
            </a:r>
            <a:r>
              <a:rPr sz="2650" spc="-5" dirty="0">
                <a:latin typeface="Times New Roman"/>
                <a:cs typeface="Times New Roman"/>
              </a:rPr>
              <a:t>practice.</a:t>
            </a:r>
            <a:endParaRPr sz="2650">
              <a:latin typeface="Times New Roman"/>
              <a:cs typeface="Times New Roman"/>
            </a:endParaRPr>
          </a:p>
          <a:p>
            <a:pPr marL="213360" indent="-201295">
              <a:lnSpc>
                <a:spcPts val="3050"/>
              </a:lnSpc>
              <a:buFont typeface="Arial MT"/>
              <a:buChar char="•"/>
              <a:tabLst>
                <a:tab pos="213995" algn="l"/>
              </a:tabLst>
            </a:pPr>
            <a:r>
              <a:rPr sz="2650" spc="-10" dirty="0">
                <a:latin typeface="Times New Roman"/>
                <a:cs typeface="Times New Roman"/>
              </a:rPr>
              <a:t>One</a:t>
            </a:r>
            <a:r>
              <a:rPr sz="2650" dirty="0">
                <a:latin typeface="Times New Roman"/>
                <a:cs typeface="Times New Roman"/>
              </a:rPr>
              <a:t> </a:t>
            </a:r>
            <a:r>
              <a:rPr sz="2650" spc="-5" dirty="0">
                <a:latin typeface="Times New Roman"/>
                <a:cs typeface="Times New Roman"/>
              </a:rPr>
              <a:t>of</a:t>
            </a:r>
            <a:r>
              <a:rPr sz="2650" spc="-25" dirty="0">
                <a:latin typeface="Times New Roman"/>
                <a:cs typeface="Times New Roman"/>
              </a:rPr>
              <a:t> </a:t>
            </a:r>
            <a:r>
              <a:rPr sz="2650" spc="-5" dirty="0">
                <a:latin typeface="Times New Roman"/>
                <a:cs typeface="Times New Roman"/>
              </a:rPr>
              <a:t>the</a:t>
            </a:r>
            <a:r>
              <a:rPr sz="2650" spc="-25" dirty="0">
                <a:latin typeface="Times New Roman"/>
                <a:cs typeface="Times New Roman"/>
              </a:rPr>
              <a:t> </a:t>
            </a:r>
            <a:r>
              <a:rPr sz="2650" spc="-5" dirty="0">
                <a:latin typeface="Times New Roman"/>
                <a:cs typeface="Times New Roman"/>
              </a:rPr>
              <a:t>simplest</a:t>
            </a:r>
            <a:r>
              <a:rPr sz="2650" spc="-35" dirty="0">
                <a:latin typeface="Times New Roman"/>
                <a:cs typeface="Times New Roman"/>
              </a:rPr>
              <a:t> </a:t>
            </a:r>
            <a:r>
              <a:rPr sz="2650" spc="-15" dirty="0">
                <a:latin typeface="Times New Roman"/>
                <a:cs typeface="Times New Roman"/>
              </a:rPr>
              <a:t>ways </a:t>
            </a:r>
            <a:r>
              <a:rPr sz="2650" spc="-5" dirty="0">
                <a:latin typeface="Times New Roman"/>
                <a:cs typeface="Times New Roman"/>
              </a:rPr>
              <a:t>to</a:t>
            </a:r>
            <a:endParaRPr sz="2650">
              <a:latin typeface="Times New Roman"/>
              <a:cs typeface="Times New Roman"/>
            </a:endParaRPr>
          </a:p>
          <a:p>
            <a:pPr marL="180340" marR="43180">
              <a:lnSpc>
                <a:spcPts val="3170"/>
              </a:lnSpc>
              <a:spcBef>
                <a:spcPts val="95"/>
              </a:spcBef>
            </a:pPr>
            <a:r>
              <a:rPr sz="2650" spc="-10" dirty="0">
                <a:latin typeface="Times New Roman"/>
                <a:cs typeface="Times New Roman"/>
              </a:rPr>
              <a:t>avoid</a:t>
            </a:r>
            <a:r>
              <a:rPr sz="2650" spc="640" dirty="0">
                <a:latin typeface="Times New Roman"/>
                <a:cs typeface="Times New Roman"/>
              </a:rPr>
              <a:t> </a:t>
            </a:r>
            <a:r>
              <a:rPr sz="2650" spc="-10" dirty="0">
                <a:latin typeface="Times New Roman"/>
                <a:cs typeface="Times New Roman"/>
              </a:rPr>
              <a:t>misunderstandings </a:t>
            </a:r>
            <a:r>
              <a:rPr sz="2650" spc="-5" dirty="0">
                <a:latin typeface="Times New Roman"/>
                <a:cs typeface="Times New Roman"/>
              </a:rPr>
              <a:t> </a:t>
            </a:r>
            <a:r>
              <a:rPr sz="2650" dirty="0">
                <a:latin typeface="Times New Roman"/>
                <a:cs typeface="Times New Roman"/>
              </a:rPr>
              <a:t>and</a:t>
            </a:r>
            <a:r>
              <a:rPr sz="2650" spc="-60" dirty="0">
                <a:latin typeface="Times New Roman"/>
                <a:cs typeface="Times New Roman"/>
              </a:rPr>
              <a:t> </a:t>
            </a:r>
            <a:r>
              <a:rPr sz="2650" spc="-5" dirty="0">
                <a:latin typeface="Times New Roman"/>
                <a:cs typeface="Times New Roman"/>
              </a:rPr>
              <a:t>ultimately</a:t>
            </a:r>
            <a:r>
              <a:rPr sz="2650" spc="-55" dirty="0">
                <a:latin typeface="Times New Roman"/>
                <a:cs typeface="Times New Roman"/>
              </a:rPr>
              <a:t> </a:t>
            </a:r>
            <a:r>
              <a:rPr sz="2650" spc="-10" dirty="0">
                <a:latin typeface="Times New Roman"/>
                <a:cs typeface="Times New Roman"/>
              </a:rPr>
              <a:t>legal</a:t>
            </a:r>
            <a:r>
              <a:rPr sz="2650" spc="-50" dirty="0">
                <a:latin typeface="Times New Roman"/>
                <a:cs typeface="Times New Roman"/>
              </a:rPr>
              <a:t> </a:t>
            </a:r>
            <a:r>
              <a:rPr sz="2650" spc="-5" dirty="0">
                <a:latin typeface="Times New Roman"/>
                <a:cs typeface="Times New Roman"/>
              </a:rPr>
              <a:t>disputes </a:t>
            </a:r>
            <a:r>
              <a:rPr sz="2650" spc="-650" dirty="0">
                <a:latin typeface="Times New Roman"/>
                <a:cs typeface="Times New Roman"/>
              </a:rPr>
              <a:t> </a:t>
            </a:r>
            <a:r>
              <a:rPr sz="2650" spc="-5" dirty="0">
                <a:latin typeface="Times New Roman"/>
                <a:cs typeface="Times New Roman"/>
              </a:rPr>
              <a:t>is to </a:t>
            </a:r>
            <a:r>
              <a:rPr sz="2650" dirty="0">
                <a:latin typeface="Times New Roman"/>
                <a:cs typeface="Times New Roman"/>
              </a:rPr>
              <a:t>get </a:t>
            </a:r>
            <a:r>
              <a:rPr sz="2650" spc="-5" dirty="0">
                <a:latin typeface="Times New Roman"/>
                <a:cs typeface="Times New Roman"/>
              </a:rPr>
              <a:t>everything in </a:t>
            </a:r>
            <a:r>
              <a:rPr sz="2650" dirty="0">
                <a:latin typeface="Times New Roman"/>
                <a:cs typeface="Times New Roman"/>
              </a:rPr>
              <a:t> </a:t>
            </a:r>
            <a:r>
              <a:rPr sz="2650" spc="-5" dirty="0">
                <a:latin typeface="Times New Roman"/>
                <a:cs typeface="Times New Roman"/>
              </a:rPr>
              <a:t>writing.</a:t>
            </a:r>
            <a:endParaRPr sz="265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1449" y="412376"/>
            <a:ext cx="8353425" cy="971550"/>
          </a:xfrm>
          <a:prstGeom prst="rect">
            <a:avLst/>
          </a:prstGeom>
        </p:spPr>
        <p:txBody>
          <a:bodyPr vert="horz" wrap="square" lIns="0" tIns="13970" rIns="0" bIns="0" rtlCol="0">
            <a:spAutoFit/>
          </a:bodyPr>
          <a:lstStyle/>
          <a:p>
            <a:pPr algn="ctr">
              <a:lnSpc>
                <a:spcPct val="100000"/>
              </a:lnSpc>
              <a:spcBef>
                <a:spcPts val="110"/>
              </a:spcBef>
            </a:pPr>
            <a:r>
              <a:rPr dirty="0"/>
              <a:t>Obtaining Business</a:t>
            </a:r>
            <a:r>
              <a:rPr spc="-35" dirty="0"/>
              <a:t> </a:t>
            </a:r>
            <a:r>
              <a:rPr dirty="0"/>
              <a:t>Licenses</a:t>
            </a:r>
            <a:r>
              <a:rPr spc="45" dirty="0"/>
              <a:t> </a:t>
            </a:r>
            <a:r>
              <a:rPr spc="-5" dirty="0"/>
              <a:t>and</a:t>
            </a:r>
            <a:r>
              <a:rPr spc="5" dirty="0"/>
              <a:t> </a:t>
            </a:r>
            <a:r>
              <a:rPr dirty="0"/>
              <a:t>Permits</a:t>
            </a:r>
          </a:p>
          <a:p>
            <a:pPr algn="ctr">
              <a:lnSpc>
                <a:spcPct val="100000"/>
              </a:lnSpc>
              <a:spcBef>
                <a:spcPts val="55"/>
              </a:spcBef>
            </a:pPr>
            <a:r>
              <a:rPr sz="2200" spc="-5" dirty="0"/>
              <a:t>1</a:t>
            </a:r>
            <a:r>
              <a:rPr sz="2200" spc="-35" dirty="0"/>
              <a:t> </a:t>
            </a:r>
            <a:r>
              <a:rPr sz="2200" spc="-5" dirty="0"/>
              <a:t>of</a:t>
            </a:r>
            <a:r>
              <a:rPr sz="2200" spc="-15" dirty="0"/>
              <a:t> </a:t>
            </a:r>
            <a:r>
              <a:rPr sz="2200" spc="-5" dirty="0"/>
              <a:t>2</a:t>
            </a:r>
            <a:endParaRPr sz="2200"/>
          </a:p>
        </p:txBody>
      </p:sp>
      <p:sp>
        <p:nvSpPr>
          <p:cNvPr id="3" name="object 3"/>
          <p:cNvSpPr txBox="1"/>
          <p:nvPr/>
        </p:nvSpPr>
        <p:spPr>
          <a:xfrm>
            <a:off x="152400" y="1544268"/>
            <a:ext cx="9677400" cy="5425203"/>
          </a:xfrm>
          <a:prstGeom prst="rect">
            <a:avLst/>
          </a:prstGeom>
        </p:spPr>
        <p:txBody>
          <a:bodyPr vert="horz" wrap="square" lIns="0" tIns="112395" rIns="0" bIns="0" rtlCol="0">
            <a:spAutoFit/>
          </a:bodyPr>
          <a:lstStyle/>
          <a:p>
            <a:pPr marL="12065" algn="just">
              <a:lnSpc>
                <a:spcPct val="100000"/>
              </a:lnSpc>
              <a:spcBef>
                <a:spcPts val="885"/>
              </a:spcBef>
              <a:tabLst>
                <a:tab pos="388620" algn="l"/>
                <a:tab pos="389255" algn="l"/>
              </a:tabLst>
            </a:pPr>
            <a:r>
              <a:rPr sz="2600" spc="-10" dirty="0" smtClean="0">
                <a:latin typeface="Times New Roman"/>
                <a:cs typeface="Times New Roman"/>
              </a:rPr>
              <a:t>In </a:t>
            </a:r>
            <a:r>
              <a:rPr sz="2600" spc="-5" dirty="0">
                <a:latin typeface="Times New Roman"/>
                <a:cs typeface="Times New Roman"/>
              </a:rPr>
              <a:t>most</a:t>
            </a:r>
            <a:r>
              <a:rPr sz="2600" spc="-25" dirty="0">
                <a:latin typeface="Times New Roman"/>
                <a:cs typeface="Times New Roman"/>
              </a:rPr>
              <a:t> </a:t>
            </a:r>
            <a:r>
              <a:rPr sz="2600" spc="-5" dirty="0">
                <a:latin typeface="Times New Roman"/>
                <a:cs typeface="Times New Roman"/>
              </a:rPr>
              <a:t>communities,</a:t>
            </a:r>
            <a:r>
              <a:rPr sz="2600" spc="-30" dirty="0">
                <a:latin typeface="Times New Roman"/>
                <a:cs typeface="Times New Roman"/>
              </a:rPr>
              <a:t> </a:t>
            </a:r>
            <a:r>
              <a:rPr sz="2600" spc="-5" dirty="0">
                <a:latin typeface="Times New Roman"/>
                <a:cs typeface="Times New Roman"/>
              </a:rPr>
              <a:t>a</a:t>
            </a:r>
            <a:r>
              <a:rPr sz="2600" spc="-20" dirty="0">
                <a:latin typeface="Times New Roman"/>
                <a:cs typeface="Times New Roman"/>
              </a:rPr>
              <a:t> </a:t>
            </a:r>
            <a:r>
              <a:rPr sz="2600" spc="-5" dirty="0">
                <a:latin typeface="Times New Roman"/>
                <a:cs typeface="Times New Roman"/>
              </a:rPr>
              <a:t>business</a:t>
            </a:r>
            <a:r>
              <a:rPr sz="2600" spc="-30" dirty="0">
                <a:latin typeface="Times New Roman"/>
                <a:cs typeface="Times New Roman"/>
              </a:rPr>
              <a:t> </a:t>
            </a:r>
            <a:r>
              <a:rPr sz="2600" spc="-5" dirty="0">
                <a:latin typeface="Times New Roman"/>
                <a:cs typeface="Times New Roman"/>
              </a:rPr>
              <a:t>needs a</a:t>
            </a:r>
            <a:r>
              <a:rPr sz="2600" spc="-20" dirty="0">
                <a:latin typeface="Times New Roman"/>
                <a:cs typeface="Times New Roman"/>
              </a:rPr>
              <a:t> </a:t>
            </a:r>
            <a:r>
              <a:rPr sz="2600" spc="-5" dirty="0">
                <a:latin typeface="Times New Roman"/>
                <a:cs typeface="Times New Roman"/>
              </a:rPr>
              <a:t>license</a:t>
            </a:r>
            <a:r>
              <a:rPr sz="2600" spc="-40" dirty="0">
                <a:latin typeface="Times New Roman"/>
                <a:cs typeface="Times New Roman"/>
              </a:rPr>
              <a:t> </a:t>
            </a:r>
            <a:r>
              <a:rPr sz="2600" spc="-5" dirty="0">
                <a:latin typeface="Times New Roman"/>
                <a:cs typeface="Times New Roman"/>
              </a:rPr>
              <a:t>to </a:t>
            </a:r>
            <a:r>
              <a:rPr sz="2600" spc="-10" dirty="0">
                <a:latin typeface="Times New Roman"/>
                <a:cs typeface="Times New Roman"/>
              </a:rPr>
              <a:t>operate.</a:t>
            </a:r>
            <a:endParaRPr sz="2600" dirty="0">
              <a:latin typeface="Times New Roman"/>
              <a:cs typeface="Times New Roman"/>
            </a:endParaRPr>
          </a:p>
          <a:p>
            <a:pPr marL="829310" marR="673100" lvl="1" indent="-314325" algn="just">
              <a:lnSpc>
                <a:spcPts val="3170"/>
              </a:lnSpc>
              <a:spcBef>
                <a:spcPts val="735"/>
              </a:spcBef>
              <a:buChar char="–"/>
              <a:tabLst>
                <a:tab pos="830580" algn="l"/>
                <a:tab pos="831215" algn="l"/>
              </a:tabLst>
            </a:pPr>
            <a:r>
              <a:rPr sz="2200" spc="-10" dirty="0">
                <a:latin typeface="Times New Roman"/>
                <a:cs typeface="Times New Roman"/>
              </a:rPr>
              <a:t>If </a:t>
            </a:r>
            <a:r>
              <a:rPr sz="2200" spc="-5" dirty="0">
                <a:latin typeface="Times New Roman"/>
                <a:cs typeface="Times New Roman"/>
              </a:rPr>
              <a:t>the business will be </a:t>
            </a:r>
            <a:r>
              <a:rPr sz="2200" spc="-10" dirty="0">
                <a:latin typeface="Times New Roman"/>
                <a:cs typeface="Times New Roman"/>
              </a:rPr>
              <a:t>run </a:t>
            </a:r>
            <a:r>
              <a:rPr sz="2200" spc="-5" dirty="0">
                <a:latin typeface="Times New Roman"/>
                <a:cs typeface="Times New Roman"/>
              </a:rPr>
              <a:t>out of the </a:t>
            </a:r>
            <a:r>
              <a:rPr sz="2200" spc="-10" dirty="0">
                <a:latin typeface="Times New Roman"/>
                <a:cs typeface="Times New Roman"/>
              </a:rPr>
              <a:t>founder’s home, </a:t>
            </a:r>
            <a:r>
              <a:rPr sz="2200" spc="-5" dirty="0">
                <a:latin typeface="Times New Roman"/>
                <a:cs typeface="Times New Roman"/>
              </a:rPr>
              <a:t>a </a:t>
            </a:r>
            <a:r>
              <a:rPr sz="2200" spc="-650" dirty="0">
                <a:latin typeface="Times New Roman"/>
                <a:cs typeface="Times New Roman"/>
              </a:rPr>
              <a:t> </a:t>
            </a:r>
            <a:r>
              <a:rPr sz="2200" spc="-5" dirty="0">
                <a:latin typeface="Times New Roman"/>
                <a:cs typeface="Times New Roman"/>
              </a:rPr>
              <a:t>separate home occupation </a:t>
            </a:r>
            <a:r>
              <a:rPr sz="2200" spc="-10" dirty="0">
                <a:latin typeface="Times New Roman"/>
                <a:cs typeface="Times New Roman"/>
              </a:rPr>
              <a:t>business </a:t>
            </a:r>
            <a:r>
              <a:rPr sz="2200" spc="-5" dirty="0">
                <a:latin typeface="Times New Roman"/>
                <a:cs typeface="Times New Roman"/>
              </a:rPr>
              <a:t>license is </a:t>
            </a:r>
            <a:r>
              <a:rPr sz="2200" spc="-10" dirty="0">
                <a:latin typeface="Times New Roman"/>
                <a:cs typeface="Times New Roman"/>
              </a:rPr>
              <a:t>often </a:t>
            </a:r>
            <a:r>
              <a:rPr sz="2200" spc="-5" dirty="0">
                <a:latin typeface="Times New Roman"/>
                <a:cs typeface="Times New Roman"/>
              </a:rPr>
              <a:t> </a:t>
            </a:r>
            <a:r>
              <a:rPr sz="2200" spc="-10" dirty="0">
                <a:latin typeface="Times New Roman"/>
                <a:cs typeface="Times New Roman"/>
              </a:rPr>
              <a:t>required.</a:t>
            </a:r>
            <a:endParaRPr sz="2200" dirty="0">
              <a:latin typeface="Times New Roman"/>
              <a:cs typeface="Times New Roman"/>
            </a:endParaRPr>
          </a:p>
          <a:p>
            <a:pPr marL="829310" marR="570865" lvl="1" indent="-314325" algn="just">
              <a:lnSpc>
                <a:spcPts val="3170"/>
              </a:lnSpc>
              <a:spcBef>
                <a:spcPts val="630"/>
              </a:spcBef>
              <a:buChar char="–"/>
              <a:tabLst>
                <a:tab pos="831215" algn="l"/>
              </a:tabLst>
            </a:pPr>
            <a:r>
              <a:rPr sz="2200" spc="-10" dirty="0">
                <a:latin typeface="Times New Roman"/>
                <a:cs typeface="Times New Roman"/>
              </a:rPr>
              <a:t>If </a:t>
            </a:r>
            <a:r>
              <a:rPr sz="2200" spc="-5" dirty="0">
                <a:latin typeface="Times New Roman"/>
                <a:cs typeface="Times New Roman"/>
              </a:rPr>
              <a:t>a </a:t>
            </a:r>
            <a:r>
              <a:rPr sz="2200" spc="-10" dirty="0">
                <a:latin typeface="Times New Roman"/>
                <a:cs typeface="Times New Roman"/>
              </a:rPr>
              <a:t>business has </a:t>
            </a:r>
            <a:r>
              <a:rPr sz="2200" spc="-5" dirty="0">
                <a:latin typeface="Times New Roman"/>
                <a:cs typeface="Times New Roman"/>
              </a:rPr>
              <a:t>employees, or is a corporation, </a:t>
            </a:r>
            <a:r>
              <a:rPr sz="2200" spc="-10" dirty="0">
                <a:latin typeface="Times New Roman"/>
                <a:cs typeface="Times New Roman"/>
              </a:rPr>
              <a:t>limited </a:t>
            </a:r>
            <a:r>
              <a:rPr sz="2200" spc="-650" dirty="0">
                <a:latin typeface="Times New Roman"/>
                <a:cs typeface="Times New Roman"/>
              </a:rPr>
              <a:t> </a:t>
            </a:r>
            <a:r>
              <a:rPr sz="2200" spc="-10" dirty="0">
                <a:latin typeface="Times New Roman"/>
                <a:cs typeface="Times New Roman"/>
              </a:rPr>
              <a:t>liability </a:t>
            </a:r>
            <a:r>
              <a:rPr sz="2200" spc="-5" dirty="0">
                <a:latin typeface="Times New Roman"/>
                <a:cs typeface="Times New Roman"/>
              </a:rPr>
              <a:t>company, or </a:t>
            </a:r>
            <a:r>
              <a:rPr sz="2200" spc="-10" dirty="0">
                <a:latin typeface="Times New Roman"/>
                <a:cs typeface="Times New Roman"/>
              </a:rPr>
              <a:t>limited partnership, </a:t>
            </a:r>
            <a:r>
              <a:rPr sz="2200" spc="-5" dirty="0">
                <a:latin typeface="Times New Roman"/>
                <a:cs typeface="Times New Roman"/>
              </a:rPr>
              <a:t>it will usually </a:t>
            </a:r>
            <a:r>
              <a:rPr sz="2200" spc="-5" dirty="0" smtClean="0">
                <a:latin typeface="Times New Roman"/>
                <a:cs typeface="Times New Roman"/>
              </a:rPr>
              <a:t>need </a:t>
            </a:r>
            <a:r>
              <a:rPr sz="2200" spc="-5" dirty="0">
                <a:latin typeface="Times New Roman"/>
                <a:cs typeface="Times New Roman"/>
              </a:rPr>
              <a:t>a</a:t>
            </a:r>
            <a:r>
              <a:rPr sz="2200" spc="-15" dirty="0">
                <a:latin typeface="Times New Roman"/>
                <a:cs typeface="Times New Roman"/>
              </a:rPr>
              <a:t> </a:t>
            </a:r>
            <a:r>
              <a:rPr sz="2200" spc="-5" dirty="0">
                <a:latin typeface="Times New Roman"/>
                <a:cs typeface="Times New Roman"/>
              </a:rPr>
              <a:t>state</a:t>
            </a:r>
            <a:r>
              <a:rPr sz="2200" spc="-40" dirty="0">
                <a:latin typeface="Times New Roman"/>
                <a:cs typeface="Times New Roman"/>
              </a:rPr>
              <a:t> </a:t>
            </a:r>
            <a:r>
              <a:rPr sz="2200" spc="-5" dirty="0">
                <a:latin typeface="Times New Roman"/>
                <a:cs typeface="Times New Roman"/>
              </a:rPr>
              <a:t>business </a:t>
            </a:r>
            <a:r>
              <a:rPr sz="2200" spc="-10" dirty="0">
                <a:latin typeface="Times New Roman"/>
                <a:cs typeface="Times New Roman"/>
              </a:rPr>
              <a:t>license</a:t>
            </a:r>
            <a:r>
              <a:rPr sz="2200" spc="-15" dirty="0">
                <a:latin typeface="Times New Roman"/>
                <a:cs typeface="Times New Roman"/>
              </a:rPr>
              <a:t> </a:t>
            </a:r>
            <a:r>
              <a:rPr sz="2200" spc="-5" dirty="0">
                <a:latin typeface="Times New Roman"/>
                <a:cs typeface="Times New Roman"/>
              </a:rPr>
              <a:t>in </a:t>
            </a:r>
            <a:r>
              <a:rPr sz="2200" spc="-10" dirty="0">
                <a:latin typeface="Times New Roman"/>
                <a:cs typeface="Times New Roman"/>
              </a:rPr>
              <a:t>addition</a:t>
            </a:r>
            <a:r>
              <a:rPr sz="2200" spc="-25" dirty="0">
                <a:latin typeface="Times New Roman"/>
                <a:cs typeface="Times New Roman"/>
              </a:rPr>
              <a:t> </a:t>
            </a:r>
            <a:r>
              <a:rPr sz="2200" spc="-5" dirty="0">
                <a:latin typeface="Times New Roman"/>
                <a:cs typeface="Times New Roman"/>
              </a:rPr>
              <a:t>to </a:t>
            </a:r>
            <a:r>
              <a:rPr sz="2200" dirty="0">
                <a:latin typeface="Times New Roman"/>
                <a:cs typeface="Times New Roman"/>
              </a:rPr>
              <a:t>its</a:t>
            </a:r>
            <a:r>
              <a:rPr sz="2200" spc="-30" dirty="0">
                <a:latin typeface="Times New Roman"/>
                <a:cs typeface="Times New Roman"/>
              </a:rPr>
              <a:t> </a:t>
            </a:r>
            <a:r>
              <a:rPr sz="2200" spc="-5" dirty="0">
                <a:latin typeface="Times New Roman"/>
                <a:cs typeface="Times New Roman"/>
              </a:rPr>
              <a:t>local</a:t>
            </a:r>
            <a:r>
              <a:rPr sz="2200" spc="-25" dirty="0">
                <a:latin typeface="Times New Roman"/>
                <a:cs typeface="Times New Roman"/>
              </a:rPr>
              <a:t> </a:t>
            </a:r>
            <a:r>
              <a:rPr sz="2200" spc="-5" dirty="0">
                <a:latin typeface="Times New Roman"/>
                <a:cs typeface="Times New Roman"/>
              </a:rPr>
              <a:t>one.</a:t>
            </a:r>
            <a:endParaRPr sz="2200" dirty="0">
              <a:latin typeface="Times New Roman"/>
              <a:cs typeface="Times New Roman"/>
            </a:endParaRPr>
          </a:p>
          <a:p>
            <a:pPr marL="829310" marR="5080" lvl="1" indent="-314325" algn="just">
              <a:lnSpc>
                <a:spcPts val="3170"/>
              </a:lnSpc>
              <a:spcBef>
                <a:spcPts val="620"/>
              </a:spcBef>
              <a:buChar char="–"/>
              <a:tabLst>
                <a:tab pos="830580" algn="l"/>
                <a:tab pos="831215" algn="l"/>
              </a:tabLst>
            </a:pPr>
            <a:r>
              <a:rPr sz="2200" spc="-10" dirty="0">
                <a:latin typeface="Times New Roman"/>
                <a:cs typeface="Times New Roman"/>
              </a:rPr>
              <a:t>A</a:t>
            </a:r>
            <a:r>
              <a:rPr sz="2200" spc="-5" dirty="0">
                <a:latin typeface="Times New Roman"/>
                <a:cs typeface="Times New Roman"/>
              </a:rPr>
              <a:t> </a:t>
            </a:r>
            <a:r>
              <a:rPr sz="2200" spc="-10" dirty="0">
                <a:latin typeface="Times New Roman"/>
                <a:cs typeface="Times New Roman"/>
              </a:rPr>
              <a:t>narrow</a:t>
            </a:r>
            <a:r>
              <a:rPr sz="2200" spc="25" dirty="0">
                <a:latin typeface="Times New Roman"/>
                <a:cs typeface="Times New Roman"/>
              </a:rPr>
              <a:t> </a:t>
            </a:r>
            <a:r>
              <a:rPr sz="2200" spc="-10" dirty="0">
                <a:latin typeface="Times New Roman"/>
                <a:cs typeface="Times New Roman"/>
              </a:rPr>
              <a:t>group</a:t>
            </a:r>
            <a:r>
              <a:rPr sz="2200" dirty="0">
                <a:latin typeface="Times New Roman"/>
                <a:cs typeface="Times New Roman"/>
              </a:rPr>
              <a:t> </a:t>
            </a:r>
            <a:r>
              <a:rPr sz="2200" spc="-5" dirty="0">
                <a:latin typeface="Times New Roman"/>
                <a:cs typeface="Times New Roman"/>
              </a:rPr>
              <a:t>of </a:t>
            </a:r>
            <a:r>
              <a:rPr lang="en-US" sz="2200" spc="-10" dirty="0" smtClean="0">
                <a:latin typeface="Times New Roman"/>
                <a:cs typeface="Times New Roman"/>
              </a:rPr>
              <a:t>businesses</a:t>
            </a:r>
            <a:r>
              <a:rPr sz="2200" spc="-25" dirty="0" smtClean="0">
                <a:latin typeface="Times New Roman"/>
                <a:cs typeface="Times New Roman"/>
              </a:rPr>
              <a:t> </a:t>
            </a:r>
            <a:r>
              <a:rPr sz="2200" spc="-5" dirty="0">
                <a:latin typeface="Times New Roman"/>
                <a:cs typeface="Times New Roman"/>
              </a:rPr>
              <a:t>are</a:t>
            </a:r>
            <a:r>
              <a:rPr sz="2200" spc="-10" dirty="0">
                <a:latin typeface="Times New Roman"/>
                <a:cs typeface="Times New Roman"/>
              </a:rPr>
              <a:t> required</a:t>
            </a:r>
            <a:r>
              <a:rPr sz="2200" spc="5" dirty="0">
                <a:latin typeface="Times New Roman"/>
                <a:cs typeface="Times New Roman"/>
              </a:rPr>
              <a:t> </a:t>
            </a:r>
            <a:r>
              <a:rPr sz="2200" spc="-20" dirty="0">
                <a:latin typeface="Times New Roman"/>
                <a:cs typeface="Times New Roman"/>
              </a:rPr>
              <a:t>to</a:t>
            </a:r>
            <a:r>
              <a:rPr sz="2200" dirty="0">
                <a:latin typeface="Times New Roman"/>
                <a:cs typeface="Times New Roman"/>
              </a:rPr>
              <a:t> </a:t>
            </a:r>
            <a:r>
              <a:rPr sz="2200" spc="-5" dirty="0">
                <a:latin typeface="Times New Roman"/>
                <a:cs typeface="Times New Roman"/>
              </a:rPr>
              <a:t>have a</a:t>
            </a:r>
            <a:r>
              <a:rPr sz="2200" spc="-10" dirty="0">
                <a:latin typeface="Times New Roman"/>
                <a:cs typeface="Times New Roman"/>
              </a:rPr>
              <a:t> federal </a:t>
            </a:r>
            <a:r>
              <a:rPr sz="2200" spc="-645" dirty="0">
                <a:latin typeface="Times New Roman"/>
                <a:cs typeface="Times New Roman"/>
              </a:rPr>
              <a:t> </a:t>
            </a:r>
            <a:r>
              <a:rPr sz="2200" spc="-10" dirty="0">
                <a:latin typeface="Times New Roman"/>
                <a:cs typeface="Times New Roman"/>
              </a:rPr>
              <a:t>business </a:t>
            </a:r>
            <a:r>
              <a:rPr sz="2200" spc="-5" dirty="0">
                <a:latin typeface="Times New Roman"/>
                <a:cs typeface="Times New Roman"/>
              </a:rPr>
              <a:t>license, including investment advising, </a:t>
            </a:r>
            <a:r>
              <a:rPr sz="2200" spc="-10" dirty="0">
                <a:latin typeface="Times New Roman"/>
                <a:cs typeface="Times New Roman"/>
              </a:rPr>
              <a:t>drug </a:t>
            </a:r>
            <a:r>
              <a:rPr sz="2200" spc="-5" dirty="0">
                <a:latin typeface="Times New Roman"/>
                <a:cs typeface="Times New Roman"/>
              </a:rPr>
              <a:t> </a:t>
            </a:r>
            <a:r>
              <a:rPr sz="2200" spc="-10" dirty="0">
                <a:latin typeface="Times New Roman"/>
                <a:cs typeface="Times New Roman"/>
              </a:rPr>
              <a:t>manufacturing,</a:t>
            </a:r>
            <a:r>
              <a:rPr sz="2200" spc="-30" dirty="0">
                <a:latin typeface="Times New Roman"/>
                <a:cs typeface="Times New Roman"/>
              </a:rPr>
              <a:t> </a:t>
            </a:r>
            <a:r>
              <a:rPr sz="2200" dirty="0">
                <a:latin typeface="Times New Roman"/>
                <a:cs typeface="Times New Roman"/>
              </a:rPr>
              <a:t>and</a:t>
            </a:r>
            <a:r>
              <a:rPr sz="2200" spc="-30" dirty="0">
                <a:latin typeface="Times New Roman"/>
                <a:cs typeface="Times New Roman"/>
              </a:rPr>
              <a:t> </a:t>
            </a:r>
            <a:r>
              <a:rPr sz="2200" spc="-5" dirty="0">
                <a:latin typeface="Times New Roman"/>
                <a:cs typeface="Times New Roman"/>
              </a:rPr>
              <a:t>interstate</a:t>
            </a:r>
            <a:r>
              <a:rPr sz="2200" spc="-40" dirty="0">
                <a:latin typeface="Times New Roman"/>
                <a:cs typeface="Times New Roman"/>
              </a:rPr>
              <a:t> </a:t>
            </a:r>
            <a:r>
              <a:rPr sz="2200" spc="-10" dirty="0">
                <a:latin typeface="Times New Roman"/>
                <a:cs typeface="Times New Roman"/>
              </a:rPr>
              <a:t>trucking</a:t>
            </a:r>
            <a:r>
              <a:rPr sz="2200" spc="-10" dirty="0" smtClean="0">
                <a:latin typeface="Times New Roman"/>
                <a:cs typeface="Times New Roman"/>
              </a:rPr>
              <a:t>.</a:t>
            </a:r>
            <a:endParaRPr lang="en-US" sz="2200" spc="-10" dirty="0" smtClean="0">
              <a:latin typeface="Times New Roman"/>
              <a:cs typeface="Times New Roman"/>
            </a:endParaRPr>
          </a:p>
          <a:p>
            <a:pPr marL="829310" marR="5080" lvl="1" indent="-314325" algn="just">
              <a:lnSpc>
                <a:spcPts val="3170"/>
              </a:lnSpc>
              <a:spcBef>
                <a:spcPts val="620"/>
              </a:spcBef>
              <a:buChar char="–"/>
              <a:tabLst>
                <a:tab pos="830580" algn="l"/>
                <a:tab pos="831215" algn="l"/>
              </a:tabLst>
            </a:pPr>
            <a:r>
              <a:rPr lang="en-US" sz="2400" dirty="0">
                <a:latin typeface="Times New Roman"/>
                <a:cs typeface="Times New Roman"/>
              </a:rPr>
              <a:t>It’s important to check to see which licenses </a:t>
            </a:r>
            <a:r>
              <a:rPr lang="en-US" sz="2400" dirty="0" smtClean="0">
                <a:latin typeface="Times New Roman"/>
                <a:cs typeface="Times New Roman"/>
              </a:rPr>
              <a:t>your business </a:t>
            </a:r>
            <a:r>
              <a:rPr lang="en-US" sz="2400" dirty="0">
                <a:latin typeface="Times New Roman"/>
                <a:cs typeface="Times New Roman"/>
              </a:rPr>
              <a:t>needs</a:t>
            </a:r>
            <a:r>
              <a:rPr lang="en-US" sz="2400" dirty="0" smtClean="0">
                <a:latin typeface="Times New Roman"/>
                <a:cs typeface="Times New Roman"/>
              </a:rPr>
              <a:t>.</a:t>
            </a:r>
          </a:p>
          <a:p>
            <a:pPr marL="829310" marR="5080" lvl="1" indent="-314325" algn="just">
              <a:lnSpc>
                <a:spcPts val="3170"/>
              </a:lnSpc>
              <a:spcBef>
                <a:spcPts val="620"/>
              </a:spcBef>
              <a:buChar char="–"/>
              <a:tabLst>
                <a:tab pos="830580" algn="l"/>
                <a:tab pos="831215" algn="l"/>
              </a:tabLst>
            </a:pPr>
            <a:r>
              <a:rPr lang="en-US" sz="2400" dirty="0">
                <a:latin typeface="Times New Roman"/>
                <a:cs typeface="Times New Roman"/>
              </a:rPr>
              <a:t>Nearly all businesses are required to obtain a federal employer identification number (EIN), also known as a tax </a:t>
            </a:r>
            <a:r>
              <a:rPr lang="en-US" sz="2400" dirty="0" smtClean="0">
                <a:latin typeface="Times New Roman"/>
                <a:cs typeface="Times New Roman"/>
              </a:rPr>
              <a:t>identification number</a:t>
            </a:r>
            <a:r>
              <a:rPr lang="en-US" sz="2400" dirty="0">
                <a:latin typeface="Times New Roman"/>
                <a:cs typeface="Times New Roman"/>
              </a:rPr>
              <a:t>, which is used </a:t>
            </a:r>
            <a:r>
              <a:rPr lang="en-US" sz="2400" dirty="0" smtClean="0">
                <a:latin typeface="Times New Roman"/>
                <a:cs typeface="Times New Roman"/>
              </a:rPr>
              <a:t>in filing </a:t>
            </a:r>
            <a:r>
              <a:rPr lang="en-US" sz="2400" dirty="0">
                <a:latin typeface="Times New Roman"/>
                <a:cs typeface="Times New Roman"/>
              </a:rPr>
              <a:t>various business tax returns.</a:t>
            </a:r>
            <a:endParaRPr sz="24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1449" y="412376"/>
            <a:ext cx="8353425" cy="971550"/>
          </a:xfrm>
          <a:prstGeom prst="rect">
            <a:avLst/>
          </a:prstGeom>
        </p:spPr>
        <p:txBody>
          <a:bodyPr vert="horz" wrap="square" lIns="0" tIns="13970" rIns="0" bIns="0" rtlCol="0">
            <a:spAutoFit/>
          </a:bodyPr>
          <a:lstStyle/>
          <a:p>
            <a:pPr algn="ctr">
              <a:lnSpc>
                <a:spcPct val="100000"/>
              </a:lnSpc>
              <a:spcBef>
                <a:spcPts val="110"/>
              </a:spcBef>
            </a:pPr>
            <a:r>
              <a:rPr dirty="0"/>
              <a:t>Obtaining Business</a:t>
            </a:r>
            <a:r>
              <a:rPr spc="-35" dirty="0"/>
              <a:t> </a:t>
            </a:r>
            <a:r>
              <a:rPr dirty="0"/>
              <a:t>Licenses</a:t>
            </a:r>
            <a:r>
              <a:rPr spc="45" dirty="0"/>
              <a:t> </a:t>
            </a:r>
            <a:r>
              <a:rPr spc="-5" dirty="0"/>
              <a:t>and</a:t>
            </a:r>
            <a:r>
              <a:rPr spc="5" dirty="0"/>
              <a:t> </a:t>
            </a:r>
            <a:r>
              <a:rPr dirty="0"/>
              <a:t>Permits</a:t>
            </a:r>
          </a:p>
          <a:p>
            <a:pPr algn="ctr">
              <a:lnSpc>
                <a:spcPct val="100000"/>
              </a:lnSpc>
              <a:spcBef>
                <a:spcPts val="55"/>
              </a:spcBef>
            </a:pPr>
            <a:r>
              <a:rPr sz="2200" spc="-5" dirty="0"/>
              <a:t>2</a:t>
            </a:r>
            <a:r>
              <a:rPr sz="2200" spc="-35" dirty="0"/>
              <a:t> </a:t>
            </a:r>
            <a:r>
              <a:rPr sz="2200" spc="-5" dirty="0"/>
              <a:t>of</a:t>
            </a:r>
            <a:r>
              <a:rPr sz="2200" spc="-15" dirty="0"/>
              <a:t> </a:t>
            </a:r>
            <a:r>
              <a:rPr sz="2200" spc="-5" dirty="0"/>
              <a:t>2</a:t>
            </a:r>
            <a:endParaRPr sz="2200"/>
          </a:p>
        </p:txBody>
      </p:sp>
      <p:sp>
        <p:nvSpPr>
          <p:cNvPr id="3" name="object 3"/>
          <p:cNvSpPr txBox="1"/>
          <p:nvPr/>
        </p:nvSpPr>
        <p:spPr>
          <a:xfrm>
            <a:off x="457200" y="1803066"/>
            <a:ext cx="9144000" cy="5758628"/>
          </a:xfrm>
          <a:prstGeom prst="rect">
            <a:avLst/>
          </a:prstGeom>
        </p:spPr>
        <p:txBody>
          <a:bodyPr vert="horz" wrap="square" lIns="0" tIns="112395" rIns="0" bIns="0" rtlCol="0">
            <a:spAutoFit/>
          </a:bodyPr>
          <a:lstStyle/>
          <a:p>
            <a:pPr marL="388620" indent="-376555" algn="just">
              <a:lnSpc>
                <a:spcPct val="100000"/>
              </a:lnSpc>
              <a:spcBef>
                <a:spcPts val="885"/>
              </a:spcBef>
              <a:buChar char="•"/>
              <a:tabLst>
                <a:tab pos="388620" algn="l"/>
                <a:tab pos="389255" algn="l"/>
              </a:tabLst>
            </a:pPr>
            <a:r>
              <a:rPr sz="2650" spc="10" dirty="0">
                <a:latin typeface="Times New Roman"/>
                <a:cs typeface="Times New Roman"/>
              </a:rPr>
              <a:t>Business</a:t>
            </a:r>
            <a:r>
              <a:rPr sz="2650" spc="-50" dirty="0">
                <a:latin typeface="Times New Roman"/>
                <a:cs typeface="Times New Roman"/>
              </a:rPr>
              <a:t> </a:t>
            </a:r>
            <a:r>
              <a:rPr sz="2650" spc="10" dirty="0">
                <a:latin typeface="Times New Roman"/>
                <a:cs typeface="Times New Roman"/>
              </a:rPr>
              <a:t>Permits</a:t>
            </a:r>
            <a:endParaRPr sz="2650" dirty="0">
              <a:latin typeface="Times New Roman"/>
              <a:cs typeface="Times New Roman"/>
            </a:endParaRPr>
          </a:p>
          <a:p>
            <a:pPr marL="829310" marR="862965" lvl="1" indent="-314325" algn="just">
              <a:lnSpc>
                <a:spcPts val="3170"/>
              </a:lnSpc>
              <a:spcBef>
                <a:spcPts val="750"/>
              </a:spcBef>
              <a:buChar char="–"/>
              <a:tabLst>
                <a:tab pos="830580" algn="l"/>
                <a:tab pos="831215" algn="l"/>
              </a:tabLst>
            </a:pPr>
            <a:r>
              <a:rPr sz="2600" spc="-10" dirty="0">
                <a:latin typeface="Times New Roman"/>
                <a:cs typeface="Times New Roman"/>
              </a:rPr>
              <a:t>Along</a:t>
            </a:r>
            <a:r>
              <a:rPr sz="2600" spc="-15" dirty="0">
                <a:latin typeface="Times New Roman"/>
                <a:cs typeface="Times New Roman"/>
              </a:rPr>
              <a:t> with</a:t>
            </a:r>
            <a:r>
              <a:rPr sz="2600" spc="-10" dirty="0">
                <a:latin typeface="Times New Roman"/>
                <a:cs typeface="Times New Roman"/>
              </a:rPr>
              <a:t> </a:t>
            </a:r>
            <a:r>
              <a:rPr sz="2600" spc="-5" dirty="0">
                <a:latin typeface="Times New Roman"/>
                <a:cs typeface="Times New Roman"/>
              </a:rPr>
              <a:t>obtaining</a:t>
            </a:r>
            <a:r>
              <a:rPr sz="2600" spc="-40" dirty="0">
                <a:latin typeface="Times New Roman"/>
                <a:cs typeface="Times New Roman"/>
              </a:rPr>
              <a:t> </a:t>
            </a:r>
            <a:r>
              <a:rPr sz="2600" spc="-5" dirty="0">
                <a:latin typeface="Times New Roman"/>
                <a:cs typeface="Times New Roman"/>
              </a:rPr>
              <a:t>the</a:t>
            </a:r>
            <a:r>
              <a:rPr sz="2600" spc="-20" dirty="0">
                <a:latin typeface="Times New Roman"/>
                <a:cs typeface="Times New Roman"/>
              </a:rPr>
              <a:t> </a:t>
            </a:r>
            <a:r>
              <a:rPr sz="2600" spc="-5" dirty="0">
                <a:latin typeface="Times New Roman"/>
                <a:cs typeface="Times New Roman"/>
              </a:rPr>
              <a:t>appropriate</a:t>
            </a:r>
            <a:r>
              <a:rPr sz="2600" spc="-25" dirty="0">
                <a:latin typeface="Times New Roman"/>
                <a:cs typeface="Times New Roman"/>
              </a:rPr>
              <a:t> </a:t>
            </a:r>
            <a:r>
              <a:rPr sz="2600" spc="-5" dirty="0">
                <a:latin typeface="Times New Roman"/>
                <a:cs typeface="Times New Roman"/>
              </a:rPr>
              <a:t>licenses,</a:t>
            </a:r>
            <a:r>
              <a:rPr sz="2600" spc="-35" dirty="0">
                <a:latin typeface="Times New Roman"/>
                <a:cs typeface="Times New Roman"/>
              </a:rPr>
              <a:t> </a:t>
            </a:r>
            <a:r>
              <a:rPr sz="2600" spc="-5" dirty="0">
                <a:latin typeface="Times New Roman"/>
                <a:cs typeface="Times New Roman"/>
              </a:rPr>
              <a:t>some </a:t>
            </a:r>
            <a:r>
              <a:rPr sz="2600" spc="-645" dirty="0">
                <a:latin typeface="Times New Roman"/>
                <a:cs typeface="Times New Roman"/>
              </a:rPr>
              <a:t> </a:t>
            </a:r>
            <a:r>
              <a:rPr sz="2600" spc="-5" dirty="0">
                <a:latin typeface="Times New Roman"/>
                <a:cs typeface="Times New Roman"/>
              </a:rPr>
              <a:t>businesses</a:t>
            </a:r>
            <a:r>
              <a:rPr sz="2600" spc="-35" dirty="0">
                <a:latin typeface="Times New Roman"/>
                <a:cs typeface="Times New Roman"/>
              </a:rPr>
              <a:t> </a:t>
            </a:r>
            <a:r>
              <a:rPr sz="2600" dirty="0">
                <a:latin typeface="Times New Roman"/>
                <a:cs typeface="Times New Roman"/>
              </a:rPr>
              <a:t>may</a:t>
            </a:r>
            <a:r>
              <a:rPr sz="2600" spc="-35" dirty="0">
                <a:latin typeface="Times New Roman"/>
                <a:cs typeface="Times New Roman"/>
              </a:rPr>
              <a:t> </a:t>
            </a:r>
            <a:r>
              <a:rPr sz="2600" spc="-5" dirty="0">
                <a:latin typeface="Times New Roman"/>
                <a:cs typeface="Times New Roman"/>
              </a:rPr>
              <a:t>need</a:t>
            </a:r>
            <a:r>
              <a:rPr sz="2600" spc="-10" dirty="0">
                <a:latin typeface="Times New Roman"/>
                <a:cs typeface="Times New Roman"/>
              </a:rPr>
              <a:t> </a:t>
            </a:r>
            <a:r>
              <a:rPr sz="2600" spc="-20" dirty="0">
                <a:latin typeface="Times New Roman"/>
                <a:cs typeface="Times New Roman"/>
              </a:rPr>
              <a:t>to</a:t>
            </a:r>
            <a:r>
              <a:rPr sz="2600" spc="-5" dirty="0">
                <a:latin typeface="Times New Roman"/>
                <a:cs typeface="Times New Roman"/>
              </a:rPr>
              <a:t> obtain</a:t>
            </a:r>
            <a:r>
              <a:rPr sz="2600" spc="-10" dirty="0">
                <a:latin typeface="Times New Roman"/>
                <a:cs typeface="Times New Roman"/>
              </a:rPr>
              <a:t> </a:t>
            </a:r>
            <a:r>
              <a:rPr sz="2600" spc="-5" dirty="0">
                <a:latin typeface="Times New Roman"/>
                <a:cs typeface="Times New Roman"/>
              </a:rPr>
              <a:t>one</a:t>
            </a:r>
            <a:r>
              <a:rPr sz="2600" spc="-20" dirty="0">
                <a:latin typeface="Times New Roman"/>
                <a:cs typeface="Times New Roman"/>
              </a:rPr>
              <a:t> </a:t>
            </a:r>
            <a:r>
              <a:rPr sz="2600" spc="-5" dirty="0">
                <a:latin typeface="Times New Roman"/>
                <a:cs typeface="Times New Roman"/>
              </a:rPr>
              <a:t>or</a:t>
            </a:r>
            <a:r>
              <a:rPr sz="2600" spc="10" dirty="0">
                <a:latin typeface="Times New Roman"/>
                <a:cs typeface="Times New Roman"/>
              </a:rPr>
              <a:t> </a:t>
            </a:r>
            <a:r>
              <a:rPr sz="2600" spc="-10" dirty="0">
                <a:latin typeface="Times New Roman"/>
                <a:cs typeface="Times New Roman"/>
              </a:rPr>
              <a:t>more</a:t>
            </a:r>
            <a:r>
              <a:rPr sz="2600" spc="-15" dirty="0">
                <a:latin typeface="Times New Roman"/>
                <a:cs typeface="Times New Roman"/>
              </a:rPr>
              <a:t> </a:t>
            </a:r>
            <a:r>
              <a:rPr sz="2600" spc="-10" dirty="0">
                <a:latin typeface="Times New Roman"/>
                <a:cs typeface="Times New Roman"/>
              </a:rPr>
              <a:t>permits.</a:t>
            </a:r>
            <a:endParaRPr sz="2600" dirty="0">
              <a:latin typeface="Times New Roman"/>
              <a:cs typeface="Times New Roman"/>
            </a:endParaRPr>
          </a:p>
          <a:p>
            <a:pPr marL="829310" marR="575945" lvl="1" indent="-314325" algn="just">
              <a:lnSpc>
                <a:spcPts val="3170"/>
              </a:lnSpc>
              <a:spcBef>
                <a:spcPts val="635"/>
              </a:spcBef>
              <a:buChar char="–"/>
              <a:tabLst>
                <a:tab pos="830580" algn="l"/>
                <a:tab pos="831215" algn="l"/>
              </a:tabLst>
            </a:pPr>
            <a:r>
              <a:rPr sz="2600" spc="-10" dirty="0">
                <a:latin typeface="Times New Roman"/>
                <a:cs typeface="Times New Roman"/>
              </a:rPr>
              <a:t>The</a:t>
            </a:r>
            <a:r>
              <a:rPr sz="2600" spc="-20" dirty="0">
                <a:latin typeface="Times New Roman"/>
                <a:cs typeface="Times New Roman"/>
              </a:rPr>
              <a:t> </a:t>
            </a:r>
            <a:r>
              <a:rPr sz="2600" spc="-5" dirty="0">
                <a:latin typeface="Times New Roman"/>
                <a:cs typeface="Times New Roman"/>
              </a:rPr>
              <a:t>need</a:t>
            </a:r>
            <a:r>
              <a:rPr sz="2600" spc="-35" dirty="0">
                <a:latin typeface="Times New Roman"/>
                <a:cs typeface="Times New Roman"/>
              </a:rPr>
              <a:t> </a:t>
            </a:r>
            <a:r>
              <a:rPr sz="2600" spc="-5" dirty="0">
                <a:latin typeface="Times New Roman"/>
                <a:cs typeface="Times New Roman"/>
              </a:rPr>
              <a:t>to</a:t>
            </a:r>
            <a:r>
              <a:rPr sz="2600" spc="-10" dirty="0">
                <a:latin typeface="Times New Roman"/>
                <a:cs typeface="Times New Roman"/>
              </a:rPr>
              <a:t> </a:t>
            </a:r>
            <a:r>
              <a:rPr sz="2600" spc="-5" dirty="0">
                <a:latin typeface="Times New Roman"/>
                <a:cs typeface="Times New Roman"/>
              </a:rPr>
              <a:t>obtain a</a:t>
            </a:r>
            <a:r>
              <a:rPr sz="2600" spc="-20" dirty="0">
                <a:latin typeface="Times New Roman"/>
                <a:cs typeface="Times New Roman"/>
              </a:rPr>
              <a:t> </a:t>
            </a:r>
            <a:r>
              <a:rPr sz="2600" spc="-10" dirty="0">
                <a:latin typeface="Times New Roman"/>
                <a:cs typeface="Times New Roman"/>
              </a:rPr>
              <a:t>permit</a:t>
            </a:r>
            <a:r>
              <a:rPr sz="2600" spc="-30" dirty="0">
                <a:latin typeface="Times New Roman"/>
                <a:cs typeface="Times New Roman"/>
              </a:rPr>
              <a:t> </a:t>
            </a:r>
            <a:r>
              <a:rPr sz="2600" spc="-5" dirty="0">
                <a:latin typeface="Times New Roman"/>
                <a:cs typeface="Times New Roman"/>
              </a:rPr>
              <a:t>depends</a:t>
            </a:r>
            <a:r>
              <a:rPr sz="2600" spc="-10" dirty="0">
                <a:latin typeface="Times New Roman"/>
                <a:cs typeface="Times New Roman"/>
              </a:rPr>
              <a:t> </a:t>
            </a:r>
            <a:r>
              <a:rPr sz="2600" spc="-5" dirty="0">
                <a:latin typeface="Times New Roman"/>
                <a:cs typeface="Times New Roman"/>
              </a:rPr>
              <a:t>on the</a:t>
            </a:r>
            <a:r>
              <a:rPr sz="2600" spc="-20" dirty="0">
                <a:latin typeface="Times New Roman"/>
                <a:cs typeface="Times New Roman"/>
              </a:rPr>
              <a:t> </a:t>
            </a:r>
            <a:r>
              <a:rPr sz="2600" spc="-10" dirty="0">
                <a:latin typeface="Times New Roman"/>
                <a:cs typeface="Times New Roman"/>
              </a:rPr>
              <a:t>nature</a:t>
            </a:r>
            <a:r>
              <a:rPr sz="2600" spc="-20" dirty="0">
                <a:latin typeface="Times New Roman"/>
                <a:cs typeface="Times New Roman"/>
              </a:rPr>
              <a:t> </a:t>
            </a:r>
            <a:r>
              <a:rPr sz="2600" dirty="0">
                <a:latin typeface="Times New Roman"/>
                <a:cs typeface="Times New Roman"/>
              </a:rPr>
              <a:t>and </a:t>
            </a:r>
            <a:r>
              <a:rPr sz="2600" spc="-645" dirty="0">
                <a:latin typeface="Times New Roman"/>
                <a:cs typeface="Times New Roman"/>
              </a:rPr>
              <a:t> </a:t>
            </a:r>
            <a:r>
              <a:rPr sz="2600" spc="-10" dirty="0">
                <a:latin typeface="Times New Roman"/>
                <a:cs typeface="Times New Roman"/>
              </a:rPr>
              <a:t>location</a:t>
            </a:r>
            <a:r>
              <a:rPr sz="2600" spc="-35" dirty="0">
                <a:latin typeface="Times New Roman"/>
                <a:cs typeface="Times New Roman"/>
              </a:rPr>
              <a:t> </a:t>
            </a:r>
            <a:r>
              <a:rPr sz="2600" spc="-5" dirty="0">
                <a:latin typeface="Times New Roman"/>
                <a:cs typeface="Times New Roman"/>
              </a:rPr>
              <a:t>of</a:t>
            </a:r>
            <a:r>
              <a:rPr sz="2600" spc="15" dirty="0">
                <a:latin typeface="Times New Roman"/>
                <a:cs typeface="Times New Roman"/>
              </a:rPr>
              <a:t> </a:t>
            </a:r>
            <a:r>
              <a:rPr sz="2600" spc="-15" dirty="0">
                <a:latin typeface="Times New Roman"/>
                <a:cs typeface="Times New Roman"/>
              </a:rPr>
              <a:t>the </a:t>
            </a:r>
            <a:r>
              <a:rPr sz="2600" spc="-5" dirty="0">
                <a:latin typeface="Times New Roman"/>
                <a:cs typeface="Times New Roman"/>
              </a:rPr>
              <a:t>business.</a:t>
            </a:r>
            <a:endParaRPr sz="2600" dirty="0">
              <a:latin typeface="Times New Roman"/>
              <a:cs typeface="Times New Roman"/>
            </a:endParaRPr>
          </a:p>
          <a:p>
            <a:pPr marL="1269365" lvl="2" indent="-252095" algn="just">
              <a:lnSpc>
                <a:spcPct val="100000"/>
              </a:lnSpc>
              <a:spcBef>
                <a:spcPts val="440"/>
              </a:spcBef>
              <a:buChar char="•"/>
              <a:tabLst>
                <a:tab pos="1269365" algn="l"/>
                <a:tab pos="1270000" algn="l"/>
              </a:tabLst>
            </a:pPr>
            <a:r>
              <a:rPr sz="2200" spc="-10" dirty="0">
                <a:latin typeface="Times New Roman"/>
                <a:cs typeface="Times New Roman"/>
              </a:rPr>
              <a:t>If </a:t>
            </a:r>
            <a:r>
              <a:rPr sz="2200" spc="10" dirty="0">
                <a:latin typeface="Times New Roman"/>
                <a:cs typeface="Times New Roman"/>
              </a:rPr>
              <a:t>you</a:t>
            </a:r>
            <a:r>
              <a:rPr sz="2200" spc="-20" dirty="0">
                <a:latin typeface="Times New Roman"/>
                <a:cs typeface="Times New Roman"/>
              </a:rPr>
              <a:t> </a:t>
            </a:r>
            <a:r>
              <a:rPr sz="2200" spc="-5" dirty="0">
                <a:latin typeface="Times New Roman"/>
                <a:cs typeface="Times New Roman"/>
              </a:rPr>
              <a:t>plan</a:t>
            </a:r>
            <a:r>
              <a:rPr sz="220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sell</a:t>
            </a:r>
            <a:r>
              <a:rPr sz="2200" spc="-15" dirty="0">
                <a:latin typeface="Times New Roman"/>
                <a:cs typeface="Times New Roman"/>
              </a:rPr>
              <a:t> </a:t>
            </a:r>
            <a:r>
              <a:rPr sz="2200" dirty="0">
                <a:latin typeface="Times New Roman"/>
                <a:cs typeface="Times New Roman"/>
              </a:rPr>
              <a:t>food,</a:t>
            </a:r>
            <a:r>
              <a:rPr sz="2200" spc="-5" dirty="0">
                <a:latin typeface="Times New Roman"/>
                <a:cs typeface="Times New Roman"/>
              </a:rPr>
              <a:t> </a:t>
            </a:r>
            <a:r>
              <a:rPr sz="2200" dirty="0">
                <a:latin typeface="Times New Roman"/>
                <a:cs typeface="Times New Roman"/>
              </a:rPr>
              <a:t>you’ll</a:t>
            </a:r>
            <a:r>
              <a:rPr sz="2200" spc="-60" dirty="0">
                <a:latin typeface="Times New Roman"/>
                <a:cs typeface="Times New Roman"/>
              </a:rPr>
              <a:t> </a:t>
            </a:r>
            <a:r>
              <a:rPr sz="2200" spc="-5" dirty="0">
                <a:latin typeface="Times New Roman"/>
                <a:cs typeface="Times New Roman"/>
              </a:rPr>
              <a:t>need</a:t>
            </a:r>
            <a:r>
              <a:rPr sz="2200" spc="25" dirty="0">
                <a:latin typeface="Times New Roman"/>
                <a:cs typeface="Times New Roman"/>
              </a:rPr>
              <a:t> </a:t>
            </a:r>
            <a:r>
              <a:rPr sz="2200" spc="-5" dirty="0">
                <a:latin typeface="Times New Roman"/>
                <a:cs typeface="Times New Roman"/>
              </a:rPr>
              <a:t>a </a:t>
            </a:r>
            <a:r>
              <a:rPr sz="2200" spc="-5" dirty="0" smtClean="0">
                <a:latin typeface="Times New Roman"/>
                <a:cs typeface="Times New Roman"/>
              </a:rPr>
              <a:t>city</a:t>
            </a:r>
            <a:r>
              <a:rPr lang="en-US" sz="2200" dirty="0" smtClean="0">
                <a:latin typeface="Times New Roman"/>
                <a:cs typeface="Times New Roman"/>
              </a:rPr>
              <a:t>/ </a:t>
            </a:r>
            <a:r>
              <a:rPr sz="2200" spc="-5" dirty="0" smtClean="0">
                <a:latin typeface="Times New Roman"/>
                <a:cs typeface="Times New Roman"/>
              </a:rPr>
              <a:t>count</a:t>
            </a:r>
            <a:r>
              <a:rPr lang="en-US" sz="2200" spc="-5" dirty="0" smtClean="0">
                <a:latin typeface="Times New Roman"/>
                <a:cs typeface="Times New Roman"/>
              </a:rPr>
              <a:t>r</a:t>
            </a:r>
            <a:r>
              <a:rPr sz="2200" spc="-5" dirty="0" smtClean="0">
                <a:latin typeface="Times New Roman"/>
                <a:cs typeface="Times New Roman"/>
              </a:rPr>
              <a:t>y</a:t>
            </a:r>
            <a:r>
              <a:rPr sz="2200" spc="-25" dirty="0" smtClean="0">
                <a:latin typeface="Times New Roman"/>
                <a:cs typeface="Times New Roman"/>
              </a:rPr>
              <a:t> </a:t>
            </a:r>
            <a:r>
              <a:rPr sz="2200" spc="-5" dirty="0">
                <a:latin typeface="Times New Roman"/>
                <a:cs typeface="Times New Roman"/>
              </a:rPr>
              <a:t>health</a:t>
            </a:r>
            <a:r>
              <a:rPr sz="2200" dirty="0">
                <a:latin typeface="Times New Roman"/>
                <a:cs typeface="Times New Roman"/>
              </a:rPr>
              <a:t> </a:t>
            </a:r>
            <a:r>
              <a:rPr sz="2200" spc="-10" dirty="0">
                <a:latin typeface="Times New Roman"/>
                <a:cs typeface="Times New Roman"/>
              </a:rPr>
              <a:t>permit.</a:t>
            </a:r>
            <a:endParaRPr sz="2200" dirty="0">
              <a:latin typeface="Times New Roman"/>
              <a:cs typeface="Times New Roman"/>
            </a:endParaRPr>
          </a:p>
          <a:p>
            <a:pPr marL="1269365" lvl="2" indent="-252095" algn="just">
              <a:lnSpc>
                <a:spcPct val="100000"/>
              </a:lnSpc>
              <a:spcBef>
                <a:spcPts val="525"/>
              </a:spcBef>
              <a:buChar char="•"/>
              <a:tabLst>
                <a:tab pos="1269365" algn="l"/>
                <a:tab pos="1270000" algn="l"/>
              </a:tabLst>
            </a:pPr>
            <a:r>
              <a:rPr sz="2200" spc="-10" dirty="0">
                <a:latin typeface="Times New Roman"/>
                <a:cs typeface="Times New Roman"/>
              </a:rPr>
              <a:t>If</a:t>
            </a:r>
            <a:r>
              <a:rPr sz="2200" spc="-5" dirty="0">
                <a:latin typeface="Times New Roman"/>
                <a:cs typeface="Times New Roman"/>
              </a:rPr>
              <a:t> </a:t>
            </a:r>
            <a:r>
              <a:rPr sz="2200" spc="5" dirty="0">
                <a:latin typeface="Times New Roman"/>
                <a:cs typeface="Times New Roman"/>
              </a:rPr>
              <a:t>your</a:t>
            </a:r>
            <a:r>
              <a:rPr sz="2200" spc="-25" dirty="0">
                <a:latin typeface="Times New Roman"/>
                <a:cs typeface="Times New Roman"/>
              </a:rPr>
              <a:t> </a:t>
            </a:r>
            <a:r>
              <a:rPr sz="2200" spc="-5" dirty="0">
                <a:latin typeface="Times New Roman"/>
                <a:cs typeface="Times New Roman"/>
              </a:rPr>
              <a:t>business</a:t>
            </a:r>
            <a:r>
              <a:rPr sz="2200" spc="-25" dirty="0">
                <a:latin typeface="Times New Roman"/>
                <a:cs typeface="Times New Roman"/>
              </a:rPr>
              <a:t> </a:t>
            </a:r>
            <a:r>
              <a:rPr sz="2200" spc="-5" dirty="0">
                <a:latin typeface="Times New Roman"/>
                <a:cs typeface="Times New Roman"/>
              </a:rPr>
              <a:t>is</a:t>
            </a:r>
            <a:r>
              <a:rPr sz="2200" spc="-20" dirty="0">
                <a:latin typeface="Times New Roman"/>
                <a:cs typeface="Times New Roman"/>
              </a:rPr>
              <a:t> </a:t>
            </a:r>
            <a:r>
              <a:rPr sz="2200" dirty="0">
                <a:latin typeface="Times New Roman"/>
                <a:cs typeface="Times New Roman"/>
              </a:rPr>
              <a:t>open</a:t>
            </a:r>
            <a:r>
              <a:rPr sz="2200" spc="5"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the </a:t>
            </a:r>
            <a:r>
              <a:rPr sz="2200" spc="-5" dirty="0" smtClean="0">
                <a:latin typeface="Times New Roman"/>
                <a:cs typeface="Times New Roman"/>
              </a:rPr>
              <a:t>public</a:t>
            </a:r>
            <a:r>
              <a:rPr lang="en-US" sz="2200" spc="-5" dirty="0" smtClean="0">
                <a:latin typeface="Times New Roman"/>
                <a:cs typeface="Times New Roman"/>
              </a:rPr>
              <a:t> or </a:t>
            </a:r>
            <a:r>
              <a:rPr lang="en-US" sz="2200" spc="-5" dirty="0">
                <a:latin typeface="Times New Roman"/>
                <a:cs typeface="Times New Roman"/>
              </a:rPr>
              <a:t>will use flammable </a:t>
            </a:r>
            <a:r>
              <a:rPr lang="en-US" sz="2200" spc="-5" dirty="0" smtClean="0">
                <a:latin typeface="Times New Roman"/>
                <a:cs typeface="Times New Roman"/>
              </a:rPr>
              <a:t>material</a:t>
            </a:r>
            <a:r>
              <a:rPr sz="2200" spc="-5" dirty="0" smtClean="0">
                <a:latin typeface="Times New Roman"/>
                <a:cs typeface="Times New Roman"/>
              </a:rPr>
              <a:t>,</a:t>
            </a:r>
            <a:r>
              <a:rPr lang="en-US" sz="2200" spc="-20" dirty="0">
                <a:latin typeface="Times New Roman"/>
                <a:cs typeface="Times New Roman"/>
              </a:rPr>
              <a:t> </a:t>
            </a:r>
            <a:r>
              <a:rPr sz="2200" dirty="0" smtClean="0">
                <a:latin typeface="Times New Roman"/>
                <a:cs typeface="Times New Roman"/>
              </a:rPr>
              <a:t>you</a:t>
            </a:r>
            <a:r>
              <a:rPr sz="2200" spc="-20" dirty="0" smtClean="0">
                <a:latin typeface="Times New Roman"/>
                <a:cs typeface="Times New Roman"/>
              </a:rPr>
              <a:t> </a:t>
            </a:r>
            <a:r>
              <a:rPr sz="2200" spc="-15" dirty="0">
                <a:latin typeface="Times New Roman"/>
                <a:cs typeface="Times New Roman"/>
              </a:rPr>
              <a:t>may</a:t>
            </a:r>
            <a:r>
              <a:rPr sz="2200" spc="25" dirty="0">
                <a:latin typeface="Times New Roman"/>
                <a:cs typeface="Times New Roman"/>
              </a:rPr>
              <a:t> </a:t>
            </a:r>
            <a:r>
              <a:rPr sz="2200" spc="-5" dirty="0">
                <a:latin typeface="Times New Roman"/>
                <a:cs typeface="Times New Roman"/>
              </a:rPr>
              <a:t>need</a:t>
            </a:r>
            <a:r>
              <a:rPr sz="2200" spc="25" dirty="0">
                <a:latin typeface="Times New Roman"/>
                <a:cs typeface="Times New Roman"/>
              </a:rPr>
              <a:t> </a:t>
            </a:r>
            <a:r>
              <a:rPr sz="2200" spc="-5" dirty="0">
                <a:latin typeface="Times New Roman"/>
                <a:cs typeface="Times New Roman"/>
              </a:rPr>
              <a:t>a fire</a:t>
            </a:r>
            <a:r>
              <a:rPr sz="2200" spc="-30" dirty="0">
                <a:latin typeface="Times New Roman"/>
                <a:cs typeface="Times New Roman"/>
              </a:rPr>
              <a:t> </a:t>
            </a:r>
            <a:r>
              <a:rPr sz="2200" spc="-5" dirty="0">
                <a:latin typeface="Times New Roman"/>
                <a:cs typeface="Times New Roman"/>
              </a:rPr>
              <a:t>permit.</a:t>
            </a:r>
            <a:endParaRPr sz="2200" dirty="0">
              <a:latin typeface="Times New Roman"/>
              <a:cs typeface="Times New Roman"/>
            </a:endParaRPr>
          </a:p>
          <a:p>
            <a:pPr marL="1269365" marR="5080" lvl="2" indent="-252095" algn="just">
              <a:lnSpc>
                <a:spcPct val="100000"/>
              </a:lnSpc>
              <a:spcBef>
                <a:spcPts val="530"/>
              </a:spcBef>
              <a:buChar char="•"/>
              <a:tabLst>
                <a:tab pos="1269365" algn="l"/>
                <a:tab pos="1270000" algn="l"/>
              </a:tabLst>
            </a:pPr>
            <a:r>
              <a:rPr sz="2200" spc="-10" dirty="0">
                <a:latin typeface="Times New Roman"/>
                <a:cs typeface="Times New Roman"/>
              </a:rPr>
              <a:t>Some</a:t>
            </a:r>
            <a:r>
              <a:rPr sz="2200" spc="15" dirty="0">
                <a:latin typeface="Times New Roman"/>
                <a:cs typeface="Times New Roman"/>
              </a:rPr>
              <a:t> </a:t>
            </a:r>
            <a:r>
              <a:rPr sz="2200" spc="-10" dirty="0">
                <a:latin typeface="Times New Roman"/>
                <a:cs typeface="Times New Roman"/>
              </a:rPr>
              <a:t>communities</a:t>
            </a:r>
            <a:r>
              <a:rPr sz="2200" spc="5" dirty="0">
                <a:latin typeface="Times New Roman"/>
                <a:cs typeface="Times New Roman"/>
              </a:rPr>
              <a:t> </a:t>
            </a:r>
            <a:r>
              <a:rPr sz="2200" spc="-5" dirty="0">
                <a:latin typeface="Times New Roman"/>
                <a:cs typeface="Times New Roman"/>
              </a:rPr>
              <a:t>require businesses</a:t>
            </a:r>
            <a:r>
              <a:rPr sz="2200" spc="-20" dirty="0">
                <a:latin typeface="Times New Roman"/>
                <a:cs typeface="Times New Roman"/>
              </a:rPr>
              <a:t> </a:t>
            </a:r>
            <a:r>
              <a:rPr sz="2200" spc="-5" dirty="0">
                <a:latin typeface="Times New Roman"/>
                <a:cs typeface="Times New Roman"/>
              </a:rPr>
              <a:t>to</a:t>
            </a:r>
            <a:r>
              <a:rPr sz="2200" dirty="0">
                <a:latin typeface="Times New Roman"/>
                <a:cs typeface="Times New Roman"/>
              </a:rPr>
              <a:t> obtain</a:t>
            </a:r>
            <a:r>
              <a:rPr sz="2200" spc="-20"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lang="en-US" sz="2200" spc="-5" dirty="0">
                <a:latin typeface="Times New Roman"/>
                <a:cs typeface="Times New Roman"/>
              </a:rPr>
              <a:t>permit</a:t>
            </a:r>
            <a:r>
              <a:rPr sz="2200" spc="-5" dirty="0" smtClean="0">
                <a:latin typeface="Times New Roman"/>
                <a:cs typeface="Times New Roman"/>
              </a:rPr>
              <a:t> </a:t>
            </a:r>
            <a:r>
              <a:rPr sz="2200" spc="-15" dirty="0">
                <a:latin typeface="Times New Roman"/>
                <a:cs typeface="Times New Roman"/>
              </a:rPr>
              <a:t>to</a:t>
            </a:r>
            <a:r>
              <a:rPr sz="2200" dirty="0">
                <a:latin typeface="Times New Roman"/>
                <a:cs typeface="Times New Roman"/>
              </a:rPr>
              <a:t> </a:t>
            </a:r>
            <a:r>
              <a:rPr sz="2200" spc="5" dirty="0">
                <a:latin typeface="Times New Roman"/>
                <a:cs typeface="Times New Roman"/>
              </a:rPr>
              <a:t>put</a:t>
            </a:r>
            <a:r>
              <a:rPr sz="2200" spc="-15" dirty="0">
                <a:latin typeface="Times New Roman"/>
                <a:cs typeface="Times New Roman"/>
              </a:rPr>
              <a:t> </a:t>
            </a:r>
            <a:r>
              <a:rPr sz="2200" spc="5" dirty="0">
                <a:latin typeface="Times New Roman"/>
                <a:cs typeface="Times New Roman"/>
              </a:rPr>
              <a:t>up </a:t>
            </a:r>
            <a:r>
              <a:rPr sz="2200" spc="-535" dirty="0">
                <a:latin typeface="Times New Roman"/>
                <a:cs typeface="Times New Roman"/>
              </a:rPr>
              <a:t> </a:t>
            </a:r>
            <a:r>
              <a:rPr sz="2200" spc="-5" dirty="0">
                <a:latin typeface="Times New Roman"/>
                <a:cs typeface="Times New Roman"/>
              </a:rPr>
              <a:t>a</a:t>
            </a:r>
            <a:r>
              <a:rPr sz="2200" spc="-15" dirty="0">
                <a:latin typeface="Times New Roman"/>
                <a:cs typeface="Times New Roman"/>
              </a:rPr>
              <a:t> </a:t>
            </a:r>
            <a:r>
              <a:rPr sz="2200" dirty="0">
                <a:latin typeface="Times New Roman"/>
                <a:cs typeface="Times New Roman"/>
              </a:rPr>
              <a:t>sign.</a:t>
            </a:r>
          </a:p>
          <a:p>
            <a:pPr marL="1269365" marR="259079" lvl="2" indent="-252095" algn="just">
              <a:lnSpc>
                <a:spcPct val="100000"/>
              </a:lnSpc>
              <a:spcBef>
                <a:spcPts val="530"/>
              </a:spcBef>
              <a:buChar char="•"/>
              <a:tabLst>
                <a:tab pos="1269365" algn="l"/>
                <a:tab pos="1270000" algn="l"/>
              </a:tabLst>
            </a:pPr>
            <a:r>
              <a:rPr sz="2200" spc="-5" dirty="0">
                <a:latin typeface="Times New Roman"/>
                <a:cs typeface="Times New Roman"/>
              </a:rPr>
              <a:t>All</a:t>
            </a:r>
            <a:r>
              <a:rPr sz="2200" spc="5" dirty="0">
                <a:latin typeface="Times New Roman"/>
                <a:cs typeface="Times New Roman"/>
              </a:rPr>
              <a:t> </a:t>
            </a:r>
            <a:r>
              <a:rPr sz="2200" spc="-5" dirty="0">
                <a:latin typeface="Times New Roman"/>
                <a:cs typeface="Times New Roman"/>
              </a:rPr>
              <a:t>businesses</a:t>
            </a:r>
            <a:r>
              <a:rPr sz="2200" spc="-20" dirty="0">
                <a:latin typeface="Times New Roman"/>
                <a:cs typeface="Times New Roman"/>
              </a:rPr>
              <a:t> </a:t>
            </a:r>
            <a:r>
              <a:rPr sz="2200" dirty="0">
                <a:latin typeface="Times New Roman"/>
                <a:cs typeface="Times New Roman"/>
              </a:rPr>
              <a:t>that</a:t>
            </a:r>
            <a:r>
              <a:rPr sz="2200" spc="-15" dirty="0">
                <a:latin typeface="Times New Roman"/>
                <a:cs typeface="Times New Roman"/>
              </a:rPr>
              <a:t> </a:t>
            </a:r>
            <a:r>
              <a:rPr sz="2200" spc="-5" dirty="0">
                <a:latin typeface="Times New Roman"/>
                <a:cs typeface="Times New Roman"/>
              </a:rPr>
              <a:t>plan</a:t>
            </a:r>
            <a:r>
              <a:rPr sz="220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use a fictitious</a:t>
            </a:r>
            <a:r>
              <a:rPr sz="2200" spc="-40" dirty="0">
                <a:latin typeface="Times New Roman"/>
                <a:cs typeface="Times New Roman"/>
              </a:rPr>
              <a:t> </a:t>
            </a:r>
            <a:r>
              <a:rPr sz="2200" spc="-5" dirty="0" smtClean="0">
                <a:latin typeface="Times New Roman"/>
                <a:cs typeface="Times New Roman"/>
              </a:rPr>
              <a:t>name</a:t>
            </a:r>
            <a:r>
              <a:rPr lang="en-US" sz="2200" spc="-5" dirty="0" smtClean="0">
                <a:latin typeface="Times New Roman"/>
                <a:cs typeface="Times New Roman"/>
              </a:rPr>
              <a:t>,</a:t>
            </a:r>
            <a:r>
              <a:rPr sz="2200" spc="20" dirty="0" smtClean="0">
                <a:latin typeface="Times New Roman"/>
                <a:cs typeface="Times New Roman"/>
              </a:rPr>
              <a:t> </a:t>
            </a:r>
            <a:r>
              <a:rPr sz="2200" spc="-10" dirty="0">
                <a:latin typeface="Times New Roman"/>
                <a:cs typeface="Times New Roman"/>
              </a:rPr>
              <a:t>need</a:t>
            </a:r>
            <a:r>
              <a:rPr sz="2200" spc="25" dirty="0">
                <a:latin typeface="Times New Roman"/>
                <a:cs typeface="Times New Roman"/>
              </a:rPr>
              <a:t> </a:t>
            </a:r>
            <a:r>
              <a:rPr sz="2200" spc="-5" dirty="0" smtClean="0">
                <a:latin typeface="Times New Roman"/>
                <a:cs typeface="Times New Roman"/>
              </a:rPr>
              <a:t>a</a:t>
            </a:r>
            <a:r>
              <a:rPr lang="en-US" sz="2200" spc="-5" dirty="0" smtClean="0">
                <a:latin typeface="Times New Roman"/>
                <a:cs typeface="Times New Roman"/>
              </a:rPr>
              <a:t> </a:t>
            </a:r>
            <a:r>
              <a:rPr sz="2200" spc="-5" dirty="0" smtClean="0">
                <a:latin typeface="Times New Roman"/>
                <a:cs typeface="Times New Roman"/>
              </a:rPr>
              <a:t>fictitious </a:t>
            </a:r>
            <a:r>
              <a:rPr sz="2200" spc="-535" dirty="0" smtClean="0">
                <a:latin typeface="Times New Roman"/>
                <a:cs typeface="Times New Roman"/>
              </a:rPr>
              <a:t> </a:t>
            </a:r>
            <a:r>
              <a:rPr sz="2200" spc="-5" dirty="0">
                <a:latin typeface="Times New Roman"/>
                <a:cs typeface="Times New Roman"/>
              </a:rPr>
              <a:t>business</a:t>
            </a:r>
            <a:r>
              <a:rPr sz="2200" spc="-30" dirty="0">
                <a:latin typeface="Times New Roman"/>
                <a:cs typeface="Times New Roman"/>
              </a:rPr>
              <a:t> </a:t>
            </a:r>
            <a:r>
              <a:rPr sz="2200" spc="-10" dirty="0">
                <a:latin typeface="Times New Roman"/>
                <a:cs typeface="Times New Roman"/>
              </a:rPr>
              <a:t>name</a:t>
            </a:r>
            <a:r>
              <a:rPr sz="2200" spc="10" dirty="0">
                <a:latin typeface="Times New Roman"/>
                <a:cs typeface="Times New Roman"/>
              </a:rPr>
              <a:t> </a:t>
            </a:r>
            <a:r>
              <a:rPr sz="2200" spc="-5" dirty="0" smtClean="0">
                <a:latin typeface="Times New Roman"/>
                <a:cs typeface="Times New Roman"/>
              </a:rPr>
              <a:t>permit.</a:t>
            </a:r>
            <a:endParaRPr lang="en-US" sz="2200" spc="-5" dirty="0" smtClean="0">
              <a:latin typeface="Times New Roman"/>
              <a:cs typeface="Times New Roman"/>
            </a:endParaRPr>
          </a:p>
          <a:p>
            <a:pPr marL="1017270" marR="259079" lvl="2" algn="just">
              <a:lnSpc>
                <a:spcPct val="100000"/>
              </a:lnSpc>
              <a:spcBef>
                <a:spcPts val="530"/>
              </a:spcBef>
              <a:tabLst>
                <a:tab pos="1269365" algn="l"/>
                <a:tab pos="1270000" algn="l"/>
              </a:tabLst>
            </a:pPr>
            <a:r>
              <a:rPr lang="en-US" sz="2200" dirty="0" smtClean="0">
                <a:latin typeface="Times New Roman"/>
                <a:cs typeface="Times New Roman"/>
              </a:rPr>
              <a:t>Several </a:t>
            </a:r>
            <a:r>
              <a:rPr lang="en-US" sz="2200" dirty="0">
                <a:latin typeface="Times New Roman"/>
                <a:cs typeface="Times New Roman"/>
              </a:rPr>
              <a:t>resources are available to assist business founders </a:t>
            </a:r>
            <a:r>
              <a:rPr lang="en-US" sz="2200" dirty="0" smtClean="0">
                <a:latin typeface="Times New Roman"/>
                <a:cs typeface="Times New Roman"/>
              </a:rPr>
              <a:t>in identifying the </a:t>
            </a:r>
            <a:r>
              <a:rPr lang="en-US" sz="2200" dirty="0">
                <a:latin typeface="Times New Roman"/>
                <a:cs typeface="Times New Roman"/>
              </a:rPr>
              <a:t>proper </a:t>
            </a:r>
            <a:r>
              <a:rPr lang="en-US" sz="2200" dirty="0" smtClean="0">
                <a:latin typeface="Times New Roman"/>
                <a:cs typeface="Times New Roman"/>
              </a:rPr>
              <a:t>licenses and </a:t>
            </a:r>
            <a:r>
              <a:rPr lang="en-US" sz="2200" dirty="0">
                <a:latin typeface="Times New Roman"/>
                <a:cs typeface="Times New Roman"/>
              </a:rPr>
              <a:t>permits to apply for.</a:t>
            </a:r>
            <a:endParaRPr sz="220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6169" y="533400"/>
            <a:ext cx="8726061" cy="621965"/>
          </a:xfrm>
          <a:prstGeom prst="rect">
            <a:avLst/>
          </a:prstGeom>
        </p:spPr>
        <p:txBody>
          <a:bodyPr vert="horz" wrap="square" lIns="0" tIns="13970" rIns="0" bIns="0" rtlCol="0">
            <a:spAutoFit/>
          </a:bodyPr>
          <a:lstStyle/>
          <a:p>
            <a:pPr marL="12700">
              <a:lnSpc>
                <a:spcPct val="100000"/>
              </a:lnSpc>
              <a:spcBef>
                <a:spcPts val="110"/>
              </a:spcBef>
            </a:pPr>
            <a:r>
              <a:rPr dirty="0"/>
              <a:t>Choosing</a:t>
            </a:r>
            <a:r>
              <a:rPr spc="-5" dirty="0"/>
              <a:t> </a:t>
            </a:r>
            <a:r>
              <a:rPr dirty="0"/>
              <a:t>a</a:t>
            </a:r>
            <a:r>
              <a:rPr spc="25" dirty="0"/>
              <a:t> </a:t>
            </a:r>
            <a:r>
              <a:rPr spc="5" dirty="0"/>
              <a:t>Form</a:t>
            </a:r>
            <a:r>
              <a:rPr spc="-30" dirty="0"/>
              <a:t> </a:t>
            </a:r>
            <a:r>
              <a:rPr dirty="0"/>
              <a:t>of</a:t>
            </a:r>
            <a:r>
              <a:rPr spc="25" dirty="0"/>
              <a:t> </a:t>
            </a:r>
            <a:r>
              <a:rPr spc="-5" dirty="0"/>
              <a:t>Business</a:t>
            </a:r>
            <a:r>
              <a:rPr spc="5" dirty="0"/>
              <a:t> </a:t>
            </a:r>
            <a:r>
              <a:rPr lang="en-US" dirty="0"/>
              <a:t>Organization</a:t>
            </a:r>
            <a:endParaRPr dirty="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773604" y="1732296"/>
            <a:ext cx="8006715" cy="830580"/>
          </a:xfrm>
          <a:prstGeom prst="rect">
            <a:avLst/>
          </a:prstGeom>
        </p:spPr>
        <p:txBody>
          <a:bodyPr vert="horz" wrap="square" lIns="0" tIns="24765" rIns="0" bIns="0" rtlCol="0">
            <a:spAutoFit/>
          </a:bodyPr>
          <a:lstStyle/>
          <a:p>
            <a:pPr marL="853440" marR="5080" indent="-841375">
              <a:lnSpc>
                <a:spcPts val="3170"/>
              </a:lnSpc>
              <a:spcBef>
                <a:spcPts val="195"/>
              </a:spcBef>
              <a:tabLst>
                <a:tab pos="2030730" algn="l"/>
              </a:tabLst>
            </a:pPr>
            <a:r>
              <a:rPr sz="2650" spc="-10" dirty="0">
                <a:latin typeface="Times New Roman"/>
                <a:cs typeface="Times New Roman"/>
              </a:rPr>
              <a:t>When </a:t>
            </a:r>
            <a:r>
              <a:rPr sz="2650" spc="-5" dirty="0">
                <a:latin typeface="Times New Roman"/>
                <a:cs typeface="Times New Roman"/>
              </a:rPr>
              <a:t>a </a:t>
            </a:r>
            <a:r>
              <a:rPr sz="2650" spc="-10" dirty="0">
                <a:latin typeface="Times New Roman"/>
                <a:cs typeface="Times New Roman"/>
              </a:rPr>
              <a:t>business </a:t>
            </a:r>
            <a:r>
              <a:rPr sz="2650" spc="-5" dirty="0">
                <a:latin typeface="Times New Roman"/>
                <a:cs typeface="Times New Roman"/>
              </a:rPr>
              <a:t>is </a:t>
            </a:r>
            <a:r>
              <a:rPr sz="2650" spc="-10" dirty="0">
                <a:latin typeface="Times New Roman"/>
                <a:cs typeface="Times New Roman"/>
              </a:rPr>
              <a:t>launched, </a:t>
            </a:r>
            <a:r>
              <a:rPr sz="2650" spc="-5" dirty="0">
                <a:latin typeface="Times New Roman"/>
                <a:cs typeface="Times New Roman"/>
              </a:rPr>
              <a:t>a form of legal </a:t>
            </a:r>
            <a:r>
              <a:rPr sz="2650" spc="-10" dirty="0">
                <a:latin typeface="Times New Roman"/>
                <a:cs typeface="Times New Roman"/>
              </a:rPr>
              <a:t>entity </a:t>
            </a:r>
            <a:r>
              <a:rPr sz="2650" spc="-5" dirty="0">
                <a:latin typeface="Times New Roman"/>
                <a:cs typeface="Times New Roman"/>
              </a:rPr>
              <a:t>must be </a:t>
            </a:r>
            <a:r>
              <a:rPr sz="2650" spc="-650" dirty="0">
                <a:latin typeface="Times New Roman"/>
                <a:cs typeface="Times New Roman"/>
              </a:rPr>
              <a:t> </a:t>
            </a:r>
            <a:r>
              <a:rPr sz="2650" spc="-5" dirty="0">
                <a:latin typeface="Times New Roman"/>
                <a:cs typeface="Times New Roman"/>
              </a:rPr>
              <a:t>chosen.	</a:t>
            </a:r>
            <a:r>
              <a:rPr sz="2650" spc="-10" dirty="0">
                <a:latin typeface="Times New Roman"/>
                <a:cs typeface="Times New Roman"/>
              </a:rPr>
              <a:t>The</a:t>
            </a:r>
            <a:r>
              <a:rPr sz="2650" spc="-20" dirty="0">
                <a:latin typeface="Times New Roman"/>
                <a:cs typeface="Times New Roman"/>
              </a:rPr>
              <a:t> </a:t>
            </a:r>
            <a:r>
              <a:rPr sz="2650" spc="-5" dirty="0">
                <a:latin typeface="Times New Roman"/>
                <a:cs typeface="Times New Roman"/>
              </a:rPr>
              <a:t>most</a:t>
            </a:r>
            <a:r>
              <a:rPr sz="2650" spc="-30" dirty="0">
                <a:latin typeface="Times New Roman"/>
                <a:cs typeface="Times New Roman"/>
              </a:rPr>
              <a:t> </a:t>
            </a:r>
            <a:r>
              <a:rPr sz="2650" spc="-10" dirty="0">
                <a:latin typeface="Times New Roman"/>
                <a:cs typeface="Times New Roman"/>
              </a:rPr>
              <a:t>common</a:t>
            </a:r>
            <a:r>
              <a:rPr sz="2650" spc="-5" dirty="0">
                <a:latin typeface="Times New Roman"/>
                <a:cs typeface="Times New Roman"/>
              </a:rPr>
              <a:t> </a:t>
            </a:r>
            <a:r>
              <a:rPr sz="2650" spc="-10" dirty="0">
                <a:latin typeface="Times New Roman"/>
                <a:cs typeface="Times New Roman"/>
              </a:rPr>
              <a:t>legal</a:t>
            </a:r>
            <a:r>
              <a:rPr sz="2650" spc="-5" dirty="0">
                <a:latin typeface="Times New Roman"/>
                <a:cs typeface="Times New Roman"/>
              </a:rPr>
              <a:t> entities</a:t>
            </a:r>
            <a:r>
              <a:rPr sz="2650" spc="-55" dirty="0">
                <a:latin typeface="Times New Roman"/>
                <a:cs typeface="Times New Roman"/>
              </a:rPr>
              <a:t> </a:t>
            </a:r>
            <a:r>
              <a:rPr sz="2650" spc="-5" dirty="0">
                <a:latin typeface="Times New Roman"/>
                <a:cs typeface="Times New Roman"/>
              </a:rPr>
              <a:t>are…</a:t>
            </a:r>
            <a:endParaRPr sz="2650" dirty="0">
              <a:latin typeface="Times New Roman"/>
              <a:cs typeface="Times New Roman"/>
            </a:endParaRPr>
          </a:p>
        </p:txBody>
      </p:sp>
      <p:sp>
        <p:nvSpPr>
          <p:cNvPr id="5" name="object 5"/>
          <p:cNvSpPr txBox="1"/>
          <p:nvPr/>
        </p:nvSpPr>
        <p:spPr>
          <a:xfrm>
            <a:off x="1005839" y="3048000"/>
            <a:ext cx="2849880" cy="1089660"/>
          </a:xfrm>
          <a:prstGeom prst="rect">
            <a:avLst/>
          </a:prstGeom>
          <a:solidFill>
            <a:srgbClr val="FFFFCC"/>
          </a:solidFill>
          <a:ln w="10668">
            <a:solidFill>
              <a:srgbClr val="000000"/>
            </a:solidFill>
          </a:ln>
        </p:spPr>
        <p:txBody>
          <a:bodyPr vert="horz" wrap="square" lIns="0" tIns="330835" rIns="0" bIns="0" rtlCol="0">
            <a:spAutoFit/>
          </a:bodyPr>
          <a:lstStyle/>
          <a:p>
            <a:pPr marL="126364">
              <a:lnSpc>
                <a:spcPct val="100000"/>
              </a:lnSpc>
              <a:spcBef>
                <a:spcPts val="2605"/>
              </a:spcBef>
            </a:pPr>
            <a:r>
              <a:rPr sz="2650" spc="-10" dirty="0">
                <a:latin typeface="Times New Roman"/>
                <a:cs typeface="Times New Roman"/>
              </a:rPr>
              <a:t>Sole Proprietorship</a:t>
            </a:r>
            <a:endParaRPr sz="2650">
              <a:latin typeface="Times New Roman"/>
              <a:cs typeface="Times New Roman"/>
            </a:endParaRPr>
          </a:p>
        </p:txBody>
      </p:sp>
      <p:sp>
        <p:nvSpPr>
          <p:cNvPr id="6" name="object 6"/>
          <p:cNvSpPr txBox="1"/>
          <p:nvPr/>
        </p:nvSpPr>
        <p:spPr>
          <a:xfrm>
            <a:off x="5364479" y="3048000"/>
            <a:ext cx="2849880" cy="1089660"/>
          </a:xfrm>
          <a:prstGeom prst="rect">
            <a:avLst/>
          </a:prstGeom>
          <a:solidFill>
            <a:srgbClr val="FFFFCC"/>
          </a:solidFill>
          <a:ln w="10667">
            <a:solidFill>
              <a:srgbClr val="000000"/>
            </a:solidFill>
          </a:ln>
        </p:spPr>
        <p:txBody>
          <a:bodyPr vert="horz" wrap="square" lIns="0" tIns="330835" rIns="0" bIns="0" rtlCol="0">
            <a:spAutoFit/>
          </a:bodyPr>
          <a:lstStyle/>
          <a:p>
            <a:pPr marL="659765">
              <a:lnSpc>
                <a:spcPct val="100000"/>
              </a:lnSpc>
              <a:spcBef>
                <a:spcPts val="2605"/>
              </a:spcBef>
            </a:pPr>
            <a:r>
              <a:rPr sz="2650" spc="-10" dirty="0">
                <a:latin typeface="Times New Roman"/>
                <a:cs typeface="Times New Roman"/>
              </a:rPr>
              <a:t>Partnership</a:t>
            </a:r>
            <a:endParaRPr sz="2650">
              <a:latin typeface="Times New Roman"/>
              <a:cs typeface="Times New Roman"/>
            </a:endParaRPr>
          </a:p>
        </p:txBody>
      </p:sp>
      <p:sp>
        <p:nvSpPr>
          <p:cNvPr id="7" name="object 7"/>
          <p:cNvSpPr txBox="1"/>
          <p:nvPr/>
        </p:nvSpPr>
        <p:spPr>
          <a:xfrm>
            <a:off x="1005839" y="4892039"/>
            <a:ext cx="2849880" cy="1089660"/>
          </a:xfrm>
          <a:prstGeom prst="rect">
            <a:avLst/>
          </a:prstGeom>
          <a:solidFill>
            <a:srgbClr val="FFFFCC"/>
          </a:solidFill>
          <a:ln w="10668">
            <a:solidFill>
              <a:srgbClr val="000000"/>
            </a:solidFill>
          </a:ln>
        </p:spPr>
        <p:txBody>
          <a:bodyPr vert="horz" wrap="square" lIns="0" tIns="330835" rIns="0" bIns="0" rtlCol="0">
            <a:spAutoFit/>
          </a:bodyPr>
          <a:lstStyle/>
          <a:p>
            <a:pPr marL="615315">
              <a:lnSpc>
                <a:spcPct val="100000"/>
              </a:lnSpc>
              <a:spcBef>
                <a:spcPts val="2605"/>
              </a:spcBef>
            </a:pPr>
            <a:r>
              <a:rPr sz="2650" spc="-10" dirty="0">
                <a:latin typeface="Times New Roman"/>
                <a:cs typeface="Times New Roman"/>
              </a:rPr>
              <a:t>Corporation</a:t>
            </a:r>
            <a:endParaRPr sz="2650">
              <a:latin typeface="Times New Roman"/>
              <a:cs typeface="Times New Roman"/>
            </a:endParaRPr>
          </a:p>
        </p:txBody>
      </p:sp>
      <p:sp>
        <p:nvSpPr>
          <p:cNvPr id="8" name="object 8"/>
          <p:cNvSpPr txBox="1"/>
          <p:nvPr/>
        </p:nvSpPr>
        <p:spPr>
          <a:xfrm>
            <a:off x="5364479" y="4892039"/>
            <a:ext cx="2849880" cy="1089660"/>
          </a:xfrm>
          <a:prstGeom prst="rect">
            <a:avLst/>
          </a:prstGeom>
          <a:solidFill>
            <a:srgbClr val="FFFFCC"/>
          </a:solidFill>
          <a:ln w="10667">
            <a:solidFill>
              <a:srgbClr val="000000"/>
            </a:solidFill>
          </a:ln>
        </p:spPr>
        <p:txBody>
          <a:bodyPr vert="horz" wrap="square" lIns="0" tIns="144145" rIns="0" bIns="0" rtlCol="0">
            <a:spAutoFit/>
          </a:bodyPr>
          <a:lstStyle/>
          <a:p>
            <a:pPr marL="772160" marR="267970" indent="-495934">
              <a:lnSpc>
                <a:spcPts val="3170"/>
              </a:lnSpc>
              <a:spcBef>
                <a:spcPts val="1135"/>
              </a:spcBef>
            </a:pPr>
            <a:r>
              <a:rPr sz="2650" spc="-10" dirty="0">
                <a:latin typeface="Times New Roman"/>
                <a:cs typeface="Times New Roman"/>
              </a:rPr>
              <a:t>Limited</a:t>
            </a:r>
            <a:r>
              <a:rPr sz="2650" spc="-105" dirty="0">
                <a:latin typeface="Times New Roman"/>
                <a:cs typeface="Times New Roman"/>
              </a:rPr>
              <a:t> </a:t>
            </a:r>
            <a:r>
              <a:rPr sz="2650" spc="-5" dirty="0">
                <a:latin typeface="Times New Roman"/>
                <a:cs typeface="Times New Roman"/>
              </a:rPr>
              <a:t>Liability </a:t>
            </a:r>
            <a:r>
              <a:rPr sz="2650" spc="-645" dirty="0">
                <a:latin typeface="Times New Roman"/>
                <a:cs typeface="Times New Roman"/>
              </a:rPr>
              <a:t> </a:t>
            </a:r>
            <a:r>
              <a:rPr sz="2650" spc="-10" dirty="0">
                <a:latin typeface="Times New Roman"/>
                <a:cs typeface="Times New Roman"/>
              </a:rPr>
              <a:t>Company</a:t>
            </a:r>
            <a:endParaRPr sz="265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6879" y="278296"/>
            <a:ext cx="7905115" cy="1232535"/>
          </a:xfrm>
          <a:prstGeom prst="rect">
            <a:avLst/>
          </a:prstGeom>
        </p:spPr>
        <p:txBody>
          <a:bodyPr vert="horz" wrap="square" lIns="0" tIns="12065" rIns="0" bIns="0" rtlCol="0">
            <a:spAutoFit/>
          </a:bodyPr>
          <a:lstStyle/>
          <a:p>
            <a:pPr marL="1010919" marR="5080" indent="-998855">
              <a:lnSpc>
                <a:spcPct val="100299"/>
              </a:lnSpc>
              <a:spcBef>
                <a:spcPts val="95"/>
              </a:spcBef>
            </a:pPr>
            <a:r>
              <a:rPr lang="en-US" spc="-5" dirty="0"/>
              <a:t>Factors Critical in Selecting a </a:t>
            </a:r>
            <a:r>
              <a:rPr spc="5" dirty="0" smtClean="0"/>
              <a:t>Form </a:t>
            </a:r>
            <a:r>
              <a:rPr dirty="0"/>
              <a:t>of</a:t>
            </a:r>
            <a:r>
              <a:rPr spc="-10" dirty="0"/>
              <a:t> </a:t>
            </a:r>
            <a:r>
              <a:rPr spc="-5" dirty="0"/>
              <a:t>Business</a:t>
            </a:r>
            <a:r>
              <a:rPr spc="40" dirty="0"/>
              <a:t> </a:t>
            </a:r>
            <a:r>
              <a:rPr spc="-5" dirty="0" smtClean="0"/>
              <a:t>O</a:t>
            </a:r>
            <a:r>
              <a:rPr lang="en-US" spc="-5" dirty="0" smtClean="0"/>
              <a:t>rganization</a:t>
            </a:r>
            <a:endParaRPr spc="-5" dirty="0"/>
          </a:p>
        </p:txBody>
      </p:sp>
      <p:sp>
        <p:nvSpPr>
          <p:cNvPr id="3" name="object 3"/>
          <p:cNvSpPr/>
          <p:nvPr/>
        </p:nvSpPr>
        <p:spPr>
          <a:xfrm>
            <a:off x="0" y="162305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251459" y="2895600"/>
            <a:ext cx="9486900" cy="116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65724" y="446018"/>
            <a:ext cx="3923029" cy="629285"/>
          </a:xfrm>
          <a:prstGeom prst="rect">
            <a:avLst/>
          </a:prstGeom>
        </p:spPr>
        <p:txBody>
          <a:bodyPr vert="horz" wrap="square" lIns="0" tIns="13970" rIns="0" bIns="0" rtlCol="0">
            <a:spAutoFit/>
          </a:bodyPr>
          <a:lstStyle/>
          <a:p>
            <a:pPr marL="12700">
              <a:lnSpc>
                <a:spcPct val="100000"/>
              </a:lnSpc>
              <a:spcBef>
                <a:spcPts val="110"/>
              </a:spcBef>
            </a:pPr>
            <a:r>
              <a:rPr spc="5" dirty="0"/>
              <a:t>Sole</a:t>
            </a:r>
            <a:r>
              <a:rPr spc="-70" dirty="0"/>
              <a:t> </a:t>
            </a:r>
            <a:r>
              <a:rPr dirty="0"/>
              <a:t>Proprietorship</a:t>
            </a:r>
          </a:p>
        </p:txBody>
      </p:sp>
      <p:sp>
        <p:nvSpPr>
          <p:cNvPr id="3" name="object 3"/>
          <p:cNvSpPr txBox="1"/>
          <p:nvPr/>
        </p:nvSpPr>
        <p:spPr>
          <a:xfrm>
            <a:off x="590865" y="1803066"/>
            <a:ext cx="8568690" cy="4053204"/>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5" dirty="0">
                <a:latin typeface="Times New Roman"/>
                <a:cs typeface="Times New Roman"/>
              </a:rPr>
              <a:t>Sole</a:t>
            </a:r>
            <a:r>
              <a:rPr sz="3050" spc="-15" dirty="0">
                <a:latin typeface="Times New Roman"/>
                <a:cs typeface="Times New Roman"/>
              </a:rPr>
              <a:t> </a:t>
            </a:r>
            <a:r>
              <a:rPr sz="3050" spc="10" dirty="0">
                <a:latin typeface="Times New Roman"/>
                <a:cs typeface="Times New Roman"/>
              </a:rPr>
              <a:t>Proprietorship</a:t>
            </a:r>
            <a:endParaRPr sz="3050">
              <a:latin typeface="Times New Roman"/>
              <a:cs typeface="Times New Roman"/>
            </a:endParaRPr>
          </a:p>
          <a:p>
            <a:pPr marL="829310" marR="1421765" lvl="1" indent="-314325">
              <a:lnSpc>
                <a:spcPts val="3170"/>
              </a:lnSpc>
              <a:spcBef>
                <a:spcPts val="750"/>
              </a:spcBef>
              <a:buChar char="–"/>
              <a:tabLst>
                <a:tab pos="830580" algn="l"/>
                <a:tab pos="831215" algn="l"/>
              </a:tabLst>
            </a:pPr>
            <a:r>
              <a:rPr sz="2650" spc="-10" dirty="0">
                <a:latin typeface="Times New Roman"/>
                <a:cs typeface="Times New Roman"/>
              </a:rPr>
              <a:t>The</a:t>
            </a:r>
            <a:r>
              <a:rPr sz="2650" spc="-20" dirty="0">
                <a:latin typeface="Times New Roman"/>
                <a:cs typeface="Times New Roman"/>
              </a:rPr>
              <a:t> </a:t>
            </a:r>
            <a:r>
              <a:rPr sz="2650" spc="-5" dirty="0">
                <a:latin typeface="Times New Roman"/>
                <a:cs typeface="Times New Roman"/>
              </a:rPr>
              <a:t>simplest</a:t>
            </a:r>
            <a:r>
              <a:rPr sz="2650" spc="-30" dirty="0">
                <a:latin typeface="Times New Roman"/>
                <a:cs typeface="Times New Roman"/>
              </a:rPr>
              <a:t> </a:t>
            </a:r>
            <a:r>
              <a:rPr sz="2650" spc="-10" dirty="0">
                <a:latin typeface="Times New Roman"/>
                <a:cs typeface="Times New Roman"/>
              </a:rPr>
              <a:t>form</a:t>
            </a:r>
            <a:r>
              <a:rPr sz="2650" spc="-5" dirty="0">
                <a:latin typeface="Times New Roman"/>
                <a:cs typeface="Times New Roman"/>
              </a:rPr>
              <a:t> of</a:t>
            </a:r>
            <a:r>
              <a:rPr sz="2650" spc="-20" dirty="0">
                <a:latin typeface="Times New Roman"/>
                <a:cs typeface="Times New Roman"/>
              </a:rPr>
              <a:t> </a:t>
            </a:r>
            <a:r>
              <a:rPr sz="2650" spc="-5" dirty="0">
                <a:latin typeface="Times New Roman"/>
                <a:cs typeface="Times New Roman"/>
              </a:rPr>
              <a:t>business</a:t>
            </a:r>
            <a:r>
              <a:rPr sz="2650" spc="-35" dirty="0">
                <a:latin typeface="Times New Roman"/>
                <a:cs typeface="Times New Roman"/>
              </a:rPr>
              <a:t> </a:t>
            </a:r>
            <a:r>
              <a:rPr sz="2650" spc="-5" dirty="0">
                <a:latin typeface="Times New Roman"/>
                <a:cs typeface="Times New Roman"/>
              </a:rPr>
              <a:t>entity</a:t>
            </a:r>
            <a:r>
              <a:rPr sz="2650" spc="-30" dirty="0">
                <a:latin typeface="Times New Roman"/>
                <a:cs typeface="Times New Roman"/>
              </a:rPr>
              <a:t> </a:t>
            </a:r>
            <a:r>
              <a:rPr sz="2650" spc="-5" dirty="0">
                <a:latin typeface="Times New Roman"/>
                <a:cs typeface="Times New Roman"/>
              </a:rPr>
              <a:t>is</a:t>
            </a:r>
            <a:r>
              <a:rPr sz="2650" spc="-10" dirty="0">
                <a:latin typeface="Times New Roman"/>
                <a:cs typeface="Times New Roman"/>
              </a:rPr>
              <a:t> </a:t>
            </a:r>
            <a:r>
              <a:rPr sz="2650" spc="-5" dirty="0">
                <a:latin typeface="Times New Roman"/>
                <a:cs typeface="Times New Roman"/>
              </a:rPr>
              <a:t>the</a:t>
            </a:r>
            <a:r>
              <a:rPr sz="2650" spc="-20" dirty="0">
                <a:latin typeface="Times New Roman"/>
                <a:cs typeface="Times New Roman"/>
              </a:rPr>
              <a:t> </a:t>
            </a:r>
            <a:r>
              <a:rPr sz="2650" spc="-5" dirty="0">
                <a:latin typeface="Times New Roman"/>
                <a:cs typeface="Times New Roman"/>
              </a:rPr>
              <a:t>sole </a:t>
            </a:r>
            <a:r>
              <a:rPr sz="2650" spc="-650" dirty="0">
                <a:latin typeface="Times New Roman"/>
                <a:cs typeface="Times New Roman"/>
              </a:rPr>
              <a:t> </a:t>
            </a:r>
            <a:r>
              <a:rPr sz="2650" spc="-10" dirty="0">
                <a:latin typeface="Times New Roman"/>
                <a:cs typeface="Times New Roman"/>
              </a:rPr>
              <a:t>proprietorship.</a:t>
            </a:r>
            <a:endParaRPr sz="2650">
              <a:latin typeface="Times New Roman"/>
              <a:cs typeface="Times New Roman"/>
            </a:endParaRPr>
          </a:p>
          <a:p>
            <a:pPr marL="829310" marR="5080" lvl="1" indent="-314325">
              <a:lnSpc>
                <a:spcPts val="3170"/>
              </a:lnSpc>
              <a:spcBef>
                <a:spcPts val="635"/>
              </a:spcBef>
              <a:buChar char="–"/>
              <a:tabLst>
                <a:tab pos="830580" algn="l"/>
                <a:tab pos="831215" algn="l"/>
              </a:tabLst>
            </a:pPr>
            <a:r>
              <a:rPr sz="2650" spc="-10" dirty="0">
                <a:latin typeface="Times New Roman"/>
                <a:cs typeface="Times New Roman"/>
              </a:rPr>
              <a:t>A </a:t>
            </a:r>
            <a:r>
              <a:rPr sz="2650" spc="-5" dirty="0">
                <a:latin typeface="Times New Roman"/>
                <a:cs typeface="Times New Roman"/>
              </a:rPr>
              <a:t>sole</a:t>
            </a:r>
            <a:r>
              <a:rPr sz="2650" spc="-15" dirty="0">
                <a:latin typeface="Times New Roman"/>
                <a:cs typeface="Times New Roman"/>
              </a:rPr>
              <a:t> </a:t>
            </a:r>
            <a:r>
              <a:rPr sz="2650" spc="-10" dirty="0">
                <a:latin typeface="Times New Roman"/>
                <a:cs typeface="Times New Roman"/>
              </a:rPr>
              <a:t>proprietorship</a:t>
            </a:r>
            <a:r>
              <a:rPr sz="2650" spc="-5" dirty="0">
                <a:latin typeface="Times New Roman"/>
                <a:cs typeface="Times New Roman"/>
              </a:rPr>
              <a:t> is a</a:t>
            </a:r>
            <a:r>
              <a:rPr sz="2650" spc="-10" dirty="0">
                <a:latin typeface="Times New Roman"/>
                <a:cs typeface="Times New Roman"/>
              </a:rPr>
              <a:t> form</a:t>
            </a:r>
            <a:r>
              <a:rPr sz="2650"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10" dirty="0">
                <a:latin typeface="Times New Roman"/>
                <a:cs typeface="Times New Roman"/>
              </a:rPr>
              <a:t>business</a:t>
            </a:r>
            <a:r>
              <a:rPr sz="2650" spc="-5" dirty="0">
                <a:latin typeface="Times New Roman"/>
                <a:cs typeface="Times New Roman"/>
              </a:rPr>
              <a:t> organization </a:t>
            </a:r>
            <a:r>
              <a:rPr sz="2650" dirty="0">
                <a:latin typeface="Times New Roman"/>
                <a:cs typeface="Times New Roman"/>
              </a:rPr>
              <a:t> </a:t>
            </a:r>
            <a:r>
              <a:rPr sz="2650" spc="-10" dirty="0">
                <a:latin typeface="Times New Roman"/>
                <a:cs typeface="Times New Roman"/>
              </a:rPr>
              <a:t>involving </a:t>
            </a:r>
            <a:r>
              <a:rPr sz="2650" spc="-5" dirty="0">
                <a:latin typeface="Times New Roman"/>
                <a:cs typeface="Times New Roman"/>
              </a:rPr>
              <a:t>one person, </a:t>
            </a:r>
            <a:r>
              <a:rPr sz="2650" spc="-10" dirty="0">
                <a:latin typeface="Times New Roman"/>
                <a:cs typeface="Times New Roman"/>
              </a:rPr>
              <a:t>and </a:t>
            </a:r>
            <a:r>
              <a:rPr sz="2650" spc="-5" dirty="0">
                <a:latin typeface="Times New Roman"/>
                <a:cs typeface="Times New Roman"/>
              </a:rPr>
              <a:t>the person </a:t>
            </a:r>
            <a:r>
              <a:rPr sz="2650" dirty="0">
                <a:latin typeface="Times New Roman"/>
                <a:cs typeface="Times New Roman"/>
              </a:rPr>
              <a:t>and </a:t>
            </a:r>
            <a:r>
              <a:rPr sz="2650" spc="-5" dirty="0">
                <a:latin typeface="Times New Roman"/>
                <a:cs typeface="Times New Roman"/>
              </a:rPr>
              <a:t>the </a:t>
            </a:r>
            <a:r>
              <a:rPr sz="2650" spc="-10" dirty="0">
                <a:latin typeface="Times New Roman"/>
                <a:cs typeface="Times New Roman"/>
              </a:rPr>
              <a:t>business </a:t>
            </a:r>
            <a:r>
              <a:rPr sz="2650" spc="-5" dirty="0">
                <a:latin typeface="Times New Roman"/>
                <a:cs typeface="Times New Roman"/>
              </a:rPr>
              <a:t>are </a:t>
            </a:r>
            <a:r>
              <a:rPr sz="2650" spc="-650" dirty="0">
                <a:latin typeface="Times New Roman"/>
                <a:cs typeface="Times New Roman"/>
              </a:rPr>
              <a:t> </a:t>
            </a:r>
            <a:r>
              <a:rPr sz="2650" spc="-5" dirty="0">
                <a:latin typeface="Times New Roman"/>
                <a:cs typeface="Times New Roman"/>
              </a:rPr>
              <a:t>essentially</a:t>
            </a:r>
            <a:r>
              <a:rPr sz="2650" spc="-65"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5" dirty="0">
                <a:latin typeface="Times New Roman"/>
                <a:cs typeface="Times New Roman"/>
              </a:rPr>
              <a:t>same.</a:t>
            </a:r>
            <a:endParaRPr sz="2650">
              <a:latin typeface="Times New Roman"/>
              <a:cs typeface="Times New Roman"/>
            </a:endParaRPr>
          </a:p>
          <a:p>
            <a:pPr marL="829310" marR="283210" lvl="1" indent="-314325" algn="just">
              <a:lnSpc>
                <a:spcPts val="3170"/>
              </a:lnSpc>
              <a:spcBef>
                <a:spcPts val="620"/>
              </a:spcBef>
              <a:buChar char="–"/>
              <a:tabLst>
                <a:tab pos="831215" algn="l"/>
              </a:tabLst>
            </a:pPr>
            <a:r>
              <a:rPr sz="2650" spc="-10" dirty="0">
                <a:latin typeface="Times New Roman"/>
                <a:cs typeface="Times New Roman"/>
              </a:rPr>
              <a:t>A </a:t>
            </a:r>
            <a:r>
              <a:rPr sz="2650" spc="-5" dirty="0">
                <a:latin typeface="Times New Roman"/>
                <a:cs typeface="Times New Roman"/>
              </a:rPr>
              <a:t>sole </a:t>
            </a:r>
            <a:r>
              <a:rPr sz="2650" spc="-10" dirty="0">
                <a:latin typeface="Times New Roman"/>
                <a:cs typeface="Times New Roman"/>
              </a:rPr>
              <a:t>proprietorship </a:t>
            </a:r>
            <a:r>
              <a:rPr sz="2650" spc="-5" dirty="0">
                <a:latin typeface="Times New Roman"/>
                <a:cs typeface="Times New Roman"/>
              </a:rPr>
              <a:t>is not a </a:t>
            </a:r>
            <a:r>
              <a:rPr sz="2650" spc="-10" dirty="0">
                <a:latin typeface="Times New Roman"/>
                <a:cs typeface="Times New Roman"/>
              </a:rPr>
              <a:t>separate legal </a:t>
            </a:r>
            <a:r>
              <a:rPr sz="2650" spc="-5" dirty="0">
                <a:latin typeface="Times New Roman"/>
                <a:cs typeface="Times New Roman"/>
              </a:rPr>
              <a:t>entity.</a:t>
            </a:r>
            <a:r>
              <a:rPr sz="2650" dirty="0">
                <a:latin typeface="Times New Roman"/>
                <a:cs typeface="Times New Roman"/>
              </a:rPr>
              <a:t> </a:t>
            </a:r>
            <a:r>
              <a:rPr sz="2650" spc="-20" dirty="0">
                <a:latin typeface="Times New Roman"/>
                <a:cs typeface="Times New Roman"/>
              </a:rPr>
              <a:t>The </a:t>
            </a:r>
            <a:r>
              <a:rPr sz="2650" spc="-650" dirty="0">
                <a:latin typeface="Times New Roman"/>
                <a:cs typeface="Times New Roman"/>
              </a:rPr>
              <a:t> </a:t>
            </a:r>
            <a:r>
              <a:rPr sz="2650" spc="-5" dirty="0">
                <a:latin typeface="Times New Roman"/>
                <a:cs typeface="Times New Roman"/>
              </a:rPr>
              <a:t>sole </a:t>
            </a:r>
            <a:r>
              <a:rPr sz="2650" spc="-10" dirty="0">
                <a:latin typeface="Times New Roman"/>
                <a:cs typeface="Times New Roman"/>
              </a:rPr>
              <a:t>proprietor </a:t>
            </a:r>
            <a:r>
              <a:rPr sz="2650" spc="-5" dirty="0">
                <a:latin typeface="Times New Roman"/>
                <a:cs typeface="Times New Roman"/>
              </a:rPr>
              <a:t>is responsible </a:t>
            </a:r>
            <a:r>
              <a:rPr sz="2650" spc="-10" dirty="0">
                <a:latin typeface="Times New Roman"/>
                <a:cs typeface="Times New Roman"/>
              </a:rPr>
              <a:t>for all </a:t>
            </a:r>
            <a:r>
              <a:rPr sz="2650" spc="-15" dirty="0">
                <a:latin typeface="Times New Roman"/>
                <a:cs typeface="Times New Roman"/>
              </a:rPr>
              <a:t>the </a:t>
            </a:r>
            <a:r>
              <a:rPr sz="2650" spc="-5" dirty="0">
                <a:latin typeface="Times New Roman"/>
                <a:cs typeface="Times New Roman"/>
              </a:rPr>
              <a:t>liabilities of </a:t>
            </a:r>
            <a:r>
              <a:rPr sz="2650" spc="-15" dirty="0">
                <a:latin typeface="Times New Roman"/>
                <a:cs typeface="Times New Roman"/>
              </a:rPr>
              <a:t>the </a:t>
            </a:r>
            <a:r>
              <a:rPr sz="2650" spc="-650" dirty="0">
                <a:latin typeface="Times New Roman"/>
                <a:cs typeface="Times New Roman"/>
              </a:rPr>
              <a:t> </a:t>
            </a:r>
            <a:r>
              <a:rPr sz="2650" spc="-5" dirty="0">
                <a:latin typeface="Times New Roman"/>
                <a:cs typeface="Times New Roman"/>
              </a:rPr>
              <a:t>business,</a:t>
            </a:r>
            <a:r>
              <a:rPr sz="2650" spc="-30" dirty="0">
                <a:latin typeface="Times New Roman"/>
                <a:cs typeface="Times New Roman"/>
              </a:rPr>
              <a:t> </a:t>
            </a:r>
            <a:r>
              <a:rPr sz="2650" dirty="0">
                <a:latin typeface="Times New Roman"/>
                <a:cs typeface="Times New Roman"/>
              </a:rPr>
              <a:t>and</a:t>
            </a:r>
            <a:r>
              <a:rPr sz="2650" spc="-30" dirty="0">
                <a:latin typeface="Times New Roman"/>
                <a:cs typeface="Times New Roman"/>
              </a:rPr>
              <a:t> </a:t>
            </a:r>
            <a:r>
              <a:rPr sz="2650" spc="-5" dirty="0">
                <a:latin typeface="Times New Roman"/>
                <a:cs typeface="Times New Roman"/>
              </a:rPr>
              <a:t>this </a:t>
            </a:r>
            <a:r>
              <a:rPr sz="2650" spc="-20" dirty="0">
                <a:latin typeface="Times New Roman"/>
                <a:cs typeface="Times New Roman"/>
              </a:rPr>
              <a:t>is</a:t>
            </a:r>
            <a:r>
              <a:rPr sz="2650" dirty="0">
                <a:latin typeface="Times New Roman"/>
                <a:cs typeface="Times New Roman"/>
              </a:rPr>
              <a:t> </a:t>
            </a:r>
            <a:r>
              <a:rPr sz="2650" spc="-5" dirty="0">
                <a:latin typeface="Times New Roman"/>
                <a:cs typeface="Times New Roman"/>
              </a:rPr>
              <a:t>a</a:t>
            </a:r>
            <a:r>
              <a:rPr sz="2650" spc="10" dirty="0">
                <a:latin typeface="Times New Roman"/>
                <a:cs typeface="Times New Roman"/>
              </a:rPr>
              <a:t> </a:t>
            </a:r>
            <a:r>
              <a:rPr sz="2650" spc="-10" dirty="0">
                <a:latin typeface="Times New Roman"/>
                <a:cs typeface="Times New Roman"/>
              </a:rPr>
              <a:t>significant</a:t>
            </a:r>
            <a:r>
              <a:rPr sz="2650" spc="-25" dirty="0">
                <a:latin typeface="Times New Roman"/>
                <a:cs typeface="Times New Roman"/>
              </a:rPr>
              <a:t> </a:t>
            </a:r>
            <a:r>
              <a:rPr sz="2650" spc="-10" dirty="0">
                <a:latin typeface="Times New Roman"/>
                <a:cs typeface="Times New Roman"/>
              </a:rPr>
              <a:t>drawback.</a:t>
            </a:r>
            <a:endParaRPr sz="26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spc="5" dirty="0"/>
              <a:t>Sole</a:t>
            </a:r>
            <a:r>
              <a:rPr spc="-20" dirty="0"/>
              <a:t> </a:t>
            </a:r>
            <a:r>
              <a:rPr dirty="0"/>
              <a:t>Proprietorship</a:t>
            </a:r>
          </a:p>
          <a:p>
            <a:pPr algn="ctr">
              <a:lnSpc>
                <a:spcPct val="100000"/>
              </a:lnSpc>
              <a:spcBef>
                <a:spcPts val="60"/>
              </a:spcBef>
            </a:pPr>
            <a:r>
              <a:rPr sz="2200" spc="-5" dirty="0"/>
              <a:t>1</a:t>
            </a:r>
            <a:r>
              <a:rPr sz="2200" spc="-35" dirty="0"/>
              <a:t> </a:t>
            </a:r>
            <a:r>
              <a:rPr sz="2200" spc="-5" dirty="0"/>
              <a:t>of</a:t>
            </a:r>
            <a:r>
              <a:rPr sz="2200" spc="-1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839835" cy="3509935"/>
          </a:xfrm>
          <a:prstGeom prst="rect">
            <a:avLst/>
          </a:prstGeom>
        </p:spPr>
        <p:txBody>
          <a:bodyPr vert="horz" wrap="square" lIns="0" tIns="87630" rIns="0" bIns="0" rtlCol="0">
            <a:spAutoFit/>
          </a:bodyPr>
          <a:lstStyle/>
          <a:p>
            <a:pPr marL="12700">
              <a:lnSpc>
                <a:spcPct val="100000"/>
              </a:lnSpc>
              <a:spcBef>
                <a:spcPts val="690"/>
              </a:spcBef>
            </a:pPr>
            <a:r>
              <a:rPr sz="2400" u="heavy" spc="-5" dirty="0">
                <a:uFill>
                  <a:solidFill>
                    <a:srgbClr val="000000"/>
                  </a:solidFill>
                </a:uFill>
                <a:latin typeface="Times New Roman"/>
                <a:cs typeface="Times New Roman"/>
              </a:rPr>
              <a:t>Advantages</a:t>
            </a:r>
            <a:r>
              <a:rPr sz="2400" u="heavy"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of</a:t>
            </a:r>
            <a:r>
              <a:rPr sz="2400" u="heavy" spc="-10"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a</a:t>
            </a:r>
            <a:r>
              <a:rPr sz="2400" u="heavy" spc="-10"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Sole</a:t>
            </a:r>
            <a:r>
              <a:rPr sz="2400" u="heavy" spc="10"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Proprietorship</a:t>
            </a:r>
            <a:endParaRPr sz="2400" dirty="0">
              <a:latin typeface="Times New Roman"/>
              <a:cs typeface="Times New Roman"/>
            </a:endParaRPr>
          </a:p>
          <a:p>
            <a:pPr marL="210820" indent="-198755">
              <a:lnSpc>
                <a:spcPct val="100000"/>
              </a:lnSpc>
              <a:spcBef>
                <a:spcPts val="585"/>
              </a:spcBef>
              <a:buFont typeface="Wingdings"/>
              <a:buChar char=""/>
              <a:tabLst>
                <a:tab pos="211454" algn="l"/>
              </a:tabLst>
            </a:pPr>
            <a:r>
              <a:rPr sz="2200" spc="-5" dirty="0">
                <a:latin typeface="Times New Roman"/>
                <a:cs typeface="Times New Roman"/>
              </a:rPr>
              <a:t>Creating</a:t>
            </a:r>
            <a:r>
              <a:rPr sz="2200" spc="-30" dirty="0">
                <a:latin typeface="Times New Roman"/>
                <a:cs typeface="Times New Roman"/>
              </a:rPr>
              <a:t> </a:t>
            </a:r>
            <a:r>
              <a:rPr sz="2200" dirty="0">
                <a:latin typeface="Times New Roman"/>
                <a:cs typeface="Times New Roman"/>
              </a:rPr>
              <a:t>one</a:t>
            </a:r>
            <a:r>
              <a:rPr sz="2200" spc="-1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10" dirty="0">
                <a:latin typeface="Times New Roman"/>
                <a:cs typeface="Times New Roman"/>
              </a:rPr>
              <a:t>easy </a:t>
            </a:r>
            <a:r>
              <a:rPr sz="2200" dirty="0">
                <a:latin typeface="Times New Roman"/>
                <a:cs typeface="Times New Roman"/>
              </a:rPr>
              <a:t>and</a:t>
            </a:r>
            <a:r>
              <a:rPr sz="2200" spc="-5" dirty="0">
                <a:latin typeface="Times New Roman"/>
                <a:cs typeface="Times New Roman"/>
              </a:rPr>
              <a:t> inexpensive.</a:t>
            </a:r>
            <a:endParaRPr sz="2200" dirty="0">
              <a:latin typeface="Times New Roman"/>
              <a:cs typeface="Times New Roman"/>
            </a:endParaRPr>
          </a:p>
          <a:p>
            <a:pPr marL="206375" marR="246379" indent="-206375">
              <a:lnSpc>
                <a:spcPts val="3960"/>
              </a:lnSpc>
              <a:spcBef>
                <a:spcPts val="295"/>
              </a:spcBef>
              <a:buFont typeface="Wingdings"/>
              <a:buChar char=""/>
              <a:tabLst>
                <a:tab pos="206375" algn="l"/>
              </a:tabLst>
            </a:pPr>
            <a:r>
              <a:rPr sz="2200" spc="-5" dirty="0">
                <a:latin typeface="Times New Roman"/>
                <a:cs typeface="Times New Roman"/>
              </a:rPr>
              <a:t>The owner </a:t>
            </a:r>
            <a:r>
              <a:rPr sz="2200" spc="-5" dirty="0" smtClean="0">
                <a:latin typeface="Times New Roman"/>
                <a:cs typeface="Times New Roman"/>
              </a:rPr>
              <a:t>maintains</a:t>
            </a:r>
            <a:r>
              <a:rPr lang="en-US" sz="2200" spc="-5" dirty="0" smtClean="0">
                <a:latin typeface="Times New Roman"/>
                <a:cs typeface="Times New Roman"/>
              </a:rPr>
              <a:t> </a:t>
            </a:r>
            <a:r>
              <a:rPr sz="2200" spc="-5" dirty="0" smtClean="0">
                <a:latin typeface="Times New Roman"/>
                <a:cs typeface="Times New Roman"/>
              </a:rPr>
              <a:t>complete </a:t>
            </a:r>
            <a:r>
              <a:rPr sz="2200" spc="-5" dirty="0">
                <a:latin typeface="Times New Roman"/>
                <a:cs typeface="Times New Roman"/>
              </a:rPr>
              <a:t>control of the business </a:t>
            </a:r>
            <a:r>
              <a:rPr sz="2200" dirty="0">
                <a:latin typeface="Times New Roman"/>
                <a:cs typeface="Times New Roman"/>
              </a:rPr>
              <a:t>and </a:t>
            </a:r>
            <a:r>
              <a:rPr sz="2200" spc="-5" dirty="0">
                <a:latin typeface="Times New Roman"/>
                <a:cs typeface="Times New Roman"/>
              </a:rPr>
              <a:t>retains all of the </a:t>
            </a:r>
            <a:r>
              <a:rPr sz="2200" spc="-535" dirty="0">
                <a:latin typeface="Times New Roman"/>
                <a:cs typeface="Times New Roman"/>
              </a:rPr>
              <a:t> </a:t>
            </a:r>
            <a:r>
              <a:rPr sz="2200" spc="-5" dirty="0">
                <a:latin typeface="Times New Roman"/>
                <a:cs typeface="Times New Roman"/>
              </a:rPr>
              <a:t>profits.</a:t>
            </a:r>
            <a:endParaRPr sz="2200" dirty="0">
              <a:latin typeface="Times New Roman"/>
              <a:cs typeface="Times New Roman"/>
            </a:endParaRPr>
          </a:p>
          <a:p>
            <a:pPr marL="210820" indent="-198755">
              <a:lnSpc>
                <a:spcPct val="100000"/>
              </a:lnSpc>
              <a:spcBef>
                <a:spcPts val="235"/>
              </a:spcBef>
              <a:buFont typeface="Wingdings"/>
              <a:buChar char=""/>
              <a:tabLst>
                <a:tab pos="211454" algn="l"/>
              </a:tabLst>
            </a:pPr>
            <a:r>
              <a:rPr sz="2200" spc="-5" dirty="0">
                <a:latin typeface="Times New Roman"/>
                <a:cs typeface="Times New Roman"/>
              </a:rPr>
              <a:t>Business</a:t>
            </a:r>
            <a:r>
              <a:rPr sz="2200" spc="-20" dirty="0">
                <a:latin typeface="Times New Roman"/>
                <a:cs typeface="Times New Roman"/>
              </a:rPr>
              <a:t> </a:t>
            </a:r>
            <a:r>
              <a:rPr sz="2200" spc="-5" dirty="0">
                <a:latin typeface="Times New Roman"/>
                <a:cs typeface="Times New Roman"/>
              </a:rPr>
              <a:t>losses</a:t>
            </a:r>
            <a:r>
              <a:rPr sz="2200" spc="5" dirty="0">
                <a:latin typeface="Times New Roman"/>
                <a:cs typeface="Times New Roman"/>
              </a:rPr>
              <a:t> </a:t>
            </a:r>
            <a:r>
              <a:rPr sz="2200" spc="-5" dirty="0">
                <a:latin typeface="Times New Roman"/>
                <a:cs typeface="Times New Roman"/>
              </a:rPr>
              <a:t>can</a:t>
            </a:r>
            <a:r>
              <a:rPr sz="2200" dirty="0">
                <a:latin typeface="Times New Roman"/>
                <a:cs typeface="Times New Roman"/>
              </a:rPr>
              <a:t> </a:t>
            </a:r>
            <a:r>
              <a:rPr sz="2200" spc="-5" dirty="0">
                <a:latin typeface="Times New Roman"/>
                <a:cs typeface="Times New Roman"/>
              </a:rPr>
              <a:t>be</a:t>
            </a:r>
            <a:r>
              <a:rPr sz="2200" spc="15" dirty="0">
                <a:latin typeface="Times New Roman"/>
                <a:cs typeface="Times New Roman"/>
              </a:rPr>
              <a:t> </a:t>
            </a:r>
            <a:r>
              <a:rPr sz="2200" spc="-5" dirty="0">
                <a:latin typeface="Times New Roman"/>
                <a:cs typeface="Times New Roman"/>
              </a:rPr>
              <a:t>deducted</a:t>
            </a:r>
            <a:r>
              <a:rPr sz="2200" dirty="0">
                <a:latin typeface="Times New Roman"/>
                <a:cs typeface="Times New Roman"/>
              </a:rPr>
              <a:t> </a:t>
            </a:r>
            <a:r>
              <a:rPr sz="2200" spc="-5" dirty="0">
                <a:latin typeface="Times New Roman"/>
                <a:cs typeface="Times New Roman"/>
              </a:rPr>
              <a:t>against</a:t>
            </a:r>
            <a:r>
              <a:rPr sz="2200" spc="-15" dirty="0">
                <a:latin typeface="Times New Roman"/>
                <a:cs typeface="Times New Roman"/>
              </a:rPr>
              <a:t> </a:t>
            </a:r>
            <a:r>
              <a:rPr sz="2200" spc="5" dirty="0">
                <a:latin typeface="Times New Roman"/>
                <a:cs typeface="Times New Roman"/>
              </a:rPr>
              <a:t>the</a:t>
            </a:r>
            <a:r>
              <a:rPr sz="2200" spc="-30" dirty="0">
                <a:latin typeface="Times New Roman"/>
                <a:cs typeface="Times New Roman"/>
              </a:rPr>
              <a:t> </a:t>
            </a:r>
            <a:r>
              <a:rPr sz="2200" spc="-5" dirty="0">
                <a:latin typeface="Times New Roman"/>
                <a:cs typeface="Times New Roman"/>
              </a:rPr>
              <a:t>sole proprietor’s</a:t>
            </a:r>
            <a:r>
              <a:rPr sz="2200" spc="-40" dirty="0">
                <a:latin typeface="Times New Roman"/>
                <a:cs typeface="Times New Roman"/>
              </a:rPr>
              <a:t> </a:t>
            </a:r>
            <a:r>
              <a:rPr sz="2200" dirty="0">
                <a:latin typeface="Times New Roman"/>
                <a:cs typeface="Times New Roman"/>
              </a:rPr>
              <a:t>other</a:t>
            </a:r>
            <a:r>
              <a:rPr sz="2200" spc="-25" dirty="0">
                <a:latin typeface="Times New Roman"/>
                <a:cs typeface="Times New Roman"/>
              </a:rPr>
              <a:t> </a:t>
            </a:r>
            <a:r>
              <a:rPr sz="2200" spc="-5" dirty="0">
                <a:latin typeface="Times New Roman"/>
                <a:cs typeface="Times New Roman"/>
              </a:rPr>
              <a:t>sources</a:t>
            </a:r>
            <a:r>
              <a:rPr sz="2200" spc="-20" dirty="0">
                <a:latin typeface="Times New Roman"/>
                <a:cs typeface="Times New Roman"/>
              </a:rPr>
              <a:t> </a:t>
            </a:r>
            <a:r>
              <a:rPr sz="2200" spc="5" dirty="0">
                <a:latin typeface="Times New Roman"/>
                <a:cs typeface="Times New Roman"/>
              </a:rPr>
              <a:t>of</a:t>
            </a:r>
            <a:endParaRPr sz="2200" dirty="0">
              <a:latin typeface="Times New Roman"/>
              <a:cs typeface="Times New Roman"/>
            </a:endParaRPr>
          </a:p>
          <a:p>
            <a:pPr marL="220979">
              <a:lnSpc>
                <a:spcPct val="100000"/>
              </a:lnSpc>
              <a:spcBef>
                <a:spcPts val="525"/>
              </a:spcBef>
            </a:pPr>
            <a:r>
              <a:rPr sz="2200" spc="-5" dirty="0">
                <a:latin typeface="Times New Roman"/>
                <a:cs typeface="Times New Roman"/>
              </a:rPr>
              <a:t>income.</a:t>
            </a:r>
            <a:endParaRPr sz="2200" dirty="0">
              <a:latin typeface="Times New Roman"/>
              <a:cs typeface="Times New Roman"/>
            </a:endParaRPr>
          </a:p>
          <a:p>
            <a:pPr marL="210820" indent="-198755">
              <a:lnSpc>
                <a:spcPct val="100000"/>
              </a:lnSpc>
              <a:spcBef>
                <a:spcPts val="530"/>
              </a:spcBef>
              <a:buFont typeface="Wingdings"/>
              <a:buChar char=""/>
              <a:tabLst>
                <a:tab pos="211454" algn="l"/>
              </a:tabLst>
            </a:pPr>
            <a:r>
              <a:rPr sz="2200" spc="-10" dirty="0">
                <a:latin typeface="Times New Roman"/>
                <a:cs typeface="Times New Roman"/>
              </a:rPr>
              <a:t>It</a:t>
            </a:r>
            <a:r>
              <a:rPr sz="2200" dirty="0">
                <a:latin typeface="Times New Roman"/>
                <a:cs typeface="Times New Roman"/>
              </a:rPr>
              <a:t> </a:t>
            </a:r>
            <a:r>
              <a:rPr sz="2200" spc="-5" dirty="0">
                <a:latin typeface="Times New Roman"/>
                <a:cs typeface="Times New Roman"/>
              </a:rPr>
              <a:t>is</a:t>
            </a:r>
            <a:r>
              <a:rPr sz="2200" spc="-25" dirty="0">
                <a:latin typeface="Times New Roman"/>
                <a:cs typeface="Times New Roman"/>
              </a:rPr>
              <a:t> </a:t>
            </a:r>
            <a:r>
              <a:rPr sz="2200" spc="5" dirty="0">
                <a:latin typeface="Times New Roman"/>
                <a:cs typeface="Times New Roman"/>
              </a:rPr>
              <a:t>not</a:t>
            </a:r>
            <a:r>
              <a:rPr sz="2200" spc="-20" dirty="0">
                <a:latin typeface="Times New Roman"/>
                <a:cs typeface="Times New Roman"/>
              </a:rPr>
              <a:t> </a:t>
            </a:r>
            <a:r>
              <a:rPr sz="2200" spc="-5" dirty="0">
                <a:latin typeface="Times New Roman"/>
                <a:cs typeface="Times New Roman"/>
              </a:rPr>
              <a:t>subject</a:t>
            </a:r>
            <a:r>
              <a:rPr sz="2200" spc="-20" dirty="0">
                <a:latin typeface="Times New Roman"/>
                <a:cs typeface="Times New Roman"/>
              </a:rPr>
              <a:t> </a:t>
            </a:r>
            <a:r>
              <a:rPr sz="2200" spc="-5" dirty="0">
                <a:latin typeface="Times New Roman"/>
                <a:cs typeface="Times New Roman"/>
              </a:rPr>
              <a:t>to</a:t>
            </a:r>
            <a:r>
              <a:rPr sz="2200" spc="-25" dirty="0">
                <a:latin typeface="Times New Roman"/>
                <a:cs typeface="Times New Roman"/>
              </a:rPr>
              <a:t> </a:t>
            </a:r>
            <a:r>
              <a:rPr sz="2200" dirty="0">
                <a:latin typeface="Times New Roman"/>
                <a:cs typeface="Times New Roman"/>
              </a:rPr>
              <a:t>double</a:t>
            </a:r>
            <a:r>
              <a:rPr sz="2200" spc="-10" dirty="0">
                <a:latin typeface="Times New Roman"/>
                <a:cs typeface="Times New Roman"/>
              </a:rPr>
              <a:t> </a:t>
            </a:r>
            <a:r>
              <a:rPr sz="2200" spc="-5" dirty="0" smtClean="0">
                <a:latin typeface="Times New Roman"/>
                <a:cs typeface="Times New Roman"/>
              </a:rPr>
              <a:t>taxation.</a:t>
            </a:r>
            <a:endParaRPr sz="2200" dirty="0">
              <a:latin typeface="Times New Roman"/>
              <a:cs typeface="Times New Roman"/>
            </a:endParaRPr>
          </a:p>
          <a:p>
            <a:pPr marL="205740" indent="-193675">
              <a:lnSpc>
                <a:spcPct val="100000"/>
              </a:lnSpc>
              <a:spcBef>
                <a:spcPts val="530"/>
              </a:spcBef>
              <a:buFont typeface="Wingdings"/>
              <a:buChar char=""/>
              <a:tabLst>
                <a:tab pos="206375" algn="l"/>
              </a:tabLst>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business</a:t>
            </a:r>
            <a:r>
              <a:rPr sz="2200" spc="-30" dirty="0">
                <a:latin typeface="Times New Roman"/>
                <a:cs typeface="Times New Roman"/>
              </a:rPr>
              <a:t> </a:t>
            </a:r>
            <a:r>
              <a:rPr sz="2200" spc="-5" dirty="0">
                <a:latin typeface="Times New Roman"/>
                <a:cs typeface="Times New Roman"/>
              </a:rPr>
              <a:t>is</a:t>
            </a:r>
            <a:r>
              <a:rPr sz="2200" spc="-10" dirty="0">
                <a:latin typeface="Times New Roman"/>
                <a:cs typeface="Times New Roman"/>
              </a:rPr>
              <a:t> easy</a:t>
            </a:r>
            <a:r>
              <a:rPr sz="2200" spc="15" dirty="0">
                <a:latin typeface="Times New Roman"/>
                <a:cs typeface="Times New Roman"/>
              </a:rPr>
              <a:t> </a:t>
            </a:r>
            <a:r>
              <a:rPr sz="2200" spc="-5" dirty="0">
                <a:latin typeface="Times New Roman"/>
                <a:cs typeface="Times New Roman"/>
              </a:rPr>
              <a:t>to</a:t>
            </a:r>
            <a:r>
              <a:rPr sz="2200" spc="-15" dirty="0">
                <a:latin typeface="Times New Roman"/>
                <a:cs typeface="Times New Roman"/>
              </a:rPr>
              <a:t> </a:t>
            </a:r>
            <a:r>
              <a:rPr sz="2200" spc="-5" dirty="0">
                <a:latin typeface="Times New Roman"/>
                <a:cs typeface="Times New Roman"/>
              </a:rPr>
              <a:t>dissolve.</a:t>
            </a:r>
            <a:endParaRPr sz="22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spc="5" dirty="0"/>
              <a:t>Sole</a:t>
            </a:r>
            <a:r>
              <a:rPr spc="-20" dirty="0"/>
              <a:t> </a:t>
            </a:r>
            <a:r>
              <a:rPr dirty="0"/>
              <a:t>Proprietorship</a:t>
            </a:r>
          </a:p>
          <a:p>
            <a:pPr algn="ctr">
              <a:lnSpc>
                <a:spcPct val="100000"/>
              </a:lnSpc>
              <a:spcBef>
                <a:spcPts val="60"/>
              </a:spcBef>
            </a:pPr>
            <a:r>
              <a:rPr sz="2200" spc="-5" dirty="0"/>
              <a:t>2</a:t>
            </a:r>
            <a:r>
              <a:rPr sz="2200" spc="-35" dirty="0"/>
              <a:t> </a:t>
            </a:r>
            <a:r>
              <a:rPr sz="2200" spc="-5" dirty="0"/>
              <a:t>of</a:t>
            </a:r>
            <a:r>
              <a:rPr sz="2200" spc="-1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9287510" cy="3719736"/>
          </a:xfrm>
          <a:prstGeom prst="rect">
            <a:avLst/>
          </a:prstGeom>
        </p:spPr>
        <p:txBody>
          <a:bodyPr vert="horz" wrap="square" lIns="0" tIns="87630" rIns="0" bIns="0" rtlCol="0">
            <a:spAutoFit/>
          </a:bodyPr>
          <a:lstStyle/>
          <a:p>
            <a:pPr marL="12700">
              <a:lnSpc>
                <a:spcPct val="100000"/>
              </a:lnSpc>
              <a:spcBef>
                <a:spcPts val="690"/>
              </a:spcBef>
            </a:pPr>
            <a:r>
              <a:rPr sz="2400" u="heavy" spc="-5" dirty="0">
                <a:uFill>
                  <a:solidFill>
                    <a:srgbClr val="000000"/>
                  </a:solidFill>
                </a:uFill>
                <a:latin typeface="Times New Roman"/>
                <a:cs typeface="Times New Roman"/>
              </a:rPr>
              <a:t>Disadvantages</a:t>
            </a:r>
            <a:r>
              <a:rPr sz="2400" u="heavy"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of a</a:t>
            </a:r>
            <a:r>
              <a:rPr sz="2400" u="heavy" spc="-10"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Sole Proprietorship</a:t>
            </a:r>
            <a:endParaRPr sz="2400" dirty="0">
              <a:latin typeface="Times New Roman"/>
              <a:cs typeface="Times New Roman"/>
            </a:endParaRPr>
          </a:p>
          <a:p>
            <a:pPr marL="210820" indent="-198755">
              <a:lnSpc>
                <a:spcPct val="100000"/>
              </a:lnSpc>
              <a:spcBef>
                <a:spcPts val="585"/>
              </a:spcBef>
              <a:buFont typeface="Wingdings"/>
              <a:buChar char=""/>
              <a:tabLst>
                <a:tab pos="211454" algn="l"/>
              </a:tabLst>
            </a:pPr>
            <a:r>
              <a:rPr sz="2200" spc="-10" dirty="0">
                <a:latin typeface="Times New Roman"/>
                <a:cs typeface="Times New Roman"/>
              </a:rPr>
              <a:t>L</a:t>
            </a:r>
            <a:r>
              <a:rPr sz="2200" spc="-5" dirty="0">
                <a:latin typeface="Times New Roman"/>
                <a:cs typeface="Times New Roman"/>
              </a:rPr>
              <a:t>i</a:t>
            </a:r>
            <a:r>
              <a:rPr sz="2200" spc="-15" dirty="0">
                <a:latin typeface="Times New Roman"/>
                <a:cs typeface="Times New Roman"/>
              </a:rPr>
              <a:t>a</a:t>
            </a:r>
            <a:r>
              <a:rPr sz="2200" spc="15" dirty="0">
                <a:latin typeface="Times New Roman"/>
                <a:cs typeface="Times New Roman"/>
              </a:rPr>
              <a:t>b</a:t>
            </a:r>
            <a:r>
              <a:rPr sz="2200" spc="-25" dirty="0">
                <a:latin typeface="Times New Roman"/>
                <a:cs typeface="Times New Roman"/>
              </a:rPr>
              <a:t>i</a:t>
            </a:r>
            <a:r>
              <a:rPr sz="2200" spc="-5" dirty="0">
                <a:latin typeface="Times New Roman"/>
                <a:cs typeface="Times New Roman"/>
              </a:rPr>
              <a:t>lity</a:t>
            </a:r>
            <a:r>
              <a:rPr sz="2200" spc="-25" dirty="0">
                <a:latin typeface="Times New Roman"/>
                <a:cs typeface="Times New Roman"/>
              </a:rPr>
              <a:t> </a:t>
            </a:r>
            <a:r>
              <a:rPr sz="2200" spc="-5" dirty="0">
                <a:latin typeface="Times New Roman"/>
                <a:cs typeface="Times New Roman"/>
              </a:rPr>
              <a:t>on the</a:t>
            </a:r>
            <a:r>
              <a:rPr sz="2200" spc="-10" dirty="0">
                <a:latin typeface="Times New Roman"/>
                <a:cs typeface="Times New Roman"/>
              </a:rPr>
              <a:t> </a:t>
            </a:r>
            <a:r>
              <a:rPr sz="2200" spc="-5" dirty="0">
                <a:latin typeface="Times New Roman"/>
                <a:cs typeface="Times New Roman"/>
              </a:rPr>
              <a:t>o</a:t>
            </a:r>
            <a:r>
              <a:rPr sz="2200" spc="-10" dirty="0">
                <a:latin typeface="Times New Roman"/>
                <a:cs typeface="Times New Roman"/>
              </a:rPr>
              <a:t>w</a:t>
            </a:r>
            <a:r>
              <a:rPr sz="2200" spc="15" dirty="0">
                <a:latin typeface="Times New Roman"/>
                <a:cs typeface="Times New Roman"/>
              </a:rPr>
              <a:t>n</a:t>
            </a:r>
            <a:r>
              <a:rPr sz="2200" spc="-15" dirty="0">
                <a:latin typeface="Times New Roman"/>
                <a:cs typeface="Times New Roman"/>
              </a:rPr>
              <a:t>er</a:t>
            </a:r>
            <a:r>
              <a:rPr sz="2200" spc="-5" dirty="0">
                <a:latin typeface="Times New Roman"/>
                <a:cs typeface="Times New Roman"/>
              </a:rPr>
              <a:t>s’</a:t>
            </a:r>
            <a:r>
              <a:rPr sz="2200" spc="-165" dirty="0">
                <a:latin typeface="Times New Roman"/>
                <a:cs typeface="Times New Roman"/>
              </a:rPr>
              <a:t> </a:t>
            </a:r>
            <a:r>
              <a:rPr sz="2200" spc="-5" dirty="0">
                <a:latin typeface="Times New Roman"/>
                <a:cs typeface="Times New Roman"/>
              </a:rPr>
              <a:t>p</a:t>
            </a:r>
            <a:r>
              <a:rPr sz="2200" spc="-15" dirty="0">
                <a:latin typeface="Times New Roman"/>
                <a:cs typeface="Times New Roman"/>
              </a:rPr>
              <a:t>a</a:t>
            </a:r>
            <a:r>
              <a:rPr sz="2200" spc="10" dirty="0">
                <a:latin typeface="Times New Roman"/>
                <a:cs typeface="Times New Roman"/>
              </a:rPr>
              <a:t>r</a:t>
            </a:r>
            <a:r>
              <a:rPr sz="2200" spc="-5" dirty="0">
                <a:latin typeface="Times New Roman"/>
                <a:cs typeface="Times New Roman"/>
              </a:rPr>
              <a:t>t</a:t>
            </a:r>
            <a:r>
              <a:rPr sz="2200" spc="-2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u</a:t>
            </a:r>
            <a:r>
              <a:rPr sz="2200" spc="15" dirty="0">
                <a:latin typeface="Times New Roman"/>
                <a:cs typeface="Times New Roman"/>
              </a:rPr>
              <a:t>n</a:t>
            </a:r>
            <a:r>
              <a:rPr sz="2200" spc="-25" dirty="0">
                <a:latin typeface="Times New Roman"/>
                <a:cs typeface="Times New Roman"/>
              </a:rPr>
              <a:t>l</a:t>
            </a:r>
            <a:r>
              <a:rPr sz="2200" spc="-5" dirty="0">
                <a:latin typeface="Times New Roman"/>
                <a:cs typeface="Times New Roman"/>
              </a:rPr>
              <a:t>i</a:t>
            </a:r>
            <a:r>
              <a:rPr sz="2200" spc="-25" dirty="0">
                <a:latin typeface="Times New Roman"/>
                <a:cs typeface="Times New Roman"/>
              </a:rPr>
              <a:t>m</a:t>
            </a:r>
            <a:r>
              <a:rPr sz="2200" spc="-5" dirty="0">
                <a:latin typeface="Times New Roman"/>
                <a:cs typeface="Times New Roman"/>
              </a:rPr>
              <a:t>it</a:t>
            </a:r>
            <a:r>
              <a:rPr sz="2200" spc="-15" dirty="0">
                <a:latin typeface="Times New Roman"/>
                <a:cs typeface="Times New Roman"/>
              </a:rPr>
              <a:t>e</a:t>
            </a:r>
            <a:r>
              <a:rPr sz="2200" spc="15" dirty="0">
                <a:latin typeface="Times New Roman"/>
                <a:cs typeface="Times New Roman"/>
              </a:rPr>
              <a:t>d</a:t>
            </a:r>
            <a:r>
              <a:rPr sz="2200" spc="-5" dirty="0">
                <a:latin typeface="Times New Roman"/>
                <a:cs typeface="Times New Roman"/>
              </a:rPr>
              <a:t>.</a:t>
            </a:r>
            <a:endParaRPr sz="2200" dirty="0">
              <a:latin typeface="Times New Roman"/>
              <a:cs typeface="Times New Roman"/>
            </a:endParaRPr>
          </a:p>
          <a:p>
            <a:pPr marL="206375" marR="5080" indent="-206375">
              <a:lnSpc>
                <a:spcPct val="120000"/>
              </a:lnSpc>
              <a:buFont typeface="Wingdings"/>
              <a:buChar char=""/>
              <a:tabLst>
                <a:tab pos="206375" algn="l"/>
              </a:tabLst>
            </a:pPr>
            <a:r>
              <a:rPr sz="2200" spc="-5" dirty="0">
                <a:latin typeface="Times New Roman"/>
                <a:cs typeface="Times New Roman"/>
              </a:rPr>
              <a:t>The business relies on the skills </a:t>
            </a:r>
            <a:r>
              <a:rPr sz="2200" dirty="0">
                <a:latin typeface="Times New Roman"/>
                <a:cs typeface="Times New Roman"/>
              </a:rPr>
              <a:t>and </a:t>
            </a:r>
            <a:r>
              <a:rPr sz="2200" spc="-5" dirty="0">
                <a:latin typeface="Times New Roman"/>
                <a:cs typeface="Times New Roman"/>
              </a:rPr>
              <a:t>abilities of a </a:t>
            </a:r>
            <a:r>
              <a:rPr sz="2200" dirty="0">
                <a:latin typeface="Times New Roman"/>
                <a:cs typeface="Times New Roman"/>
              </a:rPr>
              <a:t>single </a:t>
            </a:r>
            <a:r>
              <a:rPr sz="2200" spc="-5" dirty="0">
                <a:latin typeface="Times New Roman"/>
                <a:cs typeface="Times New Roman"/>
              </a:rPr>
              <a:t>owner to </a:t>
            </a:r>
            <a:r>
              <a:rPr sz="2200" spc="5" dirty="0">
                <a:latin typeface="Times New Roman"/>
                <a:cs typeface="Times New Roman"/>
              </a:rPr>
              <a:t>be </a:t>
            </a:r>
            <a:r>
              <a:rPr sz="2200" spc="-5" dirty="0">
                <a:latin typeface="Times New Roman"/>
                <a:cs typeface="Times New Roman"/>
              </a:rPr>
              <a:t>successful. </a:t>
            </a:r>
            <a:r>
              <a:rPr sz="2200"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course,</a:t>
            </a:r>
            <a:r>
              <a:rPr sz="2200" dirty="0">
                <a:latin typeface="Times New Roman"/>
                <a:cs typeface="Times New Roman"/>
              </a:rPr>
              <a:t> </a:t>
            </a:r>
            <a:r>
              <a:rPr sz="2200" spc="-5" dirty="0">
                <a:latin typeface="Times New Roman"/>
                <a:cs typeface="Times New Roman"/>
              </a:rPr>
              <a:t>the</a:t>
            </a:r>
            <a:r>
              <a:rPr sz="2200" spc="15" dirty="0">
                <a:latin typeface="Times New Roman"/>
                <a:cs typeface="Times New Roman"/>
              </a:rPr>
              <a:t> </a:t>
            </a:r>
            <a:r>
              <a:rPr sz="2200" spc="-5" dirty="0">
                <a:latin typeface="Times New Roman"/>
                <a:cs typeface="Times New Roman"/>
              </a:rPr>
              <a:t>owner</a:t>
            </a:r>
            <a:r>
              <a:rPr sz="2200" spc="-10" dirty="0">
                <a:latin typeface="Times New Roman"/>
                <a:cs typeface="Times New Roman"/>
              </a:rPr>
              <a:t> </a:t>
            </a:r>
            <a:r>
              <a:rPr sz="2200" spc="-5" dirty="0">
                <a:latin typeface="Times New Roman"/>
                <a:cs typeface="Times New Roman"/>
              </a:rPr>
              <a:t>can</a:t>
            </a:r>
            <a:r>
              <a:rPr sz="2200" dirty="0">
                <a:latin typeface="Times New Roman"/>
                <a:cs typeface="Times New Roman"/>
              </a:rPr>
              <a:t> </a:t>
            </a:r>
            <a:r>
              <a:rPr sz="2200" spc="-5" dirty="0">
                <a:latin typeface="Times New Roman"/>
                <a:cs typeface="Times New Roman"/>
              </a:rPr>
              <a:t>hire employees</a:t>
            </a:r>
            <a:r>
              <a:rPr sz="2200" dirty="0">
                <a:latin typeface="Times New Roman"/>
                <a:cs typeface="Times New Roman"/>
              </a:rPr>
              <a:t> who have</a:t>
            </a:r>
            <a:r>
              <a:rPr sz="2200" spc="-5" dirty="0">
                <a:latin typeface="Times New Roman"/>
                <a:cs typeface="Times New Roman"/>
              </a:rPr>
              <a:t> </a:t>
            </a:r>
            <a:r>
              <a:rPr sz="2200" dirty="0">
                <a:latin typeface="Times New Roman"/>
                <a:cs typeface="Times New Roman"/>
              </a:rPr>
              <a:t>additional</a:t>
            </a:r>
            <a:r>
              <a:rPr sz="2200" spc="-65" dirty="0">
                <a:latin typeface="Times New Roman"/>
                <a:cs typeface="Times New Roman"/>
              </a:rPr>
              <a:t> </a:t>
            </a:r>
            <a:r>
              <a:rPr sz="2200" spc="-5" dirty="0">
                <a:latin typeface="Times New Roman"/>
                <a:cs typeface="Times New Roman"/>
              </a:rPr>
              <a:t>skills</a:t>
            </a:r>
            <a:r>
              <a:rPr sz="2200" spc="-20" dirty="0">
                <a:latin typeface="Times New Roman"/>
                <a:cs typeface="Times New Roman"/>
              </a:rPr>
              <a:t> </a:t>
            </a:r>
            <a:r>
              <a:rPr sz="2200" spc="-10" dirty="0">
                <a:latin typeface="Times New Roman"/>
                <a:cs typeface="Times New Roman"/>
              </a:rPr>
              <a:t>and</a:t>
            </a:r>
            <a:r>
              <a:rPr sz="2200" spc="25" dirty="0">
                <a:latin typeface="Times New Roman"/>
                <a:cs typeface="Times New Roman"/>
              </a:rPr>
              <a:t> </a:t>
            </a:r>
            <a:r>
              <a:rPr sz="2200" spc="-5" dirty="0">
                <a:latin typeface="Times New Roman"/>
                <a:cs typeface="Times New Roman"/>
              </a:rPr>
              <a:t>abilities.</a:t>
            </a:r>
            <a:endParaRPr sz="2200" dirty="0">
              <a:latin typeface="Times New Roman"/>
              <a:cs typeface="Times New Roman"/>
            </a:endParaRPr>
          </a:p>
          <a:p>
            <a:pPr marL="205740" indent="-193675">
              <a:lnSpc>
                <a:spcPct val="100000"/>
              </a:lnSpc>
              <a:spcBef>
                <a:spcPts val="590"/>
              </a:spcBef>
              <a:buFont typeface="Wingdings"/>
              <a:buChar char=""/>
              <a:tabLst>
                <a:tab pos="206375" algn="l"/>
              </a:tabLst>
            </a:pPr>
            <a:r>
              <a:rPr sz="2200" spc="-5" dirty="0" smtClean="0">
                <a:latin typeface="Times New Roman"/>
                <a:cs typeface="Times New Roman"/>
              </a:rPr>
              <a:t>The</a:t>
            </a:r>
            <a:r>
              <a:rPr sz="2200" spc="15" dirty="0" smtClean="0">
                <a:latin typeface="Times New Roman"/>
                <a:cs typeface="Times New Roman"/>
              </a:rPr>
              <a:t> </a:t>
            </a:r>
            <a:r>
              <a:rPr sz="2200" spc="-5" dirty="0">
                <a:latin typeface="Times New Roman"/>
                <a:cs typeface="Times New Roman"/>
              </a:rPr>
              <a:t>business</a:t>
            </a:r>
            <a:r>
              <a:rPr sz="2200" spc="-25" dirty="0">
                <a:latin typeface="Times New Roman"/>
                <a:cs typeface="Times New Roman"/>
              </a:rPr>
              <a:t> </a:t>
            </a:r>
            <a:r>
              <a:rPr sz="2200" dirty="0">
                <a:latin typeface="Times New Roman"/>
                <a:cs typeface="Times New Roman"/>
              </a:rPr>
              <a:t>ends</a:t>
            </a:r>
            <a:r>
              <a:rPr sz="2200" spc="10" dirty="0">
                <a:latin typeface="Times New Roman"/>
                <a:cs typeface="Times New Roman"/>
              </a:rPr>
              <a:t> </a:t>
            </a:r>
            <a:r>
              <a:rPr sz="2200" spc="-10" dirty="0">
                <a:latin typeface="Times New Roman"/>
                <a:cs typeface="Times New Roman"/>
              </a:rPr>
              <a:t>at</a:t>
            </a:r>
            <a:r>
              <a:rPr sz="2200" spc="5" dirty="0">
                <a:latin typeface="Times New Roman"/>
                <a:cs typeface="Times New Roman"/>
              </a:rPr>
              <a:t> </a:t>
            </a:r>
            <a:r>
              <a:rPr sz="2200" spc="-5" dirty="0">
                <a:latin typeface="Times New Roman"/>
                <a:cs typeface="Times New Roman"/>
              </a:rPr>
              <a:t>the owner’s</a:t>
            </a:r>
            <a:r>
              <a:rPr sz="2200" spc="-25" dirty="0">
                <a:latin typeface="Times New Roman"/>
                <a:cs typeface="Times New Roman"/>
              </a:rPr>
              <a:t> </a:t>
            </a:r>
            <a:r>
              <a:rPr sz="2200" spc="-10" dirty="0">
                <a:latin typeface="Times New Roman"/>
                <a:cs typeface="Times New Roman"/>
              </a:rPr>
              <a:t>death</a:t>
            </a:r>
            <a:r>
              <a:rPr sz="2200" spc="30" dirty="0">
                <a:latin typeface="Times New Roman"/>
                <a:cs typeface="Times New Roman"/>
              </a:rPr>
              <a:t> </a:t>
            </a:r>
            <a:r>
              <a:rPr sz="2200" spc="-5" dirty="0">
                <a:latin typeface="Times New Roman"/>
                <a:cs typeface="Times New Roman"/>
              </a:rPr>
              <a:t>or loss</a:t>
            </a:r>
            <a:r>
              <a:rPr sz="2200" spc="-25" dirty="0">
                <a:latin typeface="Times New Roman"/>
                <a:cs typeface="Times New Roman"/>
              </a:rPr>
              <a:t> </a:t>
            </a:r>
            <a:r>
              <a:rPr sz="2200" spc="-5" dirty="0">
                <a:latin typeface="Times New Roman"/>
                <a:cs typeface="Times New Roman"/>
              </a:rPr>
              <a:t>of interest</a:t>
            </a:r>
            <a:r>
              <a:rPr sz="2200" spc="-15"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the business.</a:t>
            </a:r>
            <a:endParaRPr sz="2200" dirty="0">
              <a:latin typeface="Times New Roman"/>
              <a:cs typeface="Times New Roman"/>
            </a:endParaRPr>
          </a:p>
          <a:p>
            <a:pPr marL="205740" indent="-193675">
              <a:lnSpc>
                <a:spcPct val="100000"/>
              </a:lnSpc>
              <a:spcBef>
                <a:spcPts val="525"/>
              </a:spcBef>
              <a:buFont typeface="Wingdings"/>
              <a:buChar char=""/>
              <a:tabLst>
                <a:tab pos="206375" algn="l"/>
              </a:tabLst>
            </a:pP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liquidity</a:t>
            </a:r>
            <a:r>
              <a:rPr sz="2200" spc="-30" dirty="0">
                <a:latin typeface="Times New Roman"/>
                <a:cs typeface="Times New Roman"/>
              </a:rPr>
              <a:t> </a:t>
            </a:r>
            <a:r>
              <a:rPr sz="2200" spc="-5" dirty="0">
                <a:latin typeface="Times New Roman"/>
                <a:cs typeface="Times New Roman"/>
              </a:rPr>
              <a:t>of</a:t>
            </a:r>
            <a:r>
              <a:rPr sz="2200" spc="-15"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owner’s</a:t>
            </a:r>
            <a:r>
              <a:rPr sz="2200" spc="-30" dirty="0">
                <a:latin typeface="Times New Roman"/>
                <a:cs typeface="Times New Roman"/>
              </a:rPr>
              <a:t> </a:t>
            </a:r>
            <a:r>
              <a:rPr sz="2200" spc="-5" dirty="0">
                <a:latin typeface="Times New Roman"/>
                <a:cs typeface="Times New Roman"/>
              </a:rPr>
              <a:t>investment</a:t>
            </a:r>
            <a:r>
              <a:rPr sz="2200" spc="-25"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40" dirty="0">
                <a:latin typeface="Times New Roman"/>
                <a:cs typeface="Times New Roman"/>
              </a:rPr>
              <a:t>low</a:t>
            </a:r>
            <a:r>
              <a:rPr sz="2200" spc="-40" dirty="0" smtClean="0">
                <a:latin typeface="Times New Roman"/>
                <a:cs typeface="Times New Roman"/>
              </a:rPr>
              <a:t>.</a:t>
            </a:r>
            <a:r>
              <a:rPr lang="en-US" sz="2200" spc="-40" dirty="0">
                <a:latin typeface="Times New Roman"/>
                <a:cs typeface="Times New Roman"/>
              </a:rPr>
              <a:t> (</a:t>
            </a:r>
            <a:r>
              <a:rPr lang="en-US" sz="2200" spc="-40" dirty="0" smtClean="0">
                <a:latin typeface="Times New Roman"/>
                <a:cs typeface="Times New Roman"/>
              </a:rPr>
              <a:t>Liquidity is </a:t>
            </a:r>
            <a:r>
              <a:rPr lang="en-US" sz="2200" spc="-40" dirty="0">
                <a:latin typeface="Times New Roman"/>
                <a:cs typeface="Times New Roman"/>
              </a:rPr>
              <a:t>the ability to sell a business or other asset quickly at </a:t>
            </a:r>
            <a:r>
              <a:rPr lang="en-US" sz="2200" spc="-40" dirty="0" smtClean="0">
                <a:latin typeface="Times New Roman"/>
                <a:cs typeface="Times New Roman"/>
              </a:rPr>
              <a:t>a price </a:t>
            </a:r>
            <a:r>
              <a:rPr lang="en-US" sz="2200" spc="-40" dirty="0">
                <a:latin typeface="Times New Roman"/>
                <a:cs typeface="Times New Roman"/>
              </a:rPr>
              <a:t>that is close to its market </a:t>
            </a:r>
            <a:r>
              <a:rPr lang="en-US" sz="2200" spc="-40" dirty="0" smtClean="0">
                <a:latin typeface="Times New Roman"/>
                <a:cs typeface="Times New Roman"/>
              </a:rPr>
              <a:t>value).</a:t>
            </a:r>
          </a:p>
          <a:p>
            <a:pPr marL="205740" indent="-193675">
              <a:spcBef>
                <a:spcPts val="525"/>
              </a:spcBef>
              <a:buFont typeface="Wingdings"/>
              <a:buChar char=""/>
              <a:tabLst>
                <a:tab pos="206375" algn="l"/>
              </a:tabLst>
            </a:pPr>
            <a:r>
              <a:rPr lang="en-US" sz="2200" spc="-5" dirty="0">
                <a:latin typeface="Times New Roman"/>
                <a:cs typeface="Times New Roman"/>
              </a:rPr>
              <a:t>Raising</a:t>
            </a:r>
            <a:r>
              <a:rPr lang="en-US" sz="2200" spc="-10" dirty="0">
                <a:latin typeface="Times New Roman"/>
                <a:cs typeface="Times New Roman"/>
              </a:rPr>
              <a:t> capital</a:t>
            </a:r>
            <a:r>
              <a:rPr lang="en-US" sz="2200" dirty="0">
                <a:latin typeface="Times New Roman"/>
                <a:cs typeface="Times New Roman"/>
              </a:rPr>
              <a:t> </a:t>
            </a:r>
            <a:r>
              <a:rPr lang="en-US" sz="2200" spc="-10" dirty="0">
                <a:latin typeface="Times New Roman"/>
                <a:cs typeface="Times New Roman"/>
              </a:rPr>
              <a:t>can</a:t>
            </a:r>
            <a:r>
              <a:rPr lang="en-US" sz="2200" spc="20" dirty="0">
                <a:latin typeface="Times New Roman"/>
                <a:cs typeface="Times New Roman"/>
              </a:rPr>
              <a:t> </a:t>
            </a:r>
            <a:r>
              <a:rPr lang="en-US" sz="2200" spc="-5" dirty="0">
                <a:latin typeface="Times New Roman"/>
                <a:cs typeface="Times New Roman"/>
              </a:rPr>
              <a:t>be</a:t>
            </a:r>
            <a:r>
              <a:rPr lang="en-US" sz="2200" spc="-10" dirty="0">
                <a:latin typeface="Times New Roman"/>
                <a:cs typeface="Times New Roman"/>
              </a:rPr>
              <a:t> difficult.</a:t>
            </a:r>
            <a:endParaRPr lang="en-US" sz="2200" dirty="0">
              <a:latin typeface="Times New Roman"/>
              <a:cs typeface="Times New Roman"/>
            </a:endParaRPr>
          </a:p>
          <a:p>
            <a:pPr marL="12065">
              <a:lnSpc>
                <a:spcPct val="100000"/>
              </a:lnSpc>
              <a:spcBef>
                <a:spcPts val="525"/>
              </a:spcBef>
              <a:tabLst>
                <a:tab pos="206375" algn="l"/>
              </a:tabLst>
            </a:pPr>
            <a:endParaRPr sz="220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81446" rIns="0" bIns="0" rtlCol="0">
            <a:spAutoFit/>
          </a:bodyPr>
          <a:lstStyle/>
          <a:p>
            <a:pPr algn="ctr">
              <a:lnSpc>
                <a:spcPct val="100000"/>
              </a:lnSpc>
              <a:spcBef>
                <a:spcPts val="110"/>
              </a:spcBef>
            </a:pPr>
            <a:r>
              <a:rPr dirty="0"/>
              <a:t>Partnerships</a:t>
            </a:r>
          </a:p>
          <a:p>
            <a:pPr algn="ctr">
              <a:lnSpc>
                <a:spcPct val="100000"/>
              </a:lnSpc>
              <a:spcBef>
                <a:spcPts val="55"/>
              </a:spcBef>
            </a:pPr>
            <a:r>
              <a:rPr sz="2200" spc="-5" dirty="0"/>
              <a:t>1</a:t>
            </a:r>
            <a:r>
              <a:rPr sz="2200" spc="-35" dirty="0"/>
              <a:t> </a:t>
            </a:r>
            <a:r>
              <a:rPr sz="2200" spc="-5" dirty="0"/>
              <a:t>of</a:t>
            </a:r>
            <a:r>
              <a:rPr sz="2200" spc="-15" dirty="0"/>
              <a:t> </a:t>
            </a:r>
            <a:r>
              <a:rPr sz="2200" spc="-5" dirty="0"/>
              <a:t>3</a:t>
            </a:r>
            <a:endParaRPr sz="2200"/>
          </a:p>
        </p:txBody>
      </p:sp>
      <p:sp>
        <p:nvSpPr>
          <p:cNvPr id="3" name="object 3"/>
          <p:cNvSpPr txBox="1"/>
          <p:nvPr/>
        </p:nvSpPr>
        <p:spPr>
          <a:xfrm>
            <a:off x="590865" y="1803066"/>
            <a:ext cx="8654415" cy="2362835"/>
          </a:xfrm>
          <a:prstGeom prst="rect">
            <a:avLst/>
          </a:prstGeom>
        </p:spPr>
        <p:txBody>
          <a:bodyPr vert="horz" wrap="square" lIns="0" tIns="112395" rIns="0" bIns="0" rtlCol="0">
            <a:spAutoFit/>
          </a:bodyPr>
          <a:lstStyle/>
          <a:p>
            <a:pPr marL="388620" indent="-376555">
              <a:lnSpc>
                <a:spcPct val="100000"/>
              </a:lnSpc>
              <a:spcBef>
                <a:spcPts val="885"/>
              </a:spcBef>
              <a:buChar char="•"/>
              <a:tabLst>
                <a:tab pos="388620" algn="l"/>
                <a:tab pos="389255" algn="l"/>
              </a:tabLst>
            </a:pPr>
            <a:r>
              <a:rPr sz="3050" spc="10" dirty="0">
                <a:latin typeface="Times New Roman"/>
                <a:cs typeface="Times New Roman"/>
              </a:rPr>
              <a:t>Partnerships</a:t>
            </a:r>
            <a:endParaRPr sz="3050" dirty="0">
              <a:latin typeface="Times New Roman"/>
              <a:cs typeface="Times New Roman"/>
            </a:endParaRPr>
          </a:p>
          <a:p>
            <a:pPr marL="829310" marR="5080" lvl="1" indent="-314325">
              <a:lnSpc>
                <a:spcPts val="3170"/>
              </a:lnSpc>
              <a:spcBef>
                <a:spcPts val="750"/>
              </a:spcBef>
              <a:buChar char="–"/>
              <a:tabLst>
                <a:tab pos="830580" algn="l"/>
                <a:tab pos="831215" algn="l"/>
              </a:tabLst>
            </a:pPr>
            <a:r>
              <a:rPr sz="2650" spc="-10" dirty="0">
                <a:latin typeface="Times New Roman"/>
                <a:cs typeface="Times New Roman"/>
              </a:rPr>
              <a:t>If two </a:t>
            </a:r>
            <a:r>
              <a:rPr sz="2650" spc="-5" dirty="0">
                <a:latin typeface="Times New Roman"/>
                <a:cs typeface="Times New Roman"/>
              </a:rPr>
              <a:t>or </a:t>
            </a:r>
            <a:r>
              <a:rPr sz="2650" spc="-10" dirty="0">
                <a:latin typeface="Times New Roman"/>
                <a:cs typeface="Times New Roman"/>
              </a:rPr>
              <a:t>more people </a:t>
            </a:r>
            <a:r>
              <a:rPr sz="2650" spc="-5" dirty="0">
                <a:latin typeface="Times New Roman"/>
                <a:cs typeface="Times New Roman"/>
              </a:rPr>
              <a:t>start a business, </a:t>
            </a:r>
            <a:r>
              <a:rPr sz="2650" spc="-10" dirty="0">
                <a:latin typeface="Times New Roman"/>
                <a:cs typeface="Times New Roman"/>
              </a:rPr>
              <a:t>they </a:t>
            </a:r>
            <a:r>
              <a:rPr sz="2650" spc="-5" dirty="0">
                <a:latin typeface="Times New Roman"/>
                <a:cs typeface="Times New Roman"/>
              </a:rPr>
              <a:t>must </a:t>
            </a:r>
            <a:r>
              <a:rPr sz="2650" spc="-10" dirty="0">
                <a:latin typeface="Times New Roman"/>
                <a:cs typeface="Times New Roman"/>
              </a:rPr>
              <a:t>organize </a:t>
            </a:r>
            <a:r>
              <a:rPr sz="2650" spc="-650" dirty="0">
                <a:latin typeface="Times New Roman"/>
                <a:cs typeface="Times New Roman"/>
              </a:rPr>
              <a:t> </a:t>
            </a:r>
            <a:r>
              <a:rPr sz="2650" dirty="0">
                <a:latin typeface="Times New Roman"/>
                <a:cs typeface="Times New Roman"/>
              </a:rPr>
              <a:t>as</a:t>
            </a:r>
            <a:r>
              <a:rPr sz="2650" spc="-35" dirty="0">
                <a:latin typeface="Times New Roman"/>
                <a:cs typeface="Times New Roman"/>
              </a:rPr>
              <a:t> </a:t>
            </a:r>
            <a:r>
              <a:rPr sz="2650" spc="-5" dirty="0">
                <a:latin typeface="Times New Roman"/>
                <a:cs typeface="Times New Roman"/>
              </a:rPr>
              <a:t>a</a:t>
            </a:r>
            <a:r>
              <a:rPr sz="2650" spc="10" dirty="0">
                <a:latin typeface="Times New Roman"/>
                <a:cs typeface="Times New Roman"/>
              </a:rPr>
              <a:t> </a:t>
            </a:r>
            <a:r>
              <a:rPr sz="2650" spc="-5" dirty="0">
                <a:latin typeface="Times New Roman"/>
                <a:cs typeface="Times New Roman"/>
              </a:rPr>
              <a:t>partnership,</a:t>
            </a:r>
            <a:r>
              <a:rPr sz="2650" spc="-35" dirty="0">
                <a:latin typeface="Times New Roman"/>
                <a:cs typeface="Times New Roman"/>
              </a:rPr>
              <a:t> </a:t>
            </a:r>
            <a:r>
              <a:rPr sz="2650" spc="-5" dirty="0">
                <a:latin typeface="Times New Roman"/>
                <a:cs typeface="Times New Roman"/>
              </a:rPr>
              <a:t>corporation, or</a:t>
            </a:r>
            <a:r>
              <a:rPr sz="2650" spc="-20" dirty="0">
                <a:latin typeface="Times New Roman"/>
                <a:cs typeface="Times New Roman"/>
              </a:rPr>
              <a:t> </a:t>
            </a:r>
            <a:r>
              <a:rPr sz="2650" spc="-10" dirty="0">
                <a:latin typeface="Times New Roman"/>
                <a:cs typeface="Times New Roman"/>
              </a:rPr>
              <a:t>limited</a:t>
            </a:r>
            <a:r>
              <a:rPr sz="2650" spc="-30" dirty="0">
                <a:latin typeface="Times New Roman"/>
                <a:cs typeface="Times New Roman"/>
              </a:rPr>
              <a:t> </a:t>
            </a:r>
            <a:r>
              <a:rPr sz="2650" spc="-10" dirty="0">
                <a:latin typeface="Times New Roman"/>
                <a:cs typeface="Times New Roman"/>
              </a:rPr>
              <a:t>liability</a:t>
            </a:r>
            <a:r>
              <a:rPr sz="2650" spc="-35" dirty="0">
                <a:latin typeface="Times New Roman"/>
                <a:cs typeface="Times New Roman"/>
              </a:rPr>
              <a:t> </a:t>
            </a:r>
            <a:r>
              <a:rPr sz="2650" spc="-5" dirty="0">
                <a:latin typeface="Times New Roman"/>
                <a:cs typeface="Times New Roman"/>
              </a:rPr>
              <a:t>company.</a:t>
            </a:r>
            <a:endParaRPr sz="2650" dirty="0">
              <a:latin typeface="Times New Roman"/>
              <a:cs typeface="Times New Roman"/>
            </a:endParaRPr>
          </a:p>
          <a:p>
            <a:pPr marL="829310" marR="590550" lvl="1" indent="-314325">
              <a:lnSpc>
                <a:spcPts val="3170"/>
              </a:lnSpc>
              <a:spcBef>
                <a:spcPts val="625"/>
              </a:spcBef>
              <a:buChar char="–"/>
              <a:tabLst>
                <a:tab pos="830580" algn="l"/>
                <a:tab pos="831215" algn="l"/>
              </a:tabLst>
            </a:pPr>
            <a:r>
              <a:rPr sz="2650" spc="-10" dirty="0">
                <a:latin typeface="Times New Roman"/>
                <a:cs typeface="Times New Roman"/>
              </a:rPr>
              <a:t>Partnerships</a:t>
            </a:r>
            <a:r>
              <a:rPr sz="2650" spc="-5" dirty="0">
                <a:latin typeface="Times New Roman"/>
                <a:cs typeface="Times New Roman"/>
              </a:rPr>
              <a:t> </a:t>
            </a:r>
            <a:r>
              <a:rPr sz="2650" spc="-15" dirty="0">
                <a:latin typeface="Times New Roman"/>
                <a:cs typeface="Times New Roman"/>
              </a:rPr>
              <a:t>are</a:t>
            </a:r>
            <a:r>
              <a:rPr sz="2650" spc="15" dirty="0">
                <a:latin typeface="Times New Roman"/>
                <a:cs typeface="Times New Roman"/>
              </a:rPr>
              <a:t> </a:t>
            </a:r>
            <a:r>
              <a:rPr sz="2650" spc="-5" dirty="0">
                <a:latin typeface="Times New Roman"/>
                <a:cs typeface="Times New Roman"/>
              </a:rPr>
              <a:t>organized</a:t>
            </a:r>
            <a:r>
              <a:rPr sz="2650" spc="-30" dirty="0">
                <a:latin typeface="Times New Roman"/>
                <a:cs typeface="Times New Roman"/>
              </a:rPr>
              <a:t> </a:t>
            </a:r>
            <a:r>
              <a:rPr sz="2650" spc="-15" dirty="0">
                <a:latin typeface="Times New Roman"/>
                <a:cs typeface="Times New Roman"/>
              </a:rPr>
              <a:t>as</a:t>
            </a:r>
            <a:r>
              <a:rPr sz="2650" dirty="0">
                <a:latin typeface="Times New Roman"/>
                <a:cs typeface="Times New Roman"/>
              </a:rPr>
              <a:t> </a:t>
            </a:r>
            <a:r>
              <a:rPr sz="2650" spc="-10" dirty="0">
                <a:latin typeface="Times New Roman"/>
                <a:cs typeface="Times New Roman"/>
              </a:rPr>
              <a:t>either </a:t>
            </a:r>
            <a:r>
              <a:rPr sz="2650" spc="-5" dirty="0">
                <a:latin typeface="Times New Roman"/>
                <a:cs typeface="Times New Roman"/>
              </a:rPr>
              <a:t>general</a:t>
            </a:r>
            <a:r>
              <a:rPr sz="2650" spc="-25" dirty="0">
                <a:latin typeface="Times New Roman"/>
                <a:cs typeface="Times New Roman"/>
              </a:rPr>
              <a:t> </a:t>
            </a:r>
            <a:r>
              <a:rPr sz="2650" spc="-5" dirty="0">
                <a:latin typeface="Times New Roman"/>
                <a:cs typeface="Times New Roman"/>
              </a:rPr>
              <a:t>or</a:t>
            </a:r>
            <a:r>
              <a:rPr sz="2650" spc="-10" dirty="0">
                <a:latin typeface="Times New Roman"/>
                <a:cs typeface="Times New Roman"/>
              </a:rPr>
              <a:t> </a:t>
            </a:r>
            <a:r>
              <a:rPr sz="2650" spc="-10" dirty="0" smtClean="0">
                <a:latin typeface="Times New Roman"/>
                <a:cs typeface="Times New Roman"/>
              </a:rPr>
              <a:t>limited</a:t>
            </a:r>
            <a:r>
              <a:rPr sz="2650" spc="-35" dirty="0" smtClean="0">
                <a:latin typeface="Times New Roman"/>
                <a:cs typeface="Times New Roman"/>
              </a:rPr>
              <a:t> </a:t>
            </a:r>
            <a:r>
              <a:rPr sz="2650" spc="-5" dirty="0">
                <a:latin typeface="Times New Roman"/>
                <a:cs typeface="Times New Roman"/>
              </a:rPr>
              <a:t>partnerships.</a:t>
            </a:r>
            <a:endParaRPr sz="2650" dirty="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Partnerships</a:t>
            </a:r>
          </a:p>
          <a:p>
            <a:pPr algn="ctr">
              <a:lnSpc>
                <a:spcPct val="100000"/>
              </a:lnSpc>
              <a:spcBef>
                <a:spcPts val="55"/>
              </a:spcBef>
            </a:pPr>
            <a:r>
              <a:rPr sz="2200" spc="-5" dirty="0"/>
              <a:t>2</a:t>
            </a:r>
            <a:r>
              <a:rPr sz="2200" spc="-35" dirty="0"/>
              <a:t> </a:t>
            </a:r>
            <a:r>
              <a:rPr sz="2200" spc="-5" dirty="0"/>
              <a:t>of</a:t>
            </a:r>
            <a:r>
              <a:rPr sz="2200" spc="-15" dirty="0"/>
              <a:t> </a:t>
            </a:r>
            <a:r>
              <a:rPr sz="2200" spc="-5" dirty="0"/>
              <a:t>3</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720325" y="3405614"/>
            <a:ext cx="3589020" cy="561340"/>
          </a:xfrm>
          <a:prstGeom prst="rect">
            <a:avLst/>
          </a:prstGeom>
        </p:spPr>
        <p:txBody>
          <a:bodyPr vert="horz" wrap="square" lIns="0" tIns="14604" rIns="0" bIns="0" rtlCol="0">
            <a:spAutoFit/>
          </a:bodyPr>
          <a:lstStyle/>
          <a:p>
            <a:pPr marL="12700">
              <a:lnSpc>
                <a:spcPct val="100000"/>
              </a:lnSpc>
              <a:spcBef>
                <a:spcPts val="114"/>
              </a:spcBef>
            </a:pPr>
            <a:r>
              <a:rPr sz="3500" spc="5" dirty="0">
                <a:latin typeface="Times New Roman"/>
                <a:cs typeface="Times New Roman"/>
              </a:rPr>
              <a:t>General</a:t>
            </a:r>
            <a:r>
              <a:rPr sz="3500" spc="-55" dirty="0">
                <a:latin typeface="Times New Roman"/>
                <a:cs typeface="Times New Roman"/>
              </a:rPr>
              <a:t> </a:t>
            </a:r>
            <a:r>
              <a:rPr sz="3500" spc="5" dirty="0">
                <a:latin typeface="Times New Roman"/>
                <a:cs typeface="Times New Roman"/>
              </a:rPr>
              <a:t>Partnership</a:t>
            </a:r>
            <a:endParaRPr sz="3500">
              <a:latin typeface="Times New Roman"/>
              <a:cs typeface="Times New Roman"/>
            </a:endParaRPr>
          </a:p>
        </p:txBody>
      </p:sp>
      <p:grpSp>
        <p:nvGrpSpPr>
          <p:cNvPr id="5" name="object 5"/>
          <p:cNvGrpSpPr/>
          <p:nvPr/>
        </p:nvGrpSpPr>
        <p:grpSpPr>
          <a:xfrm>
            <a:off x="4688585" y="1785366"/>
            <a:ext cx="4788535" cy="5207635"/>
            <a:chOff x="4688585" y="1785366"/>
            <a:chExt cx="4788535" cy="5207635"/>
          </a:xfrm>
        </p:grpSpPr>
        <p:sp>
          <p:nvSpPr>
            <p:cNvPr id="6" name="object 6"/>
            <p:cNvSpPr/>
            <p:nvPr/>
          </p:nvSpPr>
          <p:spPr>
            <a:xfrm>
              <a:off x="4693919" y="1790700"/>
              <a:ext cx="4777740" cy="5196840"/>
            </a:xfrm>
            <a:custGeom>
              <a:avLst/>
              <a:gdLst/>
              <a:ahLst/>
              <a:cxnLst/>
              <a:rect l="l" t="t" r="r" b="b"/>
              <a:pathLst>
                <a:path w="4777740" h="5196840">
                  <a:moveTo>
                    <a:pt x="4777740" y="5196839"/>
                  </a:moveTo>
                  <a:lnTo>
                    <a:pt x="0" y="5196839"/>
                  </a:lnTo>
                  <a:lnTo>
                    <a:pt x="0" y="0"/>
                  </a:lnTo>
                  <a:lnTo>
                    <a:pt x="4777740" y="0"/>
                  </a:lnTo>
                  <a:lnTo>
                    <a:pt x="4777740" y="5196839"/>
                  </a:lnTo>
                  <a:close/>
                </a:path>
              </a:pathLst>
            </a:custGeom>
            <a:solidFill>
              <a:srgbClr val="FFFFCC"/>
            </a:solidFill>
          </p:spPr>
          <p:txBody>
            <a:bodyPr wrap="square" lIns="0" tIns="0" rIns="0" bIns="0" rtlCol="0"/>
            <a:lstStyle/>
            <a:p>
              <a:endParaRPr/>
            </a:p>
          </p:txBody>
        </p:sp>
        <p:sp>
          <p:nvSpPr>
            <p:cNvPr id="7" name="object 7"/>
            <p:cNvSpPr/>
            <p:nvPr/>
          </p:nvSpPr>
          <p:spPr>
            <a:xfrm>
              <a:off x="4693919" y="1790700"/>
              <a:ext cx="4777740" cy="5196840"/>
            </a:xfrm>
            <a:custGeom>
              <a:avLst/>
              <a:gdLst/>
              <a:ahLst/>
              <a:cxnLst/>
              <a:rect l="l" t="t" r="r" b="b"/>
              <a:pathLst>
                <a:path w="4777740" h="5196840">
                  <a:moveTo>
                    <a:pt x="0" y="0"/>
                  </a:moveTo>
                  <a:lnTo>
                    <a:pt x="4777740" y="0"/>
                  </a:lnTo>
                  <a:lnTo>
                    <a:pt x="4777740" y="5196839"/>
                  </a:lnTo>
                  <a:lnTo>
                    <a:pt x="0" y="5196839"/>
                  </a:lnTo>
                  <a:lnTo>
                    <a:pt x="0" y="0"/>
                  </a:lnTo>
                  <a:close/>
                </a:path>
              </a:pathLst>
            </a:custGeom>
            <a:ln w="10668">
              <a:solidFill>
                <a:srgbClr val="000000"/>
              </a:solidFill>
            </a:ln>
          </p:spPr>
          <p:txBody>
            <a:bodyPr wrap="square" lIns="0" tIns="0" rIns="0" bIns="0" rtlCol="0"/>
            <a:lstStyle/>
            <a:p>
              <a:endParaRPr/>
            </a:p>
          </p:txBody>
        </p:sp>
      </p:grpSp>
      <p:sp>
        <p:nvSpPr>
          <p:cNvPr id="8" name="object 8"/>
          <p:cNvSpPr txBox="1"/>
          <p:nvPr/>
        </p:nvSpPr>
        <p:spPr>
          <a:xfrm>
            <a:off x="4900273" y="2094902"/>
            <a:ext cx="4323715" cy="4588436"/>
          </a:xfrm>
          <a:prstGeom prst="rect">
            <a:avLst/>
          </a:prstGeom>
        </p:spPr>
        <p:txBody>
          <a:bodyPr vert="horz" wrap="square" lIns="0" tIns="22860" rIns="0" bIns="0" rtlCol="0">
            <a:spAutoFit/>
          </a:bodyPr>
          <a:lstStyle/>
          <a:p>
            <a:pPr marL="12065" marR="5080" algn="ctr">
              <a:lnSpc>
                <a:spcPts val="3170"/>
              </a:lnSpc>
              <a:spcBef>
                <a:spcPts val="180"/>
              </a:spcBef>
            </a:pPr>
            <a:r>
              <a:rPr sz="2600" spc="-10" dirty="0">
                <a:latin typeface="Times New Roman"/>
                <a:cs typeface="Times New Roman"/>
              </a:rPr>
              <a:t>A</a:t>
            </a:r>
            <a:r>
              <a:rPr sz="2600" spc="-145" dirty="0">
                <a:latin typeface="Times New Roman"/>
                <a:cs typeface="Times New Roman"/>
              </a:rPr>
              <a:t> </a:t>
            </a:r>
            <a:r>
              <a:rPr sz="2600" spc="-15" dirty="0">
                <a:latin typeface="Times New Roman"/>
                <a:cs typeface="Times New Roman"/>
              </a:rPr>
              <a:t>f</a:t>
            </a:r>
            <a:r>
              <a:rPr sz="2600" spc="-5" dirty="0">
                <a:latin typeface="Times New Roman"/>
                <a:cs typeface="Times New Roman"/>
              </a:rPr>
              <a:t>o</a:t>
            </a:r>
            <a:r>
              <a:rPr sz="2600" spc="-15" dirty="0">
                <a:latin typeface="Times New Roman"/>
                <a:cs typeface="Times New Roman"/>
              </a:rPr>
              <a:t>r</a:t>
            </a:r>
            <a:r>
              <a:rPr sz="2600" spc="-10" dirty="0">
                <a:latin typeface="Times New Roman"/>
                <a:cs typeface="Times New Roman"/>
              </a:rPr>
              <a:t>m</a:t>
            </a:r>
            <a:r>
              <a:rPr sz="2600" dirty="0">
                <a:latin typeface="Times New Roman"/>
                <a:cs typeface="Times New Roman"/>
              </a:rPr>
              <a:t> </a:t>
            </a:r>
            <a:r>
              <a:rPr sz="2600" spc="-5" dirty="0">
                <a:latin typeface="Times New Roman"/>
                <a:cs typeface="Times New Roman"/>
              </a:rPr>
              <a:t>of</a:t>
            </a:r>
            <a:r>
              <a:rPr sz="2600" spc="15" dirty="0">
                <a:latin typeface="Times New Roman"/>
                <a:cs typeface="Times New Roman"/>
              </a:rPr>
              <a:t> </a:t>
            </a:r>
            <a:r>
              <a:rPr sz="2600" spc="-5" dirty="0">
                <a:latin typeface="Times New Roman"/>
                <a:cs typeface="Times New Roman"/>
              </a:rPr>
              <a:t>bus</a:t>
            </a:r>
            <a:r>
              <a:rPr sz="2600" spc="-30" dirty="0">
                <a:latin typeface="Times New Roman"/>
                <a:cs typeface="Times New Roman"/>
              </a:rPr>
              <a:t>i</a:t>
            </a:r>
            <a:r>
              <a:rPr sz="2600" spc="-5" dirty="0">
                <a:latin typeface="Times New Roman"/>
                <a:cs typeface="Times New Roman"/>
              </a:rPr>
              <a:t>n</a:t>
            </a:r>
            <a:r>
              <a:rPr sz="2600" spc="10" dirty="0">
                <a:latin typeface="Times New Roman"/>
                <a:cs typeface="Times New Roman"/>
              </a:rPr>
              <a:t>e</a:t>
            </a:r>
            <a:r>
              <a:rPr sz="2600" spc="-5" dirty="0">
                <a:latin typeface="Times New Roman"/>
                <a:cs typeface="Times New Roman"/>
              </a:rPr>
              <a:t>ss o</a:t>
            </a:r>
            <a:r>
              <a:rPr sz="2600" spc="-70" dirty="0">
                <a:latin typeface="Times New Roman"/>
                <a:cs typeface="Times New Roman"/>
              </a:rPr>
              <a:t>r</a:t>
            </a:r>
            <a:r>
              <a:rPr sz="2600" spc="-5" dirty="0">
                <a:latin typeface="Times New Roman"/>
                <a:cs typeface="Times New Roman"/>
              </a:rPr>
              <a:t>g</a:t>
            </a:r>
            <a:r>
              <a:rPr sz="2600" spc="10" dirty="0">
                <a:latin typeface="Times New Roman"/>
                <a:cs typeface="Times New Roman"/>
              </a:rPr>
              <a:t>a</a:t>
            </a:r>
            <a:r>
              <a:rPr sz="2600" spc="-5" dirty="0">
                <a:latin typeface="Times New Roman"/>
                <a:cs typeface="Times New Roman"/>
              </a:rPr>
              <a:t>n</a:t>
            </a:r>
            <a:r>
              <a:rPr sz="2600" spc="-30" dirty="0">
                <a:latin typeface="Times New Roman"/>
                <a:cs typeface="Times New Roman"/>
              </a:rPr>
              <a:t>i</a:t>
            </a:r>
            <a:r>
              <a:rPr sz="2600" spc="10" dirty="0">
                <a:latin typeface="Times New Roman"/>
                <a:cs typeface="Times New Roman"/>
              </a:rPr>
              <a:t>z</a:t>
            </a:r>
            <a:r>
              <a:rPr sz="2600" spc="-20" dirty="0">
                <a:latin typeface="Times New Roman"/>
                <a:cs typeface="Times New Roman"/>
              </a:rPr>
              <a:t>a</a:t>
            </a:r>
            <a:r>
              <a:rPr sz="2600" dirty="0">
                <a:latin typeface="Times New Roman"/>
                <a:cs typeface="Times New Roman"/>
              </a:rPr>
              <a:t>ti</a:t>
            </a:r>
            <a:r>
              <a:rPr sz="2600" spc="-5" dirty="0">
                <a:latin typeface="Times New Roman"/>
                <a:cs typeface="Times New Roman"/>
              </a:rPr>
              <a:t>on  </a:t>
            </a:r>
            <a:r>
              <a:rPr sz="2600" spc="-10" dirty="0">
                <a:latin typeface="Times New Roman"/>
                <a:cs typeface="Times New Roman"/>
              </a:rPr>
              <a:t>where two </a:t>
            </a:r>
            <a:r>
              <a:rPr sz="2600" spc="-5" dirty="0">
                <a:latin typeface="Times New Roman"/>
                <a:cs typeface="Times New Roman"/>
              </a:rPr>
              <a:t>or </a:t>
            </a:r>
            <a:r>
              <a:rPr sz="2600" spc="-10" dirty="0">
                <a:latin typeface="Times New Roman"/>
                <a:cs typeface="Times New Roman"/>
              </a:rPr>
              <a:t>more people </a:t>
            </a:r>
            <a:r>
              <a:rPr sz="2600" spc="-5" dirty="0">
                <a:latin typeface="Times New Roman"/>
                <a:cs typeface="Times New Roman"/>
              </a:rPr>
              <a:t>pool </a:t>
            </a:r>
            <a:r>
              <a:rPr sz="2600" dirty="0">
                <a:latin typeface="Times New Roman"/>
                <a:cs typeface="Times New Roman"/>
              </a:rPr>
              <a:t> </a:t>
            </a:r>
            <a:r>
              <a:rPr sz="2600" spc="-5" dirty="0">
                <a:latin typeface="Times New Roman"/>
                <a:cs typeface="Times New Roman"/>
              </a:rPr>
              <a:t>their </a:t>
            </a:r>
            <a:r>
              <a:rPr sz="2600" spc="-10" dirty="0">
                <a:latin typeface="Times New Roman"/>
                <a:cs typeface="Times New Roman"/>
              </a:rPr>
              <a:t>skills, abilities, and </a:t>
            </a:r>
            <a:r>
              <a:rPr sz="2600" spc="-5" dirty="0">
                <a:latin typeface="Times New Roman"/>
                <a:cs typeface="Times New Roman"/>
              </a:rPr>
              <a:t> resources </a:t>
            </a:r>
            <a:r>
              <a:rPr sz="2600" spc="-20" dirty="0">
                <a:latin typeface="Times New Roman"/>
                <a:cs typeface="Times New Roman"/>
              </a:rPr>
              <a:t>to </a:t>
            </a:r>
            <a:r>
              <a:rPr sz="2600" spc="-10" dirty="0">
                <a:latin typeface="Times New Roman"/>
                <a:cs typeface="Times New Roman"/>
              </a:rPr>
              <a:t>run </a:t>
            </a:r>
            <a:r>
              <a:rPr sz="2600" spc="-5" dirty="0">
                <a:latin typeface="Times New Roman"/>
                <a:cs typeface="Times New Roman"/>
              </a:rPr>
              <a:t>a </a:t>
            </a:r>
            <a:r>
              <a:rPr sz="2600" spc="-10" dirty="0">
                <a:latin typeface="Times New Roman"/>
                <a:cs typeface="Times New Roman"/>
              </a:rPr>
              <a:t>business. </a:t>
            </a:r>
            <a:endParaRPr lang="en-US" sz="2600" spc="-10" dirty="0" smtClean="0">
              <a:latin typeface="Times New Roman"/>
              <a:cs typeface="Times New Roman"/>
            </a:endParaRPr>
          </a:p>
          <a:p>
            <a:pPr marL="354965" marR="5080" indent="-342900" algn="just">
              <a:lnSpc>
                <a:spcPts val="3170"/>
              </a:lnSpc>
              <a:spcBef>
                <a:spcPts val="180"/>
              </a:spcBef>
              <a:buFont typeface="Arial" pitchFamily="34" charset="0"/>
              <a:buChar char="•"/>
            </a:pPr>
            <a:r>
              <a:rPr sz="2200" spc="-10" dirty="0" smtClean="0">
                <a:latin typeface="Times New Roman"/>
                <a:cs typeface="Times New Roman"/>
              </a:rPr>
              <a:t>The </a:t>
            </a:r>
            <a:r>
              <a:rPr sz="2200" spc="-650" dirty="0" smtClean="0">
                <a:latin typeface="Times New Roman"/>
                <a:cs typeface="Times New Roman"/>
              </a:rPr>
              <a:t> </a:t>
            </a:r>
            <a:r>
              <a:rPr sz="2200" spc="-10" dirty="0">
                <a:latin typeface="Times New Roman"/>
                <a:cs typeface="Times New Roman"/>
              </a:rPr>
              <a:t>primary </a:t>
            </a:r>
            <a:r>
              <a:rPr sz="2200" spc="-5" dirty="0">
                <a:latin typeface="Times New Roman"/>
                <a:cs typeface="Times New Roman"/>
              </a:rPr>
              <a:t>disadvantage </a:t>
            </a:r>
            <a:r>
              <a:rPr sz="2200" spc="-20" dirty="0">
                <a:latin typeface="Times New Roman"/>
                <a:cs typeface="Times New Roman"/>
              </a:rPr>
              <a:t>is </a:t>
            </a:r>
            <a:r>
              <a:rPr sz="2200" spc="-10" dirty="0">
                <a:latin typeface="Times New Roman"/>
                <a:cs typeface="Times New Roman"/>
              </a:rPr>
              <a:t>that all </a:t>
            </a:r>
            <a:r>
              <a:rPr sz="2200" spc="-5" dirty="0">
                <a:latin typeface="Times New Roman"/>
                <a:cs typeface="Times New Roman"/>
              </a:rPr>
              <a:t> </a:t>
            </a:r>
            <a:r>
              <a:rPr sz="2200" spc="-10" dirty="0">
                <a:latin typeface="Times New Roman"/>
                <a:cs typeface="Times New Roman"/>
              </a:rPr>
              <a:t>partners </a:t>
            </a:r>
            <a:r>
              <a:rPr sz="2200" spc="-5" dirty="0">
                <a:latin typeface="Times New Roman"/>
                <a:cs typeface="Times New Roman"/>
              </a:rPr>
              <a:t>are </a:t>
            </a:r>
            <a:r>
              <a:rPr sz="2200" spc="-10" dirty="0">
                <a:latin typeface="Times New Roman"/>
                <a:cs typeface="Times New Roman"/>
              </a:rPr>
              <a:t>liable for all </a:t>
            </a:r>
            <a:r>
              <a:rPr sz="2200" spc="-5" dirty="0">
                <a:latin typeface="Times New Roman"/>
                <a:cs typeface="Times New Roman"/>
              </a:rPr>
              <a:t>the </a:t>
            </a:r>
            <a:r>
              <a:rPr sz="2200" dirty="0">
                <a:latin typeface="Times New Roman"/>
                <a:cs typeface="Times New Roman"/>
              </a:rPr>
              <a:t> </a:t>
            </a:r>
            <a:r>
              <a:rPr sz="2200" spc="-20" dirty="0">
                <a:latin typeface="Times New Roman"/>
                <a:cs typeface="Times New Roman"/>
              </a:rPr>
              <a:t>partnership’s </a:t>
            </a:r>
            <a:r>
              <a:rPr sz="2200" spc="-5" dirty="0">
                <a:latin typeface="Times New Roman"/>
                <a:cs typeface="Times New Roman"/>
              </a:rPr>
              <a:t>debts </a:t>
            </a:r>
            <a:r>
              <a:rPr sz="2200" dirty="0">
                <a:latin typeface="Times New Roman"/>
                <a:cs typeface="Times New Roman"/>
              </a:rPr>
              <a:t>and </a:t>
            </a:r>
            <a:r>
              <a:rPr sz="2200" spc="5" dirty="0">
                <a:latin typeface="Times New Roman"/>
                <a:cs typeface="Times New Roman"/>
              </a:rPr>
              <a:t> </a:t>
            </a:r>
            <a:r>
              <a:rPr sz="2200" spc="-5" dirty="0">
                <a:latin typeface="Times New Roman"/>
                <a:cs typeface="Times New Roman"/>
              </a:rPr>
              <a:t>obligations</a:t>
            </a:r>
            <a:r>
              <a:rPr sz="2200" spc="-5" dirty="0" smtClean="0">
                <a:latin typeface="Times New Roman"/>
                <a:cs typeface="Times New Roman"/>
              </a:rPr>
              <a:t>.</a:t>
            </a:r>
            <a:r>
              <a:rPr lang="en-US" sz="2200" spc="-5" dirty="0">
                <a:latin typeface="Times New Roman"/>
                <a:cs typeface="Times New Roman"/>
              </a:rPr>
              <a:t> </a:t>
            </a:r>
            <a:endParaRPr lang="en-US" sz="2200" spc="-5" dirty="0" smtClean="0">
              <a:latin typeface="Times New Roman"/>
              <a:cs typeface="Times New Roman"/>
            </a:endParaRPr>
          </a:p>
          <a:p>
            <a:pPr marL="354965" marR="5080" indent="-342900" algn="just">
              <a:lnSpc>
                <a:spcPts val="3170"/>
              </a:lnSpc>
              <a:spcBef>
                <a:spcPts val="180"/>
              </a:spcBef>
              <a:buFont typeface="Arial" pitchFamily="34" charset="0"/>
              <a:buChar char="•"/>
            </a:pPr>
            <a:r>
              <a:rPr lang="en-US" sz="2200" spc="-5" dirty="0" smtClean="0">
                <a:latin typeface="Times New Roman"/>
                <a:cs typeface="Times New Roman"/>
              </a:rPr>
              <a:t>Because </a:t>
            </a:r>
            <a:r>
              <a:rPr lang="en-US" sz="2200" spc="-5" dirty="0">
                <a:latin typeface="Times New Roman"/>
                <a:cs typeface="Times New Roman"/>
              </a:rPr>
              <a:t>decision making among </a:t>
            </a:r>
            <a:r>
              <a:rPr lang="en-US" sz="2200" spc="-5" dirty="0" smtClean="0">
                <a:latin typeface="Times New Roman"/>
                <a:cs typeface="Times New Roman"/>
              </a:rPr>
              <a:t>the partners </a:t>
            </a:r>
            <a:r>
              <a:rPr lang="en-US" sz="2200" spc="-5" dirty="0">
                <a:latin typeface="Times New Roman"/>
                <a:cs typeface="Times New Roman"/>
              </a:rPr>
              <a:t>is </a:t>
            </a:r>
            <a:r>
              <a:rPr lang="en-US" sz="2200" spc="-5" dirty="0" smtClean="0">
                <a:latin typeface="Times New Roman"/>
                <a:cs typeface="Times New Roman"/>
              </a:rPr>
              <a:t>shared, disagreements can </a:t>
            </a:r>
            <a:r>
              <a:rPr lang="en-US" sz="2200" spc="-5" dirty="0">
                <a:latin typeface="Times New Roman"/>
                <a:cs typeface="Times New Roman"/>
              </a:rPr>
              <a:t>occur.</a:t>
            </a:r>
            <a:endParaRPr sz="2200" dirty="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spc="-5" dirty="0"/>
              <a:t>General</a:t>
            </a:r>
            <a:r>
              <a:rPr spc="45" dirty="0"/>
              <a:t> </a:t>
            </a:r>
            <a:r>
              <a:rPr dirty="0"/>
              <a:t>Partnership</a:t>
            </a:r>
          </a:p>
          <a:p>
            <a:pPr algn="ctr">
              <a:lnSpc>
                <a:spcPct val="100000"/>
              </a:lnSpc>
              <a:spcBef>
                <a:spcPts val="60"/>
              </a:spcBef>
            </a:pPr>
            <a:r>
              <a:rPr sz="2200" spc="-5" dirty="0"/>
              <a:t>1</a:t>
            </a:r>
            <a:r>
              <a:rPr sz="2200" spc="-35" dirty="0"/>
              <a:t> </a:t>
            </a:r>
            <a:r>
              <a:rPr sz="2200" spc="-5" dirty="0"/>
              <a:t>of</a:t>
            </a:r>
            <a:r>
              <a:rPr sz="2200" spc="-1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936355" cy="5218608"/>
          </a:xfrm>
          <a:prstGeom prst="rect">
            <a:avLst/>
          </a:prstGeom>
        </p:spPr>
        <p:txBody>
          <a:bodyPr vert="horz" wrap="square" lIns="0" tIns="87630" rIns="0" bIns="0" rtlCol="0">
            <a:spAutoFit/>
          </a:bodyPr>
          <a:lstStyle/>
          <a:p>
            <a:pPr marL="12700">
              <a:lnSpc>
                <a:spcPct val="100000"/>
              </a:lnSpc>
              <a:spcBef>
                <a:spcPts val="690"/>
              </a:spcBef>
            </a:pPr>
            <a:r>
              <a:rPr sz="2400" u="heavy" spc="-5" dirty="0">
                <a:uFill>
                  <a:solidFill>
                    <a:srgbClr val="000000"/>
                  </a:solidFill>
                </a:uFill>
                <a:latin typeface="Times New Roman"/>
                <a:cs typeface="Times New Roman"/>
              </a:rPr>
              <a:t>Advantages of</a:t>
            </a:r>
            <a:r>
              <a:rPr sz="2400" u="heavy" spc="-10"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a</a:t>
            </a:r>
            <a:r>
              <a:rPr sz="2400" u="heavy" spc="-10"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General</a:t>
            </a:r>
            <a:r>
              <a:rPr sz="2400" u="heavy" dirty="0">
                <a:uFill>
                  <a:solidFill>
                    <a:srgbClr val="000000"/>
                  </a:solidFill>
                </a:uFill>
                <a:latin typeface="Times New Roman"/>
                <a:cs typeface="Times New Roman"/>
              </a:rPr>
              <a:t> </a:t>
            </a:r>
            <a:r>
              <a:rPr sz="2400" u="heavy" spc="-5" dirty="0">
                <a:uFill>
                  <a:solidFill>
                    <a:srgbClr val="000000"/>
                  </a:solidFill>
                </a:uFill>
                <a:latin typeface="Times New Roman"/>
                <a:cs typeface="Times New Roman"/>
              </a:rPr>
              <a:t>Partnership</a:t>
            </a:r>
            <a:endParaRPr sz="2400" dirty="0">
              <a:latin typeface="Times New Roman"/>
              <a:cs typeface="Times New Roman"/>
            </a:endParaRPr>
          </a:p>
          <a:p>
            <a:pPr marL="220979" marR="160020" indent="-208915">
              <a:lnSpc>
                <a:spcPct val="120000"/>
              </a:lnSpc>
              <a:spcBef>
                <a:spcPts val="60"/>
              </a:spcBef>
              <a:buFont typeface="Wingdings"/>
              <a:buChar char=""/>
              <a:tabLst>
                <a:tab pos="211454" algn="l"/>
              </a:tabLst>
            </a:pPr>
            <a:r>
              <a:rPr sz="2200" spc="-5" dirty="0" smtClean="0">
                <a:latin typeface="Times New Roman"/>
                <a:cs typeface="Times New Roman"/>
              </a:rPr>
              <a:t>Creating</a:t>
            </a:r>
            <a:r>
              <a:rPr sz="2200" spc="-15" dirty="0" smtClean="0">
                <a:latin typeface="Times New Roman"/>
                <a:cs typeface="Times New Roman"/>
              </a:rPr>
              <a:t> </a:t>
            </a:r>
            <a:r>
              <a:rPr sz="2200" dirty="0">
                <a:latin typeface="Times New Roman"/>
                <a:cs typeface="Times New Roman"/>
              </a:rPr>
              <a:t>one </a:t>
            </a:r>
            <a:r>
              <a:rPr sz="2200" spc="-5" dirty="0">
                <a:latin typeface="Times New Roman"/>
                <a:cs typeface="Times New Roman"/>
              </a:rPr>
              <a:t>is</a:t>
            </a:r>
            <a:r>
              <a:rPr sz="2200" spc="10" dirty="0">
                <a:latin typeface="Times New Roman"/>
                <a:cs typeface="Times New Roman"/>
              </a:rPr>
              <a:t> </a:t>
            </a:r>
            <a:r>
              <a:rPr sz="2200" spc="-10" dirty="0">
                <a:latin typeface="Times New Roman"/>
                <a:cs typeface="Times New Roman"/>
              </a:rPr>
              <a:t>relatively</a:t>
            </a:r>
            <a:r>
              <a:rPr sz="2200" spc="-15" dirty="0">
                <a:latin typeface="Times New Roman"/>
                <a:cs typeface="Times New Roman"/>
              </a:rPr>
              <a:t> </a:t>
            </a:r>
            <a:r>
              <a:rPr sz="2200" spc="-5" dirty="0">
                <a:latin typeface="Times New Roman"/>
                <a:cs typeface="Times New Roman"/>
              </a:rPr>
              <a:t>easy</a:t>
            </a:r>
            <a:r>
              <a:rPr sz="2200" spc="5" dirty="0">
                <a:latin typeface="Times New Roman"/>
                <a:cs typeface="Times New Roman"/>
              </a:rPr>
              <a:t> </a:t>
            </a:r>
            <a:r>
              <a:rPr sz="2200" dirty="0">
                <a:latin typeface="Times New Roman"/>
                <a:cs typeface="Times New Roman"/>
              </a:rPr>
              <a:t>and</a:t>
            </a:r>
            <a:r>
              <a:rPr sz="2200" spc="5" dirty="0">
                <a:latin typeface="Times New Roman"/>
                <a:cs typeface="Times New Roman"/>
              </a:rPr>
              <a:t> </a:t>
            </a:r>
            <a:r>
              <a:rPr sz="2200" spc="-5" dirty="0">
                <a:latin typeface="Times New Roman"/>
                <a:cs typeface="Times New Roman"/>
              </a:rPr>
              <a:t>inexpensive</a:t>
            </a:r>
            <a:r>
              <a:rPr sz="2200" dirty="0">
                <a:latin typeface="Times New Roman"/>
                <a:cs typeface="Times New Roman"/>
              </a:rPr>
              <a:t> </a:t>
            </a:r>
            <a:r>
              <a:rPr sz="2200" spc="-10" dirty="0">
                <a:latin typeface="Times New Roman"/>
                <a:cs typeface="Times New Roman"/>
              </a:rPr>
              <a:t>compared</a:t>
            </a:r>
            <a:r>
              <a:rPr sz="2200" spc="30"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corporation</a:t>
            </a:r>
            <a:r>
              <a:rPr sz="2200" spc="-10" dirty="0">
                <a:latin typeface="Times New Roman"/>
                <a:cs typeface="Times New Roman"/>
              </a:rPr>
              <a:t> </a:t>
            </a:r>
            <a:r>
              <a:rPr sz="2200" spc="-5" dirty="0">
                <a:latin typeface="Times New Roman"/>
                <a:cs typeface="Times New Roman"/>
              </a:rPr>
              <a:t>or </a:t>
            </a:r>
            <a:r>
              <a:rPr sz="2200" spc="-535" dirty="0">
                <a:latin typeface="Times New Roman"/>
                <a:cs typeface="Times New Roman"/>
              </a:rPr>
              <a:t> </a:t>
            </a:r>
            <a:r>
              <a:rPr sz="2200" spc="-10" dirty="0">
                <a:latin typeface="Times New Roman"/>
                <a:cs typeface="Times New Roman"/>
              </a:rPr>
              <a:t>limited </a:t>
            </a:r>
            <a:r>
              <a:rPr sz="2200" spc="-5" dirty="0">
                <a:latin typeface="Times New Roman"/>
                <a:cs typeface="Times New Roman"/>
              </a:rPr>
              <a:t>liability</a:t>
            </a:r>
            <a:r>
              <a:rPr sz="2200" spc="-25" dirty="0">
                <a:latin typeface="Times New Roman"/>
                <a:cs typeface="Times New Roman"/>
              </a:rPr>
              <a:t> company</a:t>
            </a:r>
            <a:r>
              <a:rPr sz="2200" spc="-25" dirty="0" smtClean="0">
                <a:latin typeface="Times New Roman"/>
                <a:cs typeface="Times New Roman"/>
              </a:rPr>
              <a:t>.</a:t>
            </a:r>
            <a:endParaRPr lang="en-US" sz="2200" spc="-25" dirty="0" smtClean="0">
              <a:latin typeface="Times New Roman"/>
              <a:cs typeface="Times New Roman"/>
            </a:endParaRPr>
          </a:p>
          <a:p>
            <a:pPr marL="220979" marR="160020" indent="-208915">
              <a:lnSpc>
                <a:spcPct val="120000"/>
              </a:lnSpc>
              <a:spcBef>
                <a:spcPts val="60"/>
              </a:spcBef>
              <a:buFont typeface="Wingdings"/>
              <a:buChar char=""/>
              <a:tabLst>
                <a:tab pos="211454" algn="l"/>
              </a:tabLst>
            </a:pPr>
            <a:r>
              <a:rPr lang="en-US" sz="2200" dirty="0" smtClean="0">
                <a:latin typeface="Times New Roman"/>
                <a:cs typeface="Times New Roman"/>
              </a:rPr>
              <a:t>Business </a:t>
            </a:r>
            <a:r>
              <a:rPr lang="en-US" sz="2200" dirty="0">
                <a:latin typeface="Times New Roman"/>
                <a:cs typeface="Times New Roman"/>
              </a:rPr>
              <a:t>isn’t dependent on a single person for </a:t>
            </a:r>
            <a:r>
              <a:rPr lang="en-US" sz="2200" dirty="0" smtClean="0">
                <a:latin typeface="Times New Roman"/>
                <a:cs typeface="Times New Roman"/>
              </a:rPr>
              <a:t>its survival </a:t>
            </a:r>
            <a:r>
              <a:rPr lang="en-US" sz="2200" dirty="0">
                <a:latin typeface="Times New Roman"/>
                <a:cs typeface="Times New Roman"/>
              </a:rPr>
              <a:t>and success.</a:t>
            </a:r>
            <a:endParaRPr sz="2200" dirty="0">
              <a:latin typeface="Times New Roman"/>
              <a:cs typeface="Times New Roman"/>
            </a:endParaRPr>
          </a:p>
          <a:p>
            <a:pPr marL="205740" indent="-193675">
              <a:lnSpc>
                <a:spcPct val="100000"/>
              </a:lnSpc>
              <a:spcBef>
                <a:spcPts val="1260"/>
              </a:spcBef>
              <a:buFont typeface="Wingdings"/>
              <a:buChar char=""/>
              <a:tabLst>
                <a:tab pos="206375" algn="l"/>
              </a:tabLst>
            </a:pP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skills</a:t>
            </a:r>
            <a:r>
              <a:rPr sz="2200" spc="-40" dirty="0">
                <a:latin typeface="Times New Roman"/>
                <a:cs typeface="Times New Roman"/>
              </a:rPr>
              <a:t> </a:t>
            </a:r>
            <a:r>
              <a:rPr sz="2200" dirty="0">
                <a:latin typeface="Times New Roman"/>
                <a:cs typeface="Times New Roman"/>
              </a:rPr>
              <a:t>and </a:t>
            </a:r>
            <a:r>
              <a:rPr sz="2200" spc="-5" dirty="0">
                <a:latin typeface="Times New Roman"/>
                <a:cs typeface="Times New Roman"/>
              </a:rPr>
              <a:t>abilities</a:t>
            </a:r>
            <a:r>
              <a:rPr sz="2200" spc="-40" dirty="0">
                <a:latin typeface="Times New Roman"/>
                <a:cs typeface="Times New Roman"/>
              </a:rPr>
              <a:t> </a:t>
            </a:r>
            <a:r>
              <a:rPr sz="2200" spc="5" dirty="0">
                <a:latin typeface="Times New Roman"/>
                <a:cs typeface="Times New Roman"/>
              </a:rPr>
              <a:t>of</a:t>
            </a:r>
            <a:r>
              <a:rPr sz="2200" spc="-5" dirty="0">
                <a:latin typeface="Times New Roman"/>
                <a:cs typeface="Times New Roman"/>
              </a:rPr>
              <a:t> more than</a:t>
            </a:r>
            <a:r>
              <a:rPr sz="2200" dirty="0">
                <a:latin typeface="Times New Roman"/>
                <a:cs typeface="Times New Roman"/>
              </a:rPr>
              <a:t> one</a:t>
            </a:r>
            <a:r>
              <a:rPr sz="2200" spc="-5" dirty="0">
                <a:latin typeface="Times New Roman"/>
                <a:cs typeface="Times New Roman"/>
              </a:rPr>
              <a:t> individual</a:t>
            </a:r>
            <a:r>
              <a:rPr sz="2200" spc="-40" dirty="0">
                <a:latin typeface="Times New Roman"/>
                <a:cs typeface="Times New Roman"/>
              </a:rPr>
              <a:t> </a:t>
            </a:r>
            <a:r>
              <a:rPr sz="2200" spc="-5" dirty="0">
                <a:latin typeface="Times New Roman"/>
                <a:cs typeface="Times New Roman"/>
              </a:rPr>
              <a:t>are available to</a:t>
            </a:r>
            <a:r>
              <a:rPr sz="2200" dirty="0">
                <a:latin typeface="Times New Roman"/>
                <a:cs typeface="Times New Roman"/>
              </a:rPr>
              <a:t> </a:t>
            </a:r>
            <a:r>
              <a:rPr sz="2200" spc="-5" dirty="0">
                <a:latin typeface="Times New Roman"/>
                <a:cs typeface="Times New Roman"/>
              </a:rPr>
              <a:t>the</a:t>
            </a:r>
            <a:r>
              <a:rPr sz="2200" spc="-10" dirty="0">
                <a:latin typeface="Times New Roman"/>
                <a:cs typeface="Times New Roman"/>
              </a:rPr>
              <a:t> firm.</a:t>
            </a:r>
            <a:endParaRPr sz="2200" dirty="0">
              <a:latin typeface="Times New Roman"/>
              <a:cs typeface="Times New Roman"/>
            </a:endParaRPr>
          </a:p>
          <a:p>
            <a:pPr marL="210820" indent="-198755">
              <a:lnSpc>
                <a:spcPct val="100000"/>
              </a:lnSpc>
              <a:spcBef>
                <a:spcPts val="585"/>
              </a:spcBef>
              <a:buFont typeface="Wingdings"/>
              <a:buChar char=""/>
              <a:tabLst>
                <a:tab pos="211454" algn="l"/>
              </a:tabLst>
            </a:pPr>
            <a:r>
              <a:rPr sz="2200" spc="-5" dirty="0">
                <a:latin typeface="Times New Roman"/>
                <a:cs typeface="Times New Roman"/>
              </a:rPr>
              <a:t>Having </a:t>
            </a:r>
            <a:r>
              <a:rPr sz="2200" spc="-10" dirty="0">
                <a:latin typeface="Times New Roman"/>
                <a:cs typeface="Times New Roman"/>
              </a:rPr>
              <a:t>more</a:t>
            </a:r>
            <a:r>
              <a:rPr sz="2200" spc="10" dirty="0">
                <a:latin typeface="Times New Roman"/>
                <a:cs typeface="Times New Roman"/>
              </a:rPr>
              <a:t> </a:t>
            </a:r>
            <a:r>
              <a:rPr sz="2200" dirty="0">
                <a:latin typeface="Times New Roman"/>
                <a:cs typeface="Times New Roman"/>
              </a:rPr>
              <a:t>than</a:t>
            </a:r>
            <a:r>
              <a:rPr sz="2200" spc="-5" dirty="0">
                <a:latin typeface="Times New Roman"/>
                <a:cs typeface="Times New Roman"/>
              </a:rPr>
              <a:t> one owner</a:t>
            </a:r>
            <a:r>
              <a:rPr sz="2200" spc="10" dirty="0">
                <a:latin typeface="Times New Roman"/>
                <a:cs typeface="Times New Roman"/>
              </a:rPr>
              <a:t> </a:t>
            </a:r>
            <a:r>
              <a:rPr sz="2200" spc="-15" dirty="0">
                <a:latin typeface="Times New Roman"/>
                <a:cs typeface="Times New Roman"/>
              </a:rPr>
              <a:t>may</a:t>
            </a:r>
            <a:r>
              <a:rPr sz="2200" spc="20" dirty="0">
                <a:latin typeface="Times New Roman"/>
                <a:cs typeface="Times New Roman"/>
              </a:rPr>
              <a:t> </a:t>
            </a:r>
            <a:r>
              <a:rPr sz="2200" spc="-5" dirty="0">
                <a:latin typeface="Times New Roman"/>
                <a:cs typeface="Times New Roman"/>
              </a:rPr>
              <a:t>make</a:t>
            </a:r>
            <a:r>
              <a:rPr sz="2200" spc="15" dirty="0">
                <a:latin typeface="Times New Roman"/>
                <a:cs typeface="Times New Roman"/>
              </a:rPr>
              <a:t> </a:t>
            </a:r>
            <a:r>
              <a:rPr sz="2200" spc="-5" dirty="0">
                <a:latin typeface="Times New Roman"/>
                <a:cs typeface="Times New Roman"/>
              </a:rPr>
              <a:t>it</a:t>
            </a:r>
            <a:r>
              <a:rPr sz="2200" spc="-20" dirty="0">
                <a:latin typeface="Times New Roman"/>
                <a:cs typeface="Times New Roman"/>
              </a:rPr>
              <a:t> </a:t>
            </a:r>
            <a:r>
              <a:rPr sz="2200" spc="-10" dirty="0">
                <a:latin typeface="Times New Roman"/>
                <a:cs typeface="Times New Roman"/>
              </a:rPr>
              <a:t>easier</a:t>
            </a:r>
            <a:r>
              <a:rPr sz="2200" spc="1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10" dirty="0">
                <a:latin typeface="Times New Roman"/>
                <a:cs typeface="Times New Roman"/>
              </a:rPr>
              <a:t>raise </a:t>
            </a:r>
            <a:r>
              <a:rPr sz="2200" dirty="0">
                <a:latin typeface="Times New Roman"/>
                <a:cs typeface="Times New Roman"/>
              </a:rPr>
              <a:t>funds.</a:t>
            </a:r>
          </a:p>
          <a:p>
            <a:pPr marL="210820" indent="-198755">
              <a:lnSpc>
                <a:spcPct val="100000"/>
              </a:lnSpc>
              <a:spcBef>
                <a:spcPts val="530"/>
              </a:spcBef>
              <a:buFont typeface="Wingdings"/>
              <a:buChar char=""/>
              <a:tabLst>
                <a:tab pos="211454" algn="l"/>
              </a:tabLst>
            </a:pPr>
            <a:r>
              <a:rPr sz="2200" spc="-5" dirty="0">
                <a:latin typeface="Times New Roman"/>
                <a:cs typeface="Times New Roman"/>
              </a:rPr>
              <a:t>Business</a:t>
            </a:r>
            <a:r>
              <a:rPr sz="2200" spc="-25" dirty="0">
                <a:latin typeface="Times New Roman"/>
                <a:cs typeface="Times New Roman"/>
              </a:rPr>
              <a:t> </a:t>
            </a:r>
            <a:r>
              <a:rPr sz="2200" spc="-5" dirty="0">
                <a:latin typeface="Times New Roman"/>
                <a:cs typeface="Times New Roman"/>
              </a:rPr>
              <a:t>losses</a:t>
            </a:r>
            <a:r>
              <a:rPr sz="2200" spc="5" dirty="0">
                <a:latin typeface="Times New Roman"/>
                <a:cs typeface="Times New Roman"/>
              </a:rPr>
              <a:t> </a:t>
            </a:r>
            <a:r>
              <a:rPr sz="2200" spc="-5" dirty="0">
                <a:latin typeface="Times New Roman"/>
                <a:cs typeface="Times New Roman"/>
              </a:rPr>
              <a:t>can be</a:t>
            </a:r>
            <a:r>
              <a:rPr sz="2200" spc="15" dirty="0">
                <a:latin typeface="Times New Roman"/>
                <a:cs typeface="Times New Roman"/>
              </a:rPr>
              <a:t> </a:t>
            </a:r>
            <a:r>
              <a:rPr sz="2200" spc="-5" dirty="0">
                <a:latin typeface="Times New Roman"/>
                <a:cs typeface="Times New Roman"/>
              </a:rPr>
              <a:t>deducted</a:t>
            </a:r>
            <a:r>
              <a:rPr sz="2200" dirty="0">
                <a:latin typeface="Times New Roman"/>
                <a:cs typeface="Times New Roman"/>
              </a:rPr>
              <a:t> </a:t>
            </a:r>
            <a:r>
              <a:rPr sz="2200" spc="-5" dirty="0">
                <a:latin typeface="Times New Roman"/>
                <a:cs typeface="Times New Roman"/>
              </a:rPr>
              <a:t>against</a:t>
            </a:r>
            <a:r>
              <a:rPr sz="2200" spc="-20" dirty="0">
                <a:latin typeface="Times New Roman"/>
                <a:cs typeface="Times New Roman"/>
              </a:rPr>
              <a:t> </a:t>
            </a:r>
            <a:r>
              <a:rPr sz="2200" spc="5" dirty="0">
                <a:latin typeface="Times New Roman"/>
                <a:cs typeface="Times New Roman"/>
              </a:rPr>
              <a:t>the</a:t>
            </a:r>
            <a:r>
              <a:rPr sz="2200" spc="-30" dirty="0">
                <a:latin typeface="Times New Roman"/>
                <a:cs typeface="Times New Roman"/>
              </a:rPr>
              <a:t> </a:t>
            </a:r>
            <a:r>
              <a:rPr sz="2200" spc="-5" dirty="0">
                <a:latin typeface="Times New Roman"/>
                <a:cs typeface="Times New Roman"/>
              </a:rPr>
              <a:t>partners’</a:t>
            </a:r>
            <a:r>
              <a:rPr sz="2200" spc="-185" dirty="0">
                <a:latin typeface="Times New Roman"/>
                <a:cs typeface="Times New Roman"/>
              </a:rPr>
              <a:t> </a:t>
            </a:r>
            <a:r>
              <a:rPr sz="2200" dirty="0">
                <a:latin typeface="Times New Roman"/>
                <a:cs typeface="Times New Roman"/>
              </a:rPr>
              <a:t>other</a:t>
            </a:r>
            <a:r>
              <a:rPr sz="2200" spc="-5" dirty="0">
                <a:latin typeface="Times New Roman"/>
                <a:cs typeface="Times New Roman"/>
              </a:rPr>
              <a:t> sources</a:t>
            </a:r>
            <a:r>
              <a:rPr sz="2200" spc="-20" dirty="0">
                <a:latin typeface="Times New Roman"/>
                <a:cs typeface="Times New Roman"/>
              </a:rPr>
              <a:t> </a:t>
            </a:r>
            <a:r>
              <a:rPr sz="2200" spc="5" dirty="0">
                <a:latin typeface="Times New Roman"/>
                <a:cs typeface="Times New Roman"/>
              </a:rPr>
              <a:t>of</a:t>
            </a:r>
            <a:r>
              <a:rPr sz="2200" spc="-30" dirty="0">
                <a:latin typeface="Times New Roman"/>
                <a:cs typeface="Times New Roman"/>
              </a:rPr>
              <a:t> </a:t>
            </a:r>
            <a:r>
              <a:rPr sz="2200" spc="-5" dirty="0">
                <a:latin typeface="Times New Roman"/>
                <a:cs typeface="Times New Roman"/>
              </a:rPr>
              <a:t>income.</a:t>
            </a:r>
            <a:endParaRPr sz="2200" dirty="0">
              <a:latin typeface="Times New Roman"/>
              <a:cs typeface="Times New Roman"/>
            </a:endParaRPr>
          </a:p>
          <a:p>
            <a:pPr marL="210820" indent="-198755">
              <a:lnSpc>
                <a:spcPct val="100000"/>
              </a:lnSpc>
              <a:spcBef>
                <a:spcPts val="530"/>
              </a:spcBef>
              <a:buFont typeface="Wingdings"/>
              <a:buChar char=""/>
              <a:tabLst>
                <a:tab pos="211454" algn="l"/>
              </a:tabLst>
            </a:pPr>
            <a:r>
              <a:rPr sz="2200" spc="-10" dirty="0">
                <a:latin typeface="Times New Roman"/>
                <a:cs typeface="Times New Roman"/>
              </a:rPr>
              <a:t>It</a:t>
            </a:r>
            <a:r>
              <a:rPr sz="2200" dirty="0">
                <a:latin typeface="Times New Roman"/>
                <a:cs typeface="Times New Roman"/>
              </a:rPr>
              <a:t> </a:t>
            </a:r>
            <a:r>
              <a:rPr sz="2200" spc="-5" dirty="0">
                <a:latin typeface="Times New Roman"/>
                <a:cs typeface="Times New Roman"/>
              </a:rPr>
              <a:t>is</a:t>
            </a:r>
            <a:r>
              <a:rPr sz="2200" spc="-25" dirty="0">
                <a:latin typeface="Times New Roman"/>
                <a:cs typeface="Times New Roman"/>
              </a:rPr>
              <a:t> </a:t>
            </a:r>
            <a:r>
              <a:rPr sz="2200" spc="5" dirty="0">
                <a:latin typeface="Times New Roman"/>
                <a:cs typeface="Times New Roman"/>
              </a:rPr>
              <a:t>not</a:t>
            </a:r>
            <a:r>
              <a:rPr sz="2200" spc="-20" dirty="0">
                <a:latin typeface="Times New Roman"/>
                <a:cs typeface="Times New Roman"/>
              </a:rPr>
              <a:t> </a:t>
            </a:r>
            <a:r>
              <a:rPr sz="2200" spc="-5" dirty="0">
                <a:latin typeface="Times New Roman"/>
                <a:cs typeface="Times New Roman"/>
              </a:rPr>
              <a:t>subject</a:t>
            </a:r>
            <a:r>
              <a:rPr sz="2200" spc="-20" dirty="0">
                <a:latin typeface="Times New Roman"/>
                <a:cs typeface="Times New Roman"/>
              </a:rPr>
              <a:t> </a:t>
            </a:r>
            <a:r>
              <a:rPr sz="2200" spc="-5" dirty="0">
                <a:latin typeface="Times New Roman"/>
                <a:cs typeface="Times New Roman"/>
              </a:rPr>
              <a:t>to</a:t>
            </a:r>
            <a:r>
              <a:rPr sz="2200" spc="-25" dirty="0">
                <a:latin typeface="Times New Roman"/>
                <a:cs typeface="Times New Roman"/>
              </a:rPr>
              <a:t> </a:t>
            </a:r>
            <a:r>
              <a:rPr sz="2200" dirty="0">
                <a:latin typeface="Times New Roman"/>
                <a:cs typeface="Times New Roman"/>
              </a:rPr>
              <a:t>double</a:t>
            </a:r>
            <a:r>
              <a:rPr sz="2200" spc="-10" dirty="0">
                <a:latin typeface="Times New Roman"/>
                <a:cs typeface="Times New Roman"/>
              </a:rPr>
              <a:t> </a:t>
            </a:r>
            <a:r>
              <a:rPr sz="2200" spc="-5" dirty="0" smtClean="0">
                <a:latin typeface="Times New Roman"/>
                <a:cs typeface="Times New Roman"/>
              </a:rPr>
              <a:t>taxation.</a:t>
            </a:r>
            <a:endParaRPr lang="en-US" sz="2200" spc="-5" dirty="0" smtClean="0">
              <a:latin typeface="Times New Roman"/>
              <a:cs typeface="Times New Roman"/>
            </a:endParaRPr>
          </a:p>
          <a:p>
            <a:pPr marL="12065">
              <a:lnSpc>
                <a:spcPct val="100000"/>
              </a:lnSpc>
              <a:spcBef>
                <a:spcPts val="530"/>
              </a:spcBef>
              <a:tabLst>
                <a:tab pos="211454" algn="l"/>
              </a:tabLst>
            </a:pPr>
            <a:endParaRPr lang="en-US" sz="2200" spc="-5" dirty="0">
              <a:latin typeface="Times New Roman"/>
              <a:cs typeface="Times New Roman"/>
            </a:endParaRPr>
          </a:p>
          <a:p>
            <a:pPr marL="12065">
              <a:lnSpc>
                <a:spcPct val="100000"/>
              </a:lnSpc>
              <a:spcBef>
                <a:spcPts val="530"/>
              </a:spcBef>
              <a:tabLst>
                <a:tab pos="211454" algn="l"/>
              </a:tabLst>
            </a:pPr>
            <a:r>
              <a:rPr lang="en-US" sz="2200" dirty="0">
                <a:latin typeface="Times New Roman"/>
                <a:cs typeface="Times New Roman"/>
              </a:rPr>
              <a:t>A </a:t>
            </a:r>
            <a:r>
              <a:rPr lang="en-US" sz="2200" b="1" dirty="0" smtClean="0">
                <a:latin typeface="Times New Roman"/>
                <a:cs typeface="Times New Roman"/>
              </a:rPr>
              <a:t>partnership agreement </a:t>
            </a:r>
            <a:r>
              <a:rPr lang="en-US" sz="2200" dirty="0">
                <a:latin typeface="Times New Roman"/>
                <a:cs typeface="Times New Roman"/>
              </a:rPr>
              <a:t>details the responsibilities and the ownership shares of </a:t>
            </a:r>
            <a:r>
              <a:rPr lang="en-US" sz="2200" dirty="0" smtClean="0">
                <a:latin typeface="Times New Roman"/>
                <a:cs typeface="Times New Roman"/>
              </a:rPr>
              <a:t>the partners </a:t>
            </a:r>
            <a:r>
              <a:rPr lang="en-US" sz="2200" dirty="0">
                <a:latin typeface="Times New Roman"/>
                <a:cs typeface="Times New Roman"/>
              </a:rPr>
              <a:t>involved with an organization. The business created by a </a:t>
            </a:r>
            <a:r>
              <a:rPr lang="en-US" sz="2200" dirty="0" smtClean="0">
                <a:latin typeface="Times New Roman"/>
                <a:cs typeface="Times New Roman"/>
              </a:rPr>
              <a:t>partnership ends </a:t>
            </a:r>
            <a:r>
              <a:rPr lang="en-US" sz="2200" dirty="0">
                <a:latin typeface="Times New Roman"/>
                <a:cs typeface="Times New Roman"/>
              </a:rPr>
              <a:t>at the death or withdrawal of a partner, unless otherwise stated in </a:t>
            </a:r>
            <a:r>
              <a:rPr lang="en-US" sz="2200" dirty="0" smtClean="0">
                <a:latin typeface="Times New Roman"/>
                <a:cs typeface="Times New Roman"/>
              </a:rPr>
              <a:t>the partnership </a:t>
            </a:r>
            <a:r>
              <a:rPr lang="en-US" sz="2200" dirty="0">
                <a:latin typeface="Times New Roman"/>
                <a:cs typeface="Times New Roman"/>
              </a:rPr>
              <a:t>agreement.</a:t>
            </a:r>
            <a:endParaRPr sz="2200" dirty="0">
              <a:latin typeface="Times New Roman"/>
              <a:cs typeface="Times New Roman"/>
            </a:endParaRPr>
          </a:p>
        </p:txBody>
      </p:sp>
    </p:spTree>
    <p:extLst>
      <p:ext uri="{BB962C8B-B14F-4D97-AF65-F5344CB8AC3E}">
        <p14:creationId xmlns:p14="http://schemas.microsoft.com/office/powerpoint/2010/main" val="2118657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Partnerships</a:t>
            </a:r>
          </a:p>
          <a:p>
            <a:pPr algn="ctr">
              <a:lnSpc>
                <a:spcPct val="100000"/>
              </a:lnSpc>
              <a:spcBef>
                <a:spcPts val="55"/>
              </a:spcBef>
            </a:pPr>
            <a:r>
              <a:rPr sz="2200" spc="-5" dirty="0"/>
              <a:t>3</a:t>
            </a:r>
            <a:r>
              <a:rPr sz="2200" spc="-35" dirty="0"/>
              <a:t> </a:t>
            </a:r>
            <a:r>
              <a:rPr sz="2200" spc="-5" dirty="0"/>
              <a:t>of</a:t>
            </a:r>
            <a:r>
              <a:rPr sz="2200" spc="-15" dirty="0"/>
              <a:t> </a:t>
            </a:r>
            <a:r>
              <a:rPr sz="2200" spc="-5" dirty="0"/>
              <a:t>3</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720325" y="3405614"/>
            <a:ext cx="3584575" cy="561340"/>
          </a:xfrm>
          <a:prstGeom prst="rect">
            <a:avLst/>
          </a:prstGeom>
        </p:spPr>
        <p:txBody>
          <a:bodyPr vert="horz" wrap="square" lIns="0" tIns="14604" rIns="0" bIns="0" rtlCol="0">
            <a:spAutoFit/>
          </a:bodyPr>
          <a:lstStyle/>
          <a:p>
            <a:pPr marL="12700">
              <a:lnSpc>
                <a:spcPct val="100000"/>
              </a:lnSpc>
              <a:spcBef>
                <a:spcPts val="114"/>
              </a:spcBef>
            </a:pPr>
            <a:r>
              <a:rPr sz="3500" dirty="0">
                <a:latin typeface="Times New Roman"/>
                <a:cs typeface="Times New Roman"/>
              </a:rPr>
              <a:t>Limited</a:t>
            </a:r>
            <a:r>
              <a:rPr sz="3500" spc="-10" dirty="0">
                <a:latin typeface="Times New Roman"/>
                <a:cs typeface="Times New Roman"/>
              </a:rPr>
              <a:t> </a:t>
            </a:r>
            <a:r>
              <a:rPr sz="3500" dirty="0">
                <a:latin typeface="Times New Roman"/>
                <a:cs typeface="Times New Roman"/>
              </a:rPr>
              <a:t>Partnership</a:t>
            </a:r>
            <a:endParaRPr sz="3500">
              <a:latin typeface="Times New Roman"/>
              <a:cs typeface="Times New Roman"/>
            </a:endParaRPr>
          </a:p>
        </p:txBody>
      </p:sp>
      <p:grpSp>
        <p:nvGrpSpPr>
          <p:cNvPr id="5" name="object 5"/>
          <p:cNvGrpSpPr/>
          <p:nvPr/>
        </p:nvGrpSpPr>
        <p:grpSpPr>
          <a:xfrm>
            <a:off x="4688585" y="1785366"/>
            <a:ext cx="4788535" cy="5291455"/>
            <a:chOff x="4688585" y="1785366"/>
            <a:chExt cx="4788535" cy="5291455"/>
          </a:xfrm>
        </p:grpSpPr>
        <p:sp>
          <p:nvSpPr>
            <p:cNvPr id="6" name="object 6"/>
            <p:cNvSpPr/>
            <p:nvPr/>
          </p:nvSpPr>
          <p:spPr>
            <a:xfrm>
              <a:off x="4693919" y="1790700"/>
              <a:ext cx="4777740" cy="5280660"/>
            </a:xfrm>
            <a:custGeom>
              <a:avLst/>
              <a:gdLst/>
              <a:ahLst/>
              <a:cxnLst/>
              <a:rect l="l" t="t" r="r" b="b"/>
              <a:pathLst>
                <a:path w="4777740" h="5280659">
                  <a:moveTo>
                    <a:pt x="4777740" y="5280660"/>
                  </a:moveTo>
                  <a:lnTo>
                    <a:pt x="0" y="5280660"/>
                  </a:lnTo>
                  <a:lnTo>
                    <a:pt x="0" y="0"/>
                  </a:lnTo>
                  <a:lnTo>
                    <a:pt x="4777740" y="0"/>
                  </a:lnTo>
                  <a:lnTo>
                    <a:pt x="4777740" y="5280660"/>
                  </a:lnTo>
                  <a:close/>
                </a:path>
              </a:pathLst>
            </a:custGeom>
            <a:solidFill>
              <a:srgbClr val="FFFFCC"/>
            </a:solidFill>
          </p:spPr>
          <p:txBody>
            <a:bodyPr wrap="square" lIns="0" tIns="0" rIns="0" bIns="0" rtlCol="0"/>
            <a:lstStyle/>
            <a:p>
              <a:endParaRPr/>
            </a:p>
          </p:txBody>
        </p:sp>
        <p:sp>
          <p:nvSpPr>
            <p:cNvPr id="7" name="object 7"/>
            <p:cNvSpPr/>
            <p:nvPr/>
          </p:nvSpPr>
          <p:spPr>
            <a:xfrm>
              <a:off x="4693919" y="1790700"/>
              <a:ext cx="4777740" cy="5280660"/>
            </a:xfrm>
            <a:custGeom>
              <a:avLst/>
              <a:gdLst/>
              <a:ahLst/>
              <a:cxnLst/>
              <a:rect l="l" t="t" r="r" b="b"/>
              <a:pathLst>
                <a:path w="4777740" h="5280659">
                  <a:moveTo>
                    <a:pt x="0" y="0"/>
                  </a:moveTo>
                  <a:lnTo>
                    <a:pt x="4777740" y="0"/>
                  </a:lnTo>
                  <a:lnTo>
                    <a:pt x="4777740" y="5280660"/>
                  </a:lnTo>
                  <a:lnTo>
                    <a:pt x="0" y="5280660"/>
                  </a:lnTo>
                  <a:lnTo>
                    <a:pt x="0" y="0"/>
                  </a:lnTo>
                  <a:close/>
                </a:path>
              </a:pathLst>
            </a:custGeom>
            <a:ln w="10668">
              <a:solidFill>
                <a:srgbClr val="000000"/>
              </a:solidFill>
            </a:ln>
          </p:spPr>
          <p:txBody>
            <a:bodyPr wrap="square" lIns="0" tIns="0" rIns="0" bIns="0" rtlCol="0"/>
            <a:lstStyle/>
            <a:p>
              <a:endParaRPr/>
            </a:p>
          </p:txBody>
        </p:sp>
      </p:grpSp>
      <p:sp>
        <p:nvSpPr>
          <p:cNvPr id="8" name="object 8"/>
          <p:cNvSpPr txBox="1"/>
          <p:nvPr/>
        </p:nvSpPr>
        <p:spPr>
          <a:xfrm>
            <a:off x="4865564" y="1899937"/>
            <a:ext cx="4504690" cy="4853940"/>
          </a:xfrm>
          <a:prstGeom prst="rect">
            <a:avLst/>
          </a:prstGeom>
        </p:spPr>
        <p:txBody>
          <a:bodyPr vert="horz" wrap="square" lIns="0" tIns="26034" rIns="0" bIns="0" rtlCol="0">
            <a:spAutoFit/>
          </a:bodyPr>
          <a:lstStyle/>
          <a:p>
            <a:pPr marL="180340" marR="613410" indent="-167640">
              <a:lnSpc>
                <a:spcPts val="3170"/>
              </a:lnSpc>
              <a:spcBef>
                <a:spcPts val="204"/>
              </a:spcBef>
              <a:buFont typeface="Arial MT"/>
              <a:buChar char="•"/>
              <a:tabLst>
                <a:tab pos="195580" algn="l"/>
              </a:tabLst>
            </a:pPr>
            <a:r>
              <a:rPr sz="2650" spc="-10" dirty="0">
                <a:latin typeface="Times New Roman"/>
                <a:cs typeface="Times New Roman"/>
              </a:rPr>
              <a:t>A</a:t>
            </a:r>
            <a:r>
              <a:rPr sz="2650" spc="-155" dirty="0">
                <a:latin typeface="Times New Roman"/>
                <a:cs typeface="Times New Roman"/>
              </a:rPr>
              <a:t> </a:t>
            </a:r>
            <a:r>
              <a:rPr sz="2650" spc="-10" dirty="0">
                <a:latin typeface="Times New Roman"/>
                <a:cs typeface="Times New Roman"/>
              </a:rPr>
              <a:t>modified</a:t>
            </a:r>
            <a:r>
              <a:rPr sz="2650" spc="-45" dirty="0">
                <a:latin typeface="Times New Roman"/>
                <a:cs typeface="Times New Roman"/>
              </a:rPr>
              <a:t> </a:t>
            </a:r>
            <a:r>
              <a:rPr sz="2650" spc="-5" dirty="0">
                <a:latin typeface="Times New Roman"/>
                <a:cs typeface="Times New Roman"/>
              </a:rPr>
              <a:t>form</a:t>
            </a:r>
            <a:r>
              <a:rPr sz="2650" spc="-35" dirty="0">
                <a:latin typeface="Times New Roman"/>
                <a:cs typeface="Times New Roman"/>
              </a:rPr>
              <a:t> </a:t>
            </a:r>
            <a:r>
              <a:rPr sz="2650" spc="-5" dirty="0">
                <a:latin typeface="Times New Roman"/>
                <a:cs typeface="Times New Roman"/>
              </a:rPr>
              <a:t>of</a:t>
            </a:r>
            <a:r>
              <a:rPr sz="2650" spc="5" dirty="0">
                <a:latin typeface="Times New Roman"/>
                <a:cs typeface="Times New Roman"/>
              </a:rPr>
              <a:t> </a:t>
            </a:r>
            <a:r>
              <a:rPr sz="2650" spc="-5" dirty="0">
                <a:latin typeface="Times New Roman"/>
                <a:cs typeface="Times New Roman"/>
              </a:rPr>
              <a:t>general </a:t>
            </a:r>
            <a:r>
              <a:rPr sz="2650" spc="-650" dirty="0">
                <a:latin typeface="Times New Roman"/>
                <a:cs typeface="Times New Roman"/>
              </a:rPr>
              <a:t> </a:t>
            </a:r>
            <a:r>
              <a:rPr sz="2650" spc="-5" dirty="0">
                <a:latin typeface="Times New Roman"/>
                <a:cs typeface="Times New Roman"/>
              </a:rPr>
              <a:t>partnership.</a:t>
            </a:r>
            <a:endParaRPr sz="2650">
              <a:latin typeface="Times New Roman"/>
              <a:cs typeface="Times New Roman"/>
            </a:endParaRPr>
          </a:p>
          <a:p>
            <a:pPr marL="207645" indent="-195580">
              <a:lnSpc>
                <a:spcPts val="3055"/>
              </a:lnSpc>
              <a:buFont typeface="Arial MT"/>
              <a:buChar char="•"/>
              <a:tabLst>
                <a:tab pos="208279" algn="l"/>
              </a:tabLst>
            </a:pPr>
            <a:r>
              <a:rPr sz="2650" spc="-10" dirty="0">
                <a:latin typeface="Times New Roman"/>
                <a:cs typeface="Times New Roman"/>
              </a:rPr>
              <a:t>The</a:t>
            </a:r>
            <a:r>
              <a:rPr sz="2650" spc="-20" dirty="0">
                <a:latin typeface="Times New Roman"/>
                <a:cs typeface="Times New Roman"/>
              </a:rPr>
              <a:t> </a:t>
            </a:r>
            <a:r>
              <a:rPr sz="2650" spc="-10" dirty="0">
                <a:latin typeface="Times New Roman"/>
                <a:cs typeface="Times New Roman"/>
              </a:rPr>
              <a:t>major</a:t>
            </a:r>
            <a:r>
              <a:rPr sz="2650" spc="-20" dirty="0">
                <a:latin typeface="Times New Roman"/>
                <a:cs typeface="Times New Roman"/>
              </a:rPr>
              <a:t> </a:t>
            </a:r>
            <a:r>
              <a:rPr sz="2650" spc="-15" dirty="0">
                <a:latin typeface="Times New Roman"/>
                <a:cs typeface="Times New Roman"/>
              </a:rPr>
              <a:t>difference </a:t>
            </a:r>
            <a:r>
              <a:rPr sz="2650" spc="-5" dirty="0">
                <a:latin typeface="Times New Roman"/>
                <a:cs typeface="Times New Roman"/>
              </a:rPr>
              <a:t>between</a:t>
            </a:r>
            <a:endParaRPr sz="2650">
              <a:latin typeface="Times New Roman"/>
              <a:cs typeface="Times New Roman"/>
            </a:endParaRPr>
          </a:p>
          <a:p>
            <a:pPr marL="180340" marR="5080">
              <a:lnSpc>
                <a:spcPts val="3170"/>
              </a:lnSpc>
              <a:spcBef>
                <a:spcPts val="105"/>
              </a:spcBef>
            </a:pPr>
            <a:r>
              <a:rPr sz="2650" spc="-5" dirty="0">
                <a:latin typeface="Times New Roman"/>
                <a:cs typeface="Times New Roman"/>
              </a:rPr>
              <a:t>the </a:t>
            </a:r>
            <a:r>
              <a:rPr sz="2650" spc="-10" dirty="0">
                <a:latin typeface="Times New Roman"/>
                <a:cs typeface="Times New Roman"/>
              </a:rPr>
              <a:t>two </a:t>
            </a:r>
            <a:r>
              <a:rPr sz="2650" spc="-5" dirty="0">
                <a:latin typeface="Times New Roman"/>
                <a:cs typeface="Times New Roman"/>
              </a:rPr>
              <a:t>is </a:t>
            </a:r>
            <a:r>
              <a:rPr sz="2650" spc="-10" dirty="0">
                <a:latin typeface="Times New Roman"/>
                <a:cs typeface="Times New Roman"/>
              </a:rPr>
              <a:t>that </a:t>
            </a:r>
            <a:r>
              <a:rPr sz="2650" spc="-5" dirty="0">
                <a:latin typeface="Times New Roman"/>
                <a:cs typeface="Times New Roman"/>
              </a:rPr>
              <a:t>a </a:t>
            </a:r>
            <a:r>
              <a:rPr sz="2650" spc="-10" dirty="0">
                <a:latin typeface="Times New Roman"/>
                <a:cs typeface="Times New Roman"/>
              </a:rPr>
              <a:t>limited </a:t>
            </a:r>
            <a:r>
              <a:rPr sz="2650" spc="-5" dirty="0">
                <a:latin typeface="Times New Roman"/>
                <a:cs typeface="Times New Roman"/>
              </a:rPr>
              <a:t> partnership </a:t>
            </a:r>
            <a:r>
              <a:rPr sz="2650" spc="-10" dirty="0">
                <a:latin typeface="Times New Roman"/>
                <a:cs typeface="Times New Roman"/>
              </a:rPr>
              <a:t>includes two </a:t>
            </a:r>
            <a:r>
              <a:rPr sz="2650" spc="-5" dirty="0">
                <a:latin typeface="Times New Roman"/>
                <a:cs typeface="Times New Roman"/>
              </a:rPr>
              <a:t>classes </a:t>
            </a:r>
            <a:r>
              <a:rPr sz="2650" spc="-655" dirty="0">
                <a:latin typeface="Times New Roman"/>
                <a:cs typeface="Times New Roman"/>
              </a:rPr>
              <a:t> </a:t>
            </a:r>
            <a:r>
              <a:rPr sz="2650" spc="-5" dirty="0">
                <a:latin typeface="Times New Roman"/>
                <a:cs typeface="Times New Roman"/>
              </a:rPr>
              <a:t>of </a:t>
            </a:r>
            <a:r>
              <a:rPr sz="2650" spc="-10" dirty="0">
                <a:latin typeface="Times New Roman"/>
                <a:cs typeface="Times New Roman"/>
              </a:rPr>
              <a:t>owners: </a:t>
            </a:r>
            <a:r>
              <a:rPr sz="2650" spc="-5" dirty="0">
                <a:latin typeface="Times New Roman"/>
                <a:cs typeface="Times New Roman"/>
              </a:rPr>
              <a:t>general </a:t>
            </a:r>
            <a:r>
              <a:rPr sz="2650" spc="-10" dirty="0">
                <a:latin typeface="Times New Roman"/>
                <a:cs typeface="Times New Roman"/>
              </a:rPr>
              <a:t>partners </a:t>
            </a:r>
            <a:r>
              <a:rPr sz="2650" dirty="0">
                <a:latin typeface="Times New Roman"/>
                <a:cs typeface="Times New Roman"/>
              </a:rPr>
              <a:t>and </a:t>
            </a:r>
            <a:r>
              <a:rPr sz="2650" spc="5" dirty="0">
                <a:latin typeface="Times New Roman"/>
                <a:cs typeface="Times New Roman"/>
              </a:rPr>
              <a:t> </a:t>
            </a:r>
            <a:r>
              <a:rPr sz="2650" spc="-10" dirty="0">
                <a:latin typeface="Times New Roman"/>
                <a:cs typeface="Times New Roman"/>
              </a:rPr>
              <a:t>limited</a:t>
            </a:r>
            <a:r>
              <a:rPr sz="2650" spc="-35" dirty="0">
                <a:latin typeface="Times New Roman"/>
                <a:cs typeface="Times New Roman"/>
              </a:rPr>
              <a:t> </a:t>
            </a:r>
            <a:r>
              <a:rPr sz="2650" spc="-5" dirty="0">
                <a:latin typeface="Times New Roman"/>
                <a:cs typeface="Times New Roman"/>
              </a:rPr>
              <a:t>partners.</a:t>
            </a:r>
            <a:endParaRPr sz="2650">
              <a:latin typeface="Times New Roman"/>
              <a:cs typeface="Times New Roman"/>
            </a:endParaRPr>
          </a:p>
          <a:p>
            <a:pPr marL="207645" indent="-195580">
              <a:lnSpc>
                <a:spcPts val="3050"/>
              </a:lnSpc>
              <a:buFont typeface="Arial MT"/>
              <a:buChar char="•"/>
              <a:tabLst>
                <a:tab pos="208279" algn="l"/>
              </a:tabLst>
            </a:pPr>
            <a:r>
              <a:rPr sz="2650" spc="-10" dirty="0">
                <a:latin typeface="Times New Roman"/>
                <a:cs typeface="Times New Roman"/>
              </a:rPr>
              <a:t>The</a:t>
            </a:r>
            <a:r>
              <a:rPr sz="2650" spc="-25" dirty="0">
                <a:latin typeface="Times New Roman"/>
                <a:cs typeface="Times New Roman"/>
              </a:rPr>
              <a:t> </a:t>
            </a:r>
            <a:r>
              <a:rPr sz="2650" spc="-5" dirty="0">
                <a:latin typeface="Times New Roman"/>
                <a:cs typeface="Times New Roman"/>
              </a:rPr>
              <a:t>general</a:t>
            </a:r>
            <a:r>
              <a:rPr sz="2650" spc="-30" dirty="0">
                <a:latin typeface="Times New Roman"/>
                <a:cs typeface="Times New Roman"/>
              </a:rPr>
              <a:t> </a:t>
            </a:r>
            <a:r>
              <a:rPr sz="2650" spc="-10" dirty="0">
                <a:latin typeface="Times New Roman"/>
                <a:cs typeface="Times New Roman"/>
              </a:rPr>
              <a:t>partners</a:t>
            </a:r>
            <a:r>
              <a:rPr sz="2650" spc="-15" dirty="0">
                <a:latin typeface="Times New Roman"/>
                <a:cs typeface="Times New Roman"/>
              </a:rPr>
              <a:t> </a:t>
            </a:r>
            <a:r>
              <a:rPr sz="2650" spc="-5" dirty="0">
                <a:latin typeface="Times New Roman"/>
                <a:cs typeface="Times New Roman"/>
              </a:rPr>
              <a:t>are</a:t>
            </a:r>
            <a:r>
              <a:rPr sz="2650" spc="-20" dirty="0">
                <a:latin typeface="Times New Roman"/>
                <a:cs typeface="Times New Roman"/>
              </a:rPr>
              <a:t> </a:t>
            </a:r>
            <a:r>
              <a:rPr sz="2650" spc="-10" dirty="0">
                <a:latin typeface="Times New Roman"/>
                <a:cs typeface="Times New Roman"/>
              </a:rPr>
              <a:t>liable</a:t>
            </a:r>
            <a:endParaRPr sz="2650">
              <a:latin typeface="Times New Roman"/>
              <a:cs typeface="Times New Roman"/>
            </a:endParaRPr>
          </a:p>
          <a:p>
            <a:pPr marL="180340" marR="118745">
              <a:lnSpc>
                <a:spcPts val="3170"/>
              </a:lnSpc>
              <a:spcBef>
                <a:spcPts val="95"/>
              </a:spcBef>
            </a:pPr>
            <a:r>
              <a:rPr sz="2650" spc="-10" dirty="0">
                <a:latin typeface="Times New Roman"/>
                <a:cs typeface="Times New Roman"/>
              </a:rPr>
              <a:t>for</a:t>
            </a:r>
            <a:r>
              <a:rPr sz="2650" spc="10" dirty="0">
                <a:latin typeface="Times New Roman"/>
                <a:cs typeface="Times New Roman"/>
              </a:rPr>
              <a:t> </a:t>
            </a:r>
            <a:r>
              <a:rPr sz="2650" spc="-5" dirty="0">
                <a:latin typeface="Times New Roman"/>
                <a:cs typeface="Times New Roman"/>
              </a:rPr>
              <a:t>the</a:t>
            </a:r>
            <a:r>
              <a:rPr sz="2650" spc="-20" dirty="0">
                <a:latin typeface="Times New Roman"/>
                <a:cs typeface="Times New Roman"/>
              </a:rPr>
              <a:t> </a:t>
            </a:r>
            <a:r>
              <a:rPr sz="2650" spc="-10" dirty="0">
                <a:latin typeface="Times New Roman"/>
                <a:cs typeface="Times New Roman"/>
              </a:rPr>
              <a:t>debts and obligations </a:t>
            </a:r>
            <a:r>
              <a:rPr sz="2650" spc="-5" dirty="0">
                <a:latin typeface="Times New Roman"/>
                <a:cs typeface="Times New Roman"/>
              </a:rPr>
              <a:t>of </a:t>
            </a:r>
            <a:r>
              <a:rPr sz="2650" spc="-645" dirty="0">
                <a:latin typeface="Times New Roman"/>
                <a:cs typeface="Times New Roman"/>
              </a:rPr>
              <a:t> </a:t>
            </a:r>
            <a:r>
              <a:rPr sz="2650" spc="-5" dirty="0">
                <a:latin typeface="Times New Roman"/>
                <a:cs typeface="Times New Roman"/>
              </a:rPr>
              <a:t>the </a:t>
            </a:r>
            <a:r>
              <a:rPr sz="2650" spc="-10" dirty="0">
                <a:latin typeface="Times New Roman"/>
                <a:cs typeface="Times New Roman"/>
              </a:rPr>
              <a:t>partnership, </a:t>
            </a:r>
            <a:r>
              <a:rPr sz="2650" spc="-5" dirty="0">
                <a:latin typeface="Times New Roman"/>
                <a:cs typeface="Times New Roman"/>
              </a:rPr>
              <a:t>but the </a:t>
            </a:r>
            <a:r>
              <a:rPr sz="2650" spc="-10" dirty="0">
                <a:latin typeface="Times New Roman"/>
                <a:cs typeface="Times New Roman"/>
              </a:rPr>
              <a:t>limited </a:t>
            </a:r>
            <a:r>
              <a:rPr sz="2650" spc="-650" dirty="0">
                <a:latin typeface="Times New Roman"/>
                <a:cs typeface="Times New Roman"/>
              </a:rPr>
              <a:t> </a:t>
            </a:r>
            <a:r>
              <a:rPr sz="2650" spc="-10" dirty="0">
                <a:latin typeface="Times New Roman"/>
                <a:cs typeface="Times New Roman"/>
              </a:rPr>
              <a:t>partners </a:t>
            </a:r>
            <a:r>
              <a:rPr sz="2650" spc="-5" dirty="0">
                <a:latin typeface="Times New Roman"/>
                <a:cs typeface="Times New Roman"/>
              </a:rPr>
              <a:t>are </a:t>
            </a:r>
            <a:r>
              <a:rPr sz="2650" spc="-15" dirty="0">
                <a:latin typeface="Times New Roman"/>
                <a:cs typeface="Times New Roman"/>
              </a:rPr>
              <a:t>only </a:t>
            </a:r>
            <a:r>
              <a:rPr sz="2650" spc="-5" dirty="0">
                <a:latin typeface="Times New Roman"/>
                <a:cs typeface="Times New Roman"/>
              </a:rPr>
              <a:t>liable up </a:t>
            </a:r>
            <a:r>
              <a:rPr sz="2650" spc="-20" dirty="0">
                <a:latin typeface="Times New Roman"/>
                <a:cs typeface="Times New Roman"/>
              </a:rPr>
              <a:t>to </a:t>
            </a:r>
            <a:r>
              <a:rPr sz="2650" spc="-15" dirty="0">
                <a:latin typeface="Times New Roman"/>
                <a:cs typeface="Times New Roman"/>
              </a:rPr>
              <a:t> </a:t>
            </a:r>
            <a:r>
              <a:rPr sz="2650" spc="-5" dirty="0">
                <a:latin typeface="Times New Roman"/>
                <a:cs typeface="Times New Roman"/>
              </a:rPr>
              <a:t>the</a:t>
            </a:r>
            <a:r>
              <a:rPr sz="2650" spc="-20" dirty="0">
                <a:latin typeface="Times New Roman"/>
                <a:cs typeface="Times New Roman"/>
              </a:rPr>
              <a:t> </a:t>
            </a:r>
            <a:r>
              <a:rPr sz="2650" spc="-10" dirty="0">
                <a:latin typeface="Times New Roman"/>
                <a:cs typeface="Times New Roman"/>
              </a:rPr>
              <a:t>amount</a:t>
            </a:r>
            <a:r>
              <a:rPr sz="2650" spc="-30" dirty="0">
                <a:latin typeface="Times New Roman"/>
                <a:cs typeface="Times New Roman"/>
              </a:rPr>
              <a:t> </a:t>
            </a:r>
            <a:r>
              <a:rPr sz="2650" spc="-5" dirty="0">
                <a:latin typeface="Times New Roman"/>
                <a:cs typeface="Times New Roman"/>
              </a:rPr>
              <a:t>of</a:t>
            </a:r>
            <a:r>
              <a:rPr sz="2650" spc="10" dirty="0">
                <a:latin typeface="Times New Roman"/>
                <a:cs typeface="Times New Roman"/>
              </a:rPr>
              <a:t> </a:t>
            </a:r>
            <a:r>
              <a:rPr sz="2650" spc="-5" dirty="0">
                <a:latin typeface="Times New Roman"/>
                <a:cs typeface="Times New Roman"/>
              </a:rPr>
              <a:t>their</a:t>
            </a:r>
            <a:r>
              <a:rPr sz="2650" spc="-15" dirty="0">
                <a:latin typeface="Times New Roman"/>
                <a:cs typeface="Times New Roman"/>
              </a:rPr>
              <a:t> </a:t>
            </a:r>
            <a:r>
              <a:rPr sz="2650" spc="-10" dirty="0">
                <a:latin typeface="Times New Roman"/>
                <a:cs typeface="Times New Roman"/>
              </a:rPr>
              <a:t>investment.</a:t>
            </a:r>
            <a:endParaRPr sz="265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2723" y="580097"/>
            <a:ext cx="2650490" cy="629285"/>
          </a:xfrm>
          <a:prstGeom prst="rect">
            <a:avLst/>
          </a:prstGeom>
        </p:spPr>
        <p:txBody>
          <a:bodyPr vert="horz" wrap="square" lIns="0" tIns="13970" rIns="0" bIns="0" rtlCol="0">
            <a:spAutoFit/>
          </a:bodyPr>
          <a:lstStyle/>
          <a:p>
            <a:pPr marL="12700">
              <a:lnSpc>
                <a:spcPct val="100000"/>
              </a:lnSpc>
              <a:spcBef>
                <a:spcPts val="110"/>
              </a:spcBef>
            </a:pPr>
            <a:r>
              <a:rPr dirty="0"/>
              <a:t>Corporations</a:t>
            </a:r>
          </a:p>
        </p:txBody>
      </p:sp>
      <p:sp>
        <p:nvSpPr>
          <p:cNvPr id="3" name="object 3"/>
          <p:cNvSpPr txBox="1"/>
          <p:nvPr/>
        </p:nvSpPr>
        <p:spPr>
          <a:xfrm>
            <a:off x="590865" y="1802006"/>
            <a:ext cx="8757285" cy="3322320"/>
          </a:xfrm>
          <a:prstGeom prst="rect">
            <a:avLst/>
          </a:prstGeom>
        </p:spPr>
        <p:txBody>
          <a:bodyPr vert="horz" wrap="square" lIns="0" tIns="66040" rIns="0" bIns="0" rtlCol="0">
            <a:spAutoFit/>
          </a:bodyPr>
          <a:lstStyle/>
          <a:p>
            <a:pPr marL="388620" indent="-376555">
              <a:lnSpc>
                <a:spcPct val="100000"/>
              </a:lnSpc>
              <a:spcBef>
                <a:spcPts val="520"/>
              </a:spcBef>
              <a:buChar char="•"/>
              <a:tabLst>
                <a:tab pos="388620" algn="l"/>
                <a:tab pos="389255" algn="l"/>
              </a:tabLst>
            </a:pPr>
            <a:r>
              <a:rPr sz="3050" spc="15" dirty="0">
                <a:latin typeface="Times New Roman"/>
                <a:cs typeface="Times New Roman"/>
              </a:rPr>
              <a:t>Corporations</a:t>
            </a:r>
            <a:endParaRPr sz="3050">
              <a:latin typeface="Times New Roman"/>
              <a:cs typeface="Times New Roman"/>
            </a:endParaRPr>
          </a:p>
          <a:p>
            <a:pPr marL="829310" marR="5080" lvl="1" indent="-314325">
              <a:lnSpc>
                <a:spcPts val="2860"/>
              </a:lnSpc>
              <a:spcBef>
                <a:spcPts val="690"/>
              </a:spcBef>
              <a:buChar char="–"/>
              <a:tabLst>
                <a:tab pos="830580" algn="l"/>
                <a:tab pos="831215" algn="l"/>
              </a:tabLst>
            </a:pPr>
            <a:r>
              <a:rPr sz="2650" spc="-10" dirty="0">
                <a:latin typeface="Times New Roman"/>
                <a:cs typeface="Times New Roman"/>
              </a:rPr>
              <a:t>A corporation</a:t>
            </a:r>
            <a:r>
              <a:rPr sz="2650" spc="-30" dirty="0">
                <a:latin typeface="Times New Roman"/>
                <a:cs typeface="Times New Roman"/>
              </a:rPr>
              <a:t> </a:t>
            </a:r>
            <a:r>
              <a:rPr sz="2650" spc="-5" dirty="0">
                <a:latin typeface="Times New Roman"/>
                <a:cs typeface="Times New Roman"/>
              </a:rPr>
              <a:t>is</a:t>
            </a:r>
            <a:r>
              <a:rPr sz="2650"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5" dirty="0">
                <a:latin typeface="Times New Roman"/>
                <a:cs typeface="Times New Roman"/>
              </a:rPr>
              <a:t>separate</a:t>
            </a:r>
            <a:r>
              <a:rPr sz="2650" spc="-10" dirty="0">
                <a:latin typeface="Times New Roman"/>
                <a:cs typeface="Times New Roman"/>
              </a:rPr>
              <a:t> legal</a:t>
            </a:r>
            <a:r>
              <a:rPr sz="2650" spc="-25" dirty="0">
                <a:latin typeface="Times New Roman"/>
                <a:cs typeface="Times New Roman"/>
              </a:rPr>
              <a:t> </a:t>
            </a:r>
            <a:r>
              <a:rPr sz="2650" spc="-5" dirty="0">
                <a:latin typeface="Times New Roman"/>
                <a:cs typeface="Times New Roman"/>
              </a:rPr>
              <a:t>entity</a:t>
            </a:r>
            <a:r>
              <a:rPr sz="2650" spc="-25" dirty="0">
                <a:latin typeface="Times New Roman"/>
                <a:cs typeface="Times New Roman"/>
              </a:rPr>
              <a:t> </a:t>
            </a:r>
            <a:r>
              <a:rPr sz="2650" spc="-5" dirty="0">
                <a:latin typeface="Times New Roman"/>
                <a:cs typeface="Times New Roman"/>
              </a:rPr>
              <a:t>organized</a:t>
            </a:r>
            <a:r>
              <a:rPr sz="2650" spc="-30" dirty="0">
                <a:latin typeface="Times New Roman"/>
                <a:cs typeface="Times New Roman"/>
              </a:rPr>
              <a:t> </a:t>
            </a:r>
            <a:r>
              <a:rPr sz="2650" spc="-5" dirty="0">
                <a:latin typeface="Times New Roman"/>
                <a:cs typeface="Times New Roman"/>
              </a:rPr>
              <a:t>under</a:t>
            </a:r>
            <a:r>
              <a:rPr sz="2650" spc="-10" dirty="0">
                <a:latin typeface="Times New Roman"/>
                <a:cs typeface="Times New Roman"/>
              </a:rPr>
              <a:t> </a:t>
            </a:r>
            <a:r>
              <a:rPr sz="2650" spc="-5" dirty="0">
                <a:latin typeface="Times New Roman"/>
                <a:cs typeface="Times New Roman"/>
              </a:rPr>
              <a:t>the </a:t>
            </a:r>
            <a:r>
              <a:rPr sz="2650" spc="-650" dirty="0">
                <a:latin typeface="Times New Roman"/>
                <a:cs typeface="Times New Roman"/>
              </a:rPr>
              <a:t> </a:t>
            </a:r>
            <a:r>
              <a:rPr sz="2650" spc="-10" dirty="0">
                <a:latin typeface="Times New Roman"/>
                <a:cs typeface="Times New Roman"/>
              </a:rPr>
              <a:t>authority</a:t>
            </a:r>
            <a:r>
              <a:rPr sz="2650" spc="-35"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5" dirty="0">
                <a:latin typeface="Times New Roman"/>
                <a:cs typeface="Times New Roman"/>
              </a:rPr>
              <a:t>a</a:t>
            </a:r>
            <a:r>
              <a:rPr sz="2650" spc="-15" dirty="0">
                <a:latin typeface="Times New Roman"/>
                <a:cs typeface="Times New Roman"/>
              </a:rPr>
              <a:t> </a:t>
            </a:r>
            <a:r>
              <a:rPr sz="2650" spc="-5" dirty="0">
                <a:latin typeface="Times New Roman"/>
                <a:cs typeface="Times New Roman"/>
              </a:rPr>
              <a:t>state.</a:t>
            </a:r>
            <a:endParaRPr sz="2650">
              <a:latin typeface="Times New Roman"/>
              <a:cs typeface="Times New Roman"/>
            </a:endParaRPr>
          </a:p>
          <a:p>
            <a:pPr marL="829310" marR="635635" lvl="1" indent="-314325">
              <a:lnSpc>
                <a:spcPts val="2860"/>
              </a:lnSpc>
              <a:spcBef>
                <a:spcPts val="615"/>
              </a:spcBef>
              <a:buChar char="–"/>
              <a:tabLst>
                <a:tab pos="830580" algn="l"/>
                <a:tab pos="831215" algn="l"/>
              </a:tabLst>
            </a:pPr>
            <a:r>
              <a:rPr sz="2650" spc="-10" dirty="0">
                <a:latin typeface="Times New Roman"/>
                <a:cs typeface="Times New Roman"/>
              </a:rPr>
              <a:t>Corporations</a:t>
            </a:r>
            <a:r>
              <a:rPr sz="2650" spc="-30" dirty="0">
                <a:latin typeface="Times New Roman"/>
                <a:cs typeface="Times New Roman"/>
              </a:rPr>
              <a:t> </a:t>
            </a:r>
            <a:r>
              <a:rPr sz="2650" spc="-5" dirty="0">
                <a:latin typeface="Times New Roman"/>
                <a:cs typeface="Times New Roman"/>
              </a:rPr>
              <a:t>are</a:t>
            </a:r>
            <a:r>
              <a:rPr sz="2650" spc="-15" dirty="0">
                <a:latin typeface="Times New Roman"/>
                <a:cs typeface="Times New Roman"/>
              </a:rPr>
              <a:t> </a:t>
            </a:r>
            <a:r>
              <a:rPr sz="2650" spc="-5" dirty="0">
                <a:latin typeface="Times New Roman"/>
                <a:cs typeface="Times New Roman"/>
              </a:rPr>
              <a:t>organized</a:t>
            </a:r>
            <a:r>
              <a:rPr sz="2650" spc="-30" dirty="0">
                <a:latin typeface="Times New Roman"/>
                <a:cs typeface="Times New Roman"/>
              </a:rPr>
              <a:t> </a:t>
            </a:r>
            <a:r>
              <a:rPr sz="2650" dirty="0">
                <a:latin typeface="Times New Roman"/>
                <a:cs typeface="Times New Roman"/>
              </a:rPr>
              <a:t>as</a:t>
            </a:r>
            <a:r>
              <a:rPr sz="2650" spc="-5" dirty="0">
                <a:latin typeface="Times New Roman"/>
                <a:cs typeface="Times New Roman"/>
              </a:rPr>
              <a:t> </a:t>
            </a:r>
            <a:r>
              <a:rPr sz="2650" spc="-10" dirty="0">
                <a:latin typeface="Times New Roman"/>
                <a:cs typeface="Times New Roman"/>
              </a:rPr>
              <a:t>either</a:t>
            </a:r>
            <a:r>
              <a:rPr sz="2650" spc="-40" dirty="0">
                <a:latin typeface="Times New Roman"/>
                <a:cs typeface="Times New Roman"/>
              </a:rPr>
              <a:t> </a:t>
            </a:r>
            <a:r>
              <a:rPr sz="2650" spc="-10" dirty="0">
                <a:latin typeface="Times New Roman"/>
                <a:cs typeface="Times New Roman"/>
              </a:rPr>
              <a:t>C</a:t>
            </a:r>
            <a:r>
              <a:rPr sz="2650" spc="5" dirty="0">
                <a:latin typeface="Times New Roman"/>
                <a:cs typeface="Times New Roman"/>
              </a:rPr>
              <a:t> </a:t>
            </a:r>
            <a:r>
              <a:rPr sz="2650" spc="-5" dirty="0">
                <a:latin typeface="Times New Roman"/>
                <a:cs typeface="Times New Roman"/>
              </a:rPr>
              <a:t>corporations or </a:t>
            </a:r>
            <a:r>
              <a:rPr sz="2650" spc="-650" dirty="0">
                <a:latin typeface="Times New Roman"/>
                <a:cs typeface="Times New Roman"/>
              </a:rPr>
              <a:t> </a:t>
            </a:r>
            <a:r>
              <a:rPr sz="2650" spc="-10" dirty="0">
                <a:latin typeface="Times New Roman"/>
                <a:cs typeface="Times New Roman"/>
              </a:rPr>
              <a:t>subchapter</a:t>
            </a:r>
            <a:r>
              <a:rPr sz="2650" spc="-15" dirty="0">
                <a:latin typeface="Times New Roman"/>
                <a:cs typeface="Times New Roman"/>
              </a:rPr>
              <a:t> </a:t>
            </a:r>
            <a:r>
              <a:rPr sz="2650" spc="-10" dirty="0">
                <a:latin typeface="Times New Roman"/>
                <a:cs typeface="Times New Roman"/>
              </a:rPr>
              <a:t>S</a:t>
            </a:r>
            <a:r>
              <a:rPr sz="2650" spc="5" dirty="0">
                <a:latin typeface="Times New Roman"/>
                <a:cs typeface="Times New Roman"/>
              </a:rPr>
              <a:t> </a:t>
            </a:r>
            <a:r>
              <a:rPr sz="2650" spc="-10" dirty="0">
                <a:latin typeface="Times New Roman"/>
                <a:cs typeface="Times New Roman"/>
              </a:rPr>
              <a:t>corporations.</a:t>
            </a:r>
            <a:endParaRPr sz="2650">
              <a:latin typeface="Times New Roman"/>
              <a:cs typeface="Times New Roman"/>
            </a:endParaRPr>
          </a:p>
          <a:p>
            <a:pPr marL="829310" marR="325755" lvl="1" indent="-314325" algn="just">
              <a:lnSpc>
                <a:spcPct val="89600"/>
              </a:lnSpc>
              <a:spcBef>
                <a:spcPts val="585"/>
              </a:spcBef>
              <a:buChar char="–"/>
              <a:tabLst>
                <a:tab pos="831215" algn="l"/>
              </a:tabLst>
            </a:pPr>
            <a:r>
              <a:rPr sz="2650" spc="-10" dirty="0">
                <a:latin typeface="Times New Roman"/>
                <a:cs typeface="Times New Roman"/>
              </a:rPr>
              <a:t>C </a:t>
            </a:r>
            <a:r>
              <a:rPr sz="2650" spc="-5" dirty="0">
                <a:latin typeface="Times New Roman"/>
                <a:cs typeface="Times New Roman"/>
              </a:rPr>
              <a:t>corporations are what most </a:t>
            </a:r>
            <a:r>
              <a:rPr sz="2650" spc="-10" dirty="0">
                <a:latin typeface="Times New Roman"/>
                <a:cs typeface="Times New Roman"/>
              </a:rPr>
              <a:t>people </a:t>
            </a:r>
            <a:r>
              <a:rPr sz="2650" spc="-5" dirty="0">
                <a:latin typeface="Times New Roman"/>
                <a:cs typeface="Times New Roman"/>
              </a:rPr>
              <a:t>think of when </a:t>
            </a:r>
            <a:r>
              <a:rPr sz="2650" dirty="0">
                <a:latin typeface="Times New Roman"/>
                <a:cs typeface="Times New Roman"/>
              </a:rPr>
              <a:t>they </a:t>
            </a:r>
            <a:r>
              <a:rPr sz="2650" spc="-650" dirty="0">
                <a:latin typeface="Times New Roman"/>
                <a:cs typeface="Times New Roman"/>
              </a:rPr>
              <a:t> </a:t>
            </a:r>
            <a:r>
              <a:rPr sz="2650" spc="-5" dirty="0">
                <a:latin typeface="Times New Roman"/>
                <a:cs typeface="Times New Roman"/>
              </a:rPr>
              <a:t>hear the </a:t>
            </a:r>
            <a:r>
              <a:rPr sz="2650" spc="-15" dirty="0">
                <a:latin typeface="Times New Roman"/>
                <a:cs typeface="Times New Roman"/>
              </a:rPr>
              <a:t>word </a:t>
            </a:r>
            <a:r>
              <a:rPr sz="2650" spc="-10" dirty="0">
                <a:latin typeface="Times New Roman"/>
                <a:cs typeface="Times New Roman"/>
              </a:rPr>
              <a:t>“corporation.” However, business startups </a:t>
            </a:r>
            <a:r>
              <a:rPr sz="2650" spc="-650" dirty="0">
                <a:latin typeface="Times New Roman"/>
                <a:cs typeface="Times New Roman"/>
              </a:rPr>
              <a:t> </a:t>
            </a:r>
            <a:r>
              <a:rPr sz="2650" spc="-5" dirty="0">
                <a:latin typeface="Times New Roman"/>
                <a:cs typeface="Times New Roman"/>
              </a:rPr>
              <a:t>are</a:t>
            </a:r>
            <a:r>
              <a:rPr sz="2650" spc="-15" dirty="0">
                <a:latin typeface="Times New Roman"/>
                <a:cs typeface="Times New Roman"/>
              </a:rPr>
              <a:t> </a:t>
            </a:r>
            <a:r>
              <a:rPr sz="2650" spc="-10" dirty="0">
                <a:latin typeface="Times New Roman"/>
                <a:cs typeface="Times New Roman"/>
              </a:rPr>
              <a:t>often</a:t>
            </a:r>
            <a:r>
              <a:rPr sz="2650" spc="-5" dirty="0">
                <a:latin typeface="Times New Roman"/>
                <a:cs typeface="Times New Roman"/>
              </a:rPr>
              <a:t> organized</a:t>
            </a:r>
            <a:r>
              <a:rPr sz="2650" spc="-25" dirty="0">
                <a:latin typeface="Times New Roman"/>
                <a:cs typeface="Times New Roman"/>
              </a:rPr>
              <a:t> </a:t>
            </a:r>
            <a:r>
              <a:rPr sz="2650" spc="-15" dirty="0">
                <a:latin typeface="Times New Roman"/>
                <a:cs typeface="Times New Roman"/>
              </a:rPr>
              <a:t>as</a:t>
            </a:r>
            <a:r>
              <a:rPr sz="2650" spc="-5" dirty="0">
                <a:latin typeface="Times New Roman"/>
                <a:cs typeface="Times New Roman"/>
              </a:rPr>
              <a:t> subchapter</a:t>
            </a:r>
            <a:r>
              <a:rPr sz="2650" spc="-40" dirty="0">
                <a:latin typeface="Times New Roman"/>
                <a:cs typeface="Times New Roman"/>
              </a:rPr>
              <a:t> </a:t>
            </a:r>
            <a:r>
              <a:rPr sz="2650" spc="-10" dirty="0">
                <a:latin typeface="Times New Roman"/>
                <a:cs typeface="Times New Roman"/>
              </a:rPr>
              <a:t>S</a:t>
            </a:r>
            <a:r>
              <a:rPr sz="2650" spc="10" dirty="0">
                <a:latin typeface="Times New Roman"/>
                <a:cs typeface="Times New Roman"/>
              </a:rPr>
              <a:t> </a:t>
            </a:r>
            <a:r>
              <a:rPr sz="2650" spc="-10" dirty="0">
                <a:latin typeface="Times New Roman"/>
                <a:cs typeface="Times New Roman"/>
              </a:rPr>
              <a:t>corporations.</a:t>
            </a:r>
            <a:endParaRPr sz="2650">
              <a:latin typeface="Times New Roman"/>
              <a:cs typeface="Times New Roman"/>
            </a:endParaRPr>
          </a:p>
        </p:txBody>
      </p:sp>
      <p:sp>
        <p:nvSpPr>
          <p:cNvPr id="4" name="object 4"/>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spc="5" dirty="0"/>
              <a:t>C</a:t>
            </a:r>
            <a:r>
              <a:rPr spc="-55" dirty="0"/>
              <a:t> </a:t>
            </a:r>
            <a:r>
              <a:rPr dirty="0"/>
              <a:t>Corporations</a:t>
            </a:r>
          </a:p>
          <a:p>
            <a:pPr algn="ctr">
              <a:lnSpc>
                <a:spcPct val="100000"/>
              </a:lnSpc>
              <a:spcBef>
                <a:spcPts val="55"/>
              </a:spcBef>
            </a:pPr>
            <a:r>
              <a:rPr sz="2200" spc="-5" dirty="0"/>
              <a:t>1</a:t>
            </a:r>
            <a:r>
              <a:rPr sz="2200" spc="-35" dirty="0"/>
              <a:t> </a:t>
            </a:r>
            <a:r>
              <a:rPr sz="2200" spc="-5" dirty="0"/>
              <a:t>of</a:t>
            </a:r>
            <a:r>
              <a:rPr sz="2200" spc="-15" dirty="0"/>
              <a:t> </a:t>
            </a:r>
            <a:r>
              <a:rPr sz="2200" spc="-5" dirty="0"/>
              <a:t>2</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41974" y="3573281"/>
            <a:ext cx="2771775" cy="561340"/>
          </a:xfrm>
          <a:prstGeom prst="rect">
            <a:avLst/>
          </a:prstGeom>
        </p:spPr>
        <p:txBody>
          <a:bodyPr vert="horz" wrap="square" lIns="0" tIns="14604" rIns="0" bIns="0" rtlCol="0">
            <a:spAutoFit/>
          </a:bodyPr>
          <a:lstStyle/>
          <a:p>
            <a:pPr marL="12700">
              <a:lnSpc>
                <a:spcPct val="100000"/>
              </a:lnSpc>
              <a:spcBef>
                <a:spcPts val="114"/>
              </a:spcBef>
            </a:pPr>
            <a:r>
              <a:rPr sz="3500" spc="10" dirty="0">
                <a:latin typeface="Times New Roman"/>
                <a:cs typeface="Times New Roman"/>
              </a:rPr>
              <a:t>C</a:t>
            </a:r>
            <a:r>
              <a:rPr sz="3500" spc="-50" dirty="0">
                <a:latin typeface="Times New Roman"/>
                <a:cs typeface="Times New Roman"/>
              </a:rPr>
              <a:t> </a:t>
            </a:r>
            <a:r>
              <a:rPr sz="3500" spc="5" dirty="0">
                <a:latin typeface="Times New Roman"/>
                <a:cs typeface="Times New Roman"/>
              </a:rPr>
              <a:t>Corporations</a:t>
            </a:r>
            <a:endParaRPr sz="3500">
              <a:latin typeface="Times New Roman"/>
              <a:cs typeface="Times New Roman"/>
            </a:endParaRPr>
          </a:p>
        </p:txBody>
      </p:sp>
      <p:grpSp>
        <p:nvGrpSpPr>
          <p:cNvPr id="5" name="object 5"/>
          <p:cNvGrpSpPr/>
          <p:nvPr/>
        </p:nvGrpSpPr>
        <p:grpSpPr>
          <a:xfrm>
            <a:off x="3934205" y="1785366"/>
            <a:ext cx="5710555" cy="5207635"/>
            <a:chOff x="3934205" y="1785366"/>
            <a:chExt cx="5710555" cy="5207635"/>
          </a:xfrm>
        </p:grpSpPr>
        <p:sp>
          <p:nvSpPr>
            <p:cNvPr id="6" name="object 6"/>
            <p:cNvSpPr/>
            <p:nvPr/>
          </p:nvSpPr>
          <p:spPr>
            <a:xfrm>
              <a:off x="3939539" y="1790700"/>
              <a:ext cx="5699760" cy="5196840"/>
            </a:xfrm>
            <a:custGeom>
              <a:avLst/>
              <a:gdLst/>
              <a:ahLst/>
              <a:cxnLst/>
              <a:rect l="l" t="t" r="r" b="b"/>
              <a:pathLst>
                <a:path w="5699759" h="5196840">
                  <a:moveTo>
                    <a:pt x="5699759" y="5196839"/>
                  </a:moveTo>
                  <a:lnTo>
                    <a:pt x="0" y="5196839"/>
                  </a:lnTo>
                  <a:lnTo>
                    <a:pt x="0" y="0"/>
                  </a:lnTo>
                  <a:lnTo>
                    <a:pt x="5699759" y="0"/>
                  </a:lnTo>
                  <a:lnTo>
                    <a:pt x="5699759" y="5196839"/>
                  </a:lnTo>
                  <a:close/>
                </a:path>
              </a:pathLst>
            </a:custGeom>
            <a:solidFill>
              <a:srgbClr val="FFFFCC"/>
            </a:solidFill>
          </p:spPr>
          <p:txBody>
            <a:bodyPr wrap="square" lIns="0" tIns="0" rIns="0" bIns="0" rtlCol="0"/>
            <a:lstStyle/>
            <a:p>
              <a:endParaRPr/>
            </a:p>
          </p:txBody>
        </p:sp>
        <p:sp>
          <p:nvSpPr>
            <p:cNvPr id="7" name="object 7"/>
            <p:cNvSpPr/>
            <p:nvPr/>
          </p:nvSpPr>
          <p:spPr>
            <a:xfrm>
              <a:off x="3939539" y="1790700"/>
              <a:ext cx="5699760" cy="5196840"/>
            </a:xfrm>
            <a:custGeom>
              <a:avLst/>
              <a:gdLst/>
              <a:ahLst/>
              <a:cxnLst/>
              <a:rect l="l" t="t" r="r" b="b"/>
              <a:pathLst>
                <a:path w="5699759" h="5196840">
                  <a:moveTo>
                    <a:pt x="0" y="0"/>
                  </a:moveTo>
                  <a:lnTo>
                    <a:pt x="5699759" y="0"/>
                  </a:lnTo>
                  <a:lnTo>
                    <a:pt x="5699759" y="5196839"/>
                  </a:lnTo>
                  <a:lnTo>
                    <a:pt x="0" y="5196839"/>
                  </a:lnTo>
                  <a:lnTo>
                    <a:pt x="0" y="0"/>
                  </a:lnTo>
                  <a:close/>
                </a:path>
              </a:pathLst>
            </a:custGeom>
            <a:ln w="10668">
              <a:solidFill>
                <a:srgbClr val="000000"/>
              </a:solidFill>
            </a:ln>
          </p:spPr>
          <p:txBody>
            <a:bodyPr wrap="square" lIns="0" tIns="0" rIns="0" bIns="0" rtlCol="0"/>
            <a:lstStyle/>
            <a:p>
              <a:endParaRPr/>
            </a:p>
          </p:txBody>
        </p:sp>
      </p:grpSp>
      <p:sp>
        <p:nvSpPr>
          <p:cNvPr id="8" name="object 8"/>
          <p:cNvSpPr txBox="1"/>
          <p:nvPr/>
        </p:nvSpPr>
        <p:spPr>
          <a:xfrm>
            <a:off x="4111183" y="1899937"/>
            <a:ext cx="4968875" cy="1654939"/>
          </a:xfrm>
          <a:prstGeom prst="rect">
            <a:avLst/>
          </a:prstGeom>
        </p:spPr>
        <p:txBody>
          <a:bodyPr vert="horz" wrap="square" lIns="0" tIns="26034" rIns="0" bIns="0" rtlCol="0">
            <a:spAutoFit/>
          </a:bodyPr>
          <a:lstStyle/>
          <a:p>
            <a:pPr marL="180340" marR="5080" indent="-167640" algn="just">
              <a:lnSpc>
                <a:spcPts val="3170"/>
              </a:lnSpc>
              <a:spcBef>
                <a:spcPts val="204"/>
              </a:spcBef>
              <a:buFont typeface="Arial MT"/>
              <a:buChar char="•"/>
              <a:tabLst>
                <a:tab pos="213995" algn="l"/>
              </a:tabLst>
            </a:pPr>
            <a:r>
              <a:rPr dirty="0"/>
              <a:t>	</a:t>
            </a:r>
            <a:r>
              <a:rPr sz="2600" spc="-10" dirty="0">
                <a:latin typeface="Times New Roman"/>
                <a:cs typeface="Times New Roman"/>
              </a:rPr>
              <a:t>Is </a:t>
            </a:r>
            <a:r>
              <a:rPr sz="2600" spc="-5" dirty="0">
                <a:latin typeface="Times New Roman"/>
                <a:cs typeface="Times New Roman"/>
              </a:rPr>
              <a:t>a </a:t>
            </a:r>
            <a:r>
              <a:rPr sz="2600" spc="-10" dirty="0">
                <a:latin typeface="Times New Roman"/>
                <a:cs typeface="Times New Roman"/>
              </a:rPr>
              <a:t>separate legal entity </a:t>
            </a:r>
            <a:r>
              <a:rPr sz="2600" spc="-5" dirty="0">
                <a:latin typeface="Times New Roman"/>
                <a:cs typeface="Times New Roman"/>
              </a:rPr>
              <a:t>that, in the </a:t>
            </a:r>
            <a:r>
              <a:rPr sz="2600" spc="-650" dirty="0">
                <a:latin typeface="Times New Roman"/>
                <a:cs typeface="Times New Roman"/>
              </a:rPr>
              <a:t> </a:t>
            </a:r>
            <a:r>
              <a:rPr sz="2600" spc="-5" dirty="0">
                <a:latin typeface="Times New Roman"/>
                <a:cs typeface="Times New Roman"/>
              </a:rPr>
              <a:t>eyes of the </a:t>
            </a:r>
            <a:r>
              <a:rPr sz="2600" spc="-50" dirty="0">
                <a:latin typeface="Times New Roman"/>
                <a:cs typeface="Times New Roman"/>
              </a:rPr>
              <a:t>law, </a:t>
            </a:r>
            <a:r>
              <a:rPr sz="2600" spc="-5" dirty="0">
                <a:latin typeface="Times New Roman"/>
                <a:cs typeface="Times New Roman"/>
              </a:rPr>
              <a:t>is separate </a:t>
            </a:r>
            <a:r>
              <a:rPr sz="2600" spc="-10" dirty="0">
                <a:latin typeface="Times New Roman"/>
                <a:cs typeface="Times New Roman"/>
              </a:rPr>
              <a:t>from its </a:t>
            </a:r>
            <a:r>
              <a:rPr sz="2600" spc="-650" dirty="0">
                <a:latin typeface="Times New Roman"/>
                <a:cs typeface="Times New Roman"/>
              </a:rPr>
              <a:t> </a:t>
            </a:r>
            <a:r>
              <a:rPr sz="2600" spc="-10" dirty="0">
                <a:latin typeface="Times New Roman"/>
                <a:cs typeface="Times New Roman"/>
              </a:rPr>
              <a:t>owners.</a:t>
            </a:r>
            <a:endParaRPr sz="2600" dirty="0">
              <a:latin typeface="Times New Roman"/>
              <a:cs typeface="Times New Roman"/>
            </a:endParaRPr>
          </a:p>
          <a:p>
            <a:pPr marL="213360" indent="-201295" algn="just">
              <a:lnSpc>
                <a:spcPts val="3060"/>
              </a:lnSpc>
              <a:buFont typeface="Arial MT"/>
              <a:buChar char="•"/>
              <a:tabLst>
                <a:tab pos="213995" algn="l"/>
              </a:tabLst>
            </a:pPr>
            <a:r>
              <a:rPr sz="2600" spc="-10" dirty="0">
                <a:latin typeface="Times New Roman"/>
                <a:cs typeface="Times New Roman"/>
              </a:rPr>
              <a:t>In </a:t>
            </a:r>
            <a:r>
              <a:rPr sz="2600" spc="-5" dirty="0">
                <a:latin typeface="Times New Roman"/>
                <a:cs typeface="Times New Roman"/>
              </a:rPr>
              <a:t>most </a:t>
            </a:r>
            <a:r>
              <a:rPr sz="2600" spc="-10" dirty="0">
                <a:latin typeface="Times New Roman"/>
                <a:cs typeface="Times New Roman"/>
              </a:rPr>
              <a:t>cases </a:t>
            </a:r>
            <a:r>
              <a:rPr sz="2600" spc="-5" dirty="0">
                <a:latin typeface="Times New Roman"/>
                <a:cs typeface="Times New Roman"/>
              </a:rPr>
              <a:t>a</a:t>
            </a:r>
            <a:r>
              <a:rPr sz="2600" spc="-20" dirty="0">
                <a:latin typeface="Times New Roman"/>
                <a:cs typeface="Times New Roman"/>
              </a:rPr>
              <a:t> </a:t>
            </a:r>
            <a:r>
              <a:rPr sz="2600" spc="-10" dirty="0">
                <a:latin typeface="Times New Roman"/>
                <a:cs typeface="Times New Roman"/>
              </a:rPr>
              <a:t>corporation</a:t>
            </a:r>
            <a:r>
              <a:rPr sz="2600" spc="-35" dirty="0">
                <a:latin typeface="Times New Roman"/>
                <a:cs typeface="Times New Roman"/>
              </a:rPr>
              <a:t> </a:t>
            </a:r>
            <a:r>
              <a:rPr sz="2600" spc="-5" dirty="0">
                <a:latin typeface="Times New Roman"/>
                <a:cs typeface="Times New Roman"/>
              </a:rPr>
              <a:t>shields</a:t>
            </a:r>
            <a:endParaRPr sz="2600" dirty="0">
              <a:latin typeface="Times New Roman"/>
              <a:cs typeface="Times New Roman"/>
            </a:endParaRPr>
          </a:p>
        </p:txBody>
      </p:sp>
      <p:sp>
        <p:nvSpPr>
          <p:cNvPr id="9" name="object 9"/>
          <p:cNvSpPr txBox="1"/>
          <p:nvPr/>
        </p:nvSpPr>
        <p:spPr>
          <a:xfrm>
            <a:off x="4111183" y="3550512"/>
            <a:ext cx="5544185" cy="419346"/>
          </a:xfrm>
          <a:prstGeom prst="rect">
            <a:avLst/>
          </a:prstGeom>
        </p:spPr>
        <p:txBody>
          <a:bodyPr vert="horz" wrap="square" lIns="0" tIns="11430" rIns="0" bIns="0" rtlCol="0">
            <a:spAutoFit/>
          </a:bodyPr>
          <a:lstStyle/>
          <a:p>
            <a:pPr marL="12700">
              <a:lnSpc>
                <a:spcPct val="100000"/>
              </a:lnSpc>
              <a:spcBef>
                <a:spcPts val="90"/>
              </a:spcBef>
            </a:pPr>
            <a:r>
              <a:rPr sz="2650" spc="-10" dirty="0">
                <a:latin typeface="Times New Roman"/>
                <a:cs typeface="Times New Roman"/>
              </a:rPr>
              <a:t>its</a:t>
            </a:r>
            <a:r>
              <a:rPr sz="2650" spc="-15" dirty="0">
                <a:latin typeface="Times New Roman"/>
                <a:cs typeface="Times New Roman"/>
              </a:rPr>
              <a:t> </a:t>
            </a:r>
            <a:r>
              <a:rPr sz="2650" spc="-10" dirty="0">
                <a:latin typeface="Times New Roman"/>
                <a:cs typeface="Times New Roman"/>
              </a:rPr>
              <a:t>owners,</a:t>
            </a:r>
            <a:r>
              <a:rPr sz="2650" spc="-15" dirty="0">
                <a:latin typeface="Times New Roman"/>
                <a:cs typeface="Times New Roman"/>
              </a:rPr>
              <a:t> </a:t>
            </a:r>
            <a:r>
              <a:rPr sz="2650" spc="-10" dirty="0">
                <a:latin typeface="Times New Roman"/>
                <a:cs typeface="Times New Roman"/>
              </a:rPr>
              <a:t>who</a:t>
            </a:r>
            <a:r>
              <a:rPr sz="2650" spc="5" dirty="0">
                <a:latin typeface="Times New Roman"/>
                <a:cs typeface="Times New Roman"/>
              </a:rPr>
              <a:t> </a:t>
            </a:r>
            <a:r>
              <a:rPr sz="2650" spc="-5" dirty="0">
                <a:latin typeface="Times New Roman"/>
                <a:cs typeface="Times New Roman"/>
              </a:rPr>
              <a:t>are</a:t>
            </a:r>
            <a:r>
              <a:rPr sz="2650" spc="-25" dirty="0">
                <a:latin typeface="Times New Roman"/>
                <a:cs typeface="Times New Roman"/>
              </a:rPr>
              <a:t> </a:t>
            </a:r>
            <a:r>
              <a:rPr sz="2650" spc="-5" dirty="0">
                <a:latin typeface="Times New Roman"/>
                <a:cs typeface="Times New Roman"/>
              </a:rPr>
              <a:t>called</a:t>
            </a:r>
            <a:r>
              <a:rPr sz="2650" spc="-65" dirty="0">
                <a:latin typeface="Times New Roman"/>
                <a:cs typeface="Times New Roman"/>
              </a:rPr>
              <a:t> </a:t>
            </a:r>
            <a:r>
              <a:rPr sz="2650" b="1" spc="-5" dirty="0">
                <a:latin typeface="Times New Roman"/>
                <a:cs typeface="Times New Roman"/>
              </a:rPr>
              <a:t>shareholders</a:t>
            </a:r>
            <a:r>
              <a:rPr sz="2650" spc="-5" dirty="0">
                <a:latin typeface="Times New Roman"/>
                <a:cs typeface="Times New Roman"/>
              </a:rPr>
              <a:t>,</a:t>
            </a:r>
            <a:endParaRPr sz="2650" dirty="0">
              <a:latin typeface="Times New Roman"/>
              <a:cs typeface="Times New Roman"/>
            </a:endParaRPr>
          </a:p>
        </p:txBody>
      </p:sp>
      <p:sp>
        <p:nvSpPr>
          <p:cNvPr id="10" name="object 10"/>
          <p:cNvSpPr txBox="1"/>
          <p:nvPr/>
        </p:nvSpPr>
        <p:spPr>
          <a:xfrm>
            <a:off x="4111183" y="3911619"/>
            <a:ext cx="5307330" cy="2886045"/>
          </a:xfrm>
          <a:prstGeom prst="rect">
            <a:avLst/>
          </a:prstGeom>
        </p:spPr>
        <p:txBody>
          <a:bodyPr vert="horz" wrap="square" lIns="0" tIns="26034" rIns="0" bIns="0" rtlCol="0">
            <a:spAutoFit/>
          </a:bodyPr>
          <a:lstStyle/>
          <a:p>
            <a:pPr marL="180340" marR="5080">
              <a:lnSpc>
                <a:spcPts val="3170"/>
              </a:lnSpc>
              <a:spcBef>
                <a:spcPts val="204"/>
              </a:spcBef>
            </a:pPr>
            <a:r>
              <a:rPr sz="2600" spc="-10" dirty="0">
                <a:latin typeface="Times New Roman"/>
                <a:cs typeface="Times New Roman"/>
              </a:rPr>
              <a:t>from</a:t>
            </a:r>
            <a:r>
              <a:rPr sz="2600" dirty="0">
                <a:latin typeface="Times New Roman"/>
                <a:cs typeface="Times New Roman"/>
              </a:rPr>
              <a:t> </a:t>
            </a:r>
            <a:r>
              <a:rPr sz="2600" spc="-10" dirty="0">
                <a:latin typeface="Times New Roman"/>
                <a:cs typeface="Times New Roman"/>
              </a:rPr>
              <a:t>personal</a:t>
            </a:r>
            <a:r>
              <a:rPr sz="2600" spc="5" dirty="0">
                <a:latin typeface="Times New Roman"/>
                <a:cs typeface="Times New Roman"/>
              </a:rPr>
              <a:t> </a:t>
            </a:r>
            <a:r>
              <a:rPr sz="2600" spc="-10" dirty="0">
                <a:latin typeface="Times New Roman"/>
                <a:cs typeface="Times New Roman"/>
              </a:rPr>
              <a:t>liability</a:t>
            </a:r>
            <a:r>
              <a:rPr sz="2600" spc="-25" dirty="0">
                <a:latin typeface="Times New Roman"/>
                <a:cs typeface="Times New Roman"/>
              </a:rPr>
              <a:t> </a:t>
            </a:r>
            <a:r>
              <a:rPr sz="2600" spc="-10" dirty="0">
                <a:latin typeface="Times New Roman"/>
                <a:cs typeface="Times New Roman"/>
              </a:rPr>
              <a:t>for</a:t>
            </a:r>
            <a:r>
              <a:rPr sz="2600" spc="15" dirty="0">
                <a:latin typeface="Times New Roman"/>
                <a:cs typeface="Times New Roman"/>
              </a:rPr>
              <a:t> </a:t>
            </a:r>
            <a:r>
              <a:rPr sz="2600" spc="-15" dirty="0">
                <a:latin typeface="Times New Roman"/>
                <a:cs typeface="Times New Roman"/>
              </a:rPr>
              <a:t>the</a:t>
            </a:r>
            <a:r>
              <a:rPr sz="2600" spc="-10" dirty="0">
                <a:latin typeface="Times New Roman"/>
                <a:cs typeface="Times New Roman"/>
              </a:rPr>
              <a:t> </a:t>
            </a:r>
            <a:r>
              <a:rPr sz="2600" spc="-5" dirty="0">
                <a:latin typeface="Times New Roman"/>
                <a:cs typeface="Times New Roman"/>
              </a:rPr>
              <a:t>debts</a:t>
            </a:r>
            <a:r>
              <a:rPr sz="2600" spc="-25" dirty="0">
                <a:latin typeface="Times New Roman"/>
                <a:cs typeface="Times New Roman"/>
              </a:rPr>
              <a:t> </a:t>
            </a:r>
            <a:r>
              <a:rPr sz="2600" spc="-5" dirty="0">
                <a:latin typeface="Times New Roman"/>
                <a:cs typeface="Times New Roman"/>
              </a:rPr>
              <a:t>of </a:t>
            </a:r>
            <a:r>
              <a:rPr sz="2600" spc="-650" dirty="0">
                <a:latin typeface="Times New Roman"/>
                <a:cs typeface="Times New Roman"/>
              </a:rPr>
              <a:t> </a:t>
            </a:r>
            <a:r>
              <a:rPr sz="2600" spc="-5" dirty="0">
                <a:latin typeface="Times New Roman"/>
                <a:cs typeface="Times New Roman"/>
              </a:rPr>
              <a:t>the</a:t>
            </a:r>
            <a:r>
              <a:rPr sz="2600" spc="-20" dirty="0">
                <a:latin typeface="Times New Roman"/>
                <a:cs typeface="Times New Roman"/>
              </a:rPr>
              <a:t> </a:t>
            </a:r>
            <a:r>
              <a:rPr sz="2600" spc="-10" dirty="0">
                <a:latin typeface="Times New Roman"/>
                <a:cs typeface="Times New Roman"/>
              </a:rPr>
              <a:t>corporation.</a:t>
            </a:r>
            <a:endParaRPr sz="2600" dirty="0">
              <a:latin typeface="Times New Roman"/>
              <a:cs typeface="Times New Roman"/>
            </a:endParaRPr>
          </a:p>
          <a:p>
            <a:pPr marL="194945" indent="-182880">
              <a:lnSpc>
                <a:spcPts val="3055"/>
              </a:lnSpc>
              <a:buFont typeface="Arial MT"/>
              <a:buChar char="•"/>
              <a:tabLst>
                <a:tab pos="195580" algn="l"/>
              </a:tabLst>
            </a:pPr>
            <a:r>
              <a:rPr sz="2600" spc="-10" dirty="0">
                <a:latin typeface="Times New Roman"/>
                <a:cs typeface="Times New Roman"/>
              </a:rPr>
              <a:t>A</a:t>
            </a:r>
            <a:r>
              <a:rPr sz="2600" spc="-145" dirty="0">
                <a:latin typeface="Times New Roman"/>
                <a:cs typeface="Times New Roman"/>
              </a:rPr>
              <a:t> </a:t>
            </a:r>
            <a:r>
              <a:rPr sz="2600" spc="-10" dirty="0">
                <a:latin typeface="Times New Roman"/>
                <a:cs typeface="Times New Roman"/>
              </a:rPr>
              <a:t>corporation</a:t>
            </a:r>
            <a:r>
              <a:rPr sz="2600" spc="-30" dirty="0">
                <a:latin typeface="Times New Roman"/>
                <a:cs typeface="Times New Roman"/>
              </a:rPr>
              <a:t> </a:t>
            </a:r>
            <a:r>
              <a:rPr sz="2600" spc="-5" dirty="0">
                <a:latin typeface="Times New Roman"/>
                <a:cs typeface="Times New Roman"/>
              </a:rPr>
              <a:t>is </a:t>
            </a:r>
            <a:r>
              <a:rPr sz="2600" spc="-10" dirty="0">
                <a:latin typeface="Times New Roman"/>
                <a:cs typeface="Times New Roman"/>
              </a:rPr>
              <a:t>governed</a:t>
            </a:r>
            <a:r>
              <a:rPr sz="2600" spc="-5" dirty="0">
                <a:latin typeface="Times New Roman"/>
                <a:cs typeface="Times New Roman"/>
              </a:rPr>
              <a:t> by a</a:t>
            </a:r>
            <a:r>
              <a:rPr sz="2600" spc="-15" dirty="0">
                <a:latin typeface="Times New Roman"/>
                <a:cs typeface="Times New Roman"/>
              </a:rPr>
              <a:t> </a:t>
            </a:r>
            <a:r>
              <a:rPr sz="2600" spc="-5" dirty="0">
                <a:latin typeface="Times New Roman"/>
                <a:cs typeface="Times New Roman"/>
              </a:rPr>
              <a:t>board</a:t>
            </a:r>
            <a:endParaRPr sz="2600" dirty="0">
              <a:latin typeface="Times New Roman"/>
              <a:cs typeface="Times New Roman"/>
            </a:endParaRPr>
          </a:p>
          <a:p>
            <a:pPr marL="180340" marR="346710">
              <a:lnSpc>
                <a:spcPts val="3170"/>
              </a:lnSpc>
              <a:spcBef>
                <a:spcPts val="105"/>
              </a:spcBef>
            </a:pPr>
            <a:r>
              <a:rPr sz="2600" spc="-5" dirty="0">
                <a:latin typeface="Times New Roman"/>
                <a:cs typeface="Times New Roman"/>
              </a:rPr>
              <a:t>of</a:t>
            </a:r>
            <a:r>
              <a:rPr sz="2600" spc="-25" dirty="0">
                <a:latin typeface="Times New Roman"/>
                <a:cs typeface="Times New Roman"/>
              </a:rPr>
              <a:t> </a:t>
            </a:r>
            <a:r>
              <a:rPr sz="2600" spc="-5" dirty="0">
                <a:latin typeface="Times New Roman"/>
                <a:cs typeface="Times New Roman"/>
              </a:rPr>
              <a:t>directors,</a:t>
            </a:r>
            <a:r>
              <a:rPr sz="2600" spc="-15" dirty="0">
                <a:latin typeface="Times New Roman"/>
                <a:cs typeface="Times New Roman"/>
              </a:rPr>
              <a:t> </a:t>
            </a:r>
            <a:r>
              <a:rPr sz="2600" spc="-10" dirty="0">
                <a:latin typeface="Times New Roman"/>
                <a:cs typeface="Times New Roman"/>
              </a:rPr>
              <a:t>which</a:t>
            </a:r>
            <a:r>
              <a:rPr sz="2600" spc="-15" dirty="0">
                <a:latin typeface="Times New Roman"/>
                <a:cs typeface="Times New Roman"/>
              </a:rPr>
              <a:t> </a:t>
            </a:r>
            <a:r>
              <a:rPr sz="2600" spc="-5" dirty="0">
                <a:latin typeface="Times New Roman"/>
                <a:cs typeface="Times New Roman"/>
              </a:rPr>
              <a:t>is</a:t>
            </a:r>
            <a:r>
              <a:rPr sz="2600" spc="-10" dirty="0">
                <a:latin typeface="Times New Roman"/>
                <a:cs typeface="Times New Roman"/>
              </a:rPr>
              <a:t> elected</a:t>
            </a:r>
            <a:r>
              <a:rPr sz="2600" spc="-40" dirty="0">
                <a:latin typeface="Times New Roman"/>
                <a:cs typeface="Times New Roman"/>
              </a:rPr>
              <a:t> </a:t>
            </a:r>
            <a:r>
              <a:rPr sz="2600" spc="-5" dirty="0">
                <a:latin typeface="Times New Roman"/>
                <a:cs typeface="Times New Roman"/>
              </a:rPr>
              <a:t>by</a:t>
            </a:r>
            <a:r>
              <a:rPr sz="2600" spc="-15" dirty="0">
                <a:latin typeface="Times New Roman"/>
                <a:cs typeface="Times New Roman"/>
              </a:rPr>
              <a:t> </a:t>
            </a:r>
            <a:r>
              <a:rPr sz="2600" spc="-5" dirty="0">
                <a:latin typeface="Times New Roman"/>
                <a:cs typeface="Times New Roman"/>
              </a:rPr>
              <a:t>the </a:t>
            </a:r>
            <a:r>
              <a:rPr sz="2600" spc="-645" dirty="0">
                <a:latin typeface="Times New Roman"/>
                <a:cs typeface="Times New Roman"/>
              </a:rPr>
              <a:t> </a:t>
            </a:r>
            <a:r>
              <a:rPr sz="2600" spc="-5" dirty="0">
                <a:latin typeface="Times New Roman"/>
                <a:cs typeface="Times New Roman"/>
              </a:rPr>
              <a:t>shareholders.</a:t>
            </a:r>
            <a:endParaRPr sz="2600" dirty="0">
              <a:latin typeface="Times New Roman"/>
              <a:cs typeface="Times New Roman"/>
            </a:endParaRPr>
          </a:p>
          <a:p>
            <a:pPr marL="194945" indent="-182880">
              <a:lnSpc>
                <a:spcPts val="3055"/>
              </a:lnSpc>
              <a:buFont typeface="Arial MT"/>
              <a:buChar char="•"/>
              <a:tabLst>
                <a:tab pos="195580" algn="l"/>
              </a:tabLst>
            </a:pPr>
            <a:r>
              <a:rPr sz="2600" spc="-10" dirty="0">
                <a:latin typeface="Times New Roman"/>
                <a:cs typeface="Times New Roman"/>
              </a:rPr>
              <a:t>A</a:t>
            </a:r>
            <a:r>
              <a:rPr sz="2600" spc="-150" dirty="0">
                <a:latin typeface="Times New Roman"/>
                <a:cs typeface="Times New Roman"/>
              </a:rPr>
              <a:t> </a:t>
            </a:r>
            <a:r>
              <a:rPr sz="2600" spc="-10" dirty="0">
                <a:latin typeface="Times New Roman"/>
                <a:cs typeface="Times New Roman"/>
              </a:rPr>
              <a:t>corporation</a:t>
            </a:r>
            <a:r>
              <a:rPr sz="2600" spc="-35" dirty="0">
                <a:latin typeface="Times New Roman"/>
                <a:cs typeface="Times New Roman"/>
              </a:rPr>
              <a:t> </a:t>
            </a:r>
            <a:r>
              <a:rPr sz="2600" spc="-5" dirty="0">
                <a:latin typeface="Times New Roman"/>
                <a:cs typeface="Times New Roman"/>
              </a:rPr>
              <a:t>is</a:t>
            </a:r>
            <a:r>
              <a:rPr sz="2600" spc="-10" dirty="0">
                <a:latin typeface="Times New Roman"/>
                <a:cs typeface="Times New Roman"/>
              </a:rPr>
              <a:t> </a:t>
            </a:r>
            <a:r>
              <a:rPr sz="2600" spc="-5" dirty="0">
                <a:latin typeface="Times New Roman"/>
                <a:cs typeface="Times New Roman"/>
              </a:rPr>
              <a:t>formed</a:t>
            </a:r>
            <a:r>
              <a:rPr sz="2600" spc="-35" dirty="0">
                <a:latin typeface="Times New Roman"/>
                <a:cs typeface="Times New Roman"/>
              </a:rPr>
              <a:t> </a:t>
            </a:r>
            <a:r>
              <a:rPr sz="2600" spc="-5" dirty="0">
                <a:latin typeface="Times New Roman"/>
                <a:cs typeface="Times New Roman"/>
              </a:rPr>
              <a:t>by filing</a:t>
            </a:r>
            <a:endParaRPr sz="2600" dirty="0">
              <a:latin typeface="Times New Roman"/>
              <a:cs typeface="Times New Roman"/>
            </a:endParaRPr>
          </a:p>
          <a:p>
            <a:pPr marL="180340">
              <a:lnSpc>
                <a:spcPts val="3175"/>
              </a:lnSpc>
            </a:pPr>
            <a:r>
              <a:rPr sz="2600" b="1" spc="-5" dirty="0">
                <a:latin typeface="Times New Roman"/>
                <a:cs typeface="Times New Roman"/>
              </a:rPr>
              <a:t>articles</a:t>
            </a:r>
            <a:r>
              <a:rPr sz="2600" b="1" spc="-60" dirty="0">
                <a:latin typeface="Times New Roman"/>
                <a:cs typeface="Times New Roman"/>
              </a:rPr>
              <a:t> </a:t>
            </a:r>
            <a:r>
              <a:rPr sz="2600" b="1" spc="-5" dirty="0">
                <a:latin typeface="Times New Roman"/>
                <a:cs typeface="Times New Roman"/>
              </a:rPr>
              <a:t>of</a:t>
            </a:r>
            <a:r>
              <a:rPr sz="2600" b="1" spc="-40" dirty="0">
                <a:latin typeface="Times New Roman"/>
                <a:cs typeface="Times New Roman"/>
              </a:rPr>
              <a:t> </a:t>
            </a:r>
            <a:r>
              <a:rPr sz="2600" b="1" spc="-5" dirty="0">
                <a:latin typeface="Times New Roman"/>
                <a:cs typeface="Times New Roman"/>
              </a:rPr>
              <a:t>incorporation</a:t>
            </a:r>
            <a:r>
              <a:rPr sz="2600" spc="-5" dirty="0">
                <a:latin typeface="Times New Roman"/>
                <a:cs typeface="Times New Roman"/>
              </a:rPr>
              <a:t>.</a:t>
            </a:r>
            <a:endParaRPr sz="2600"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6075" y="110820"/>
            <a:ext cx="7206249" cy="972061"/>
          </a:xfrm>
          <a:prstGeom prst="rect">
            <a:avLst/>
          </a:prstGeom>
        </p:spPr>
        <p:txBody>
          <a:bodyPr vert="horz" wrap="square" lIns="0" tIns="12700" rIns="0" bIns="0" rtlCol="0">
            <a:spAutoFit/>
          </a:bodyPr>
          <a:lstStyle/>
          <a:p>
            <a:pPr marL="10160" marR="5080" algn="ctr">
              <a:lnSpc>
                <a:spcPct val="100200"/>
              </a:lnSpc>
              <a:spcBef>
                <a:spcPts val="100"/>
              </a:spcBef>
            </a:pPr>
            <a:r>
              <a:rPr spc="5" dirty="0" smtClean="0"/>
              <a:t>C </a:t>
            </a:r>
            <a:r>
              <a:rPr dirty="0" smtClean="0"/>
              <a:t>Corporation</a:t>
            </a:r>
            <a:r>
              <a:rPr lang="en-US" dirty="0" smtClean="0"/>
              <a:t>s</a:t>
            </a:r>
            <a:endParaRPr dirty="0"/>
          </a:p>
          <a:p>
            <a:pPr algn="ctr">
              <a:lnSpc>
                <a:spcPct val="100000"/>
              </a:lnSpc>
              <a:spcBef>
                <a:spcPts val="60"/>
              </a:spcBef>
            </a:pPr>
            <a:r>
              <a:rPr sz="2200" spc="-5" dirty="0"/>
              <a:t>2</a:t>
            </a:r>
            <a:r>
              <a:rPr sz="2200" spc="-35" dirty="0"/>
              <a:t> </a:t>
            </a:r>
            <a:r>
              <a:rPr sz="2200" spc="-5" dirty="0"/>
              <a:t>of</a:t>
            </a:r>
            <a:r>
              <a:rPr sz="2200" spc="-15" dirty="0"/>
              <a:t> </a:t>
            </a:r>
            <a:r>
              <a:rPr sz="2200" spc="-5" dirty="0"/>
              <a:t>2</a:t>
            </a:r>
            <a:endParaRPr sz="2200" dirty="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877935" cy="5002139"/>
          </a:xfrm>
          <a:prstGeom prst="rect">
            <a:avLst/>
          </a:prstGeom>
        </p:spPr>
        <p:txBody>
          <a:bodyPr vert="horz" wrap="square" lIns="0" tIns="87630" rIns="0" bIns="0" rtlCol="0">
            <a:spAutoFit/>
          </a:bodyPr>
          <a:lstStyle/>
          <a:p>
            <a:pPr marL="220979" marR="5080" indent="-208915">
              <a:lnSpc>
                <a:spcPct val="120000"/>
              </a:lnSpc>
              <a:spcBef>
                <a:spcPts val="60"/>
              </a:spcBef>
              <a:buFont typeface="Wingdings"/>
              <a:buChar char=""/>
              <a:tabLst>
                <a:tab pos="211454" algn="l"/>
              </a:tabLst>
            </a:pPr>
            <a:r>
              <a:rPr lang="en-US" sz="2200" spc="-5" dirty="0" smtClean="0">
                <a:latin typeface="Times New Roman"/>
                <a:cs typeface="Times New Roman"/>
              </a:rPr>
              <a:t>Most C </a:t>
            </a:r>
            <a:r>
              <a:rPr lang="en-US" sz="2200" spc="-5" dirty="0">
                <a:latin typeface="Times New Roman"/>
                <a:cs typeface="Times New Roman"/>
              </a:rPr>
              <a:t>corporations have two classes of stock: common and preferred. </a:t>
            </a:r>
            <a:r>
              <a:rPr lang="en-US" sz="2200" b="1" spc="-5" dirty="0">
                <a:latin typeface="Times New Roman"/>
                <a:cs typeface="Times New Roman"/>
              </a:rPr>
              <a:t>Preferred </a:t>
            </a:r>
            <a:r>
              <a:rPr lang="en-US" sz="2200" b="1" spc="-5" dirty="0" smtClean="0">
                <a:latin typeface="Times New Roman"/>
                <a:cs typeface="Times New Roman"/>
              </a:rPr>
              <a:t>stock</a:t>
            </a:r>
            <a:r>
              <a:rPr lang="en-US" sz="2200" b="1" spc="-5" dirty="0">
                <a:latin typeface="Times New Roman"/>
                <a:cs typeface="Times New Roman"/>
              </a:rPr>
              <a:t> </a:t>
            </a:r>
            <a:r>
              <a:rPr lang="en-US" sz="2200" dirty="0" smtClean="0">
                <a:latin typeface="Times New Roman"/>
                <a:cs typeface="Times New Roman"/>
              </a:rPr>
              <a:t>is </a:t>
            </a:r>
            <a:r>
              <a:rPr lang="en-US" sz="2200" dirty="0">
                <a:latin typeface="Times New Roman"/>
                <a:cs typeface="Times New Roman"/>
              </a:rPr>
              <a:t>typically issued to conservative investors who have preferential rights </a:t>
            </a:r>
            <a:r>
              <a:rPr lang="en-US" sz="2200" dirty="0" smtClean="0">
                <a:latin typeface="Times New Roman"/>
                <a:cs typeface="Times New Roman"/>
              </a:rPr>
              <a:t>over common </a:t>
            </a:r>
            <a:r>
              <a:rPr lang="en-US" sz="2200" dirty="0">
                <a:latin typeface="Times New Roman"/>
                <a:cs typeface="Times New Roman"/>
              </a:rPr>
              <a:t>stockholders in regard to dividends and to the assets of the corporation in the event of liquidation. </a:t>
            </a:r>
            <a:r>
              <a:rPr lang="en-US" sz="2200" b="1" dirty="0">
                <a:latin typeface="Times New Roman"/>
                <a:cs typeface="Times New Roman"/>
              </a:rPr>
              <a:t>Common stock </a:t>
            </a:r>
            <a:r>
              <a:rPr lang="en-US" sz="2200" dirty="0">
                <a:latin typeface="Times New Roman"/>
                <a:cs typeface="Times New Roman"/>
              </a:rPr>
              <a:t>is issued more broadly </a:t>
            </a:r>
            <a:r>
              <a:rPr lang="en-US" sz="2200" dirty="0" smtClean="0">
                <a:latin typeface="Times New Roman"/>
                <a:cs typeface="Times New Roman"/>
              </a:rPr>
              <a:t>than preferred </a:t>
            </a:r>
            <a:r>
              <a:rPr lang="en-US" sz="2200" dirty="0">
                <a:latin typeface="Times New Roman"/>
                <a:cs typeface="Times New Roman"/>
              </a:rPr>
              <a:t>stock. The common stockholders have voting rights and elect </a:t>
            </a:r>
            <a:r>
              <a:rPr lang="en-US" sz="2200" dirty="0" smtClean="0">
                <a:latin typeface="Times New Roman"/>
                <a:cs typeface="Times New Roman"/>
              </a:rPr>
              <a:t>the board </a:t>
            </a:r>
            <a:r>
              <a:rPr lang="en-US" sz="2200" dirty="0">
                <a:latin typeface="Times New Roman"/>
                <a:cs typeface="Times New Roman"/>
              </a:rPr>
              <a:t>of directors of the firm</a:t>
            </a:r>
            <a:r>
              <a:rPr lang="en-US" sz="2200" dirty="0" smtClean="0">
                <a:latin typeface="Times New Roman"/>
                <a:cs typeface="Times New Roman"/>
              </a:rPr>
              <a:t>.</a:t>
            </a:r>
          </a:p>
          <a:p>
            <a:pPr marL="220979" marR="5080" indent="-208915">
              <a:lnSpc>
                <a:spcPct val="120000"/>
              </a:lnSpc>
              <a:spcBef>
                <a:spcPts val="60"/>
              </a:spcBef>
              <a:buFont typeface="Wingdings"/>
              <a:buChar char=""/>
              <a:tabLst>
                <a:tab pos="211454" algn="l"/>
              </a:tabLst>
            </a:pPr>
            <a:r>
              <a:rPr lang="en-US" sz="2200" dirty="0" smtClean="0">
                <a:latin typeface="Times New Roman"/>
                <a:cs typeface="Times New Roman"/>
              </a:rPr>
              <a:t>A corporation </a:t>
            </a:r>
            <a:r>
              <a:rPr lang="en-US" sz="2200" dirty="0">
                <a:latin typeface="Times New Roman"/>
                <a:cs typeface="Times New Roman"/>
              </a:rPr>
              <a:t>is taxed as a separate  legal entity.</a:t>
            </a:r>
          </a:p>
          <a:p>
            <a:pPr marL="220979" marR="5080" indent="-208915">
              <a:lnSpc>
                <a:spcPct val="120000"/>
              </a:lnSpc>
              <a:spcBef>
                <a:spcPts val="60"/>
              </a:spcBef>
              <a:buFont typeface="Wingdings"/>
              <a:buChar char=""/>
              <a:tabLst>
                <a:tab pos="211454" algn="l"/>
              </a:tabLst>
            </a:pPr>
            <a:r>
              <a:rPr lang="en-US" sz="2200" dirty="0" smtClean="0">
                <a:latin typeface="Times New Roman"/>
                <a:cs typeface="Times New Roman"/>
              </a:rPr>
              <a:t>C </a:t>
            </a:r>
            <a:r>
              <a:rPr lang="en-US" sz="2200" dirty="0">
                <a:latin typeface="Times New Roman"/>
                <a:cs typeface="Times New Roman"/>
              </a:rPr>
              <a:t>corporation </a:t>
            </a:r>
            <a:r>
              <a:rPr lang="en-US" sz="2200" dirty="0" smtClean="0">
                <a:latin typeface="Times New Roman"/>
                <a:cs typeface="Times New Roman"/>
              </a:rPr>
              <a:t>is </a:t>
            </a:r>
            <a:r>
              <a:rPr lang="en-US" sz="2200" dirty="0">
                <a:latin typeface="Times New Roman"/>
                <a:cs typeface="Times New Roman"/>
              </a:rPr>
              <a:t>subject to double </a:t>
            </a:r>
            <a:r>
              <a:rPr lang="en-US" sz="2200" dirty="0" smtClean="0">
                <a:latin typeface="Times New Roman"/>
                <a:cs typeface="Times New Roman"/>
              </a:rPr>
              <a:t>taxation, </a:t>
            </a:r>
            <a:r>
              <a:rPr lang="en-US" sz="2200" dirty="0">
                <a:latin typeface="Times New Roman"/>
                <a:cs typeface="Times New Roman"/>
              </a:rPr>
              <a:t>means that a corporation is taxed  on its net income, and when the same  income is distributed to shareholders  in the form of dividends, the income is  taxed again on the shareholders’  personal tax returns.</a:t>
            </a:r>
          </a:p>
          <a:p>
            <a:pPr marL="220979" marR="5080" indent="-208915">
              <a:lnSpc>
                <a:spcPct val="120000"/>
              </a:lnSpc>
              <a:spcBef>
                <a:spcPts val="60"/>
              </a:spcBef>
              <a:buFont typeface="Wingdings"/>
              <a:buChar char=""/>
              <a:tabLst>
                <a:tab pos="211454" algn="l"/>
              </a:tabLst>
            </a:pPr>
            <a:endParaRPr sz="2200" dirty="0">
              <a:latin typeface="Times New Roman"/>
              <a:cs typeface="Times New Roman"/>
            </a:endParaRPr>
          </a:p>
        </p:txBody>
      </p:sp>
    </p:spTree>
    <p:extLst>
      <p:ext uri="{BB962C8B-B14F-4D97-AF65-F5344CB8AC3E}">
        <p14:creationId xmlns:p14="http://schemas.microsoft.com/office/powerpoint/2010/main" val="42447189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spc="5" dirty="0"/>
              <a:t>C </a:t>
            </a:r>
            <a:r>
              <a:rPr dirty="0"/>
              <a:t>Corporation</a:t>
            </a:r>
          </a:p>
          <a:p>
            <a:pPr algn="ctr">
              <a:lnSpc>
                <a:spcPct val="100000"/>
              </a:lnSpc>
              <a:spcBef>
                <a:spcPts val="60"/>
              </a:spcBef>
            </a:pPr>
            <a:r>
              <a:rPr sz="2200" dirty="0"/>
              <a:t>1of</a:t>
            </a:r>
            <a:r>
              <a:rPr sz="2200" spc="-6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831580" cy="3762375"/>
          </a:xfrm>
          <a:prstGeom prst="rect">
            <a:avLst/>
          </a:prstGeom>
        </p:spPr>
        <p:txBody>
          <a:bodyPr vert="horz" wrap="square" lIns="0" tIns="87630" rIns="0" bIns="0" rtlCol="0">
            <a:spAutoFit/>
          </a:bodyPr>
          <a:lstStyle/>
          <a:p>
            <a:pPr marL="12700">
              <a:lnSpc>
                <a:spcPct val="100000"/>
              </a:lnSpc>
              <a:spcBef>
                <a:spcPts val="690"/>
              </a:spcBef>
            </a:pPr>
            <a:r>
              <a:rPr sz="2200" u="heavy" spc="-5" dirty="0">
                <a:uFill>
                  <a:solidFill>
                    <a:srgbClr val="000000"/>
                  </a:solidFill>
                </a:uFill>
                <a:latin typeface="Times New Roman"/>
                <a:cs typeface="Times New Roman"/>
              </a:rPr>
              <a:t>Advantages of</a:t>
            </a:r>
            <a:r>
              <a:rPr sz="2200" u="heavy" spc="-15"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a</a:t>
            </a:r>
            <a:r>
              <a:rPr sz="2200" u="heavy" spc="-15"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C</a:t>
            </a:r>
            <a:r>
              <a:rPr sz="2200" u="heavy" spc="20"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Corporation</a:t>
            </a:r>
            <a:endParaRPr sz="2200">
              <a:latin typeface="Times New Roman"/>
              <a:cs typeface="Times New Roman"/>
            </a:endParaRPr>
          </a:p>
          <a:p>
            <a:pPr marL="220979" marR="5080" indent="-208915">
              <a:lnSpc>
                <a:spcPct val="120000"/>
              </a:lnSpc>
              <a:spcBef>
                <a:spcPts val="60"/>
              </a:spcBef>
              <a:buFont typeface="Wingdings"/>
              <a:buChar char=""/>
              <a:tabLst>
                <a:tab pos="211454" algn="l"/>
              </a:tabLst>
            </a:pPr>
            <a:r>
              <a:rPr sz="2200" spc="-5" dirty="0">
                <a:latin typeface="Times New Roman"/>
                <a:cs typeface="Times New Roman"/>
              </a:rPr>
              <a:t>Owners </a:t>
            </a:r>
            <a:r>
              <a:rPr sz="2200" spc="-10" dirty="0">
                <a:latin typeface="Times New Roman"/>
                <a:cs typeface="Times New Roman"/>
              </a:rPr>
              <a:t>are </a:t>
            </a:r>
            <a:r>
              <a:rPr sz="2200" spc="-5" dirty="0">
                <a:latin typeface="Times New Roman"/>
                <a:cs typeface="Times New Roman"/>
              </a:rPr>
              <a:t>liable only </a:t>
            </a:r>
            <a:r>
              <a:rPr sz="2200" dirty="0">
                <a:latin typeface="Times New Roman"/>
                <a:cs typeface="Times New Roman"/>
              </a:rPr>
              <a:t>for </a:t>
            </a:r>
            <a:r>
              <a:rPr sz="2200" spc="-5" dirty="0">
                <a:latin typeface="Times New Roman"/>
                <a:cs typeface="Times New Roman"/>
              </a:rPr>
              <a:t>the </a:t>
            </a:r>
            <a:r>
              <a:rPr sz="2200" dirty="0">
                <a:latin typeface="Times New Roman"/>
                <a:cs typeface="Times New Roman"/>
              </a:rPr>
              <a:t>debts </a:t>
            </a:r>
            <a:r>
              <a:rPr sz="2200" spc="-10" dirty="0">
                <a:latin typeface="Times New Roman"/>
                <a:cs typeface="Times New Roman"/>
              </a:rPr>
              <a:t>and </a:t>
            </a:r>
            <a:r>
              <a:rPr sz="2200" spc="-5" dirty="0">
                <a:latin typeface="Times New Roman"/>
                <a:cs typeface="Times New Roman"/>
              </a:rPr>
              <a:t>obligations of the corporation </a:t>
            </a:r>
            <a:r>
              <a:rPr sz="2200" spc="5" dirty="0">
                <a:latin typeface="Times New Roman"/>
                <a:cs typeface="Times New Roman"/>
              </a:rPr>
              <a:t>up the </a:t>
            </a:r>
            <a:r>
              <a:rPr sz="2200" spc="-535" dirty="0">
                <a:latin typeface="Times New Roman"/>
                <a:cs typeface="Times New Roman"/>
              </a:rPr>
              <a:t> </a:t>
            </a:r>
            <a:r>
              <a:rPr sz="2200" spc="-5" dirty="0">
                <a:latin typeface="Times New Roman"/>
                <a:cs typeface="Times New Roman"/>
              </a:rPr>
              <a:t>amount of</a:t>
            </a:r>
            <a:r>
              <a:rPr sz="2200" spc="-10" dirty="0">
                <a:latin typeface="Times New Roman"/>
                <a:cs typeface="Times New Roman"/>
              </a:rPr>
              <a:t> </a:t>
            </a:r>
            <a:r>
              <a:rPr sz="2200" dirty="0">
                <a:latin typeface="Times New Roman"/>
                <a:cs typeface="Times New Roman"/>
              </a:rPr>
              <a:t>their</a:t>
            </a:r>
            <a:r>
              <a:rPr sz="2200" spc="-10" dirty="0">
                <a:latin typeface="Times New Roman"/>
                <a:cs typeface="Times New Roman"/>
              </a:rPr>
              <a:t> investment.</a:t>
            </a:r>
            <a:endParaRPr sz="2200">
              <a:latin typeface="Times New Roman"/>
              <a:cs typeface="Times New Roman"/>
            </a:endParaRPr>
          </a:p>
          <a:p>
            <a:pPr marL="205740" indent="-193675">
              <a:lnSpc>
                <a:spcPct val="100000"/>
              </a:lnSpc>
              <a:spcBef>
                <a:spcPts val="1260"/>
              </a:spcBef>
              <a:buFont typeface="Wingdings"/>
              <a:buChar char=""/>
              <a:tabLst>
                <a:tab pos="206375" algn="l"/>
              </a:tabLst>
            </a:pPr>
            <a:r>
              <a:rPr sz="2200" spc="-5" dirty="0">
                <a:latin typeface="Times New Roman"/>
                <a:cs typeface="Times New Roman"/>
              </a:rPr>
              <a:t>The</a:t>
            </a:r>
            <a:r>
              <a:rPr sz="2200" spc="5" dirty="0">
                <a:latin typeface="Times New Roman"/>
                <a:cs typeface="Times New Roman"/>
              </a:rPr>
              <a:t> </a:t>
            </a:r>
            <a:r>
              <a:rPr sz="2200" spc="-10" dirty="0">
                <a:latin typeface="Times New Roman"/>
                <a:cs typeface="Times New Roman"/>
              </a:rPr>
              <a:t>mechanics</a:t>
            </a:r>
            <a:r>
              <a:rPr sz="2200" spc="20" dirty="0">
                <a:latin typeface="Times New Roman"/>
                <a:cs typeface="Times New Roman"/>
              </a:rPr>
              <a:t> </a:t>
            </a:r>
            <a:r>
              <a:rPr sz="2200" spc="-5" dirty="0">
                <a:latin typeface="Times New Roman"/>
                <a:cs typeface="Times New Roman"/>
              </a:rPr>
              <a:t>of</a:t>
            </a:r>
            <a:r>
              <a:rPr sz="2200" spc="-10" dirty="0">
                <a:latin typeface="Times New Roman"/>
                <a:cs typeface="Times New Roman"/>
              </a:rPr>
              <a:t> raising</a:t>
            </a:r>
            <a:r>
              <a:rPr sz="2200" spc="-5" dirty="0">
                <a:latin typeface="Times New Roman"/>
                <a:cs typeface="Times New Roman"/>
              </a:rPr>
              <a:t> capital</a:t>
            </a:r>
            <a:r>
              <a:rPr sz="2200" spc="-20" dirty="0">
                <a:latin typeface="Times New Roman"/>
                <a:cs typeface="Times New Roman"/>
              </a:rPr>
              <a:t> </a:t>
            </a:r>
            <a:r>
              <a:rPr sz="2200" spc="-5" dirty="0">
                <a:latin typeface="Times New Roman"/>
                <a:cs typeface="Times New Roman"/>
              </a:rPr>
              <a:t>is</a:t>
            </a:r>
            <a:r>
              <a:rPr sz="2200" spc="-25" dirty="0">
                <a:latin typeface="Times New Roman"/>
                <a:cs typeface="Times New Roman"/>
              </a:rPr>
              <a:t> </a:t>
            </a:r>
            <a:r>
              <a:rPr sz="2200" spc="-20" dirty="0">
                <a:latin typeface="Times New Roman"/>
                <a:cs typeface="Times New Roman"/>
              </a:rPr>
              <a:t>easier.</a:t>
            </a:r>
            <a:endParaRPr sz="2200">
              <a:latin typeface="Times New Roman"/>
              <a:cs typeface="Times New Roman"/>
            </a:endParaRPr>
          </a:p>
          <a:p>
            <a:pPr marL="220979" marR="678815" indent="-208915">
              <a:lnSpc>
                <a:spcPct val="120000"/>
              </a:lnSpc>
              <a:spcBef>
                <a:spcPts val="60"/>
              </a:spcBef>
              <a:buFont typeface="Wingdings"/>
              <a:buChar char=""/>
              <a:tabLst>
                <a:tab pos="211454" algn="l"/>
              </a:tabLst>
            </a:pPr>
            <a:r>
              <a:rPr sz="2200" spc="-5" dirty="0">
                <a:latin typeface="Times New Roman"/>
                <a:cs typeface="Times New Roman"/>
              </a:rPr>
              <a:t>No restrictions exist </a:t>
            </a:r>
            <a:r>
              <a:rPr sz="2200" spc="5" dirty="0">
                <a:latin typeface="Times New Roman"/>
                <a:cs typeface="Times New Roman"/>
              </a:rPr>
              <a:t>on </a:t>
            </a:r>
            <a:r>
              <a:rPr sz="2200" spc="-5" dirty="0">
                <a:latin typeface="Times New Roman"/>
                <a:cs typeface="Times New Roman"/>
              </a:rPr>
              <a:t>the number of shareholders, which </a:t>
            </a:r>
            <a:r>
              <a:rPr sz="2200" spc="-10" dirty="0">
                <a:latin typeface="Times New Roman"/>
                <a:cs typeface="Times New Roman"/>
              </a:rPr>
              <a:t>differs </a:t>
            </a:r>
            <a:r>
              <a:rPr sz="2200" spc="-5" dirty="0">
                <a:latin typeface="Times New Roman"/>
                <a:cs typeface="Times New Roman"/>
              </a:rPr>
              <a:t>from </a:t>
            </a:r>
            <a:r>
              <a:rPr sz="2200" spc="-535" dirty="0">
                <a:latin typeface="Times New Roman"/>
                <a:cs typeface="Times New Roman"/>
              </a:rPr>
              <a:t> </a:t>
            </a:r>
            <a:r>
              <a:rPr sz="2200" spc="-5" dirty="0">
                <a:latin typeface="Times New Roman"/>
                <a:cs typeface="Times New Roman"/>
              </a:rPr>
              <a:t>subchapter</a:t>
            </a:r>
            <a:r>
              <a:rPr sz="2200" spc="-35" dirty="0">
                <a:latin typeface="Times New Roman"/>
                <a:cs typeface="Times New Roman"/>
              </a:rPr>
              <a:t> </a:t>
            </a:r>
            <a:r>
              <a:rPr sz="2200" spc="-5" dirty="0">
                <a:latin typeface="Times New Roman"/>
                <a:cs typeface="Times New Roman"/>
              </a:rPr>
              <a:t>S</a:t>
            </a:r>
            <a:r>
              <a:rPr sz="2200" spc="5" dirty="0">
                <a:latin typeface="Times New Roman"/>
                <a:cs typeface="Times New Roman"/>
              </a:rPr>
              <a:t> </a:t>
            </a:r>
            <a:r>
              <a:rPr sz="2200" spc="-5" dirty="0">
                <a:latin typeface="Times New Roman"/>
                <a:cs typeface="Times New Roman"/>
              </a:rPr>
              <a:t>corporations.</a:t>
            </a:r>
            <a:endParaRPr sz="2200">
              <a:latin typeface="Times New Roman"/>
              <a:cs typeface="Times New Roman"/>
            </a:endParaRPr>
          </a:p>
          <a:p>
            <a:pPr marL="210820" indent="-198755">
              <a:lnSpc>
                <a:spcPct val="100000"/>
              </a:lnSpc>
              <a:spcBef>
                <a:spcPts val="525"/>
              </a:spcBef>
              <a:buFont typeface="Wingdings"/>
              <a:buChar char=""/>
              <a:tabLst>
                <a:tab pos="211454" algn="l"/>
              </a:tabLst>
            </a:pPr>
            <a:r>
              <a:rPr sz="2200" spc="-5" dirty="0">
                <a:latin typeface="Times New Roman"/>
                <a:cs typeface="Times New Roman"/>
              </a:rPr>
              <a:t>Stock is</a:t>
            </a:r>
            <a:r>
              <a:rPr sz="2200" spc="-25" dirty="0">
                <a:latin typeface="Times New Roman"/>
                <a:cs typeface="Times New Roman"/>
              </a:rPr>
              <a:t> </a:t>
            </a:r>
            <a:r>
              <a:rPr sz="2200" spc="-5" dirty="0">
                <a:latin typeface="Times New Roman"/>
                <a:cs typeface="Times New Roman"/>
              </a:rPr>
              <a:t>liquid</a:t>
            </a:r>
            <a:r>
              <a:rPr sz="2200" spc="-25" dirty="0">
                <a:latin typeface="Times New Roman"/>
                <a:cs typeface="Times New Roman"/>
              </a:rPr>
              <a:t> </a:t>
            </a:r>
            <a:r>
              <a:rPr sz="2200" spc="-5" dirty="0">
                <a:latin typeface="Times New Roman"/>
                <a:cs typeface="Times New Roman"/>
              </a:rPr>
              <a:t>if</a:t>
            </a:r>
            <a:r>
              <a:rPr sz="2200" spc="-10" dirty="0">
                <a:latin typeface="Times New Roman"/>
                <a:cs typeface="Times New Roman"/>
              </a:rPr>
              <a:t> </a:t>
            </a:r>
            <a:r>
              <a:rPr sz="2200" spc="-5" dirty="0">
                <a:latin typeface="Times New Roman"/>
                <a:cs typeface="Times New Roman"/>
              </a:rPr>
              <a:t>traded on a</a:t>
            </a:r>
            <a:r>
              <a:rPr sz="2200" spc="-10" dirty="0">
                <a:latin typeface="Times New Roman"/>
                <a:cs typeface="Times New Roman"/>
              </a:rPr>
              <a:t> </a:t>
            </a:r>
            <a:r>
              <a:rPr sz="2200" spc="-5" dirty="0">
                <a:latin typeface="Times New Roman"/>
                <a:cs typeface="Times New Roman"/>
              </a:rPr>
              <a:t>major</a:t>
            </a:r>
            <a:r>
              <a:rPr sz="2200" spc="15" dirty="0">
                <a:latin typeface="Times New Roman"/>
                <a:cs typeface="Times New Roman"/>
              </a:rPr>
              <a:t> </a:t>
            </a:r>
            <a:r>
              <a:rPr sz="2200" spc="-5" dirty="0">
                <a:latin typeface="Times New Roman"/>
                <a:cs typeface="Times New Roman"/>
              </a:rPr>
              <a:t>stock exchange.</a:t>
            </a:r>
            <a:endParaRPr sz="2200">
              <a:latin typeface="Times New Roman"/>
              <a:cs typeface="Times New Roman"/>
            </a:endParaRPr>
          </a:p>
          <a:p>
            <a:pPr marL="206375" marR="539750" indent="-206375">
              <a:lnSpc>
                <a:spcPct val="120000"/>
              </a:lnSpc>
              <a:buFont typeface="Wingdings"/>
              <a:buChar char=""/>
              <a:tabLst>
                <a:tab pos="206375" algn="l"/>
              </a:tabLst>
            </a:pPr>
            <a:r>
              <a:rPr sz="2200" spc="-5" dirty="0">
                <a:latin typeface="Times New Roman"/>
                <a:cs typeface="Times New Roman"/>
              </a:rPr>
              <a:t>The ability to share </a:t>
            </a:r>
            <a:r>
              <a:rPr sz="2200" dirty="0">
                <a:latin typeface="Times New Roman"/>
                <a:cs typeface="Times New Roman"/>
              </a:rPr>
              <a:t>stock </a:t>
            </a:r>
            <a:r>
              <a:rPr sz="2200" spc="-5" dirty="0">
                <a:latin typeface="Times New Roman"/>
                <a:cs typeface="Times New Roman"/>
              </a:rPr>
              <a:t>with employees through </a:t>
            </a:r>
            <a:r>
              <a:rPr sz="2200" dirty="0">
                <a:latin typeface="Times New Roman"/>
                <a:cs typeface="Times New Roman"/>
              </a:rPr>
              <a:t>stock options </a:t>
            </a:r>
            <a:r>
              <a:rPr sz="2200" spc="-5" dirty="0">
                <a:latin typeface="Times New Roman"/>
                <a:cs typeface="Times New Roman"/>
              </a:rPr>
              <a:t>or other </a:t>
            </a:r>
            <a:r>
              <a:rPr sz="2200" spc="-535" dirty="0">
                <a:latin typeface="Times New Roman"/>
                <a:cs typeface="Times New Roman"/>
              </a:rPr>
              <a:t> </a:t>
            </a:r>
            <a:r>
              <a:rPr sz="2200" spc="-5" dirty="0">
                <a:latin typeface="Times New Roman"/>
                <a:cs typeface="Times New Roman"/>
              </a:rPr>
              <a:t>incentive</a:t>
            </a:r>
            <a:r>
              <a:rPr sz="2200" spc="-10" dirty="0">
                <a:latin typeface="Times New Roman"/>
                <a:cs typeface="Times New Roman"/>
              </a:rPr>
              <a:t> </a:t>
            </a:r>
            <a:r>
              <a:rPr sz="2200" dirty="0">
                <a:latin typeface="Times New Roman"/>
                <a:cs typeface="Times New Roman"/>
              </a:rPr>
              <a:t>plans</a:t>
            </a:r>
            <a:r>
              <a:rPr sz="2200" spc="-25" dirty="0">
                <a:latin typeface="Times New Roman"/>
                <a:cs typeface="Times New Roman"/>
              </a:rPr>
              <a:t> </a:t>
            </a:r>
            <a:r>
              <a:rPr sz="2200" spc="-10" dirty="0">
                <a:latin typeface="Times New Roman"/>
                <a:cs typeface="Times New Roman"/>
              </a:rPr>
              <a:t>can</a:t>
            </a:r>
            <a:r>
              <a:rPr sz="2200" spc="20" dirty="0">
                <a:latin typeface="Times New Roman"/>
                <a:cs typeface="Times New Roman"/>
              </a:rPr>
              <a:t> </a:t>
            </a:r>
            <a:r>
              <a:rPr sz="2200" spc="-5" dirty="0">
                <a:latin typeface="Times New Roman"/>
                <a:cs typeface="Times New Roman"/>
              </a:rPr>
              <a:t>be a</a:t>
            </a:r>
            <a:r>
              <a:rPr sz="2200" spc="10" dirty="0">
                <a:latin typeface="Times New Roman"/>
                <a:cs typeface="Times New Roman"/>
              </a:rPr>
              <a:t> </a:t>
            </a:r>
            <a:r>
              <a:rPr sz="2200" spc="-5" dirty="0">
                <a:latin typeface="Times New Roman"/>
                <a:cs typeface="Times New Roman"/>
              </a:rPr>
              <a:t>powerful</a:t>
            </a:r>
            <a:r>
              <a:rPr sz="2200" spc="-20" dirty="0">
                <a:latin typeface="Times New Roman"/>
                <a:cs typeface="Times New Roman"/>
              </a:rPr>
              <a:t> </a:t>
            </a:r>
            <a:r>
              <a:rPr sz="2200" spc="-5" dirty="0">
                <a:latin typeface="Times New Roman"/>
                <a:cs typeface="Times New Roman"/>
              </a:rPr>
              <a:t>form</a:t>
            </a:r>
            <a:r>
              <a:rPr sz="2200" spc="-15"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employee</a:t>
            </a:r>
            <a:r>
              <a:rPr sz="2200" spc="10" dirty="0">
                <a:latin typeface="Times New Roman"/>
                <a:cs typeface="Times New Roman"/>
              </a:rPr>
              <a:t> </a:t>
            </a:r>
            <a:r>
              <a:rPr sz="2200" spc="-5" dirty="0">
                <a:latin typeface="Times New Roman"/>
                <a:cs typeface="Times New Roman"/>
              </a:rPr>
              <a:t>motivation.</a:t>
            </a:r>
            <a:endParaRPr sz="220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spc="5" dirty="0"/>
              <a:t>C </a:t>
            </a:r>
            <a:r>
              <a:rPr dirty="0"/>
              <a:t>Corporation</a:t>
            </a:r>
          </a:p>
          <a:p>
            <a:pPr algn="ctr">
              <a:lnSpc>
                <a:spcPct val="100000"/>
              </a:lnSpc>
              <a:spcBef>
                <a:spcPts val="60"/>
              </a:spcBef>
            </a:pPr>
            <a:r>
              <a:rPr sz="2200" spc="-5" dirty="0"/>
              <a:t>2</a:t>
            </a:r>
            <a:r>
              <a:rPr sz="2200" spc="-35" dirty="0"/>
              <a:t> </a:t>
            </a:r>
            <a:r>
              <a:rPr sz="2200" spc="-5" dirty="0"/>
              <a:t>of</a:t>
            </a:r>
            <a:r>
              <a:rPr sz="2200" spc="-1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877935" cy="3662045"/>
          </a:xfrm>
          <a:prstGeom prst="rect">
            <a:avLst/>
          </a:prstGeom>
        </p:spPr>
        <p:txBody>
          <a:bodyPr vert="horz" wrap="square" lIns="0" tIns="87630" rIns="0" bIns="0" rtlCol="0">
            <a:spAutoFit/>
          </a:bodyPr>
          <a:lstStyle/>
          <a:p>
            <a:pPr marL="12700">
              <a:lnSpc>
                <a:spcPct val="100000"/>
              </a:lnSpc>
              <a:spcBef>
                <a:spcPts val="690"/>
              </a:spcBef>
            </a:pPr>
            <a:r>
              <a:rPr sz="2200" u="heavy" spc="-5" dirty="0">
                <a:uFill>
                  <a:solidFill>
                    <a:srgbClr val="000000"/>
                  </a:solidFill>
                </a:uFill>
                <a:latin typeface="Times New Roman"/>
                <a:cs typeface="Times New Roman"/>
              </a:rPr>
              <a:t>Disadvantages of</a:t>
            </a:r>
            <a:r>
              <a:rPr sz="2200" u="heavy" spc="-15"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a</a:t>
            </a:r>
            <a:r>
              <a:rPr sz="2200" u="heavy" spc="-15"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C</a:t>
            </a:r>
            <a:r>
              <a:rPr sz="2200" u="heavy" spc="20"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Corporation</a:t>
            </a:r>
            <a:endParaRPr sz="2200">
              <a:latin typeface="Times New Roman"/>
              <a:cs typeface="Times New Roman"/>
            </a:endParaRPr>
          </a:p>
          <a:p>
            <a:pPr marL="220979" marR="5080" indent="-208915">
              <a:lnSpc>
                <a:spcPct val="120000"/>
              </a:lnSpc>
              <a:spcBef>
                <a:spcPts val="60"/>
              </a:spcBef>
              <a:buFont typeface="Wingdings"/>
              <a:buChar char=""/>
              <a:tabLst>
                <a:tab pos="211454" algn="l"/>
              </a:tabLst>
            </a:pPr>
            <a:r>
              <a:rPr sz="2200" spc="-5" dirty="0">
                <a:latin typeface="Times New Roman"/>
                <a:cs typeface="Times New Roman"/>
              </a:rPr>
              <a:t>Setting up </a:t>
            </a:r>
            <a:r>
              <a:rPr sz="2200" dirty="0">
                <a:latin typeface="Times New Roman"/>
                <a:cs typeface="Times New Roman"/>
              </a:rPr>
              <a:t>and </a:t>
            </a:r>
            <a:r>
              <a:rPr sz="2200" spc="-5" dirty="0">
                <a:latin typeface="Times New Roman"/>
                <a:cs typeface="Times New Roman"/>
              </a:rPr>
              <a:t>maintaining one is more </a:t>
            </a:r>
            <a:r>
              <a:rPr sz="2200" spc="-10" dirty="0">
                <a:latin typeface="Times New Roman"/>
                <a:cs typeface="Times New Roman"/>
              </a:rPr>
              <a:t>difficult </a:t>
            </a:r>
            <a:r>
              <a:rPr sz="2200" spc="-5" dirty="0">
                <a:latin typeface="Times New Roman"/>
                <a:cs typeface="Times New Roman"/>
              </a:rPr>
              <a:t>than </a:t>
            </a:r>
            <a:r>
              <a:rPr sz="2200" dirty="0">
                <a:latin typeface="Times New Roman"/>
                <a:cs typeface="Times New Roman"/>
              </a:rPr>
              <a:t>for </a:t>
            </a:r>
            <a:r>
              <a:rPr sz="2200" spc="-5" dirty="0">
                <a:latin typeface="Times New Roman"/>
                <a:cs typeface="Times New Roman"/>
              </a:rPr>
              <a:t>a sole proprietorship </a:t>
            </a:r>
            <a:r>
              <a:rPr sz="2200" spc="-535" dirty="0">
                <a:latin typeface="Times New Roman"/>
                <a:cs typeface="Times New Roman"/>
              </a:rPr>
              <a:t> </a:t>
            </a:r>
            <a:r>
              <a:rPr sz="2200" spc="-5" dirty="0">
                <a:latin typeface="Times New Roman"/>
                <a:cs typeface="Times New Roman"/>
              </a:rPr>
              <a:t>or</a:t>
            </a:r>
            <a:r>
              <a:rPr sz="2200" spc="5"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partnership.</a:t>
            </a:r>
            <a:endParaRPr sz="2200">
              <a:latin typeface="Times New Roman"/>
              <a:cs typeface="Times New Roman"/>
            </a:endParaRPr>
          </a:p>
          <a:p>
            <a:pPr marL="220979" marR="20955" indent="-208915">
              <a:lnSpc>
                <a:spcPts val="3960"/>
              </a:lnSpc>
              <a:spcBef>
                <a:spcPts val="290"/>
              </a:spcBef>
              <a:buFont typeface="Wingdings"/>
              <a:buChar char=""/>
              <a:tabLst>
                <a:tab pos="211454" algn="l"/>
              </a:tabLst>
            </a:pPr>
            <a:r>
              <a:rPr sz="2200" spc="-5" dirty="0">
                <a:latin typeface="Times New Roman"/>
                <a:cs typeface="Times New Roman"/>
              </a:rPr>
              <a:t>Business losses </a:t>
            </a:r>
            <a:r>
              <a:rPr sz="2200" dirty="0">
                <a:latin typeface="Times New Roman"/>
                <a:cs typeface="Times New Roman"/>
              </a:rPr>
              <a:t>cannot </a:t>
            </a:r>
            <a:r>
              <a:rPr sz="2200" spc="-5" dirty="0">
                <a:latin typeface="Times New Roman"/>
                <a:cs typeface="Times New Roman"/>
              </a:rPr>
              <a:t>be deducted against the shareholder’s </a:t>
            </a:r>
            <a:r>
              <a:rPr sz="2200" dirty="0">
                <a:latin typeface="Times New Roman"/>
                <a:cs typeface="Times New Roman"/>
              </a:rPr>
              <a:t>other </a:t>
            </a:r>
            <a:r>
              <a:rPr sz="2200" spc="-5" dirty="0">
                <a:latin typeface="Times New Roman"/>
                <a:cs typeface="Times New Roman"/>
              </a:rPr>
              <a:t>sources of </a:t>
            </a:r>
            <a:r>
              <a:rPr sz="2200" spc="-535" dirty="0">
                <a:latin typeface="Times New Roman"/>
                <a:cs typeface="Times New Roman"/>
              </a:rPr>
              <a:t> </a:t>
            </a:r>
            <a:r>
              <a:rPr sz="2200" spc="-5" dirty="0">
                <a:latin typeface="Times New Roman"/>
                <a:cs typeface="Times New Roman"/>
              </a:rPr>
              <a:t>income.</a:t>
            </a:r>
            <a:endParaRPr sz="2200">
              <a:latin typeface="Times New Roman"/>
              <a:cs typeface="Times New Roman"/>
            </a:endParaRPr>
          </a:p>
          <a:p>
            <a:pPr marL="152400" marR="78740" indent="-140335">
              <a:lnSpc>
                <a:spcPts val="3960"/>
              </a:lnSpc>
              <a:buFont typeface="Wingdings"/>
              <a:buChar char=""/>
              <a:tabLst>
                <a:tab pos="211454" algn="l"/>
              </a:tabLst>
            </a:pPr>
            <a:r>
              <a:rPr sz="2200" spc="-10" dirty="0">
                <a:latin typeface="Times New Roman"/>
                <a:cs typeface="Times New Roman"/>
              </a:rPr>
              <a:t>Income</a:t>
            </a:r>
            <a:r>
              <a:rPr sz="2200" spc="15" dirty="0">
                <a:latin typeface="Times New Roman"/>
                <a:cs typeface="Times New Roman"/>
              </a:rPr>
              <a:t> </a:t>
            </a:r>
            <a:r>
              <a:rPr sz="2200" spc="-5" dirty="0">
                <a:latin typeface="Times New Roman"/>
                <a:cs typeface="Times New Roman"/>
              </a:rPr>
              <a:t>is</a:t>
            </a:r>
            <a:r>
              <a:rPr sz="2200" spc="-15" dirty="0">
                <a:latin typeface="Times New Roman"/>
                <a:cs typeface="Times New Roman"/>
              </a:rPr>
              <a:t> </a:t>
            </a:r>
            <a:r>
              <a:rPr sz="2200" spc="-5" dirty="0">
                <a:latin typeface="Times New Roman"/>
                <a:cs typeface="Times New Roman"/>
              </a:rPr>
              <a:t>subject</a:t>
            </a:r>
            <a:r>
              <a:rPr sz="2200" spc="5" dirty="0">
                <a:latin typeface="Times New Roman"/>
                <a:cs typeface="Times New Roman"/>
              </a:rPr>
              <a:t> </a:t>
            </a:r>
            <a:r>
              <a:rPr sz="2200" spc="-15" dirty="0">
                <a:latin typeface="Times New Roman"/>
                <a:cs typeface="Times New Roman"/>
              </a:rPr>
              <a:t>to</a:t>
            </a:r>
            <a:r>
              <a:rPr sz="2200" spc="5" dirty="0">
                <a:latin typeface="Times New Roman"/>
                <a:cs typeface="Times New Roman"/>
              </a:rPr>
              <a:t> </a:t>
            </a:r>
            <a:r>
              <a:rPr sz="2200" dirty="0">
                <a:latin typeface="Times New Roman"/>
                <a:cs typeface="Times New Roman"/>
              </a:rPr>
              <a:t>double</a:t>
            </a:r>
            <a:r>
              <a:rPr sz="2200" spc="-5" dirty="0">
                <a:latin typeface="Times New Roman"/>
                <a:cs typeface="Times New Roman"/>
              </a:rPr>
              <a:t> taxation,</a:t>
            </a:r>
            <a:r>
              <a:rPr sz="2200" spc="-40" dirty="0">
                <a:latin typeface="Times New Roman"/>
                <a:cs typeface="Times New Roman"/>
              </a:rPr>
              <a:t> </a:t>
            </a:r>
            <a:r>
              <a:rPr sz="2200" spc="-5" dirty="0">
                <a:latin typeface="Times New Roman"/>
                <a:cs typeface="Times New Roman"/>
              </a:rPr>
              <a:t>meaning</a:t>
            </a:r>
            <a:r>
              <a:rPr sz="2200" spc="30" dirty="0">
                <a:latin typeface="Times New Roman"/>
                <a:cs typeface="Times New Roman"/>
              </a:rPr>
              <a:t> </a:t>
            </a:r>
            <a:r>
              <a:rPr sz="2200" spc="-5" dirty="0">
                <a:latin typeface="Times New Roman"/>
                <a:cs typeface="Times New Roman"/>
              </a:rPr>
              <a:t>that</a:t>
            </a:r>
            <a:r>
              <a:rPr sz="2200" spc="-10" dirty="0">
                <a:latin typeface="Times New Roman"/>
                <a:cs typeface="Times New Roman"/>
              </a:rPr>
              <a:t> </a:t>
            </a:r>
            <a:r>
              <a:rPr sz="2200" spc="-5" dirty="0">
                <a:latin typeface="Times New Roman"/>
                <a:cs typeface="Times New Roman"/>
              </a:rPr>
              <a:t>it</a:t>
            </a:r>
            <a:r>
              <a:rPr sz="2200" spc="5" dirty="0">
                <a:latin typeface="Times New Roman"/>
                <a:cs typeface="Times New Roman"/>
              </a:rPr>
              <a:t> </a:t>
            </a:r>
            <a:r>
              <a:rPr sz="2200" spc="-5" dirty="0">
                <a:latin typeface="Times New Roman"/>
                <a:cs typeface="Times New Roman"/>
              </a:rPr>
              <a:t>is</a:t>
            </a:r>
            <a:r>
              <a:rPr sz="2200" spc="-20" dirty="0">
                <a:latin typeface="Times New Roman"/>
                <a:cs typeface="Times New Roman"/>
              </a:rPr>
              <a:t> </a:t>
            </a:r>
            <a:r>
              <a:rPr sz="2200" spc="-5" dirty="0">
                <a:latin typeface="Times New Roman"/>
                <a:cs typeface="Times New Roman"/>
              </a:rPr>
              <a:t>taxed</a:t>
            </a:r>
            <a:r>
              <a:rPr sz="2200" spc="5" dirty="0">
                <a:latin typeface="Times New Roman"/>
                <a:cs typeface="Times New Roman"/>
              </a:rPr>
              <a:t> </a:t>
            </a:r>
            <a:r>
              <a:rPr sz="2200" spc="-10" dirty="0">
                <a:latin typeface="Times New Roman"/>
                <a:cs typeface="Times New Roman"/>
              </a:rPr>
              <a:t>at</a:t>
            </a:r>
            <a:r>
              <a:rPr sz="2200" spc="10" dirty="0">
                <a:latin typeface="Times New Roman"/>
                <a:cs typeface="Times New Roman"/>
              </a:rPr>
              <a:t> </a:t>
            </a:r>
            <a:r>
              <a:rPr sz="2200" spc="-5" dirty="0">
                <a:latin typeface="Times New Roman"/>
                <a:cs typeface="Times New Roman"/>
              </a:rPr>
              <a:t>the corporate </a:t>
            </a:r>
            <a:r>
              <a:rPr sz="2200" spc="-535" dirty="0">
                <a:latin typeface="Times New Roman"/>
                <a:cs typeface="Times New Roman"/>
              </a:rPr>
              <a:t> </a:t>
            </a:r>
            <a:r>
              <a:rPr sz="2200" dirty="0">
                <a:latin typeface="Times New Roman"/>
                <a:cs typeface="Times New Roman"/>
              </a:rPr>
              <a:t>and</a:t>
            </a:r>
            <a:r>
              <a:rPr sz="2200" spc="-30" dirty="0">
                <a:latin typeface="Times New Roman"/>
                <a:cs typeface="Times New Roman"/>
              </a:rPr>
              <a:t> </a:t>
            </a:r>
            <a:r>
              <a:rPr sz="2200" spc="5" dirty="0">
                <a:latin typeface="Times New Roman"/>
                <a:cs typeface="Times New Roman"/>
              </a:rPr>
              <a:t>the</a:t>
            </a:r>
            <a:r>
              <a:rPr sz="2200" spc="-35" dirty="0">
                <a:latin typeface="Times New Roman"/>
                <a:cs typeface="Times New Roman"/>
              </a:rPr>
              <a:t> </a:t>
            </a:r>
            <a:r>
              <a:rPr sz="2200" spc="-5" dirty="0">
                <a:latin typeface="Times New Roman"/>
                <a:cs typeface="Times New Roman"/>
              </a:rPr>
              <a:t>shareholder</a:t>
            </a:r>
            <a:r>
              <a:rPr sz="2200" spc="-10" dirty="0">
                <a:latin typeface="Times New Roman"/>
                <a:cs typeface="Times New Roman"/>
              </a:rPr>
              <a:t> </a:t>
            </a:r>
            <a:r>
              <a:rPr sz="2200" spc="-5" dirty="0">
                <a:latin typeface="Times New Roman"/>
                <a:cs typeface="Times New Roman"/>
              </a:rPr>
              <a:t>levels.</a:t>
            </a:r>
            <a:endParaRPr sz="2200">
              <a:latin typeface="Times New Roman"/>
              <a:cs typeface="Times New Roman"/>
            </a:endParaRPr>
          </a:p>
          <a:p>
            <a:pPr marL="210820" indent="-198755">
              <a:lnSpc>
                <a:spcPct val="100000"/>
              </a:lnSpc>
              <a:spcBef>
                <a:spcPts val="235"/>
              </a:spcBef>
              <a:buFont typeface="Wingdings"/>
              <a:buChar char=""/>
              <a:tabLst>
                <a:tab pos="211454" algn="l"/>
              </a:tabLst>
            </a:pPr>
            <a:r>
              <a:rPr sz="2200" spc="-10" dirty="0">
                <a:latin typeface="Times New Roman"/>
                <a:cs typeface="Times New Roman"/>
              </a:rPr>
              <a:t>Small</a:t>
            </a:r>
            <a:r>
              <a:rPr sz="2200" dirty="0">
                <a:latin typeface="Times New Roman"/>
                <a:cs typeface="Times New Roman"/>
              </a:rPr>
              <a:t> </a:t>
            </a:r>
            <a:r>
              <a:rPr sz="2200" spc="-5" dirty="0">
                <a:latin typeface="Times New Roman"/>
                <a:cs typeface="Times New Roman"/>
              </a:rPr>
              <a:t>shareholders</a:t>
            </a:r>
            <a:r>
              <a:rPr sz="2200" spc="-20" dirty="0">
                <a:latin typeface="Times New Roman"/>
                <a:cs typeface="Times New Roman"/>
              </a:rPr>
              <a:t> </a:t>
            </a:r>
            <a:r>
              <a:rPr sz="2200" spc="-5" dirty="0">
                <a:latin typeface="Times New Roman"/>
                <a:cs typeface="Times New Roman"/>
              </a:rPr>
              <a:t>typically</a:t>
            </a:r>
            <a:r>
              <a:rPr sz="2200" spc="-20" dirty="0">
                <a:latin typeface="Times New Roman"/>
                <a:cs typeface="Times New Roman"/>
              </a:rPr>
              <a:t> </a:t>
            </a:r>
            <a:r>
              <a:rPr sz="2200" dirty="0">
                <a:latin typeface="Times New Roman"/>
                <a:cs typeface="Times New Roman"/>
              </a:rPr>
              <a:t>have</a:t>
            </a:r>
            <a:r>
              <a:rPr sz="2200" spc="-5" dirty="0">
                <a:latin typeface="Times New Roman"/>
                <a:cs typeface="Times New Roman"/>
              </a:rPr>
              <a:t> little</a:t>
            </a:r>
            <a:r>
              <a:rPr sz="2200" spc="-30" dirty="0">
                <a:latin typeface="Times New Roman"/>
                <a:cs typeface="Times New Roman"/>
              </a:rPr>
              <a:t> </a:t>
            </a:r>
            <a:r>
              <a:rPr sz="2200" dirty="0">
                <a:latin typeface="Times New Roman"/>
                <a:cs typeface="Times New Roman"/>
              </a:rPr>
              <a:t>voice</a:t>
            </a:r>
            <a:r>
              <a:rPr sz="2200" spc="-5" dirty="0">
                <a:latin typeface="Times New Roman"/>
                <a:cs typeface="Times New Roman"/>
              </a:rPr>
              <a:t> in</a:t>
            </a:r>
            <a:r>
              <a:rPr sz="2200" spc="-20" dirty="0">
                <a:latin typeface="Times New Roman"/>
                <a:cs typeface="Times New Roman"/>
              </a:rPr>
              <a:t> </a:t>
            </a:r>
            <a:r>
              <a:rPr sz="2200" spc="5" dirty="0">
                <a:latin typeface="Times New Roman"/>
                <a:cs typeface="Times New Roman"/>
              </a:rPr>
              <a:t>the</a:t>
            </a:r>
            <a:r>
              <a:rPr sz="2200" spc="-30" dirty="0">
                <a:latin typeface="Times New Roman"/>
                <a:cs typeface="Times New Roman"/>
              </a:rPr>
              <a:t> </a:t>
            </a:r>
            <a:r>
              <a:rPr sz="2200" spc="-10" dirty="0">
                <a:latin typeface="Times New Roman"/>
                <a:cs typeface="Times New Roman"/>
              </a:rPr>
              <a:t>management</a:t>
            </a:r>
            <a:r>
              <a:rPr sz="2200" spc="30" dirty="0">
                <a:latin typeface="Times New Roman"/>
                <a:cs typeface="Times New Roman"/>
              </a:rPr>
              <a:t> </a:t>
            </a:r>
            <a:r>
              <a:rPr sz="2200" spc="5" dirty="0">
                <a:latin typeface="Times New Roman"/>
                <a:cs typeface="Times New Roman"/>
              </a:rPr>
              <a:t>of</a:t>
            </a:r>
            <a:r>
              <a:rPr sz="2200" spc="-5" dirty="0">
                <a:latin typeface="Times New Roman"/>
                <a:cs typeface="Times New Roman"/>
              </a:rPr>
              <a:t> the firm.</a:t>
            </a:r>
            <a:endParaRPr sz="220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5526" rIns="0" bIns="0" rtlCol="0">
            <a:spAutoFit/>
          </a:bodyPr>
          <a:lstStyle/>
          <a:p>
            <a:pPr algn="ctr">
              <a:lnSpc>
                <a:spcPct val="100000"/>
              </a:lnSpc>
              <a:spcBef>
                <a:spcPts val="110"/>
              </a:spcBef>
            </a:pPr>
            <a:r>
              <a:rPr dirty="0"/>
              <a:t>Subchapter</a:t>
            </a:r>
            <a:r>
              <a:rPr spc="-15" dirty="0"/>
              <a:t> </a:t>
            </a:r>
            <a:r>
              <a:rPr spc="5" dirty="0"/>
              <a:t>S</a:t>
            </a:r>
            <a:r>
              <a:rPr spc="-65" dirty="0"/>
              <a:t> </a:t>
            </a:r>
            <a:r>
              <a:rPr spc="5" dirty="0"/>
              <a:t>Corporation</a:t>
            </a:r>
          </a:p>
          <a:p>
            <a:pPr algn="ctr">
              <a:lnSpc>
                <a:spcPct val="100000"/>
              </a:lnSpc>
              <a:spcBef>
                <a:spcPts val="55"/>
              </a:spcBef>
            </a:pPr>
            <a:r>
              <a:rPr sz="2200" spc="-5" dirty="0"/>
              <a:t>1</a:t>
            </a:r>
            <a:r>
              <a:rPr sz="2200" spc="-35" dirty="0"/>
              <a:t> </a:t>
            </a:r>
            <a:r>
              <a:rPr sz="2200" spc="-5" dirty="0"/>
              <a:t>of</a:t>
            </a:r>
            <a:r>
              <a:rPr sz="2200" spc="-15" dirty="0"/>
              <a:t> </a:t>
            </a:r>
            <a:r>
              <a:rPr sz="2200" spc="-5" dirty="0"/>
              <a:t>2</a:t>
            </a:r>
            <a:endParaRPr sz="2200"/>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727956" y="3573281"/>
            <a:ext cx="2395220" cy="1097915"/>
          </a:xfrm>
          <a:prstGeom prst="rect">
            <a:avLst/>
          </a:prstGeom>
        </p:spPr>
        <p:txBody>
          <a:bodyPr vert="horz" wrap="square" lIns="0" tIns="11430" rIns="0" bIns="0" rtlCol="0">
            <a:spAutoFit/>
          </a:bodyPr>
          <a:lstStyle/>
          <a:p>
            <a:pPr marL="117475" marR="5080" indent="-105410">
              <a:lnSpc>
                <a:spcPct val="100600"/>
              </a:lnSpc>
              <a:spcBef>
                <a:spcPts val="90"/>
              </a:spcBef>
            </a:pPr>
            <a:r>
              <a:rPr sz="3500" spc="5" dirty="0">
                <a:latin typeface="Times New Roman"/>
                <a:cs typeface="Times New Roman"/>
              </a:rPr>
              <a:t>Subchapter</a:t>
            </a:r>
            <a:r>
              <a:rPr sz="3500" spc="-80" dirty="0">
                <a:latin typeface="Times New Roman"/>
                <a:cs typeface="Times New Roman"/>
              </a:rPr>
              <a:t> </a:t>
            </a:r>
            <a:r>
              <a:rPr sz="3500" spc="5" dirty="0">
                <a:latin typeface="Times New Roman"/>
                <a:cs typeface="Times New Roman"/>
              </a:rPr>
              <a:t>S </a:t>
            </a:r>
            <a:r>
              <a:rPr sz="3500" spc="-860" dirty="0">
                <a:latin typeface="Times New Roman"/>
                <a:cs typeface="Times New Roman"/>
              </a:rPr>
              <a:t> </a:t>
            </a:r>
            <a:r>
              <a:rPr sz="3500" spc="5" dirty="0">
                <a:latin typeface="Times New Roman"/>
                <a:cs typeface="Times New Roman"/>
              </a:rPr>
              <a:t>Corporation</a:t>
            </a:r>
            <a:endParaRPr sz="3500">
              <a:latin typeface="Times New Roman"/>
              <a:cs typeface="Times New Roman"/>
            </a:endParaRPr>
          </a:p>
        </p:txBody>
      </p:sp>
      <p:grpSp>
        <p:nvGrpSpPr>
          <p:cNvPr id="5" name="object 5"/>
          <p:cNvGrpSpPr/>
          <p:nvPr/>
        </p:nvGrpSpPr>
        <p:grpSpPr>
          <a:xfrm>
            <a:off x="3934205" y="1785366"/>
            <a:ext cx="5710555" cy="5207635"/>
            <a:chOff x="3934205" y="1785366"/>
            <a:chExt cx="5710555" cy="5207635"/>
          </a:xfrm>
        </p:grpSpPr>
        <p:sp>
          <p:nvSpPr>
            <p:cNvPr id="6" name="object 6"/>
            <p:cNvSpPr/>
            <p:nvPr/>
          </p:nvSpPr>
          <p:spPr>
            <a:xfrm>
              <a:off x="3939539" y="1790700"/>
              <a:ext cx="5699760" cy="5196840"/>
            </a:xfrm>
            <a:custGeom>
              <a:avLst/>
              <a:gdLst/>
              <a:ahLst/>
              <a:cxnLst/>
              <a:rect l="l" t="t" r="r" b="b"/>
              <a:pathLst>
                <a:path w="5699759" h="5196840">
                  <a:moveTo>
                    <a:pt x="5699759" y="5196839"/>
                  </a:moveTo>
                  <a:lnTo>
                    <a:pt x="0" y="5196839"/>
                  </a:lnTo>
                  <a:lnTo>
                    <a:pt x="0" y="0"/>
                  </a:lnTo>
                  <a:lnTo>
                    <a:pt x="5699759" y="0"/>
                  </a:lnTo>
                  <a:lnTo>
                    <a:pt x="5699759" y="5196839"/>
                  </a:lnTo>
                  <a:close/>
                </a:path>
              </a:pathLst>
            </a:custGeom>
            <a:solidFill>
              <a:srgbClr val="FFFFCC"/>
            </a:solidFill>
          </p:spPr>
          <p:txBody>
            <a:bodyPr wrap="square" lIns="0" tIns="0" rIns="0" bIns="0" rtlCol="0"/>
            <a:lstStyle/>
            <a:p>
              <a:endParaRPr/>
            </a:p>
          </p:txBody>
        </p:sp>
        <p:sp>
          <p:nvSpPr>
            <p:cNvPr id="7" name="object 7"/>
            <p:cNvSpPr/>
            <p:nvPr/>
          </p:nvSpPr>
          <p:spPr>
            <a:xfrm>
              <a:off x="3939539" y="1790700"/>
              <a:ext cx="5699760" cy="5196840"/>
            </a:xfrm>
            <a:custGeom>
              <a:avLst/>
              <a:gdLst/>
              <a:ahLst/>
              <a:cxnLst/>
              <a:rect l="l" t="t" r="r" b="b"/>
              <a:pathLst>
                <a:path w="5699759" h="5196840">
                  <a:moveTo>
                    <a:pt x="0" y="0"/>
                  </a:moveTo>
                  <a:lnTo>
                    <a:pt x="5699759" y="0"/>
                  </a:lnTo>
                  <a:lnTo>
                    <a:pt x="5699759" y="5196839"/>
                  </a:lnTo>
                  <a:lnTo>
                    <a:pt x="0" y="5196839"/>
                  </a:lnTo>
                  <a:lnTo>
                    <a:pt x="0" y="0"/>
                  </a:lnTo>
                  <a:close/>
                </a:path>
              </a:pathLst>
            </a:custGeom>
            <a:ln w="10668">
              <a:solidFill>
                <a:srgbClr val="000000"/>
              </a:solidFill>
            </a:ln>
          </p:spPr>
          <p:txBody>
            <a:bodyPr wrap="square" lIns="0" tIns="0" rIns="0" bIns="0" rtlCol="0"/>
            <a:lstStyle/>
            <a:p>
              <a:endParaRPr/>
            </a:p>
          </p:txBody>
        </p:sp>
      </p:grpSp>
      <p:sp>
        <p:nvSpPr>
          <p:cNvPr id="8" name="object 8"/>
          <p:cNvSpPr txBox="1">
            <a:spLocks noGrp="1"/>
          </p:cNvSpPr>
          <p:nvPr>
            <p:ph type="body" idx="1"/>
          </p:nvPr>
        </p:nvSpPr>
        <p:spPr>
          <a:prstGeom prst="rect">
            <a:avLst/>
          </a:prstGeom>
        </p:spPr>
        <p:txBody>
          <a:bodyPr vert="horz" wrap="square" lIns="0" tIns="26034" rIns="0" bIns="0" rtlCol="0">
            <a:spAutoFit/>
          </a:bodyPr>
          <a:lstStyle/>
          <a:p>
            <a:pPr marL="180340" marR="1007110" indent="-167640">
              <a:lnSpc>
                <a:spcPts val="3170"/>
              </a:lnSpc>
              <a:spcBef>
                <a:spcPts val="204"/>
              </a:spcBef>
              <a:buFont typeface="Arial MT"/>
              <a:buChar char="•"/>
              <a:tabLst>
                <a:tab pos="213995" algn="l"/>
              </a:tabLst>
            </a:pPr>
            <a:r>
              <a:rPr dirty="0"/>
              <a:t>	</a:t>
            </a:r>
            <a:r>
              <a:rPr spc="-10" dirty="0"/>
              <a:t>Combines </a:t>
            </a:r>
            <a:r>
              <a:rPr spc="-5" dirty="0"/>
              <a:t>the advantages of a </a:t>
            </a:r>
            <a:r>
              <a:rPr dirty="0"/>
              <a:t> </a:t>
            </a:r>
            <a:r>
              <a:rPr spc="-5" dirty="0"/>
              <a:t>partnership</a:t>
            </a:r>
            <a:r>
              <a:rPr spc="-25" dirty="0"/>
              <a:t> </a:t>
            </a:r>
            <a:r>
              <a:rPr spc="-10" dirty="0"/>
              <a:t>and</a:t>
            </a:r>
            <a:r>
              <a:rPr spc="-20" dirty="0"/>
              <a:t> </a:t>
            </a:r>
            <a:r>
              <a:rPr spc="-5" dirty="0"/>
              <a:t>a</a:t>
            </a:r>
            <a:r>
              <a:rPr spc="-30" dirty="0"/>
              <a:t> </a:t>
            </a:r>
            <a:r>
              <a:rPr spc="-10" dirty="0"/>
              <a:t>C corporation.</a:t>
            </a:r>
          </a:p>
          <a:p>
            <a:pPr marL="213360" indent="-201295">
              <a:lnSpc>
                <a:spcPts val="3055"/>
              </a:lnSpc>
              <a:buFont typeface="Arial MT"/>
              <a:buChar char="•"/>
              <a:tabLst>
                <a:tab pos="213995" algn="l"/>
              </a:tabLst>
            </a:pPr>
            <a:r>
              <a:rPr spc="-10" dirty="0"/>
              <a:t>Is</a:t>
            </a:r>
            <a:r>
              <a:rPr spc="-5" dirty="0"/>
              <a:t> similar</a:t>
            </a:r>
            <a:r>
              <a:rPr spc="-15" dirty="0"/>
              <a:t> </a:t>
            </a:r>
            <a:r>
              <a:rPr spc="-20" dirty="0"/>
              <a:t>to</a:t>
            </a:r>
            <a:r>
              <a:rPr spc="-5" dirty="0"/>
              <a:t> a</a:t>
            </a:r>
            <a:r>
              <a:rPr spc="-15" dirty="0"/>
              <a:t> </a:t>
            </a:r>
            <a:r>
              <a:rPr spc="-10" dirty="0"/>
              <a:t>partnership</a:t>
            </a:r>
            <a:r>
              <a:rPr spc="-5" dirty="0"/>
              <a:t> in </a:t>
            </a:r>
            <a:r>
              <a:rPr spc="-10" dirty="0"/>
              <a:t>that</a:t>
            </a:r>
            <a:r>
              <a:rPr spc="-25" dirty="0"/>
              <a:t> </a:t>
            </a:r>
            <a:r>
              <a:rPr spc="-15" dirty="0"/>
              <a:t>the</a:t>
            </a:r>
          </a:p>
          <a:p>
            <a:pPr marL="180340" marR="417830">
              <a:lnSpc>
                <a:spcPts val="3170"/>
              </a:lnSpc>
              <a:spcBef>
                <a:spcPts val="105"/>
              </a:spcBef>
            </a:pPr>
            <a:r>
              <a:rPr spc="-10" dirty="0"/>
              <a:t>income</a:t>
            </a:r>
            <a:r>
              <a:rPr spc="-20" dirty="0"/>
              <a:t> </a:t>
            </a:r>
            <a:r>
              <a:rPr spc="-5" dirty="0"/>
              <a:t>of</a:t>
            </a:r>
            <a:r>
              <a:rPr spc="-20" dirty="0"/>
              <a:t> </a:t>
            </a:r>
            <a:r>
              <a:rPr spc="-5" dirty="0"/>
              <a:t>the</a:t>
            </a:r>
            <a:r>
              <a:rPr spc="-20" dirty="0"/>
              <a:t> </a:t>
            </a:r>
            <a:r>
              <a:rPr spc="-5" dirty="0"/>
              <a:t>business</a:t>
            </a:r>
            <a:r>
              <a:rPr spc="-30" dirty="0"/>
              <a:t> </a:t>
            </a:r>
            <a:r>
              <a:rPr spc="-5" dirty="0"/>
              <a:t>is</a:t>
            </a:r>
            <a:r>
              <a:rPr spc="-10" dirty="0"/>
              <a:t> </a:t>
            </a:r>
            <a:r>
              <a:rPr spc="-5" dirty="0"/>
              <a:t>not</a:t>
            </a:r>
            <a:r>
              <a:rPr spc="-30" dirty="0"/>
              <a:t> </a:t>
            </a:r>
            <a:r>
              <a:rPr spc="-5" dirty="0"/>
              <a:t>subject </a:t>
            </a:r>
            <a:r>
              <a:rPr spc="-645" dirty="0"/>
              <a:t> </a:t>
            </a:r>
            <a:r>
              <a:rPr spc="-5" dirty="0"/>
              <a:t>to</a:t>
            </a:r>
            <a:r>
              <a:rPr spc="-10" dirty="0"/>
              <a:t> double</a:t>
            </a:r>
            <a:r>
              <a:rPr spc="10" dirty="0"/>
              <a:t> </a:t>
            </a:r>
            <a:r>
              <a:rPr spc="-10" dirty="0"/>
              <a:t>taxation.</a:t>
            </a:r>
          </a:p>
          <a:p>
            <a:pPr marL="213360" indent="-201295">
              <a:lnSpc>
                <a:spcPts val="3055"/>
              </a:lnSpc>
              <a:buFont typeface="Arial MT"/>
              <a:buChar char="•"/>
              <a:tabLst>
                <a:tab pos="213995" algn="l"/>
              </a:tabLst>
            </a:pPr>
            <a:r>
              <a:rPr spc="-10" dirty="0"/>
              <a:t>Is</a:t>
            </a:r>
            <a:r>
              <a:rPr spc="-5" dirty="0"/>
              <a:t> similar</a:t>
            </a:r>
            <a:r>
              <a:rPr spc="-15" dirty="0"/>
              <a:t> </a:t>
            </a:r>
            <a:r>
              <a:rPr spc="-20" dirty="0"/>
              <a:t>to</a:t>
            </a:r>
            <a:r>
              <a:rPr spc="-5" dirty="0"/>
              <a:t> a</a:t>
            </a:r>
            <a:r>
              <a:rPr spc="-15" dirty="0"/>
              <a:t> </a:t>
            </a:r>
            <a:r>
              <a:rPr spc="-10" dirty="0"/>
              <a:t>corporation</a:t>
            </a:r>
            <a:r>
              <a:rPr spc="-5" dirty="0"/>
              <a:t> in </a:t>
            </a:r>
            <a:r>
              <a:rPr spc="-10" dirty="0"/>
              <a:t>that</a:t>
            </a:r>
            <a:r>
              <a:rPr spc="-20" dirty="0"/>
              <a:t> </a:t>
            </a:r>
            <a:r>
              <a:rPr spc="-15" dirty="0"/>
              <a:t>the</a:t>
            </a:r>
          </a:p>
          <a:p>
            <a:pPr marL="180340" marR="553720">
              <a:lnSpc>
                <a:spcPts val="3170"/>
              </a:lnSpc>
              <a:spcBef>
                <a:spcPts val="110"/>
              </a:spcBef>
            </a:pPr>
            <a:r>
              <a:rPr spc="-10" dirty="0"/>
              <a:t>owners </a:t>
            </a:r>
            <a:r>
              <a:rPr spc="-5" dirty="0"/>
              <a:t>are not subject to </a:t>
            </a:r>
            <a:r>
              <a:rPr spc="-10" dirty="0"/>
              <a:t>personal </a:t>
            </a:r>
            <a:r>
              <a:rPr spc="-5" dirty="0"/>
              <a:t> </a:t>
            </a:r>
            <a:r>
              <a:rPr spc="-10" dirty="0"/>
              <a:t>liability</a:t>
            </a:r>
            <a:r>
              <a:rPr spc="-35" dirty="0"/>
              <a:t> </a:t>
            </a:r>
            <a:r>
              <a:rPr spc="-10" dirty="0"/>
              <a:t>for</a:t>
            </a:r>
            <a:r>
              <a:rPr spc="-15" dirty="0"/>
              <a:t> </a:t>
            </a:r>
            <a:r>
              <a:rPr spc="-5" dirty="0"/>
              <a:t>the</a:t>
            </a:r>
            <a:r>
              <a:rPr spc="10" dirty="0"/>
              <a:t> </a:t>
            </a:r>
            <a:r>
              <a:rPr spc="-10" dirty="0"/>
              <a:t>debts</a:t>
            </a:r>
            <a:r>
              <a:rPr spc="-5" dirty="0"/>
              <a:t> or</a:t>
            </a:r>
            <a:r>
              <a:rPr spc="-20" dirty="0"/>
              <a:t> </a:t>
            </a:r>
            <a:r>
              <a:rPr spc="-5" dirty="0"/>
              <a:t>behavior</a:t>
            </a:r>
            <a:r>
              <a:rPr spc="-40" dirty="0"/>
              <a:t> </a:t>
            </a:r>
            <a:r>
              <a:rPr spc="-5" dirty="0"/>
              <a:t>of </a:t>
            </a:r>
            <a:r>
              <a:rPr spc="-645" dirty="0"/>
              <a:t> </a:t>
            </a:r>
            <a:r>
              <a:rPr spc="-5" dirty="0"/>
              <a:t>the</a:t>
            </a:r>
            <a:r>
              <a:rPr spc="-20" dirty="0"/>
              <a:t> </a:t>
            </a:r>
            <a:r>
              <a:rPr spc="-10" dirty="0"/>
              <a:t>business.</a:t>
            </a:r>
          </a:p>
          <a:p>
            <a:pPr marL="194945" indent="-182880">
              <a:lnSpc>
                <a:spcPts val="3055"/>
              </a:lnSpc>
              <a:buFont typeface="Arial MT"/>
              <a:buChar char="•"/>
              <a:tabLst>
                <a:tab pos="195580" algn="l"/>
              </a:tabLst>
            </a:pPr>
            <a:r>
              <a:rPr spc="-10" dirty="0"/>
              <a:t>A</a:t>
            </a:r>
            <a:r>
              <a:rPr spc="-150" dirty="0"/>
              <a:t> </a:t>
            </a:r>
            <a:r>
              <a:rPr spc="-5" dirty="0"/>
              <a:t>Subchapter</a:t>
            </a:r>
            <a:r>
              <a:rPr spc="-45" dirty="0"/>
              <a:t> </a:t>
            </a:r>
            <a:r>
              <a:rPr spc="-10" dirty="0"/>
              <a:t>S</a:t>
            </a:r>
            <a:r>
              <a:rPr dirty="0"/>
              <a:t> </a:t>
            </a:r>
            <a:r>
              <a:rPr spc="-10" dirty="0"/>
              <a:t>Corporation </a:t>
            </a:r>
            <a:r>
              <a:rPr spc="-5" dirty="0"/>
              <a:t>does</a:t>
            </a:r>
            <a:r>
              <a:rPr spc="-35" dirty="0"/>
              <a:t> </a:t>
            </a:r>
            <a:r>
              <a:rPr spc="-5" dirty="0"/>
              <a:t>not</a:t>
            </a:r>
          </a:p>
          <a:p>
            <a:pPr marL="180340">
              <a:lnSpc>
                <a:spcPts val="3175"/>
              </a:lnSpc>
              <a:tabLst>
                <a:tab pos="1688464" algn="l"/>
              </a:tabLst>
            </a:pPr>
            <a:r>
              <a:rPr dirty="0"/>
              <a:t>pay</a:t>
            </a:r>
            <a:r>
              <a:rPr spc="-30" dirty="0"/>
              <a:t> </a:t>
            </a:r>
            <a:r>
              <a:rPr spc="-5" dirty="0"/>
              <a:t>taxes.	</a:t>
            </a:r>
            <a:r>
              <a:rPr spc="-10" dirty="0"/>
              <a:t>Profits</a:t>
            </a:r>
            <a:r>
              <a:rPr spc="-15" dirty="0"/>
              <a:t> </a:t>
            </a:r>
            <a:r>
              <a:rPr dirty="0"/>
              <a:t>and</a:t>
            </a:r>
            <a:r>
              <a:rPr spc="-40" dirty="0"/>
              <a:t> </a:t>
            </a:r>
            <a:r>
              <a:rPr spc="-5" dirty="0"/>
              <a:t>losses</a:t>
            </a:r>
            <a:r>
              <a:rPr spc="-20" dirty="0"/>
              <a:t> </a:t>
            </a:r>
            <a:r>
              <a:rPr spc="-15" dirty="0"/>
              <a:t>are</a:t>
            </a:r>
            <a:r>
              <a:rPr spc="-25" dirty="0"/>
              <a:t> </a:t>
            </a:r>
            <a:r>
              <a:rPr dirty="0"/>
              <a:t>passed</a:t>
            </a:r>
          </a:p>
        </p:txBody>
      </p:sp>
      <p:sp>
        <p:nvSpPr>
          <p:cNvPr id="9" name="object 9"/>
          <p:cNvSpPr txBox="1"/>
          <p:nvPr/>
        </p:nvSpPr>
        <p:spPr>
          <a:xfrm>
            <a:off x="4278823" y="6325703"/>
            <a:ext cx="5403850" cy="427990"/>
          </a:xfrm>
          <a:prstGeom prst="rect">
            <a:avLst/>
          </a:prstGeom>
        </p:spPr>
        <p:txBody>
          <a:bodyPr vert="horz" wrap="square" lIns="0" tIns="11430" rIns="0" bIns="0" rtlCol="0">
            <a:spAutoFit/>
          </a:bodyPr>
          <a:lstStyle/>
          <a:p>
            <a:pPr marL="12700">
              <a:lnSpc>
                <a:spcPct val="100000"/>
              </a:lnSpc>
              <a:spcBef>
                <a:spcPts val="90"/>
              </a:spcBef>
            </a:pPr>
            <a:r>
              <a:rPr sz="2650" spc="-10" dirty="0">
                <a:latin typeface="Times New Roman"/>
                <a:cs typeface="Times New Roman"/>
              </a:rPr>
              <a:t>through</a:t>
            </a:r>
            <a:r>
              <a:rPr sz="2650" spc="-5" dirty="0">
                <a:latin typeface="Times New Roman"/>
                <a:cs typeface="Times New Roman"/>
              </a:rPr>
              <a:t> to </a:t>
            </a:r>
            <a:r>
              <a:rPr sz="2650" spc="-15" dirty="0">
                <a:latin typeface="Times New Roman"/>
                <a:cs typeface="Times New Roman"/>
              </a:rPr>
              <a:t>the </a:t>
            </a:r>
            <a:r>
              <a:rPr sz="2650" dirty="0">
                <a:latin typeface="Times New Roman"/>
                <a:cs typeface="Times New Roman"/>
              </a:rPr>
              <a:t>tax</a:t>
            </a:r>
            <a:r>
              <a:rPr sz="2650" spc="-30" dirty="0">
                <a:latin typeface="Times New Roman"/>
                <a:cs typeface="Times New Roman"/>
              </a:rPr>
              <a:t> </a:t>
            </a:r>
            <a:r>
              <a:rPr sz="2650" spc="-5" dirty="0">
                <a:latin typeface="Times New Roman"/>
                <a:cs typeface="Times New Roman"/>
              </a:rPr>
              <a:t>returns of</a:t>
            </a:r>
            <a:r>
              <a:rPr sz="2650" spc="-10"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10" dirty="0">
                <a:latin typeface="Times New Roman"/>
                <a:cs typeface="Times New Roman"/>
              </a:rPr>
              <a:t>owners.</a:t>
            </a:r>
            <a:endParaRPr sz="2650">
              <a:latin typeface="Times New Roman"/>
              <a:cs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8049" rIns="0" bIns="0" rtlCol="0">
            <a:spAutoFit/>
          </a:bodyPr>
          <a:lstStyle/>
          <a:p>
            <a:pPr algn="ctr">
              <a:lnSpc>
                <a:spcPct val="100000"/>
              </a:lnSpc>
              <a:spcBef>
                <a:spcPts val="110"/>
              </a:spcBef>
            </a:pPr>
            <a:r>
              <a:rPr dirty="0"/>
              <a:t>Subchapter</a:t>
            </a:r>
            <a:r>
              <a:rPr spc="-15" dirty="0"/>
              <a:t> </a:t>
            </a:r>
            <a:r>
              <a:rPr spc="5" dirty="0"/>
              <a:t>S</a:t>
            </a:r>
            <a:r>
              <a:rPr spc="-65" dirty="0"/>
              <a:t> </a:t>
            </a:r>
            <a:r>
              <a:rPr spc="5" dirty="0"/>
              <a:t>Corporations</a:t>
            </a:r>
          </a:p>
          <a:p>
            <a:pPr algn="ctr">
              <a:lnSpc>
                <a:spcPct val="100000"/>
              </a:lnSpc>
              <a:spcBef>
                <a:spcPts val="55"/>
              </a:spcBef>
            </a:pPr>
            <a:r>
              <a:rPr sz="2200" spc="-5" dirty="0"/>
              <a:t>2</a:t>
            </a:r>
            <a:r>
              <a:rPr sz="2200" spc="-35" dirty="0"/>
              <a:t> </a:t>
            </a:r>
            <a:r>
              <a:rPr sz="2200" spc="-5" dirty="0"/>
              <a:t>of</a:t>
            </a:r>
            <a:r>
              <a:rPr sz="2200" spc="-15" dirty="0"/>
              <a:t> </a:t>
            </a:r>
            <a:r>
              <a:rPr sz="2200" spc="-5" dirty="0"/>
              <a:t>2</a:t>
            </a:r>
            <a:endParaRPr sz="2200"/>
          </a:p>
        </p:txBody>
      </p:sp>
      <p:sp>
        <p:nvSpPr>
          <p:cNvPr id="3" name="object 3"/>
          <p:cNvSpPr/>
          <p:nvPr/>
        </p:nvSpPr>
        <p:spPr>
          <a:xfrm>
            <a:off x="0" y="13716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567634"/>
            <a:ext cx="9128125" cy="4810760"/>
          </a:xfrm>
          <a:prstGeom prst="rect">
            <a:avLst/>
          </a:prstGeom>
        </p:spPr>
        <p:txBody>
          <a:bodyPr vert="horz" wrap="square" lIns="0" tIns="11430" rIns="0" bIns="0" rtlCol="0">
            <a:spAutoFit/>
          </a:bodyPr>
          <a:lstStyle/>
          <a:p>
            <a:pPr marL="1173480" marR="1153795" indent="-850900">
              <a:lnSpc>
                <a:spcPct val="101600"/>
              </a:lnSpc>
              <a:spcBef>
                <a:spcPts val="90"/>
              </a:spcBef>
            </a:pPr>
            <a:r>
              <a:rPr sz="1950" u="sng" spc="10" dirty="0">
                <a:uFill>
                  <a:solidFill>
                    <a:srgbClr val="000000"/>
                  </a:solidFill>
                </a:uFill>
                <a:latin typeface="Times New Roman"/>
                <a:cs typeface="Times New Roman"/>
              </a:rPr>
              <a:t>There</a:t>
            </a:r>
            <a:r>
              <a:rPr sz="1950" u="sng" spc="-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are</a:t>
            </a:r>
            <a:r>
              <a:rPr sz="1950" u="sng"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strict</a:t>
            </a:r>
            <a:r>
              <a:rPr sz="1950" u="sng" spc="-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standards</a:t>
            </a:r>
            <a:r>
              <a:rPr sz="1950" u="sng" spc="-10"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that</a:t>
            </a:r>
            <a:r>
              <a:rPr sz="1950" u="sng" spc="-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a</a:t>
            </a:r>
            <a:r>
              <a:rPr sz="1950" u="sng" spc="1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business </a:t>
            </a:r>
            <a:r>
              <a:rPr sz="1950" u="sng" dirty="0">
                <a:uFill>
                  <a:solidFill>
                    <a:srgbClr val="000000"/>
                  </a:solidFill>
                </a:uFill>
                <a:latin typeface="Times New Roman"/>
                <a:cs typeface="Times New Roman"/>
              </a:rPr>
              <a:t>must</a:t>
            </a:r>
            <a:r>
              <a:rPr sz="1950" u="sng" spc="35" dirty="0">
                <a:uFill>
                  <a:solidFill>
                    <a:srgbClr val="000000"/>
                  </a:solidFill>
                </a:uFill>
                <a:latin typeface="Times New Roman"/>
                <a:cs typeface="Times New Roman"/>
              </a:rPr>
              <a:t> </a:t>
            </a:r>
            <a:r>
              <a:rPr sz="1950" u="sng" dirty="0">
                <a:uFill>
                  <a:solidFill>
                    <a:srgbClr val="000000"/>
                  </a:solidFill>
                </a:uFill>
                <a:latin typeface="Times New Roman"/>
                <a:cs typeface="Times New Roman"/>
              </a:rPr>
              <a:t>meet</a:t>
            </a:r>
            <a:r>
              <a:rPr sz="1950" u="sng" spc="55" dirty="0">
                <a:uFill>
                  <a:solidFill>
                    <a:srgbClr val="000000"/>
                  </a:solidFill>
                </a:uFill>
                <a:latin typeface="Times New Roman"/>
                <a:cs typeface="Times New Roman"/>
              </a:rPr>
              <a:t> </a:t>
            </a:r>
            <a:r>
              <a:rPr sz="1950" u="sng" dirty="0">
                <a:uFill>
                  <a:solidFill>
                    <a:srgbClr val="000000"/>
                  </a:solidFill>
                </a:uFill>
                <a:latin typeface="Times New Roman"/>
                <a:cs typeface="Times New Roman"/>
              </a:rPr>
              <a:t>to</a:t>
            </a:r>
            <a:r>
              <a:rPr sz="1950" u="sng" spc="30"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qualify</a:t>
            </a:r>
            <a:r>
              <a:rPr sz="1950" u="sng" spc="-10" dirty="0">
                <a:uFill>
                  <a:solidFill>
                    <a:srgbClr val="000000"/>
                  </a:solidFill>
                </a:uFill>
                <a:latin typeface="Times New Roman"/>
                <a:cs typeface="Times New Roman"/>
              </a:rPr>
              <a:t> </a:t>
            </a:r>
            <a:r>
              <a:rPr sz="1950" u="sng" spc="5" dirty="0">
                <a:uFill>
                  <a:solidFill>
                    <a:srgbClr val="000000"/>
                  </a:solidFill>
                </a:uFill>
                <a:latin typeface="Times New Roman"/>
                <a:cs typeface="Times New Roman"/>
              </a:rPr>
              <a:t>for status</a:t>
            </a:r>
            <a:r>
              <a:rPr sz="1950" u="sng" spc="10" dirty="0">
                <a:uFill>
                  <a:solidFill>
                    <a:srgbClr val="000000"/>
                  </a:solidFill>
                </a:uFill>
                <a:latin typeface="Times New Roman"/>
                <a:cs typeface="Times New Roman"/>
              </a:rPr>
              <a:t> </a:t>
            </a:r>
            <a:r>
              <a:rPr sz="1950" u="sng" spc="5" dirty="0">
                <a:uFill>
                  <a:solidFill>
                    <a:srgbClr val="000000"/>
                  </a:solidFill>
                </a:uFill>
                <a:latin typeface="Times New Roman"/>
                <a:cs typeface="Times New Roman"/>
              </a:rPr>
              <a:t>as</a:t>
            </a:r>
            <a:r>
              <a:rPr sz="1950" u="sng" spc="2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a </a:t>
            </a:r>
            <a:r>
              <a:rPr sz="1950" spc="-470" dirty="0">
                <a:latin typeface="Times New Roman"/>
                <a:cs typeface="Times New Roman"/>
              </a:rPr>
              <a:t> </a:t>
            </a:r>
            <a:r>
              <a:rPr sz="1950" u="sng" spc="10" dirty="0">
                <a:uFill>
                  <a:solidFill>
                    <a:srgbClr val="000000"/>
                  </a:solidFill>
                </a:uFill>
                <a:latin typeface="Times New Roman"/>
                <a:cs typeface="Times New Roman"/>
              </a:rPr>
              <a:t>subchapter</a:t>
            </a:r>
            <a:r>
              <a:rPr sz="1950" u="sng" spc="-20" dirty="0">
                <a:uFill>
                  <a:solidFill>
                    <a:srgbClr val="000000"/>
                  </a:solidFill>
                </a:uFill>
                <a:latin typeface="Times New Roman"/>
                <a:cs typeface="Times New Roman"/>
              </a:rPr>
              <a:t> </a:t>
            </a:r>
            <a:r>
              <a:rPr sz="1950" u="sng" spc="15" dirty="0">
                <a:uFill>
                  <a:solidFill>
                    <a:srgbClr val="000000"/>
                  </a:solidFill>
                </a:uFill>
                <a:latin typeface="Times New Roman"/>
                <a:cs typeface="Times New Roman"/>
              </a:rPr>
              <a:t>S </a:t>
            </a:r>
            <a:r>
              <a:rPr sz="1950" u="sng" spc="10" dirty="0">
                <a:uFill>
                  <a:solidFill>
                    <a:srgbClr val="000000"/>
                  </a:solidFill>
                </a:uFill>
                <a:latin typeface="Times New Roman"/>
                <a:cs typeface="Times New Roman"/>
              </a:rPr>
              <a:t>corporation.</a:t>
            </a:r>
            <a:r>
              <a:rPr sz="1950" u="sng" spc="445" dirty="0">
                <a:uFill>
                  <a:solidFill>
                    <a:srgbClr val="000000"/>
                  </a:solidFill>
                </a:uFill>
                <a:latin typeface="Times New Roman"/>
                <a:cs typeface="Times New Roman"/>
              </a:rPr>
              <a:t> </a:t>
            </a:r>
            <a:r>
              <a:rPr sz="1950" u="sng" spc="20" dirty="0">
                <a:uFill>
                  <a:solidFill>
                    <a:srgbClr val="000000"/>
                  </a:solidFill>
                </a:uFill>
                <a:latin typeface="Times New Roman"/>
                <a:cs typeface="Times New Roman"/>
              </a:rPr>
              <a:t>The</a:t>
            </a:r>
            <a:r>
              <a:rPr sz="1950" u="sng" spc="-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standards</a:t>
            </a:r>
            <a:r>
              <a:rPr sz="1950" u="sng" spc="-10"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are</a:t>
            </a:r>
            <a:r>
              <a:rPr sz="1950" u="sng" spc="1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shown</a:t>
            </a:r>
            <a:r>
              <a:rPr sz="1950" u="sng" spc="5" dirty="0">
                <a:uFill>
                  <a:solidFill>
                    <a:srgbClr val="000000"/>
                  </a:solidFill>
                </a:uFill>
                <a:latin typeface="Times New Roman"/>
                <a:cs typeface="Times New Roman"/>
              </a:rPr>
              <a:t> </a:t>
            </a:r>
            <a:r>
              <a:rPr sz="1950" u="sng" spc="10" dirty="0">
                <a:uFill>
                  <a:solidFill>
                    <a:srgbClr val="000000"/>
                  </a:solidFill>
                </a:uFill>
                <a:latin typeface="Times New Roman"/>
                <a:cs typeface="Times New Roman"/>
              </a:rPr>
              <a:t>below</a:t>
            </a:r>
            <a:r>
              <a:rPr sz="1950" spc="10" dirty="0">
                <a:latin typeface="Times New Roman"/>
                <a:cs typeface="Times New Roman"/>
              </a:rPr>
              <a:t>:</a:t>
            </a:r>
            <a:endParaRPr sz="1950">
              <a:latin typeface="Times New Roman"/>
              <a:cs typeface="Times New Roman"/>
            </a:endParaRPr>
          </a:p>
          <a:p>
            <a:pPr marL="205740" indent="-193675">
              <a:lnSpc>
                <a:spcPct val="100000"/>
              </a:lnSpc>
              <a:spcBef>
                <a:spcPts val="1780"/>
              </a:spcBef>
              <a:buFont typeface="Wingdings"/>
              <a:buChar char=""/>
              <a:tabLst>
                <a:tab pos="206375" algn="l"/>
              </a:tabLst>
            </a:pP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business</a:t>
            </a:r>
            <a:r>
              <a:rPr sz="2200" spc="-25" dirty="0">
                <a:latin typeface="Times New Roman"/>
                <a:cs typeface="Times New Roman"/>
              </a:rPr>
              <a:t> </a:t>
            </a:r>
            <a:r>
              <a:rPr sz="2200" dirty="0">
                <a:latin typeface="Times New Roman"/>
                <a:cs typeface="Times New Roman"/>
              </a:rPr>
              <a:t>cannot</a:t>
            </a:r>
            <a:r>
              <a:rPr sz="2200" spc="-15" dirty="0">
                <a:latin typeface="Times New Roman"/>
                <a:cs typeface="Times New Roman"/>
              </a:rPr>
              <a:t> </a:t>
            </a:r>
            <a:r>
              <a:rPr sz="2200" spc="-5" dirty="0">
                <a:latin typeface="Times New Roman"/>
                <a:cs typeface="Times New Roman"/>
              </a:rPr>
              <a:t>be</a:t>
            </a:r>
            <a:r>
              <a:rPr sz="2200" spc="1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subsidiary</a:t>
            </a:r>
            <a:r>
              <a:rPr sz="2200" spc="-20"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dirty="0">
                <a:latin typeface="Times New Roman"/>
                <a:cs typeface="Times New Roman"/>
              </a:rPr>
              <a:t>another</a:t>
            </a:r>
            <a:r>
              <a:rPr sz="2200" spc="-5" dirty="0">
                <a:latin typeface="Times New Roman"/>
                <a:cs typeface="Times New Roman"/>
              </a:rPr>
              <a:t> corporation.</a:t>
            </a:r>
            <a:endParaRPr sz="2200">
              <a:latin typeface="Times New Roman"/>
              <a:cs typeface="Times New Roman"/>
            </a:endParaRPr>
          </a:p>
          <a:p>
            <a:pPr marL="206375" marR="5080" indent="-206375">
              <a:lnSpc>
                <a:spcPct val="120000"/>
              </a:lnSpc>
              <a:buFont typeface="Wingdings"/>
              <a:buChar char=""/>
              <a:tabLst>
                <a:tab pos="206375" algn="l"/>
              </a:tabLst>
            </a:pPr>
            <a:r>
              <a:rPr sz="2200" spc="-5" dirty="0">
                <a:latin typeface="Times New Roman"/>
                <a:cs typeface="Times New Roman"/>
              </a:rPr>
              <a:t>The</a:t>
            </a:r>
            <a:r>
              <a:rPr sz="2200" spc="15" dirty="0">
                <a:latin typeface="Times New Roman"/>
                <a:cs typeface="Times New Roman"/>
              </a:rPr>
              <a:t> </a:t>
            </a:r>
            <a:r>
              <a:rPr sz="2200" spc="-5" dirty="0">
                <a:latin typeface="Times New Roman"/>
                <a:cs typeface="Times New Roman"/>
              </a:rPr>
              <a:t>shareholders</a:t>
            </a:r>
            <a:r>
              <a:rPr sz="2200" spc="-15" dirty="0">
                <a:latin typeface="Times New Roman"/>
                <a:cs typeface="Times New Roman"/>
              </a:rPr>
              <a:t> </a:t>
            </a:r>
            <a:r>
              <a:rPr sz="2200" spc="-10" dirty="0">
                <a:latin typeface="Times New Roman"/>
                <a:cs typeface="Times New Roman"/>
              </a:rPr>
              <a:t>must</a:t>
            </a:r>
            <a:r>
              <a:rPr sz="2200" spc="5" dirty="0">
                <a:latin typeface="Times New Roman"/>
                <a:cs typeface="Times New Roman"/>
              </a:rPr>
              <a:t> </a:t>
            </a:r>
            <a:r>
              <a:rPr sz="2200" spc="-5" dirty="0">
                <a:latin typeface="Times New Roman"/>
                <a:cs typeface="Times New Roman"/>
              </a:rPr>
              <a:t>be</a:t>
            </a:r>
            <a:r>
              <a:rPr sz="2200" spc="20" dirty="0">
                <a:latin typeface="Times New Roman"/>
                <a:cs typeface="Times New Roman"/>
              </a:rPr>
              <a:t> </a:t>
            </a:r>
            <a:r>
              <a:rPr sz="2200" spc="-5" dirty="0">
                <a:latin typeface="Times New Roman"/>
                <a:cs typeface="Times New Roman"/>
              </a:rPr>
              <a:t>U.S.</a:t>
            </a:r>
            <a:r>
              <a:rPr sz="2200" spc="5" dirty="0">
                <a:latin typeface="Times New Roman"/>
                <a:cs typeface="Times New Roman"/>
              </a:rPr>
              <a:t> </a:t>
            </a:r>
            <a:r>
              <a:rPr sz="2200" spc="-10" dirty="0">
                <a:latin typeface="Times New Roman"/>
                <a:cs typeface="Times New Roman"/>
              </a:rPr>
              <a:t>citizens.</a:t>
            </a:r>
            <a:r>
              <a:rPr sz="2200" spc="5" dirty="0">
                <a:latin typeface="Times New Roman"/>
                <a:cs typeface="Times New Roman"/>
              </a:rPr>
              <a:t> </a:t>
            </a:r>
            <a:r>
              <a:rPr sz="2200" spc="-5" dirty="0">
                <a:latin typeface="Times New Roman"/>
                <a:cs typeface="Times New Roman"/>
              </a:rPr>
              <a:t>Partnerships</a:t>
            </a:r>
            <a:r>
              <a:rPr sz="2200" spc="-40" dirty="0">
                <a:latin typeface="Times New Roman"/>
                <a:cs typeface="Times New Roman"/>
              </a:rPr>
              <a:t> </a:t>
            </a:r>
            <a:r>
              <a:rPr sz="2200" dirty="0">
                <a:latin typeface="Times New Roman"/>
                <a:cs typeface="Times New Roman"/>
              </a:rPr>
              <a:t>and</a:t>
            </a:r>
            <a:r>
              <a:rPr sz="2200" spc="5" dirty="0">
                <a:latin typeface="Times New Roman"/>
                <a:cs typeface="Times New Roman"/>
              </a:rPr>
              <a:t> </a:t>
            </a:r>
            <a:r>
              <a:rPr sz="2200" spc="-5" dirty="0">
                <a:latin typeface="Times New Roman"/>
                <a:cs typeface="Times New Roman"/>
              </a:rPr>
              <a:t>C</a:t>
            </a:r>
            <a:r>
              <a:rPr sz="2200" spc="10" dirty="0">
                <a:latin typeface="Times New Roman"/>
                <a:cs typeface="Times New Roman"/>
              </a:rPr>
              <a:t> </a:t>
            </a:r>
            <a:r>
              <a:rPr sz="2200" spc="-5" dirty="0">
                <a:latin typeface="Times New Roman"/>
                <a:cs typeface="Times New Roman"/>
              </a:rPr>
              <a:t>corporations</a:t>
            </a:r>
            <a:r>
              <a:rPr sz="2200" spc="-15" dirty="0">
                <a:latin typeface="Times New Roman"/>
                <a:cs typeface="Times New Roman"/>
              </a:rPr>
              <a:t> may </a:t>
            </a:r>
            <a:r>
              <a:rPr sz="2200" spc="-10" dirty="0">
                <a:latin typeface="Times New Roman"/>
                <a:cs typeface="Times New Roman"/>
              </a:rPr>
              <a:t> </a:t>
            </a:r>
            <a:r>
              <a:rPr sz="2200" spc="5" dirty="0">
                <a:latin typeface="Times New Roman"/>
                <a:cs typeface="Times New Roman"/>
              </a:rPr>
              <a:t>not </a:t>
            </a:r>
            <a:r>
              <a:rPr sz="2200" spc="-5" dirty="0">
                <a:latin typeface="Times New Roman"/>
                <a:cs typeface="Times New Roman"/>
              </a:rPr>
              <a:t>own shares in a subchapter S corporation. </a:t>
            </a:r>
            <a:r>
              <a:rPr sz="2200" spc="-10" dirty="0">
                <a:latin typeface="Times New Roman"/>
                <a:cs typeface="Times New Roman"/>
              </a:rPr>
              <a:t>Certain </a:t>
            </a:r>
            <a:r>
              <a:rPr sz="2200" dirty="0">
                <a:latin typeface="Times New Roman"/>
                <a:cs typeface="Times New Roman"/>
              </a:rPr>
              <a:t>types </a:t>
            </a:r>
            <a:r>
              <a:rPr sz="2200" spc="5" dirty="0">
                <a:latin typeface="Times New Roman"/>
                <a:cs typeface="Times New Roman"/>
              </a:rPr>
              <a:t>of </a:t>
            </a:r>
            <a:r>
              <a:rPr sz="2200" dirty="0">
                <a:latin typeface="Times New Roman"/>
                <a:cs typeface="Times New Roman"/>
              </a:rPr>
              <a:t>trusts and </a:t>
            </a:r>
            <a:r>
              <a:rPr sz="2200" spc="-5" dirty="0">
                <a:latin typeface="Times New Roman"/>
                <a:cs typeface="Times New Roman"/>
              </a:rPr>
              <a:t>estates </a:t>
            </a:r>
            <a:r>
              <a:rPr sz="2200" spc="-535" dirty="0">
                <a:latin typeface="Times New Roman"/>
                <a:cs typeface="Times New Roman"/>
              </a:rPr>
              <a:t> </a:t>
            </a:r>
            <a:r>
              <a:rPr sz="2200" dirty="0">
                <a:latin typeface="Times New Roman"/>
                <a:cs typeface="Times New Roman"/>
              </a:rPr>
              <a:t>are</a:t>
            </a:r>
            <a:r>
              <a:rPr sz="2200" spc="10" dirty="0">
                <a:latin typeface="Times New Roman"/>
                <a:cs typeface="Times New Roman"/>
              </a:rPr>
              <a:t> </a:t>
            </a:r>
            <a:r>
              <a:rPr sz="2200" spc="-5" dirty="0">
                <a:latin typeface="Times New Roman"/>
                <a:cs typeface="Times New Roman"/>
              </a:rPr>
              <a:t>eligible</a:t>
            </a:r>
            <a:r>
              <a:rPr sz="2200" spc="-35" dirty="0">
                <a:latin typeface="Times New Roman"/>
                <a:cs typeface="Times New Roman"/>
              </a:rPr>
              <a:t> </a:t>
            </a:r>
            <a:r>
              <a:rPr sz="2200" spc="-15" dirty="0">
                <a:latin typeface="Times New Roman"/>
                <a:cs typeface="Times New Roman"/>
              </a:rPr>
              <a:t>to</a:t>
            </a:r>
            <a:r>
              <a:rPr sz="2200" spc="-5" dirty="0">
                <a:latin typeface="Times New Roman"/>
                <a:cs typeface="Times New Roman"/>
              </a:rPr>
              <a:t> </a:t>
            </a:r>
            <a:r>
              <a:rPr sz="2200" dirty="0">
                <a:latin typeface="Times New Roman"/>
                <a:cs typeface="Times New Roman"/>
              </a:rPr>
              <a:t>own</a:t>
            </a:r>
            <a:r>
              <a:rPr sz="2200" spc="-5" dirty="0">
                <a:latin typeface="Times New Roman"/>
                <a:cs typeface="Times New Roman"/>
              </a:rPr>
              <a:t> shares</a:t>
            </a:r>
            <a:r>
              <a:rPr sz="2200" dirty="0">
                <a:latin typeface="Times New Roman"/>
                <a:cs typeface="Times New Roman"/>
              </a:rPr>
              <a:t> </a:t>
            </a:r>
            <a:r>
              <a:rPr sz="2200" spc="-5" dirty="0">
                <a:latin typeface="Times New Roman"/>
                <a:cs typeface="Times New Roman"/>
              </a:rPr>
              <a:t>in a</a:t>
            </a:r>
            <a:r>
              <a:rPr sz="2200" spc="-10" dirty="0">
                <a:latin typeface="Times New Roman"/>
                <a:cs typeface="Times New Roman"/>
              </a:rPr>
              <a:t> </a:t>
            </a:r>
            <a:r>
              <a:rPr sz="2200" spc="-5" dirty="0">
                <a:latin typeface="Times New Roman"/>
                <a:cs typeface="Times New Roman"/>
              </a:rPr>
              <a:t>subchapter</a:t>
            </a:r>
            <a:r>
              <a:rPr sz="2200" spc="-10" dirty="0">
                <a:latin typeface="Times New Roman"/>
                <a:cs typeface="Times New Roman"/>
              </a:rPr>
              <a:t> </a:t>
            </a:r>
            <a:r>
              <a:rPr sz="2200" spc="-5" dirty="0">
                <a:latin typeface="Times New Roman"/>
                <a:cs typeface="Times New Roman"/>
              </a:rPr>
              <a:t>S</a:t>
            </a:r>
            <a:r>
              <a:rPr sz="2200" spc="-15" dirty="0">
                <a:latin typeface="Times New Roman"/>
                <a:cs typeface="Times New Roman"/>
              </a:rPr>
              <a:t> </a:t>
            </a:r>
            <a:r>
              <a:rPr sz="2200" dirty="0">
                <a:latin typeface="Times New Roman"/>
                <a:cs typeface="Times New Roman"/>
              </a:rPr>
              <a:t>corporation.</a:t>
            </a:r>
            <a:endParaRPr sz="2200">
              <a:latin typeface="Times New Roman"/>
              <a:cs typeface="Times New Roman"/>
            </a:endParaRPr>
          </a:p>
          <a:p>
            <a:pPr marL="220979" marR="575945" indent="-208915">
              <a:lnSpc>
                <a:spcPct val="120000"/>
              </a:lnSpc>
              <a:buFont typeface="Wingdings"/>
              <a:buChar char=""/>
              <a:tabLst>
                <a:tab pos="211454" algn="l"/>
              </a:tabLst>
            </a:pPr>
            <a:r>
              <a:rPr sz="2200" spc="-10" dirty="0">
                <a:latin typeface="Times New Roman"/>
                <a:cs typeface="Times New Roman"/>
              </a:rPr>
              <a:t>It</a:t>
            </a:r>
            <a:r>
              <a:rPr sz="2200" spc="5" dirty="0">
                <a:latin typeface="Times New Roman"/>
                <a:cs typeface="Times New Roman"/>
              </a:rPr>
              <a:t> </a:t>
            </a:r>
            <a:r>
              <a:rPr sz="2200" spc="-10" dirty="0">
                <a:latin typeface="Times New Roman"/>
                <a:cs typeface="Times New Roman"/>
              </a:rPr>
              <a:t>can</a:t>
            </a:r>
            <a:r>
              <a:rPr sz="2200" spc="25" dirty="0">
                <a:latin typeface="Times New Roman"/>
                <a:cs typeface="Times New Roman"/>
              </a:rPr>
              <a:t> </a:t>
            </a:r>
            <a:r>
              <a:rPr sz="2200" spc="-5" dirty="0">
                <a:latin typeface="Times New Roman"/>
                <a:cs typeface="Times New Roman"/>
              </a:rPr>
              <a:t>only</a:t>
            </a:r>
            <a:r>
              <a:rPr sz="2200" spc="-20" dirty="0">
                <a:latin typeface="Times New Roman"/>
                <a:cs typeface="Times New Roman"/>
              </a:rPr>
              <a:t> </a:t>
            </a:r>
            <a:r>
              <a:rPr sz="2200" dirty="0">
                <a:latin typeface="Times New Roman"/>
                <a:cs typeface="Times New Roman"/>
              </a:rPr>
              <a:t>have</a:t>
            </a:r>
            <a:r>
              <a:rPr sz="2200" spc="15" dirty="0">
                <a:latin typeface="Times New Roman"/>
                <a:cs typeface="Times New Roman"/>
              </a:rPr>
              <a:t> </a:t>
            </a:r>
            <a:r>
              <a:rPr sz="2200" spc="-5" dirty="0">
                <a:latin typeface="Times New Roman"/>
                <a:cs typeface="Times New Roman"/>
              </a:rPr>
              <a:t>one</a:t>
            </a:r>
            <a:r>
              <a:rPr sz="2200" spc="15" dirty="0">
                <a:latin typeface="Times New Roman"/>
                <a:cs typeface="Times New Roman"/>
              </a:rPr>
              <a:t> </a:t>
            </a:r>
            <a:r>
              <a:rPr sz="2200" spc="-10" dirty="0">
                <a:latin typeface="Times New Roman"/>
                <a:cs typeface="Times New Roman"/>
              </a:rPr>
              <a:t>class</a:t>
            </a:r>
            <a:r>
              <a:rPr sz="2200" spc="5" dirty="0">
                <a:latin typeface="Times New Roman"/>
                <a:cs typeface="Times New Roman"/>
              </a:rPr>
              <a:t> </a:t>
            </a:r>
            <a:r>
              <a:rPr sz="2200" spc="-5" dirty="0">
                <a:latin typeface="Times New Roman"/>
                <a:cs typeface="Times New Roman"/>
              </a:rPr>
              <a:t>of stock</a:t>
            </a:r>
            <a:r>
              <a:rPr sz="2200" dirty="0">
                <a:latin typeface="Times New Roman"/>
                <a:cs typeface="Times New Roman"/>
              </a:rPr>
              <a:t> </a:t>
            </a:r>
            <a:r>
              <a:rPr sz="2200" spc="-5" dirty="0">
                <a:latin typeface="Times New Roman"/>
                <a:cs typeface="Times New Roman"/>
              </a:rPr>
              <a:t>issued</a:t>
            </a:r>
            <a:r>
              <a:rPr sz="2200" dirty="0">
                <a:latin typeface="Times New Roman"/>
                <a:cs typeface="Times New Roman"/>
              </a:rPr>
              <a:t> </a:t>
            </a:r>
            <a:r>
              <a:rPr sz="2200" spc="-10" dirty="0">
                <a:latin typeface="Times New Roman"/>
                <a:cs typeface="Times New Roman"/>
              </a:rPr>
              <a:t>and</a:t>
            </a:r>
            <a:r>
              <a:rPr sz="2200" spc="5" dirty="0">
                <a:latin typeface="Times New Roman"/>
                <a:cs typeface="Times New Roman"/>
              </a:rPr>
              <a:t> </a:t>
            </a:r>
            <a:r>
              <a:rPr sz="2200" spc="-5" dirty="0">
                <a:latin typeface="Times New Roman"/>
                <a:cs typeface="Times New Roman"/>
              </a:rPr>
              <a:t>outstanding</a:t>
            </a:r>
            <a:r>
              <a:rPr sz="2200" spc="-20" dirty="0">
                <a:latin typeface="Times New Roman"/>
                <a:cs typeface="Times New Roman"/>
              </a:rPr>
              <a:t> </a:t>
            </a:r>
            <a:r>
              <a:rPr sz="2200" spc="-5" dirty="0">
                <a:latin typeface="Times New Roman"/>
                <a:cs typeface="Times New Roman"/>
              </a:rPr>
              <a:t>(either</a:t>
            </a:r>
            <a:r>
              <a:rPr sz="2200" spc="-25" dirty="0">
                <a:latin typeface="Times New Roman"/>
                <a:cs typeface="Times New Roman"/>
              </a:rPr>
              <a:t> </a:t>
            </a:r>
            <a:r>
              <a:rPr sz="2200" spc="-5" dirty="0">
                <a:latin typeface="Times New Roman"/>
                <a:cs typeface="Times New Roman"/>
              </a:rPr>
              <a:t>preferred </a:t>
            </a:r>
            <a:r>
              <a:rPr sz="2200" spc="-535" dirty="0">
                <a:latin typeface="Times New Roman"/>
                <a:cs typeface="Times New Roman"/>
              </a:rPr>
              <a:t> </a:t>
            </a:r>
            <a:r>
              <a:rPr sz="2200" spc="-5" dirty="0">
                <a:latin typeface="Times New Roman"/>
                <a:cs typeface="Times New Roman"/>
              </a:rPr>
              <a:t>stock</a:t>
            </a:r>
            <a:r>
              <a:rPr sz="2200" spc="-10" dirty="0">
                <a:latin typeface="Times New Roman"/>
                <a:cs typeface="Times New Roman"/>
              </a:rPr>
              <a:t> </a:t>
            </a:r>
            <a:r>
              <a:rPr sz="2200" spc="-5" dirty="0">
                <a:latin typeface="Times New Roman"/>
                <a:cs typeface="Times New Roman"/>
              </a:rPr>
              <a:t>or</a:t>
            </a:r>
            <a:r>
              <a:rPr sz="2200" spc="10" dirty="0">
                <a:latin typeface="Times New Roman"/>
                <a:cs typeface="Times New Roman"/>
              </a:rPr>
              <a:t> </a:t>
            </a:r>
            <a:r>
              <a:rPr sz="2200" spc="-10" dirty="0">
                <a:latin typeface="Times New Roman"/>
                <a:cs typeface="Times New Roman"/>
              </a:rPr>
              <a:t>common</a:t>
            </a:r>
            <a:r>
              <a:rPr sz="2200" spc="20" dirty="0">
                <a:latin typeface="Times New Roman"/>
                <a:cs typeface="Times New Roman"/>
              </a:rPr>
              <a:t> </a:t>
            </a:r>
            <a:r>
              <a:rPr sz="2200" spc="-5" dirty="0">
                <a:latin typeface="Times New Roman"/>
                <a:cs typeface="Times New Roman"/>
              </a:rPr>
              <a:t>stock).</a:t>
            </a:r>
            <a:endParaRPr sz="2200">
              <a:latin typeface="Times New Roman"/>
              <a:cs typeface="Times New Roman"/>
            </a:endParaRPr>
          </a:p>
          <a:p>
            <a:pPr marL="220979" marR="661035" indent="-208915">
              <a:lnSpc>
                <a:spcPct val="120000"/>
              </a:lnSpc>
              <a:buFont typeface="Wingdings"/>
              <a:buChar char=""/>
              <a:tabLst>
                <a:tab pos="211454" algn="l"/>
              </a:tabLst>
            </a:pPr>
            <a:r>
              <a:rPr sz="2200" spc="-10" dirty="0">
                <a:latin typeface="Times New Roman"/>
                <a:cs typeface="Times New Roman"/>
              </a:rPr>
              <a:t>It</a:t>
            </a:r>
            <a:r>
              <a:rPr sz="2200" dirty="0">
                <a:latin typeface="Times New Roman"/>
                <a:cs typeface="Times New Roman"/>
              </a:rPr>
              <a:t> </a:t>
            </a:r>
            <a:r>
              <a:rPr sz="2200" spc="-10" dirty="0">
                <a:latin typeface="Times New Roman"/>
                <a:cs typeface="Times New Roman"/>
              </a:rPr>
              <a:t>can</a:t>
            </a:r>
            <a:r>
              <a:rPr sz="2200" spc="20" dirty="0">
                <a:latin typeface="Times New Roman"/>
                <a:cs typeface="Times New Roman"/>
              </a:rPr>
              <a:t> </a:t>
            </a:r>
            <a:r>
              <a:rPr sz="2200" dirty="0">
                <a:latin typeface="Times New Roman"/>
                <a:cs typeface="Times New Roman"/>
              </a:rPr>
              <a:t>have</a:t>
            </a:r>
            <a:r>
              <a:rPr sz="2200" spc="-10" dirty="0">
                <a:latin typeface="Times New Roman"/>
                <a:cs typeface="Times New Roman"/>
              </a:rPr>
              <a:t> </a:t>
            </a:r>
            <a:r>
              <a:rPr sz="2200" spc="-5" dirty="0">
                <a:latin typeface="Times New Roman"/>
                <a:cs typeface="Times New Roman"/>
              </a:rPr>
              <a:t>no</a:t>
            </a:r>
            <a:r>
              <a:rPr sz="2200" dirty="0">
                <a:latin typeface="Times New Roman"/>
                <a:cs typeface="Times New Roman"/>
              </a:rPr>
              <a:t> </a:t>
            </a:r>
            <a:r>
              <a:rPr sz="2200" spc="-5" dirty="0">
                <a:latin typeface="Times New Roman"/>
                <a:cs typeface="Times New Roman"/>
              </a:rPr>
              <a:t>more</a:t>
            </a:r>
            <a:r>
              <a:rPr sz="2200" spc="10" dirty="0">
                <a:latin typeface="Times New Roman"/>
                <a:cs typeface="Times New Roman"/>
              </a:rPr>
              <a:t> </a:t>
            </a:r>
            <a:r>
              <a:rPr sz="2200" spc="-5" dirty="0">
                <a:latin typeface="Times New Roman"/>
                <a:cs typeface="Times New Roman"/>
              </a:rPr>
              <a:t>than 100</a:t>
            </a:r>
            <a:r>
              <a:rPr sz="2200" dirty="0">
                <a:latin typeface="Times New Roman"/>
                <a:cs typeface="Times New Roman"/>
              </a:rPr>
              <a:t> </a:t>
            </a:r>
            <a:r>
              <a:rPr sz="2200" spc="-10" dirty="0">
                <a:latin typeface="Times New Roman"/>
                <a:cs typeface="Times New Roman"/>
              </a:rPr>
              <a:t>members.</a:t>
            </a:r>
            <a:r>
              <a:rPr sz="2200" spc="20" dirty="0">
                <a:latin typeface="Times New Roman"/>
                <a:cs typeface="Times New Roman"/>
              </a:rPr>
              <a:t> </a:t>
            </a:r>
            <a:r>
              <a:rPr sz="2200" spc="-5" dirty="0">
                <a:latin typeface="Times New Roman"/>
                <a:cs typeface="Times New Roman"/>
              </a:rPr>
              <a:t>Husbands</a:t>
            </a:r>
            <a:r>
              <a:rPr sz="2200" dirty="0">
                <a:latin typeface="Times New Roman"/>
                <a:cs typeface="Times New Roman"/>
              </a:rPr>
              <a:t> and </a:t>
            </a:r>
            <a:r>
              <a:rPr sz="2200" spc="-5" dirty="0">
                <a:latin typeface="Times New Roman"/>
                <a:cs typeface="Times New Roman"/>
              </a:rPr>
              <a:t>wives</a:t>
            </a:r>
            <a:r>
              <a:rPr sz="2200" dirty="0">
                <a:latin typeface="Times New Roman"/>
                <a:cs typeface="Times New Roman"/>
              </a:rPr>
              <a:t> count</a:t>
            </a:r>
            <a:r>
              <a:rPr sz="2200" spc="-20" dirty="0">
                <a:latin typeface="Times New Roman"/>
                <a:cs typeface="Times New Roman"/>
              </a:rPr>
              <a:t> </a:t>
            </a:r>
            <a:r>
              <a:rPr sz="2200" dirty="0">
                <a:latin typeface="Times New Roman"/>
                <a:cs typeface="Times New Roman"/>
              </a:rPr>
              <a:t>as </a:t>
            </a:r>
            <a:r>
              <a:rPr sz="2200" spc="-5" dirty="0">
                <a:latin typeface="Times New Roman"/>
                <a:cs typeface="Times New Roman"/>
              </a:rPr>
              <a:t>one </a:t>
            </a:r>
            <a:r>
              <a:rPr sz="2200" spc="-535" dirty="0">
                <a:latin typeface="Times New Roman"/>
                <a:cs typeface="Times New Roman"/>
              </a:rPr>
              <a:t> </a:t>
            </a:r>
            <a:r>
              <a:rPr sz="2200" spc="-25" dirty="0">
                <a:latin typeface="Times New Roman"/>
                <a:cs typeface="Times New Roman"/>
              </a:rPr>
              <a:t>member,</a:t>
            </a:r>
            <a:r>
              <a:rPr sz="2200" spc="35" dirty="0">
                <a:latin typeface="Times New Roman"/>
                <a:cs typeface="Times New Roman"/>
              </a:rPr>
              <a:t> </a:t>
            </a:r>
            <a:r>
              <a:rPr sz="2200" spc="-5" dirty="0">
                <a:latin typeface="Times New Roman"/>
                <a:cs typeface="Times New Roman"/>
              </a:rPr>
              <a:t>even if</a:t>
            </a:r>
            <a:r>
              <a:rPr sz="2200" spc="-10" dirty="0">
                <a:latin typeface="Times New Roman"/>
                <a:cs typeface="Times New Roman"/>
              </a:rPr>
              <a:t> </a:t>
            </a:r>
            <a:r>
              <a:rPr sz="2200" spc="-5" dirty="0">
                <a:latin typeface="Times New Roman"/>
                <a:cs typeface="Times New Roman"/>
              </a:rPr>
              <a:t>they own</a:t>
            </a:r>
            <a:r>
              <a:rPr sz="2200" spc="20" dirty="0">
                <a:latin typeface="Times New Roman"/>
                <a:cs typeface="Times New Roman"/>
              </a:rPr>
              <a:t> </a:t>
            </a:r>
            <a:r>
              <a:rPr sz="2200" spc="-5" dirty="0">
                <a:latin typeface="Times New Roman"/>
                <a:cs typeface="Times New Roman"/>
              </a:rPr>
              <a:t>separate</a:t>
            </a:r>
            <a:r>
              <a:rPr sz="2200" spc="-10" dirty="0">
                <a:latin typeface="Times New Roman"/>
                <a:cs typeface="Times New Roman"/>
              </a:rPr>
              <a:t> </a:t>
            </a:r>
            <a:r>
              <a:rPr sz="2200" spc="-5" dirty="0">
                <a:latin typeface="Times New Roman"/>
                <a:cs typeface="Times New Roman"/>
              </a:rPr>
              <a:t>shares</a:t>
            </a:r>
            <a:r>
              <a:rPr sz="2200"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dirty="0">
                <a:latin typeface="Times New Roman"/>
                <a:cs typeface="Times New Roman"/>
              </a:rPr>
              <a:t>stock.</a:t>
            </a:r>
            <a:endParaRPr sz="2200">
              <a:latin typeface="Times New Roman"/>
              <a:cs typeface="Times New Roman"/>
            </a:endParaRPr>
          </a:p>
          <a:p>
            <a:pPr marL="152400" marR="503555" indent="-140335">
              <a:lnSpc>
                <a:spcPct val="120000"/>
              </a:lnSpc>
              <a:buFont typeface="Wingdings"/>
              <a:buChar char=""/>
              <a:tabLst>
                <a:tab pos="195580" algn="l"/>
              </a:tabLst>
            </a:pPr>
            <a:r>
              <a:rPr sz="2200" spc="-5" dirty="0">
                <a:latin typeface="Times New Roman"/>
                <a:cs typeface="Times New Roman"/>
              </a:rPr>
              <a:t>All</a:t>
            </a:r>
            <a:r>
              <a:rPr sz="2200" spc="-15" dirty="0">
                <a:latin typeface="Times New Roman"/>
                <a:cs typeface="Times New Roman"/>
              </a:rPr>
              <a:t> </a:t>
            </a:r>
            <a:r>
              <a:rPr sz="2200" spc="-5" dirty="0">
                <a:latin typeface="Times New Roman"/>
                <a:cs typeface="Times New Roman"/>
              </a:rPr>
              <a:t>shareholders</a:t>
            </a:r>
            <a:r>
              <a:rPr sz="2200" spc="-15" dirty="0">
                <a:latin typeface="Times New Roman"/>
                <a:cs typeface="Times New Roman"/>
              </a:rPr>
              <a:t> </a:t>
            </a:r>
            <a:r>
              <a:rPr sz="2200" spc="-10" dirty="0">
                <a:latin typeface="Times New Roman"/>
                <a:cs typeface="Times New Roman"/>
              </a:rPr>
              <a:t>must</a:t>
            </a:r>
            <a:r>
              <a:rPr sz="2200" spc="10" dirty="0">
                <a:latin typeface="Times New Roman"/>
                <a:cs typeface="Times New Roman"/>
              </a:rPr>
              <a:t> </a:t>
            </a:r>
            <a:r>
              <a:rPr sz="2200" spc="-5" dirty="0">
                <a:latin typeface="Times New Roman"/>
                <a:cs typeface="Times New Roman"/>
              </a:rPr>
              <a:t>agree</a:t>
            </a:r>
            <a:r>
              <a:rPr sz="2200" spc="20" dirty="0">
                <a:latin typeface="Times New Roman"/>
                <a:cs typeface="Times New Roman"/>
              </a:rPr>
              <a:t> </a:t>
            </a:r>
            <a:r>
              <a:rPr sz="2200" spc="-5" dirty="0">
                <a:latin typeface="Times New Roman"/>
                <a:cs typeface="Times New Roman"/>
              </a:rPr>
              <a:t>to</a:t>
            </a:r>
            <a:r>
              <a:rPr sz="2200" spc="-20" dirty="0">
                <a:latin typeface="Times New Roman"/>
                <a:cs typeface="Times New Roman"/>
              </a:rPr>
              <a:t> </a:t>
            </a:r>
            <a:r>
              <a:rPr sz="2200" dirty="0">
                <a:latin typeface="Times New Roman"/>
                <a:cs typeface="Times New Roman"/>
              </a:rPr>
              <a:t>have</a:t>
            </a:r>
            <a:r>
              <a:rPr sz="2200" spc="2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corporation</a:t>
            </a:r>
            <a:r>
              <a:rPr sz="2200" spc="-35" dirty="0">
                <a:latin typeface="Times New Roman"/>
                <a:cs typeface="Times New Roman"/>
              </a:rPr>
              <a:t> </a:t>
            </a:r>
            <a:r>
              <a:rPr sz="2200" spc="-5" dirty="0">
                <a:latin typeface="Times New Roman"/>
                <a:cs typeface="Times New Roman"/>
              </a:rPr>
              <a:t>formed</a:t>
            </a:r>
            <a:r>
              <a:rPr sz="2200" dirty="0">
                <a:latin typeface="Times New Roman"/>
                <a:cs typeface="Times New Roman"/>
              </a:rPr>
              <a:t> </a:t>
            </a:r>
            <a:r>
              <a:rPr sz="2200" spc="-10" dirty="0">
                <a:latin typeface="Times New Roman"/>
                <a:cs typeface="Times New Roman"/>
              </a:rPr>
              <a:t>as</a:t>
            </a:r>
            <a:r>
              <a:rPr sz="2200" spc="30"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subchapter </a:t>
            </a:r>
            <a:r>
              <a:rPr sz="2200" spc="-535" dirty="0">
                <a:latin typeface="Times New Roman"/>
                <a:cs typeface="Times New Roman"/>
              </a:rPr>
              <a:t> </a:t>
            </a:r>
            <a:r>
              <a:rPr sz="2200" spc="-5" dirty="0">
                <a:latin typeface="Times New Roman"/>
                <a:cs typeface="Times New Roman"/>
              </a:rPr>
              <a:t>S</a:t>
            </a:r>
            <a:r>
              <a:rPr sz="2200" spc="-20" dirty="0">
                <a:latin typeface="Times New Roman"/>
                <a:cs typeface="Times New Roman"/>
              </a:rPr>
              <a:t> </a:t>
            </a:r>
            <a:r>
              <a:rPr sz="2200" dirty="0">
                <a:latin typeface="Times New Roman"/>
                <a:cs typeface="Times New Roman"/>
              </a:rPr>
              <a:t>corporation.</a:t>
            </a:r>
            <a:endParaRPr sz="220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48969" y="580097"/>
            <a:ext cx="5558155" cy="629285"/>
          </a:xfrm>
          <a:prstGeom prst="rect">
            <a:avLst/>
          </a:prstGeom>
        </p:spPr>
        <p:txBody>
          <a:bodyPr vert="horz" wrap="square" lIns="0" tIns="13970" rIns="0" bIns="0" rtlCol="0">
            <a:spAutoFit/>
          </a:bodyPr>
          <a:lstStyle/>
          <a:p>
            <a:pPr marL="12700">
              <a:lnSpc>
                <a:spcPct val="100000"/>
              </a:lnSpc>
              <a:spcBef>
                <a:spcPts val="110"/>
              </a:spcBef>
            </a:pPr>
            <a:r>
              <a:rPr dirty="0"/>
              <a:t>Limited</a:t>
            </a:r>
            <a:r>
              <a:rPr spc="-5" dirty="0"/>
              <a:t> </a:t>
            </a:r>
            <a:r>
              <a:rPr dirty="0"/>
              <a:t>Liability</a:t>
            </a:r>
            <a:r>
              <a:rPr spc="-40" dirty="0"/>
              <a:t> </a:t>
            </a:r>
            <a:r>
              <a:rPr dirty="0"/>
              <a:t>Company</a:t>
            </a:r>
          </a:p>
        </p:txBody>
      </p:sp>
      <p:sp>
        <p:nvSpPr>
          <p:cNvPr id="3" name="object 3"/>
          <p:cNvSpPr/>
          <p:nvPr/>
        </p:nvSpPr>
        <p:spPr>
          <a:xfrm>
            <a:off x="0" y="1455419"/>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384991" y="3573281"/>
            <a:ext cx="3084195" cy="1097915"/>
          </a:xfrm>
          <a:prstGeom prst="rect">
            <a:avLst/>
          </a:prstGeom>
        </p:spPr>
        <p:txBody>
          <a:bodyPr vert="horz" wrap="square" lIns="0" tIns="11430" rIns="0" bIns="0" rtlCol="0">
            <a:spAutoFit/>
          </a:bodyPr>
          <a:lstStyle/>
          <a:p>
            <a:pPr marL="673735" marR="5080" indent="-661670">
              <a:lnSpc>
                <a:spcPct val="100600"/>
              </a:lnSpc>
              <a:spcBef>
                <a:spcPts val="90"/>
              </a:spcBef>
            </a:pPr>
            <a:r>
              <a:rPr sz="3500" dirty="0">
                <a:latin typeface="Times New Roman"/>
                <a:cs typeface="Times New Roman"/>
              </a:rPr>
              <a:t>Limited </a:t>
            </a:r>
            <a:r>
              <a:rPr sz="3500" spc="-5" dirty="0">
                <a:latin typeface="Times New Roman"/>
                <a:cs typeface="Times New Roman"/>
              </a:rPr>
              <a:t>Liability </a:t>
            </a:r>
            <a:r>
              <a:rPr sz="3500" spc="-860" dirty="0">
                <a:latin typeface="Times New Roman"/>
                <a:cs typeface="Times New Roman"/>
              </a:rPr>
              <a:t> </a:t>
            </a:r>
            <a:r>
              <a:rPr sz="3500" spc="5" dirty="0">
                <a:latin typeface="Times New Roman"/>
                <a:cs typeface="Times New Roman"/>
              </a:rPr>
              <a:t>Company</a:t>
            </a:r>
            <a:endParaRPr sz="3500">
              <a:latin typeface="Times New Roman"/>
              <a:cs typeface="Times New Roman"/>
            </a:endParaRPr>
          </a:p>
        </p:txBody>
      </p:sp>
      <p:grpSp>
        <p:nvGrpSpPr>
          <p:cNvPr id="5" name="object 5"/>
          <p:cNvGrpSpPr/>
          <p:nvPr/>
        </p:nvGrpSpPr>
        <p:grpSpPr>
          <a:xfrm>
            <a:off x="3850385" y="1785366"/>
            <a:ext cx="5878195" cy="5207635"/>
            <a:chOff x="3850385" y="1785366"/>
            <a:chExt cx="5878195" cy="5207635"/>
          </a:xfrm>
        </p:grpSpPr>
        <p:sp>
          <p:nvSpPr>
            <p:cNvPr id="6" name="object 6"/>
            <p:cNvSpPr/>
            <p:nvPr/>
          </p:nvSpPr>
          <p:spPr>
            <a:xfrm>
              <a:off x="3855719" y="1790700"/>
              <a:ext cx="5867400" cy="5196840"/>
            </a:xfrm>
            <a:custGeom>
              <a:avLst/>
              <a:gdLst/>
              <a:ahLst/>
              <a:cxnLst/>
              <a:rect l="l" t="t" r="r" b="b"/>
              <a:pathLst>
                <a:path w="5867400" h="5196840">
                  <a:moveTo>
                    <a:pt x="5867400" y="5196839"/>
                  </a:moveTo>
                  <a:lnTo>
                    <a:pt x="0" y="5196839"/>
                  </a:lnTo>
                  <a:lnTo>
                    <a:pt x="0" y="0"/>
                  </a:lnTo>
                  <a:lnTo>
                    <a:pt x="5867400" y="0"/>
                  </a:lnTo>
                  <a:lnTo>
                    <a:pt x="5867400" y="5196839"/>
                  </a:lnTo>
                  <a:close/>
                </a:path>
              </a:pathLst>
            </a:custGeom>
            <a:solidFill>
              <a:srgbClr val="FFFFCC"/>
            </a:solidFill>
          </p:spPr>
          <p:txBody>
            <a:bodyPr wrap="square" lIns="0" tIns="0" rIns="0" bIns="0" rtlCol="0"/>
            <a:lstStyle/>
            <a:p>
              <a:endParaRPr/>
            </a:p>
          </p:txBody>
        </p:sp>
        <p:sp>
          <p:nvSpPr>
            <p:cNvPr id="7" name="object 7"/>
            <p:cNvSpPr/>
            <p:nvPr/>
          </p:nvSpPr>
          <p:spPr>
            <a:xfrm>
              <a:off x="3855719" y="1790700"/>
              <a:ext cx="5867400" cy="5196840"/>
            </a:xfrm>
            <a:custGeom>
              <a:avLst/>
              <a:gdLst/>
              <a:ahLst/>
              <a:cxnLst/>
              <a:rect l="l" t="t" r="r" b="b"/>
              <a:pathLst>
                <a:path w="5867400" h="5196840">
                  <a:moveTo>
                    <a:pt x="0" y="0"/>
                  </a:moveTo>
                  <a:lnTo>
                    <a:pt x="5867400" y="0"/>
                  </a:lnTo>
                  <a:lnTo>
                    <a:pt x="5867400" y="5196839"/>
                  </a:lnTo>
                  <a:lnTo>
                    <a:pt x="0" y="5196839"/>
                  </a:lnTo>
                  <a:lnTo>
                    <a:pt x="0" y="0"/>
                  </a:lnTo>
                  <a:close/>
                </a:path>
              </a:pathLst>
            </a:custGeom>
            <a:ln w="10668">
              <a:solidFill>
                <a:srgbClr val="000000"/>
              </a:solidFill>
            </a:ln>
          </p:spPr>
          <p:txBody>
            <a:bodyPr wrap="square" lIns="0" tIns="0" rIns="0" bIns="0" rtlCol="0"/>
            <a:lstStyle/>
            <a:p>
              <a:endParaRPr/>
            </a:p>
          </p:txBody>
        </p:sp>
      </p:grpSp>
      <p:sp>
        <p:nvSpPr>
          <p:cNvPr id="8" name="object 8"/>
          <p:cNvSpPr txBox="1"/>
          <p:nvPr/>
        </p:nvSpPr>
        <p:spPr>
          <a:xfrm>
            <a:off x="3943543" y="1899937"/>
            <a:ext cx="5575300" cy="3732431"/>
          </a:xfrm>
          <a:prstGeom prst="rect">
            <a:avLst/>
          </a:prstGeom>
        </p:spPr>
        <p:txBody>
          <a:bodyPr vert="horz" wrap="square" lIns="0" tIns="26034" rIns="0" bIns="0" rtlCol="0">
            <a:spAutoFit/>
          </a:bodyPr>
          <a:lstStyle/>
          <a:p>
            <a:pPr marL="180340" marR="492125" indent="-167640">
              <a:lnSpc>
                <a:spcPts val="3170"/>
              </a:lnSpc>
              <a:spcBef>
                <a:spcPts val="204"/>
              </a:spcBef>
              <a:buFont typeface="Arial MT"/>
              <a:buChar char="•"/>
              <a:tabLst>
                <a:tab pos="213995" algn="l"/>
              </a:tabLst>
            </a:pPr>
            <a:r>
              <a:rPr dirty="0"/>
              <a:t>	</a:t>
            </a:r>
            <a:r>
              <a:rPr sz="2650" spc="-10" dirty="0" smtClean="0">
                <a:latin typeface="Times New Roman"/>
                <a:cs typeface="Times New Roman"/>
              </a:rPr>
              <a:t>Along </a:t>
            </a:r>
            <a:r>
              <a:rPr sz="2650" spc="-5" dirty="0">
                <a:latin typeface="Times New Roman"/>
                <a:cs typeface="Times New Roman"/>
              </a:rPr>
              <a:t>with</a:t>
            </a:r>
            <a:r>
              <a:rPr sz="2650" spc="-10" dirty="0">
                <a:latin typeface="Times New Roman"/>
                <a:cs typeface="Times New Roman"/>
              </a:rPr>
              <a:t> </a:t>
            </a:r>
            <a:r>
              <a:rPr sz="2650" spc="-15" dirty="0">
                <a:latin typeface="Times New Roman"/>
                <a:cs typeface="Times New Roman"/>
              </a:rPr>
              <a:t>the</a:t>
            </a:r>
            <a:r>
              <a:rPr sz="2650" spc="10" dirty="0">
                <a:latin typeface="Times New Roman"/>
                <a:cs typeface="Times New Roman"/>
              </a:rPr>
              <a:t> </a:t>
            </a:r>
            <a:r>
              <a:rPr sz="2650" spc="-10" dirty="0">
                <a:latin typeface="Times New Roman"/>
                <a:cs typeface="Times New Roman"/>
              </a:rPr>
              <a:t>Subchapter</a:t>
            </a:r>
            <a:r>
              <a:rPr sz="2650" spc="-20" dirty="0">
                <a:latin typeface="Times New Roman"/>
                <a:cs typeface="Times New Roman"/>
              </a:rPr>
              <a:t> </a:t>
            </a:r>
            <a:r>
              <a:rPr sz="2650" dirty="0">
                <a:latin typeface="Times New Roman"/>
                <a:cs typeface="Times New Roman"/>
              </a:rPr>
              <a:t>S,</a:t>
            </a:r>
            <a:r>
              <a:rPr sz="2650" spc="-5" dirty="0">
                <a:latin typeface="Times New Roman"/>
                <a:cs typeface="Times New Roman"/>
              </a:rPr>
              <a:t> </a:t>
            </a:r>
            <a:r>
              <a:rPr sz="2650" spc="-20" dirty="0">
                <a:latin typeface="Times New Roman"/>
                <a:cs typeface="Times New Roman"/>
              </a:rPr>
              <a:t>it</a:t>
            </a:r>
            <a:r>
              <a:rPr sz="2650" spc="-5" dirty="0">
                <a:latin typeface="Times New Roman"/>
                <a:cs typeface="Times New Roman"/>
              </a:rPr>
              <a:t> is</a:t>
            </a:r>
            <a:r>
              <a:rPr sz="2650" spc="-35" dirty="0">
                <a:latin typeface="Times New Roman"/>
                <a:cs typeface="Times New Roman"/>
              </a:rPr>
              <a:t> </a:t>
            </a:r>
            <a:r>
              <a:rPr sz="2650" spc="-5" dirty="0">
                <a:latin typeface="Times New Roman"/>
                <a:cs typeface="Times New Roman"/>
              </a:rPr>
              <a:t>a</a:t>
            </a:r>
            <a:endParaRPr sz="2650" dirty="0">
              <a:latin typeface="Times New Roman"/>
              <a:cs typeface="Times New Roman"/>
            </a:endParaRPr>
          </a:p>
          <a:p>
            <a:pPr marL="180340">
              <a:lnSpc>
                <a:spcPts val="3170"/>
              </a:lnSpc>
            </a:pPr>
            <a:r>
              <a:rPr sz="2650" spc="-10" dirty="0">
                <a:latin typeface="Times New Roman"/>
                <a:cs typeface="Times New Roman"/>
              </a:rPr>
              <a:t>popular</a:t>
            </a:r>
            <a:r>
              <a:rPr sz="2650" spc="-20" dirty="0">
                <a:latin typeface="Times New Roman"/>
                <a:cs typeface="Times New Roman"/>
              </a:rPr>
              <a:t> </a:t>
            </a:r>
            <a:r>
              <a:rPr sz="2650" spc="-5" dirty="0">
                <a:latin typeface="Times New Roman"/>
                <a:cs typeface="Times New Roman"/>
              </a:rPr>
              <a:t>choice</a:t>
            </a:r>
            <a:r>
              <a:rPr sz="2650" spc="-45" dirty="0">
                <a:latin typeface="Times New Roman"/>
                <a:cs typeface="Times New Roman"/>
              </a:rPr>
              <a:t> </a:t>
            </a:r>
            <a:r>
              <a:rPr sz="2650" dirty="0">
                <a:latin typeface="Times New Roman"/>
                <a:cs typeface="Times New Roman"/>
              </a:rPr>
              <a:t>for</a:t>
            </a:r>
            <a:r>
              <a:rPr sz="2650" spc="-15" dirty="0">
                <a:latin typeface="Times New Roman"/>
                <a:cs typeface="Times New Roman"/>
              </a:rPr>
              <a:t> </a:t>
            </a:r>
            <a:r>
              <a:rPr sz="2650" spc="-5" dirty="0">
                <a:latin typeface="Times New Roman"/>
                <a:cs typeface="Times New Roman"/>
              </a:rPr>
              <a:t>start-up</a:t>
            </a:r>
            <a:r>
              <a:rPr sz="2650" spc="-10" dirty="0">
                <a:latin typeface="Times New Roman"/>
                <a:cs typeface="Times New Roman"/>
              </a:rPr>
              <a:t> firms.</a:t>
            </a:r>
            <a:endParaRPr sz="2650" dirty="0">
              <a:latin typeface="Times New Roman"/>
              <a:cs typeface="Times New Roman"/>
            </a:endParaRPr>
          </a:p>
          <a:p>
            <a:pPr marL="180340" marR="5080" indent="-167640">
              <a:lnSpc>
                <a:spcPts val="3170"/>
              </a:lnSpc>
              <a:spcBef>
                <a:spcPts val="105"/>
              </a:spcBef>
              <a:buFont typeface="Arial MT"/>
              <a:buChar char="•"/>
              <a:tabLst>
                <a:tab pos="208279" algn="l"/>
              </a:tabLst>
            </a:pPr>
            <a:r>
              <a:rPr dirty="0"/>
              <a:t>	</a:t>
            </a:r>
            <a:r>
              <a:rPr sz="2650" spc="-10" dirty="0">
                <a:latin typeface="Times New Roman"/>
                <a:cs typeface="Times New Roman"/>
              </a:rPr>
              <a:t>The limited liability </a:t>
            </a:r>
            <a:r>
              <a:rPr sz="2650" spc="-5" dirty="0">
                <a:latin typeface="Times New Roman"/>
                <a:cs typeface="Times New Roman"/>
              </a:rPr>
              <a:t>company </a:t>
            </a:r>
            <a:r>
              <a:rPr sz="2650" spc="-10" dirty="0">
                <a:latin typeface="Times New Roman"/>
                <a:cs typeface="Times New Roman"/>
              </a:rPr>
              <a:t>combines </a:t>
            </a:r>
            <a:r>
              <a:rPr sz="2650" spc="-650" dirty="0">
                <a:latin typeface="Times New Roman"/>
                <a:cs typeface="Times New Roman"/>
              </a:rPr>
              <a:t> </a:t>
            </a:r>
            <a:r>
              <a:rPr sz="2650" spc="-5" dirty="0">
                <a:latin typeface="Times New Roman"/>
                <a:cs typeface="Times New Roman"/>
              </a:rPr>
              <a:t>the </a:t>
            </a:r>
            <a:r>
              <a:rPr sz="2650" spc="-10" dirty="0">
                <a:latin typeface="Times New Roman"/>
                <a:cs typeface="Times New Roman"/>
              </a:rPr>
              <a:t>limited liability advantage </a:t>
            </a:r>
            <a:r>
              <a:rPr sz="2650" spc="-5" dirty="0">
                <a:latin typeface="Times New Roman"/>
                <a:cs typeface="Times New Roman"/>
              </a:rPr>
              <a:t>of the </a:t>
            </a:r>
            <a:r>
              <a:rPr sz="2650" dirty="0">
                <a:latin typeface="Times New Roman"/>
                <a:cs typeface="Times New Roman"/>
              </a:rPr>
              <a:t> </a:t>
            </a:r>
            <a:r>
              <a:rPr sz="2650" spc="-10" dirty="0">
                <a:latin typeface="Times New Roman"/>
                <a:cs typeface="Times New Roman"/>
              </a:rPr>
              <a:t>corporation</a:t>
            </a:r>
            <a:r>
              <a:rPr sz="2650" spc="-35" dirty="0">
                <a:latin typeface="Times New Roman"/>
                <a:cs typeface="Times New Roman"/>
              </a:rPr>
              <a:t> </a:t>
            </a:r>
            <a:r>
              <a:rPr sz="2650" spc="-5" dirty="0">
                <a:latin typeface="Times New Roman"/>
                <a:cs typeface="Times New Roman"/>
              </a:rPr>
              <a:t>with the</a:t>
            </a:r>
            <a:r>
              <a:rPr sz="2650" spc="-20" dirty="0">
                <a:latin typeface="Times New Roman"/>
                <a:cs typeface="Times New Roman"/>
              </a:rPr>
              <a:t> </a:t>
            </a:r>
            <a:r>
              <a:rPr sz="2650" spc="-10" dirty="0">
                <a:latin typeface="Times New Roman"/>
                <a:cs typeface="Times New Roman"/>
              </a:rPr>
              <a:t>tax</a:t>
            </a:r>
            <a:r>
              <a:rPr sz="2650" spc="-5" dirty="0">
                <a:latin typeface="Times New Roman"/>
                <a:cs typeface="Times New Roman"/>
              </a:rPr>
              <a:t> advantages</a:t>
            </a:r>
            <a:r>
              <a:rPr sz="2650" spc="-55" dirty="0">
                <a:latin typeface="Times New Roman"/>
                <a:cs typeface="Times New Roman"/>
              </a:rPr>
              <a:t> </a:t>
            </a:r>
            <a:r>
              <a:rPr sz="2650" spc="-5" dirty="0">
                <a:latin typeface="Times New Roman"/>
                <a:cs typeface="Times New Roman"/>
              </a:rPr>
              <a:t>of</a:t>
            </a:r>
            <a:endParaRPr sz="2650" dirty="0">
              <a:latin typeface="Times New Roman"/>
              <a:cs typeface="Times New Roman"/>
            </a:endParaRPr>
          </a:p>
          <a:p>
            <a:pPr marL="180340">
              <a:lnSpc>
                <a:spcPts val="3055"/>
              </a:lnSpc>
            </a:pPr>
            <a:r>
              <a:rPr sz="2650" spc="-5" dirty="0">
                <a:latin typeface="Times New Roman"/>
                <a:cs typeface="Times New Roman"/>
              </a:rPr>
              <a:t>a</a:t>
            </a:r>
            <a:r>
              <a:rPr sz="2650" spc="-60" dirty="0">
                <a:latin typeface="Times New Roman"/>
                <a:cs typeface="Times New Roman"/>
              </a:rPr>
              <a:t> </a:t>
            </a:r>
            <a:r>
              <a:rPr sz="2650" spc="-5" dirty="0">
                <a:latin typeface="Times New Roman"/>
                <a:cs typeface="Times New Roman"/>
              </a:rPr>
              <a:t>partnership.</a:t>
            </a:r>
            <a:endParaRPr sz="2650" dirty="0">
              <a:latin typeface="Times New Roman"/>
              <a:cs typeface="Times New Roman"/>
            </a:endParaRPr>
          </a:p>
          <a:p>
            <a:pPr marL="180340" marR="8255" indent="-167640">
              <a:lnSpc>
                <a:spcPts val="3170"/>
              </a:lnSpc>
              <a:spcBef>
                <a:spcPts val="100"/>
              </a:spcBef>
              <a:buFont typeface="Arial MT"/>
              <a:buChar char="•"/>
              <a:tabLst>
                <a:tab pos="195580" algn="l"/>
                <a:tab pos="1688464" algn="l"/>
              </a:tabLst>
            </a:pPr>
            <a:r>
              <a:rPr sz="2650" spc="-10" dirty="0">
                <a:latin typeface="Times New Roman"/>
                <a:cs typeface="Times New Roman"/>
              </a:rPr>
              <a:t>A limited liability </a:t>
            </a:r>
            <a:r>
              <a:rPr sz="2650" spc="-5" dirty="0">
                <a:latin typeface="Times New Roman"/>
                <a:cs typeface="Times New Roman"/>
              </a:rPr>
              <a:t>company does not </a:t>
            </a:r>
            <a:r>
              <a:rPr sz="2650" dirty="0">
                <a:latin typeface="Times New Roman"/>
                <a:cs typeface="Times New Roman"/>
              </a:rPr>
              <a:t> pay</a:t>
            </a:r>
            <a:r>
              <a:rPr sz="2650" spc="-25" dirty="0">
                <a:latin typeface="Times New Roman"/>
                <a:cs typeface="Times New Roman"/>
              </a:rPr>
              <a:t> </a:t>
            </a:r>
            <a:r>
              <a:rPr sz="2650" spc="-5" dirty="0">
                <a:latin typeface="Times New Roman"/>
                <a:cs typeface="Times New Roman"/>
              </a:rPr>
              <a:t>taxes.	</a:t>
            </a:r>
            <a:r>
              <a:rPr sz="2650" spc="-10" dirty="0">
                <a:latin typeface="Times New Roman"/>
                <a:cs typeface="Times New Roman"/>
              </a:rPr>
              <a:t>Profits </a:t>
            </a:r>
            <a:r>
              <a:rPr sz="2650" dirty="0">
                <a:latin typeface="Times New Roman"/>
                <a:cs typeface="Times New Roman"/>
              </a:rPr>
              <a:t>and </a:t>
            </a:r>
            <a:r>
              <a:rPr sz="2650" spc="-5" dirty="0">
                <a:latin typeface="Times New Roman"/>
                <a:cs typeface="Times New Roman"/>
              </a:rPr>
              <a:t>losses </a:t>
            </a:r>
            <a:r>
              <a:rPr sz="2650" spc="-15" dirty="0">
                <a:latin typeface="Times New Roman"/>
                <a:cs typeface="Times New Roman"/>
              </a:rPr>
              <a:t>are </a:t>
            </a:r>
            <a:r>
              <a:rPr sz="2650" dirty="0">
                <a:latin typeface="Times New Roman"/>
                <a:cs typeface="Times New Roman"/>
              </a:rPr>
              <a:t>passed </a:t>
            </a:r>
            <a:r>
              <a:rPr sz="2650" spc="-645" dirty="0">
                <a:latin typeface="Times New Roman"/>
                <a:cs typeface="Times New Roman"/>
              </a:rPr>
              <a:t> </a:t>
            </a:r>
            <a:r>
              <a:rPr sz="2650" spc="-10" dirty="0">
                <a:latin typeface="Times New Roman"/>
                <a:cs typeface="Times New Roman"/>
              </a:rPr>
              <a:t>through</a:t>
            </a:r>
            <a:r>
              <a:rPr sz="2650" spc="-5" dirty="0">
                <a:latin typeface="Times New Roman"/>
                <a:cs typeface="Times New Roman"/>
              </a:rPr>
              <a:t> to </a:t>
            </a:r>
            <a:r>
              <a:rPr sz="2650" spc="-15" dirty="0">
                <a:latin typeface="Times New Roman"/>
                <a:cs typeface="Times New Roman"/>
              </a:rPr>
              <a:t>the </a:t>
            </a:r>
            <a:r>
              <a:rPr sz="2650" dirty="0">
                <a:latin typeface="Times New Roman"/>
                <a:cs typeface="Times New Roman"/>
              </a:rPr>
              <a:t>tax</a:t>
            </a:r>
            <a:r>
              <a:rPr sz="2650" spc="-30" dirty="0">
                <a:latin typeface="Times New Roman"/>
                <a:cs typeface="Times New Roman"/>
              </a:rPr>
              <a:t> </a:t>
            </a:r>
            <a:r>
              <a:rPr sz="2650" spc="-5" dirty="0">
                <a:latin typeface="Times New Roman"/>
                <a:cs typeface="Times New Roman"/>
              </a:rPr>
              <a:t>returns</a:t>
            </a:r>
            <a:r>
              <a:rPr sz="2650" dirty="0">
                <a:latin typeface="Times New Roman"/>
                <a:cs typeface="Times New Roman"/>
              </a:rPr>
              <a:t> </a:t>
            </a:r>
            <a:r>
              <a:rPr sz="2650" spc="-5" dirty="0">
                <a:latin typeface="Times New Roman"/>
                <a:cs typeface="Times New Roman"/>
              </a:rPr>
              <a:t>of</a:t>
            </a:r>
            <a:r>
              <a:rPr sz="2650" spc="-15" dirty="0">
                <a:latin typeface="Times New Roman"/>
                <a:cs typeface="Times New Roman"/>
              </a:rPr>
              <a:t> </a:t>
            </a:r>
            <a:r>
              <a:rPr sz="2650" spc="-5" dirty="0">
                <a:latin typeface="Times New Roman"/>
                <a:cs typeface="Times New Roman"/>
              </a:rPr>
              <a:t>the</a:t>
            </a:r>
            <a:r>
              <a:rPr sz="2650" spc="-15" dirty="0">
                <a:latin typeface="Times New Roman"/>
                <a:cs typeface="Times New Roman"/>
              </a:rPr>
              <a:t> </a:t>
            </a:r>
            <a:r>
              <a:rPr sz="2650" spc="-10" dirty="0">
                <a:latin typeface="Times New Roman"/>
                <a:cs typeface="Times New Roman"/>
              </a:rPr>
              <a:t>owners</a:t>
            </a:r>
            <a:r>
              <a:rPr sz="2650" spc="-10" dirty="0" smtClean="0">
                <a:latin typeface="Times New Roman"/>
                <a:cs typeface="Times New Roman"/>
              </a:rPr>
              <a:t>.</a:t>
            </a:r>
            <a:endParaRPr lang="en-US" sz="2650" spc="-10" dirty="0" smtClean="0">
              <a:latin typeface="Times New Roman"/>
              <a:cs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dirty="0"/>
              <a:t>Limited</a:t>
            </a:r>
            <a:r>
              <a:rPr spc="-5" dirty="0"/>
              <a:t> </a:t>
            </a:r>
            <a:r>
              <a:rPr dirty="0"/>
              <a:t>Liability</a:t>
            </a:r>
            <a:r>
              <a:rPr spc="-40" dirty="0"/>
              <a:t> </a:t>
            </a:r>
            <a:r>
              <a:rPr dirty="0"/>
              <a:t>Company</a:t>
            </a:r>
          </a:p>
          <a:p>
            <a:pPr algn="ctr">
              <a:lnSpc>
                <a:spcPct val="100000"/>
              </a:lnSpc>
              <a:spcBef>
                <a:spcPts val="60"/>
              </a:spcBef>
            </a:pPr>
            <a:r>
              <a:rPr sz="2200" spc="-5" dirty="0"/>
              <a:t>1</a:t>
            </a:r>
            <a:r>
              <a:rPr sz="2200" spc="-35" dirty="0"/>
              <a:t> </a:t>
            </a:r>
            <a:r>
              <a:rPr sz="2200" spc="-5" dirty="0"/>
              <a:t>of</a:t>
            </a:r>
            <a:r>
              <a:rPr sz="2200" spc="-1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959850" cy="4727192"/>
          </a:xfrm>
          <a:prstGeom prst="rect">
            <a:avLst/>
          </a:prstGeom>
        </p:spPr>
        <p:txBody>
          <a:bodyPr vert="horz" wrap="square" lIns="0" tIns="87630" rIns="0" bIns="0" rtlCol="0">
            <a:spAutoFit/>
          </a:bodyPr>
          <a:lstStyle/>
          <a:p>
            <a:pPr marL="12700" algn="just">
              <a:lnSpc>
                <a:spcPct val="100000"/>
              </a:lnSpc>
              <a:spcBef>
                <a:spcPts val="690"/>
              </a:spcBef>
            </a:pPr>
            <a:r>
              <a:rPr lang="en-US" sz="2200" spc="-5" dirty="0">
                <a:uFill>
                  <a:solidFill>
                    <a:srgbClr val="000000"/>
                  </a:solidFill>
                </a:uFill>
                <a:latin typeface="Times New Roman"/>
                <a:cs typeface="Times New Roman"/>
              </a:rPr>
              <a:t>Some of the terminology used for an LLC differs from the other forms of business ownership. For example, the shareholders of an LLC are called “members,” and instead of owning stock, the members have “interests</a:t>
            </a:r>
            <a:r>
              <a:rPr lang="en-US" sz="2200" spc="-5" dirty="0" smtClean="0">
                <a:uFill>
                  <a:solidFill>
                    <a:srgbClr val="000000"/>
                  </a:solidFill>
                </a:uFill>
                <a:latin typeface="Times New Roman"/>
                <a:cs typeface="Times New Roman"/>
              </a:rPr>
              <a:t>.”</a:t>
            </a:r>
            <a:endParaRPr lang="en-US" sz="2200" u="heavy" spc="-5" dirty="0" smtClean="0">
              <a:uFill>
                <a:solidFill>
                  <a:srgbClr val="000000"/>
                </a:solidFill>
              </a:uFill>
              <a:latin typeface="Times New Roman"/>
              <a:cs typeface="Times New Roman"/>
            </a:endParaRPr>
          </a:p>
          <a:p>
            <a:pPr marL="12700">
              <a:lnSpc>
                <a:spcPct val="100000"/>
              </a:lnSpc>
              <a:spcBef>
                <a:spcPts val="690"/>
              </a:spcBef>
            </a:pPr>
            <a:r>
              <a:rPr sz="2200" u="heavy" spc="-5" dirty="0" smtClean="0">
                <a:uFill>
                  <a:solidFill>
                    <a:srgbClr val="000000"/>
                  </a:solidFill>
                </a:uFill>
                <a:latin typeface="Times New Roman"/>
                <a:cs typeface="Times New Roman"/>
              </a:rPr>
              <a:t>Advantages </a:t>
            </a:r>
            <a:r>
              <a:rPr sz="2200" u="heavy" spc="-5" dirty="0">
                <a:uFill>
                  <a:solidFill>
                    <a:srgbClr val="000000"/>
                  </a:solidFill>
                </a:uFill>
                <a:latin typeface="Times New Roman"/>
                <a:cs typeface="Times New Roman"/>
              </a:rPr>
              <a:t>of</a:t>
            </a:r>
            <a:r>
              <a:rPr sz="2200" u="heavy" spc="-15"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a</a:t>
            </a:r>
            <a:r>
              <a:rPr sz="2200" u="heavy" spc="-10"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Limited</a:t>
            </a:r>
            <a:r>
              <a:rPr sz="2200" u="heavy" spc="-10"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Liability</a:t>
            </a:r>
            <a:r>
              <a:rPr sz="2200" u="heavy" spc="-25"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Company</a:t>
            </a:r>
            <a:endParaRPr sz="2400" dirty="0">
              <a:latin typeface="Times New Roman"/>
              <a:cs typeface="Times New Roman"/>
            </a:endParaRPr>
          </a:p>
          <a:p>
            <a:pPr marL="220979" marR="5080" indent="-208915">
              <a:lnSpc>
                <a:spcPct val="120000"/>
              </a:lnSpc>
              <a:spcBef>
                <a:spcPts val="60"/>
              </a:spcBef>
              <a:buFont typeface="Wingdings"/>
              <a:buChar char=""/>
              <a:tabLst>
                <a:tab pos="211454" algn="l"/>
              </a:tabLst>
            </a:pPr>
            <a:r>
              <a:rPr sz="2200" spc="-10" dirty="0">
                <a:latin typeface="Times New Roman"/>
                <a:cs typeface="Times New Roman"/>
              </a:rPr>
              <a:t>Members are </a:t>
            </a:r>
            <a:r>
              <a:rPr sz="2200" spc="-5" dirty="0">
                <a:latin typeface="Times New Roman"/>
                <a:cs typeface="Times New Roman"/>
              </a:rPr>
              <a:t>liable </a:t>
            </a:r>
            <a:r>
              <a:rPr sz="2200" dirty="0">
                <a:latin typeface="Times New Roman"/>
                <a:cs typeface="Times New Roman"/>
              </a:rPr>
              <a:t>for </a:t>
            </a:r>
            <a:r>
              <a:rPr sz="2200" spc="-5" dirty="0">
                <a:latin typeface="Times New Roman"/>
                <a:cs typeface="Times New Roman"/>
              </a:rPr>
              <a:t>the </a:t>
            </a:r>
            <a:r>
              <a:rPr sz="2200" dirty="0">
                <a:latin typeface="Times New Roman"/>
                <a:cs typeface="Times New Roman"/>
              </a:rPr>
              <a:t>debts and </a:t>
            </a:r>
            <a:r>
              <a:rPr sz="2200" spc="-5" dirty="0" smtClean="0">
                <a:latin typeface="Times New Roman"/>
                <a:cs typeface="Times New Roman"/>
              </a:rPr>
              <a:t>obligations</a:t>
            </a:r>
            <a:r>
              <a:rPr lang="en-US" sz="2200" spc="-5" dirty="0" smtClean="0">
                <a:latin typeface="Times New Roman"/>
                <a:cs typeface="Times New Roman"/>
              </a:rPr>
              <a:t> </a:t>
            </a:r>
            <a:r>
              <a:rPr sz="2200" spc="-5" dirty="0" smtClean="0">
                <a:latin typeface="Times New Roman"/>
                <a:cs typeface="Times New Roman"/>
              </a:rPr>
              <a:t>of </a:t>
            </a:r>
            <a:r>
              <a:rPr sz="2200" spc="-5" dirty="0">
                <a:latin typeface="Times New Roman"/>
                <a:cs typeface="Times New Roman"/>
              </a:rPr>
              <a:t>the business </a:t>
            </a:r>
            <a:r>
              <a:rPr sz="2200" dirty="0">
                <a:latin typeface="Times New Roman"/>
                <a:cs typeface="Times New Roman"/>
              </a:rPr>
              <a:t>only </a:t>
            </a:r>
            <a:r>
              <a:rPr sz="2200" spc="-5" dirty="0">
                <a:latin typeface="Times New Roman"/>
                <a:cs typeface="Times New Roman"/>
              </a:rPr>
              <a:t>up to the </a:t>
            </a:r>
            <a:r>
              <a:rPr sz="2200" spc="-535" dirty="0">
                <a:latin typeface="Times New Roman"/>
                <a:cs typeface="Times New Roman"/>
              </a:rPr>
              <a:t> </a:t>
            </a:r>
            <a:r>
              <a:rPr sz="2200" spc="-5" dirty="0">
                <a:latin typeface="Times New Roman"/>
                <a:cs typeface="Times New Roman"/>
              </a:rPr>
              <a:t>amount of</a:t>
            </a:r>
            <a:r>
              <a:rPr sz="2200" spc="-10" dirty="0">
                <a:latin typeface="Times New Roman"/>
                <a:cs typeface="Times New Roman"/>
              </a:rPr>
              <a:t> </a:t>
            </a:r>
            <a:r>
              <a:rPr sz="2200" dirty="0">
                <a:latin typeface="Times New Roman"/>
                <a:cs typeface="Times New Roman"/>
              </a:rPr>
              <a:t>their</a:t>
            </a:r>
            <a:r>
              <a:rPr sz="2200" spc="-10" dirty="0">
                <a:latin typeface="Times New Roman"/>
                <a:cs typeface="Times New Roman"/>
              </a:rPr>
              <a:t> investment.</a:t>
            </a:r>
            <a:endParaRPr sz="2200" dirty="0">
              <a:latin typeface="Times New Roman"/>
              <a:cs typeface="Times New Roman"/>
            </a:endParaRPr>
          </a:p>
          <a:p>
            <a:pPr marL="205740" indent="-193675">
              <a:lnSpc>
                <a:spcPct val="100000"/>
              </a:lnSpc>
              <a:spcBef>
                <a:spcPts val="1260"/>
              </a:spcBef>
              <a:buFont typeface="Wingdings"/>
              <a:buChar char=""/>
              <a:tabLst>
                <a:tab pos="206375" algn="l"/>
              </a:tabLst>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number</a:t>
            </a:r>
            <a:r>
              <a:rPr sz="2200" spc="-15" dirty="0">
                <a:latin typeface="Times New Roman"/>
                <a:cs typeface="Times New Roman"/>
              </a:rPr>
              <a:t> </a:t>
            </a:r>
            <a:r>
              <a:rPr sz="2200" spc="5" dirty="0">
                <a:latin typeface="Times New Roman"/>
                <a:cs typeface="Times New Roman"/>
              </a:rPr>
              <a:t>of</a:t>
            </a:r>
            <a:r>
              <a:rPr sz="2200" spc="-20" dirty="0">
                <a:latin typeface="Times New Roman"/>
                <a:cs typeface="Times New Roman"/>
              </a:rPr>
              <a:t> </a:t>
            </a:r>
            <a:r>
              <a:rPr sz="2200" spc="-5" dirty="0">
                <a:latin typeface="Times New Roman"/>
                <a:cs typeface="Times New Roman"/>
              </a:rPr>
              <a:t>shareholders</a:t>
            </a:r>
            <a:r>
              <a:rPr sz="2200" spc="-3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unlimited.</a:t>
            </a:r>
            <a:endParaRPr sz="2200" dirty="0">
              <a:latin typeface="Times New Roman"/>
              <a:cs typeface="Times New Roman"/>
            </a:endParaRPr>
          </a:p>
          <a:p>
            <a:pPr marL="195580" marR="163195" indent="-195580">
              <a:lnSpc>
                <a:spcPct val="120000"/>
              </a:lnSpc>
              <a:spcBef>
                <a:spcPts val="60"/>
              </a:spcBef>
              <a:buFont typeface="Wingdings"/>
              <a:buChar char=""/>
              <a:tabLst>
                <a:tab pos="195580" algn="l"/>
              </a:tabLst>
            </a:pPr>
            <a:r>
              <a:rPr sz="2200" spc="-5" dirty="0">
                <a:latin typeface="Times New Roman"/>
                <a:cs typeface="Times New Roman"/>
              </a:rPr>
              <a:t>An</a:t>
            </a:r>
            <a:r>
              <a:rPr sz="2200" spc="20" dirty="0">
                <a:latin typeface="Times New Roman"/>
                <a:cs typeface="Times New Roman"/>
              </a:rPr>
              <a:t> </a:t>
            </a:r>
            <a:r>
              <a:rPr sz="2200" spc="-10" dirty="0">
                <a:latin typeface="Times New Roman"/>
                <a:cs typeface="Times New Roman"/>
              </a:rPr>
              <a:t>LLC</a:t>
            </a:r>
            <a:r>
              <a:rPr sz="2200" spc="10" dirty="0">
                <a:latin typeface="Times New Roman"/>
                <a:cs typeface="Times New Roman"/>
              </a:rPr>
              <a:t> </a:t>
            </a:r>
            <a:r>
              <a:rPr sz="2200" spc="-5" dirty="0">
                <a:latin typeface="Times New Roman"/>
                <a:cs typeface="Times New Roman"/>
              </a:rPr>
              <a:t>can elect</a:t>
            </a:r>
            <a:r>
              <a:rPr sz="2200" spc="5" dirty="0">
                <a:latin typeface="Times New Roman"/>
                <a:cs typeface="Times New Roman"/>
              </a:rPr>
              <a:t> </a:t>
            </a:r>
            <a:r>
              <a:rPr sz="2200" spc="-5" dirty="0">
                <a:latin typeface="Times New Roman"/>
                <a:cs typeface="Times New Roman"/>
              </a:rPr>
              <a:t>to be taxed </a:t>
            </a:r>
            <a:r>
              <a:rPr sz="2200" spc="-10" dirty="0">
                <a:latin typeface="Times New Roman"/>
                <a:cs typeface="Times New Roman"/>
              </a:rPr>
              <a:t>as</a:t>
            </a:r>
            <a:r>
              <a:rPr sz="2200" spc="5"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sole </a:t>
            </a:r>
            <a:r>
              <a:rPr sz="2200" spc="-10" dirty="0">
                <a:latin typeface="Times New Roman"/>
                <a:cs typeface="Times New Roman"/>
              </a:rPr>
              <a:t>proprietor,</a:t>
            </a:r>
            <a:r>
              <a:rPr sz="2200" spc="-45" dirty="0">
                <a:latin typeface="Times New Roman"/>
                <a:cs typeface="Times New Roman"/>
              </a:rPr>
              <a:t> </a:t>
            </a:r>
            <a:r>
              <a:rPr sz="2200" spc="-5" dirty="0">
                <a:latin typeface="Times New Roman"/>
                <a:cs typeface="Times New Roman"/>
              </a:rPr>
              <a:t>partnership,</a:t>
            </a:r>
            <a:r>
              <a:rPr sz="2200" spc="-20" dirty="0">
                <a:latin typeface="Times New Roman"/>
                <a:cs typeface="Times New Roman"/>
              </a:rPr>
              <a:t> </a:t>
            </a:r>
            <a:r>
              <a:rPr sz="2200" spc="-5" dirty="0">
                <a:latin typeface="Times New Roman"/>
                <a:cs typeface="Times New Roman"/>
              </a:rPr>
              <a:t>S</a:t>
            </a:r>
            <a:r>
              <a:rPr sz="2200" spc="-15" dirty="0">
                <a:latin typeface="Times New Roman"/>
                <a:cs typeface="Times New Roman"/>
              </a:rPr>
              <a:t> </a:t>
            </a:r>
            <a:r>
              <a:rPr sz="2200" dirty="0">
                <a:latin typeface="Times New Roman"/>
                <a:cs typeface="Times New Roman"/>
              </a:rPr>
              <a:t>corporation, </a:t>
            </a:r>
            <a:r>
              <a:rPr sz="2200" spc="-535" dirty="0">
                <a:latin typeface="Times New Roman"/>
                <a:cs typeface="Times New Roman"/>
              </a:rPr>
              <a:t> </a:t>
            </a:r>
            <a:r>
              <a:rPr sz="2200" spc="-5" dirty="0">
                <a:latin typeface="Times New Roman"/>
                <a:cs typeface="Times New Roman"/>
              </a:rPr>
              <a:t>or</a:t>
            </a:r>
            <a:r>
              <a:rPr sz="2200" spc="10" dirty="0">
                <a:latin typeface="Times New Roman"/>
                <a:cs typeface="Times New Roman"/>
              </a:rPr>
              <a:t> </a:t>
            </a:r>
            <a:r>
              <a:rPr sz="2200" spc="-5" dirty="0">
                <a:latin typeface="Times New Roman"/>
                <a:cs typeface="Times New Roman"/>
              </a:rPr>
              <a:t>corporation,</a:t>
            </a:r>
            <a:r>
              <a:rPr sz="2200" spc="-25" dirty="0">
                <a:latin typeface="Times New Roman"/>
                <a:cs typeface="Times New Roman"/>
              </a:rPr>
              <a:t> </a:t>
            </a:r>
            <a:r>
              <a:rPr sz="2200" spc="-5" dirty="0">
                <a:latin typeface="Times New Roman"/>
                <a:cs typeface="Times New Roman"/>
              </a:rPr>
              <a:t>providing</a:t>
            </a:r>
            <a:r>
              <a:rPr sz="2200" spc="-45" dirty="0">
                <a:latin typeface="Times New Roman"/>
                <a:cs typeface="Times New Roman"/>
              </a:rPr>
              <a:t> </a:t>
            </a:r>
            <a:r>
              <a:rPr sz="2200" spc="-5" dirty="0">
                <a:latin typeface="Times New Roman"/>
                <a:cs typeface="Times New Roman"/>
              </a:rPr>
              <a:t>much</a:t>
            </a:r>
            <a:r>
              <a:rPr sz="2200" spc="20" dirty="0">
                <a:latin typeface="Times New Roman"/>
                <a:cs typeface="Times New Roman"/>
              </a:rPr>
              <a:t> </a:t>
            </a:r>
            <a:r>
              <a:rPr sz="2200" spc="-20" dirty="0">
                <a:latin typeface="Times New Roman"/>
                <a:cs typeface="Times New Roman"/>
              </a:rPr>
              <a:t>flexibility.</a:t>
            </a:r>
            <a:endParaRPr sz="2200" dirty="0">
              <a:latin typeface="Times New Roman"/>
              <a:cs typeface="Times New Roman"/>
            </a:endParaRPr>
          </a:p>
          <a:p>
            <a:pPr marL="220979" marR="568325" indent="-208915">
              <a:lnSpc>
                <a:spcPts val="3960"/>
              </a:lnSpc>
              <a:spcBef>
                <a:spcPts val="90"/>
              </a:spcBef>
              <a:buFont typeface="Wingdings"/>
              <a:buChar char=""/>
              <a:tabLst>
                <a:tab pos="211454" algn="l"/>
              </a:tabLst>
            </a:pPr>
            <a:r>
              <a:rPr sz="2200" spc="-5" dirty="0">
                <a:latin typeface="Times New Roman"/>
                <a:cs typeface="Times New Roman"/>
              </a:rPr>
              <a:t>Because profits</a:t>
            </a:r>
            <a:r>
              <a:rPr sz="2200" spc="-20" dirty="0">
                <a:latin typeface="Times New Roman"/>
                <a:cs typeface="Times New Roman"/>
              </a:rPr>
              <a:t> </a:t>
            </a:r>
            <a:r>
              <a:rPr sz="2200" spc="-5" dirty="0">
                <a:latin typeface="Times New Roman"/>
                <a:cs typeface="Times New Roman"/>
              </a:rPr>
              <a:t>are</a:t>
            </a:r>
            <a:r>
              <a:rPr sz="2200" dirty="0">
                <a:latin typeface="Times New Roman"/>
                <a:cs typeface="Times New Roman"/>
              </a:rPr>
              <a:t> </a:t>
            </a:r>
            <a:r>
              <a:rPr sz="2200" spc="-5" dirty="0">
                <a:latin typeface="Times New Roman"/>
                <a:cs typeface="Times New Roman"/>
              </a:rPr>
              <a:t>taxed</a:t>
            </a:r>
            <a:r>
              <a:rPr sz="2200" dirty="0">
                <a:latin typeface="Times New Roman"/>
                <a:cs typeface="Times New Roman"/>
              </a:rPr>
              <a:t> </a:t>
            </a:r>
            <a:r>
              <a:rPr sz="2200" spc="-5" dirty="0">
                <a:latin typeface="Times New Roman"/>
                <a:cs typeface="Times New Roman"/>
              </a:rPr>
              <a:t>only</a:t>
            </a:r>
            <a:r>
              <a:rPr sz="2200" dirty="0">
                <a:latin typeface="Times New Roman"/>
                <a:cs typeface="Times New Roman"/>
              </a:rPr>
              <a:t> </a:t>
            </a:r>
            <a:r>
              <a:rPr sz="2200" spc="-10" dirty="0">
                <a:latin typeface="Times New Roman"/>
                <a:cs typeface="Times New Roman"/>
              </a:rPr>
              <a:t>at</a:t>
            </a:r>
            <a:r>
              <a:rPr sz="2200" spc="10" dirty="0">
                <a:latin typeface="Times New Roman"/>
                <a:cs typeface="Times New Roman"/>
              </a:rPr>
              <a:t> </a:t>
            </a:r>
            <a:r>
              <a:rPr sz="2200" spc="-5" dirty="0">
                <a:latin typeface="Times New Roman"/>
                <a:cs typeface="Times New Roman"/>
              </a:rPr>
              <a:t>the shareholder</a:t>
            </a:r>
            <a:r>
              <a:rPr sz="2200" dirty="0">
                <a:latin typeface="Times New Roman"/>
                <a:cs typeface="Times New Roman"/>
              </a:rPr>
              <a:t> </a:t>
            </a:r>
            <a:r>
              <a:rPr sz="2200" spc="-5" dirty="0">
                <a:latin typeface="Times New Roman"/>
                <a:cs typeface="Times New Roman"/>
              </a:rPr>
              <a:t>level,</a:t>
            </a:r>
            <a:r>
              <a:rPr sz="2200" dirty="0">
                <a:latin typeface="Times New Roman"/>
                <a:cs typeface="Times New Roman"/>
              </a:rPr>
              <a:t> </a:t>
            </a:r>
            <a:r>
              <a:rPr sz="2200" spc="-5" dirty="0">
                <a:latin typeface="Times New Roman"/>
                <a:cs typeface="Times New Roman"/>
              </a:rPr>
              <a:t>there</a:t>
            </a:r>
            <a:r>
              <a:rPr sz="2200" spc="-3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no</a:t>
            </a:r>
            <a:r>
              <a:rPr sz="2200" dirty="0">
                <a:latin typeface="Times New Roman"/>
                <a:cs typeface="Times New Roman"/>
              </a:rPr>
              <a:t> double </a:t>
            </a:r>
            <a:r>
              <a:rPr sz="2200" spc="-535" dirty="0">
                <a:latin typeface="Times New Roman"/>
                <a:cs typeface="Times New Roman"/>
              </a:rPr>
              <a:t> </a:t>
            </a:r>
            <a:r>
              <a:rPr sz="2200" spc="-5" dirty="0">
                <a:latin typeface="Times New Roman"/>
                <a:cs typeface="Times New Roman"/>
              </a:rPr>
              <a:t>taxation.</a:t>
            </a:r>
            <a:endParaRPr sz="2200" dirty="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0160" marR="5080" algn="ctr">
              <a:lnSpc>
                <a:spcPct val="100200"/>
              </a:lnSpc>
              <a:spcBef>
                <a:spcPts val="100"/>
              </a:spcBef>
            </a:pPr>
            <a:r>
              <a:rPr dirty="0"/>
              <a:t>Advantages </a:t>
            </a:r>
            <a:r>
              <a:rPr spc="10" dirty="0"/>
              <a:t>and</a:t>
            </a:r>
            <a:r>
              <a:rPr spc="-5" dirty="0"/>
              <a:t> Disadvantages</a:t>
            </a:r>
            <a:r>
              <a:rPr spc="40" dirty="0"/>
              <a:t> </a:t>
            </a:r>
            <a:r>
              <a:rPr dirty="0"/>
              <a:t>of</a:t>
            </a:r>
            <a:r>
              <a:rPr spc="-15" dirty="0"/>
              <a:t> </a:t>
            </a:r>
            <a:r>
              <a:rPr dirty="0"/>
              <a:t>a </a:t>
            </a:r>
            <a:r>
              <a:rPr spc="-969" dirty="0"/>
              <a:t> </a:t>
            </a:r>
            <a:r>
              <a:rPr dirty="0"/>
              <a:t>Limited</a:t>
            </a:r>
            <a:r>
              <a:rPr spc="-5" dirty="0"/>
              <a:t> </a:t>
            </a:r>
            <a:r>
              <a:rPr dirty="0"/>
              <a:t>Liability</a:t>
            </a:r>
            <a:r>
              <a:rPr spc="-40" dirty="0"/>
              <a:t> </a:t>
            </a:r>
            <a:r>
              <a:rPr dirty="0"/>
              <a:t>Company</a:t>
            </a:r>
          </a:p>
          <a:p>
            <a:pPr algn="ctr">
              <a:lnSpc>
                <a:spcPct val="100000"/>
              </a:lnSpc>
              <a:spcBef>
                <a:spcPts val="60"/>
              </a:spcBef>
            </a:pPr>
            <a:r>
              <a:rPr sz="2200" spc="-5" dirty="0"/>
              <a:t>2</a:t>
            </a:r>
            <a:r>
              <a:rPr sz="2200" spc="-35" dirty="0"/>
              <a:t> </a:t>
            </a:r>
            <a:r>
              <a:rPr sz="2200" spc="-5" dirty="0"/>
              <a:t>of</a:t>
            </a:r>
            <a:r>
              <a:rPr sz="2200" spc="-15" dirty="0"/>
              <a:t> </a:t>
            </a:r>
            <a:r>
              <a:rPr sz="2200" spc="-5" dirty="0"/>
              <a:t>2</a:t>
            </a:r>
            <a:endParaRPr sz="2200"/>
          </a:p>
        </p:txBody>
      </p:sp>
      <p:sp>
        <p:nvSpPr>
          <p:cNvPr id="3" name="object 3"/>
          <p:cNvSpPr/>
          <p:nvPr/>
        </p:nvSpPr>
        <p:spPr>
          <a:xfrm>
            <a:off x="0" y="1790700"/>
            <a:ext cx="10058400" cy="0"/>
          </a:xfrm>
          <a:custGeom>
            <a:avLst/>
            <a:gdLst/>
            <a:ahLst/>
            <a:cxnLst/>
            <a:rect l="l" t="t" r="r" b="b"/>
            <a:pathLst>
              <a:path w="10058400">
                <a:moveTo>
                  <a:pt x="0" y="0"/>
                </a:moveTo>
                <a:lnTo>
                  <a:pt x="10058400" y="0"/>
                </a:lnTo>
              </a:path>
            </a:pathLst>
          </a:custGeom>
          <a:ln w="41148">
            <a:solidFill>
              <a:srgbClr val="993300"/>
            </a:solidFill>
          </a:ln>
        </p:spPr>
        <p:txBody>
          <a:bodyPr wrap="square" lIns="0" tIns="0" rIns="0" bIns="0" rtlCol="0"/>
          <a:lstStyle/>
          <a:p>
            <a:endParaRPr/>
          </a:p>
        </p:txBody>
      </p:sp>
      <p:sp>
        <p:nvSpPr>
          <p:cNvPr id="4" name="object 4"/>
          <p:cNvSpPr txBox="1"/>
          <p:nvPr/>
        </p:nvSpPr>
        <p:spPr>
          <a:xfrm>
            <a:off x="590836" y="1995176"/>
            <a:ext cx="8921750" cy="4303486"/>
          </a:xfrm>
          <a:prstGeom prst="rect">
            <a:avLst/>
          </a:prstGeom>
        </p:spPr>
        <p:txBody>
          <a:bodyPr vert="horz" wrap="square" lIns="0" tIns="87630" rIns="0" bIns="0" rtlCol="0">
            <a:spAutoFit/>
          </a:bodyPr>
          <a:lstStyle/>
          <a:p>
            <a:pPr marL="12700">
              <a:lnSpc>
                <a:spcPct val="100000"/>
              </a:lnSpc>
              <a:spcBef>
                <a:spcPts val="690"/>
              </a:spcBef>
            </a:pPr>
            <a:r>
              <a:rPr sz="2200" u="heavy" spc="-5" dirty="0">
                <a:uFill>
                  <a:solidFill>
                    <a:srgbClr val="000000"/>
                  </a:solidFill>
                </a:uFill>
                <a:latin typeface="Times New Roman"/>
                <a:cs typeface="Times New Roman"/>
              </a:rPr>
              <a:t>Disadvantages</a:t>
            </a:r>
            <a:r>
              <a:rPr sz="2200" u="heavy"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of</a:t>
            </a:r>
            <a:r>
              <a:rPr sz="2200" u="heavy" spc="-10"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a </a:t>
            </a:r>
            <a:r>
              <a:rPr sz="2200" u="heavy" spc="-10" dirty="0">
                <a:uFill>
                  <a:solidFill>
                    <a:srgbClr val="000000"/>
                  </a:solidFill>
                </a:uFill>
                <a:latin typeface="Times New Roman"/>
                <a:cs typeface="Times New Roman"/>
              </a:rPr>
              <a:t>Limited</a:t>
            </a:r>
            <a:r>
              <a:rPr sz="2200" u="heavy" spc="20" dirty="0">
                <a:uFill>
                  <a:solidFill>
                    <a:srgbClr val="000000"/>
                  </a:solidFill>
                </a:uFill>
                <a:latin typeface="Times New Roman"/>
                <a:cs typeface="Times New Roman"/>
              </a:rPr>
              <a:t> </a:t>
            </a:r>
            <a:r>
              <a:rPr sz="2200" u="heavy" spc="-5" dirty="0">
                <a:uFill>
                  <a:solidFill>
                    <a:srgbClr val="000000"/>
                  </a:solidFill>
                </a:uFill>
                <a:latin typeface="Times New Roman"/>
                <a:cs typeface="Times New Roman"/>
              </a:rPr>
              <a:t>Liability</a:t>
            </a:r>
            <a:r>
              <a:rPr sz="2200" u="heavy" spc="-20" dirty="0">
                <a:uFill>
                  <a:solidFill>
                    <a:srgbClr val="000000"/>
                  </a:solidFill>
                </a:uFill>
                <a:latin typeface="Times New Roman"/>
                <a:cs typeface="Times New Roman"/>
              </a:rPr>
              <a:t> </a:t>
            </a:r>
            <a:r>
              <a:rPr sz="2200" u="heavy" spc="-10" dirty="0">
                <a:uFill>
                  <a:solidFill>
                    <a:srgbClr val="000000"/>
                  </a:solidFill>
                </a:uFill>
                <a:latin typeface="Times New Roman"/>
                <a:cs typeface="Times New Roman"/>
              </a:rPr>
              <a:t>Company</a:t>
            </a:r>
            <a:endParaRPr sz="2200" dirty="0">
              <a:latin typeface="Times New Roman"/>
              <a:cs typeface="Times New Roman"/>
            </a:endParaRPr>
          </a:p>
          <a:p>
            <a:pPr marL="210820" indent="-198755">
              <a:lnSpc>
                <a:spcPct val="100000"/>
              </a:lnSpc>
              <a:spcBef>
                <a:spcPts val="585"/>
              </a:spcBef>
              <a:buFont typeface="Wingdings"/>
              <a:buChar char=""/>
              <a:tabLst>
                <a:tab pos="211454" algn="l"/>
              </a:tabLst>
            </a:pPr>
            <a:r>
              <a:rPr sz="2200" spc="-5" dirty="0">
                <a:latin typeface="Times New Roman"/>
                <a:cs typeface="Times New Roman"/>
              </a:rPr>
              <a:t>Setting</a:t>
            </a:r>
            <a:r>
              <a:rPr sz="2200" spc="-25" dirty="0">
                <a:latin typeface="Times New Roman"/>
                <a:cs typeface="Times New Roman"/>
              </a:rPr>
              <a:t> </a:t>
            </a:r>
            <a:r>
              <a:rPr sz="2200" spc="-5" dirty="0">
                <a:latin typeface="Times New Roman"/>
                <a:cs typeface="Times New Roman"/>
              </a:rPr>
              <a:t>up</a:t>
            </a:r>
            <a:r>
              <a:rPr sz="2200" dirty="0">
                <a:latin typeface="Times New Roman"/>
                <a:cs typeface="Times New Roman"/>
              </a:rPr>
              <a:t> and</a:t>
            </a:r>
            <a:r>
              <a:rPr sz="2200" spc="-5" dirty="0">
                <a:latin typeface="Times New Roman"/>
                <a:cs typeface="Times New Roman"/>
              </a:rPr>
              <a:t> maintaining</a:t>
            </a:r>
            <a:r>
              <a:rPr sz="2200" spc="-20" dirty="0">
                <a:latin typeface="Times New Roman"/>
                <a:cs typeface="Times New Roman"/>
              </a:rPr>
              <a:t> </a:t>
            </a:r>
            <a:r>
              <a:rPr sz="2200" spc="-5" dirty="0">
                <a:latin typeface="Times New Roman"/>
                <a:cs typeface="Times New Roman"/>
              </a:rPr>
              <a:t>one</a:t>
            </a:r>
            <a:r>
              <a:rPr sz="2200" spc="15" dirty="0">
                <a:latin typeface="Times New Roman"/>
                <a:cs typeface="Times New Roman"/>
              </a:rPr>
              <a:t> </a:t>
            </a:r>
            <a:r>
              <a:rPr sz="2200" spc="-5" dirty="0">
                <a:latin typeface="Times New Roman"/>
                <a:cs typeface="Times New Roman"/>
              </a:rPr>
              <a:t>is</a:t>
            </a:r>
            <a:r>
              <a:rPr sz="2200" spc="-25" dirty="0">
                <a:latin typeface="Times New Roman"/>
                <a:cs typeface="Times New Roman"/>
              </a:rPr>
              <a:t> </a:t>
            </a:r>
            <a:r>
              <a:rPr sz="2200" spc="-5" dirty="0">
                <a:latin typeface="Times New Roman"/>
                <a:cs typeface="Times New Roman"/>
              </a:rPr>
              <a:t>more</a:t>
            </a:r>
            <a:r>
              <a:rPr sz="2200" spc="15" dirty="0">
                <a:latin typeface="Times New Roman"/>
                <a:cs typeface="Times New Roman"/>
              </a:rPr>
              <a:t> </a:t>
            </a:r>
            <a:r>
              <a:rPr sz="2200" spc="-10" dirty="0">
                <a:latin typeface="Times New Roman"/>
                <a:cs typeface="Times New Roman"/>
              </a:rPr>
              <a:t>difficult</a:t>
            </a:r>
            <a:r>
              <a:rPr sz="2200" spc="-45" dirty="0">
                <a:latin typeface="Times New Roman"/>
                <a:cs typeface="Times New Roman"/>
              </a:rPr>
              <a:t> </a:t>
            </a:r>
            <a:r>
              <a:rPr sz="2200" spc="-10" dirty="0">
                <a:latin typeface="Times New Roman"/>
                <a:cs typeface="Times New Roman"/>
              </a:rPr>
              <a:t>and</a:t>
            </a:r>
            <a:r>
              <a:rPr sz="2200" spc="25" dirty="0">
                <a:latin typeface="Times New Roman"/>
                <a:cs typeface="Times New Roman"/>
              </a:rPr>
              <a:t> </a:t>
            </a:r>
            <a:r>
              <a:rPr sz="2200" spc="-5" dirty="0">
                <a:latin typeface="Times New Roman"/>
                <a:cs typeface="Times New Roman"/>
              </a:rPr>
              <a:t>expensive.</a:t>
            </a:r>
            <a:endParaRPr sz="2200" dirty="0">
              <a:latin typeface="Times New Roman"/>
              <a:cs typeface="Times New Roman"/>
            </a:endParaRPr>
          </a:p>
          <a:p>
            <a:pPr marL="205740" indent="-193675">
              <a:lnSpc>
                <a:spcPct val="100000"/>
              </a:lnSpc>
              <a:spcBef>
                <a:spcPts val="1260"/>
              </a:spcBef>
              <a:buFont typeface="Wingdings"/>
              <a:buChar char=""/>
              <a:tabLst>
                <a:tab pos="206375" algn="l"/>
              </a:tabLst>
            </a:pPr>
            <a:r>
              <a:rPr sz="2200" spc="-60" dirty="0">
                <a:latin typeface="Times New Roman"/>
                <a:cs typeface="Times New Roman"/>
              </a:rPr>
              <a:t>Tax</a:t>
            </a:r>
            <a:r>
              <a:rPr sz="2200" spc="10" dirty="0">
                <a:latin typeface="Times New Roman"/>
                <a:cs typeface="Times New Roman"/>
              </a:rPr>
              <a:t> </a:t>
            </a:r>
            <a:r>
              <a:rPr sz="2200" spc="-5" dirty="0">
                <a:latin typeface="Times New Roman"/>
                <a:cs typeface="Times New Roman"/>
              </a:rPr>
              <a:t>accounting</a:t>
            </a:r>
            <a:r>
              <a:rPr sz="2200" spc="-15" dirty="0">
                <a:latin typeface="Times New Roman"/>
                <a:cs typeface="Times New Roman"/>
              </a:rPr>
              <a:t> </a:t>
            </a:r>
            <a:r>
              <a:rPr sz="2200" spc="-10" dirty="0">
                <a:latin typeface="Times New Roman"/>
                <a:cs typeface="Times New Roman"/>
              </a:rPr>
              <a:t>can</a:t>
            </a:r>
            <a:r>
              <a:rPr sz="2200" spc="15" dirty="0">
                <a:latin typeface="Times New Roman"/>
                <a:cs typeface="Times New Roman"/>
              </a:rPr>
              <a:t> </a:t>
            </a:r>
            <a:r>
              <a:rPr sz="2200" spc="-5" dirty="0">
                <a:latin typeface="Times New Roman"/>
                <a:cs typeface="Times New Roman"/>
              </a:rPr>
              <a:t>be</a:t>
            </a:r>
            <a:r>
              <a:rPr sz="2200" spc="-20" dirty="0">
                <a:latin typeface="Times New Roman"/>
                <a:cs typeface="Times New Roman"/>
              </a:rPr>
              <a:t> </a:t>
            </a:r>
            <a:r>
              <a:rPr sz="2200" spc="-5" dirty="0">
                <a:latin typeface="Times New Roman"/>
                <a:cs typeface="Times New Roman"/>
              </a:rPr>
              <a:t>complicated.</a:t>
            </a:r>
            <a:endParaRPr sz="2200" dirty="0">
              <a:latin typeface="Times New Roman"/>
              <a:cs typeface="Times New Roman"/>
            </a:endParaRPr>
          </a:p>
          <a:p>
            <a:pPr marL="210820" indent="-198755">
              <a:lnSpc>
                <a:spcPct val="100000"/>
              </a:lnSpc>
              <a:spcBef>
                <a:spcPts val="1320"/>
              </a:spcBef>
              <a:buFont typeface="Wingdings"/>
              <a:buChar char=""/>
              <a:tabLst>
                <a:tab pos="211454" algn="l"/>
              </a:tabLst>
            </a:pPr>
            <a:r>
              <a:rPr sz="2200" spc="-10" dirty="0">
                <a:latin typeface="Times New Roman"/>
                <a:cs typeface="Times New Roman"/>
              </a:rPr>
              <a:t>Some</a:t>
            </a:r>
            <a:r>
              <a:rPr sz="2200" spc="15"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the regulations</a:t>
            </a:r>
            <a:r>
              <a:rPr sz="2200" spc="-40" dirty="0">
                <a:latin typeface="Times New Roman"/>
                <a:cs typeface="Times New Roman"/>
              </a:rPr>
              <a:t> </a:t>
            </a:r>
            <a:r>
              <a:rPr sz="2200" dirty="0">
                <a:latin typeface="Times New Roman"/>
                <a:cs typeface="Times New Roman"/>
              </a:rPr>
              <a:t>governing</a:t>
            </a:r>
            <a:r>
              <a:rPr sz="2200" spc="-20" dirty="0">
                <a:latin typeface="Times New Roman"/>
                <a:cs typeface="Times New Roman"/>
              </a:rPr>
              <a:t> </a:t>
            </a:r>
            <a:r>
              <a:rPr sz="2200" spc="-5" dirty="0">
                <a:latin typeface="Times New Roman"/>
                <a:cs typeface="Times New Roman"/>
              </a:rPr>
              <a:t>LLCs</a:t>
            </a:r>
            <a:r>
              <a:rPr sz="2200" spc="25" dirty="0">
                <a:latin typeface="Times New Roman"/>
                <a:cs typeface="Times New Roman"/>
              </a:rPr>
              <a:t> </a:t>
            </a:r>
            <a:r>
              <a:rPr sz="2200" spc="-5" dirty="0">
                <a:latin typeface="Times New Roman"/>
                <a:cs typeface="Times New Roman"/>
              </a:rPr>
              <a:t>vary</a:t>
            </a:r>
            <a:r>
              <a:rPr sz="2200" spc="-20" dirty="0">
                <a:latin typeface="Times New Roman"/>
                <a:cs typeface="Times New Roman"/>
              </a:rPr>
              <a:t> </a:t>
            </a:r>
            <a:r>
              <a:rPr sz="2200" spc="5" dirty="0">
                <a:latin typeface="Times New Roman"/>
                <a:cs typeface="Times New Roman"/>
              </a:rPr>
              <a:t>by</a:t>
            </a:r>
            <a:r>
              <a:rPr sz="2200" dirty="0">
                <a:latin typeface="Times New Roman"/>
                <a:cs typeface="Times New Roman"/>
              </a:rPr>
              <a:t> </a:t>
            </a:r>
            <a:r>
              <a:rPr sz="2200" spc="-10" dirty="0">
                <a:latin typeface="Times New Roman"/>
                <a:cs typeface="Times New Roman"/>
              </a:rPr>
              <a:t>state.</a:t>
            </a:r>
            <a:endParaRPr sz="2200" dirty="0">
              <a:latin typeface="Times New Roman"/>
              <a:cs typeface="Times New Roman"/>
            </a:endParaRPr>
          </a:p>
          <a:p>
            <a:pPr marL="220979" marR="370205" indent="-208915">
              <a:lnSpc>
                <a:spcPct val="120000"/>
              </a:lnSpc>
              <a:spcBef>
                <a:spcPts val="60"/>
              </a:spcBef>
              <a:buFont typeface="Wingdings"/>
              <a:buChar char=""/>
              <a:tabLst>
                <a:tab pos="211454" algn="l"/>
              </a:tabLst>
            </a:pPr>
            <a:r>
              <a:rPr sz="2200" spc="-5" dirty="0">
                <a:latin typeface="Times New Roman"/>
                <a:cs typeface="Times New Roman"/>
              </a:rPr>
              <a:t>Because </a:t>
            </a:r>
            <a:r>
              <a:rPr sz="2200" dirty="0">
                <a:latin typeface="Times New Roman"/>
                <a:cs typeface="Times New Roman"/>
              </a:rPr>
              <a:t>LLCs are </a:t>
            </a:r>
            <a:r>
              <a:rPr sz="2200" spc="-5" dirty="0">
                <a:latin typeface="Times New Roman"/>
                <a:cs typeface="Times New Roman"/>
              </a:rPr>
              <a:t>a relatively </a:t>
            </a:r>
            <a:r>
              <a:rPr sz="2200" dirty="0">
                <a:latin typeface="Times New Roman"/>
                <a:cs typeface="Times New Roman"/>
              </a:rPr>
              <a:t>new type </a:t>
            </a:r>
            <a:r>
              <a:rPr sz="2200" spc="-5" dirty="0">
                <a:latin typeface="Times New Roman"/>
                <a:cs typeface="Times New Roman"/>
              </a:rPr>
              <a:t>of business </a:t>
            </a:r>
            <a:r>
              <a:rPr sz="2200" spc="-20" dirty="0">
                <a:latin typeface="Times New Roman"/>
                <a:cs typeface="Times New Roman"/>
              </a:rPr>
              <a:t>entity, </a:t>
            </a:r>
            <a:r>
              <a:rPr sz="2200" spc="-5" dirty="0">
                <a:latin typeface="Times New Roman"/>
                <a:cs typeface="Times New Roman"/>
              </a:rPr>
              <a:t>there is not </a:t>
            </a:r>
            <a:r>
              <a:rPr sz="2200" spc="-10" dirty="0">
                <a:latin typeface="Times New Roman"/>
                <a:cs typeface="Times New Roman"/>
              </a:rPr>
              <a:t>as </a:t>
            </a:r>
            <a:r>
              <a:rPr sz="2200" spc="-5" dirty="0">
                <a:latin typeface="Times New Roman"/>
                <a:cs typeface="Times New Roman"/>
              </a:rPr>
              <a:t> much</a:t>
            </a:r>
            <a:r>
              <a:rPr sz="2200" spc="25" dirty="0">
                <a:latin typeface="Times New Roman"/>
                <a:cs typeface="Times New Roman"/>
              </a:rPr>
              <a:t> </a:t>
            </a:r>
            <a:r>
              <a:rPr sz="2200" spc="-10" dirty="0">
                <a:latin typeface="Times New Roman"/>
                <a:cs typeface="Times New Roman"/>
              </a:rPr>
              <a:t>legal</a:t>
            </a:r>
            <a:r>
              <a:rPr sz="2200" spc="5" dirty="0">
                <a:latin typeface="Times New Roman"/>
                <a:cs typeface="Times New Roman"/>
              </a:rPr>
              <a:t> </a:t>
            </a:r>
            <a:r>
              <a:rPr sz="2200" spc="-5" dirty="0">
                <a:latin typeface="Times New Roman"/>
                <a:cs typeface="Times New Roman"/>
              </a:rPr>
              <a:t>precedent</a:t>
            </a:r>
            <a:r>
              <a:rPr sz="2200" spc="5" dirty="0">
                <a:latin typeface="Times New Roman"/>
                <a:cs typeface="Times New Roman"/>
              </a:rPr>
              <a:t> </a:t>
            </a:r>
            <a:r>
              <a:rPr sz="2200" spc="-5" dirty="0">
                <a:latin typeface="Times New Roman"/>
                <a:cs typeface="Times New Roman"/>
              </a:rPr>
              <a:t>available</a:t>
            </a:r>
            <a:r>
              <a:rPr sz="2200" spc="-30" dirty="0">
                <a:latin typeface="Times New Roman"/>
                <a:cs typeface="Times New Roman"/>
              </a:rPr>
              <a:t> </a:t>
            </a:r>
            <a:r>
              <a:rPr sz="2200" dirty="0">
                <a:latin typeface="Times New Roman"/>
                <a:cs typeface="Times New Roman"/>
              </a:rPr>
              <a:t>for</a:t>
            </a:r>
            <a:r>
              <a:rPr sz="2200" spc="-5" dirty="0">
                <a:latin typeface="Times New Roman"/>
                <a:cs typeface="Times New Roman"/>
              </a:rPr>
              <a:t> owners</a:t>
            </a:r>
            <a:r>
              <a:rPr sz="2200" spc="1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anticipate </a:t>
            </a:r>
            <a:r>
              <a:rPr sz="2200" dirty="0">
                <a:latin typeface="Times New Roman"/>
                <a:cs typeface="Times New Roman"/>
              </a:rPr>
              <a:t>how</a:t>
            </a:r>
            <a:r>
              <a:rPr sz="2200" spc="-5" dirty="0">
                <a:latin typeface="Times New Roman"/>
                <a:cs typeface="Times New Roman"/>
              </a:rPr>
              <a:t> legal</a:t>
            </a:r>
            <a:r>
              <a:rPr sz="2200" spc="-15" dirty="0">
                <a:latin typeface="Times New Roman"/>
                <a:cs typeface="Times New Roman"/>
              </a:rPr>
              <a:t> </a:t>
            </a:r>
            <a:r>
              <a:rPr sz="2200" spc="-5" dirty="0">
                <a:latin typeface="Times New Roman"/>
                <a:cs typeface="Times New Roman"/>
              </a:rPr>
              <a:t>disputes </a:t>
            </a:r>
            <a:r>
              <a:rPr sz="2200" spc="-535" dirty="0">
                <a:latin typeface="Times New Roman"/>
                <a:cs typeface="Times New Roman"/>
              </a:rPr>
              <a:t> </a:t>
            </a:r>
            <a:r>
              <a:rPr sz="2200" spc="-10" dirty="0">
                <a:latin typeface="Times New Roman"/>
                <a:cs typeface="Times New Roman"/>
              </a:rPr>
              <a:t>might</a:t>
            </a:r>
            <a:r>
              <a:rPr sz="2200" spc="-5" dirty="0">
                <a:latin typeface="Times New Roman"/>
                <a:cs typeface="Times New Roman"/>
              </a:rPr>
              <a:t> </a:t>
            </a:r>
            <a:r>
              <a:rPr sz="2200" spc="-10" dirty="0">
                <a:latin typeface="Times New Roman"/>
                <a:cs typeface="Times New Roman"/>
              </a:rPr>
              <a:t>affect</a:t>
            </a:r>
            <a:r>
              <a:rPr sz="2200" dirty="0">
                <a:latin typeface="Times New Roman"/>
                <a:cs typeface="Times New Roman"/>
              </a:rPr>
              <a:t> </a:t>
            </a:r>
            <a:r>
              <a:rPr sz="2200" spc="-5" dirty="0">
                <a:latin typeface="Times New Roman"/>
                <a:cs typeface="Times New Roman"/>
              </a:rPr>
              <a:t>their</a:t>
            </a:r>
            <a:r>
              <a:rPr sz="2200" spc="-30" dirty="0">
                <a:latin typeface="Times New Roman"/>
                <a:cs typeface="Times New Roman"/>
              </a:rPr>
              <a:t> </a:t>
            </a:r>
            <a:r>
              <a:rPr sz="2200" spc="-5" dirty="0">
                <a:latin typeface="Times New Roman"/>
                <a:cs typeface="Times New Roman"/>
              </a:rPr>
              <a:t>business.</a:t>
            </a:r>
            <a:endParaRPr sz="2200" dirty="0">
              <a:latin typeface="Times New Roman"/>
              <a:cs typeface="Times New Roman"/>
            </a:endParaRPr>
          </a:p>
          <a:p>
            <a:pPr marL="220979" marR="5080" indent="-208915">
              <a:lnSpc>
                <a:spcPct val="120000"/>
              </a:lnSpc>
              <a:buFont typeface="Wingdings"/>
              <a:buChar char=""/>
              <a:tabLst>
                <a:tab pos="211454" algn="l"/>
              </a:tabLst>
            </a:pPr>
            <a:r>
              <a:rPr sz="2200" spc="-10" dirty="0">
                <a:latin typeface="Times New Roman"/>
                <a:cs typeface="Times New Roman"/>
              </a:rPr>
              <a:t>Some</a:t>
            </a:r>
            <a:r>
              <a:rPr sz="2200" spc="10" dirty="0">
                <a:latin typeface="Times New Roman"/>
                <a:cs typeface="Times New Roman"/>
              </a:rPr>
              <a:t> </a:t>
            </a:r>
            <a:r>
              <a:rPr sz="2200" spc="-5" dirty="0">
                <a:latin typeface="Times New Roman"/>
                <a:cs typeface="Times New Roman"/>
              </a:rPr>
              <a:t>states</a:t>
            </a:r>
            <a:r>
              <a:rPr sz="2200" spc="-25" dirty="0">
                <a:latin typeface="Times New Roman"/>
                <a:cs typeface="Times New Roman"/>
              </a:rPr>
              <a:t> </a:t>
            </a:r>
            <a:r>
              <a:rPr sz="2200" dirty="0">
                <a:latin typeface="Times New Roman"/>
                <a:cs typeface="Times New Roman"/>
              </a:rPr>
              <a:t>levy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franchise</a:t>
            </a:r>
            <a:r>
              <a:rPr sz="2200" spc="-35" dirty="0">
                <a:latin typeface="Times New Roman"/>
                <a:cs typeface="Times New Roman"/>
              </a:rPr>
              <a:t> </a:t>
            </a:r>
            <a:r>
              <a:rPr sz="2200" spc="-5" dirty="0">
                <a:latin typeface="Times New Roman"/>
                <a:cs typeface="Times New Roman"/>
              </a:rPr>
              <a:t>tax</a:t>
            </a:r>
            <a:r>
              <a:rPr sz="2200" spc="25" dirty="0">
                <a:latin typeface="Times New Roman"/>
                <a:cs typeface="Times New Roman"/>
              </a:rPr>
              <a:t> </a:t>
            </a:r>
            <a:r>
              <a:rPr sz="2200" spc="-5" dirty="0">
                <a:latin typeface="Times New Roman"/>
                <a:cs typeface="Times New Roman"/>
              </a:rPr>
              <a:t>on LLCs—which</a:t>
            </a:r>
            <a:r>
              <a:rPr sz="2200" spc="20"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essentially a</a:t>
            </a:r>
            <a:r>
              <a:rPr sz="2200" spc="-10" dirty="0">
                <a:latin typeface="Times New Roman"/>
                <a:cs typeface="Times New Roman"/>
              </a:rPr>
              <a:t> </a:t>
            </a:r>
            <a:r>
              <a:rPr sz="2200" spc="-5" dirty="0">
                <a:latin typeface="Times New Roman"/>
                <a:cs typeface="Times New Roman"/>
              </a:rPr>
              <a:t>fee the</a:t>
            </a:r>
            <a:r>
              <a:rPr sz="2200" spc="-10" dirty="0">
                <a:latin typeface="Times New Roman"/>
                <a:cs typeface="Times New Roman"/>
              </a:rPr>
              <a:t> LLC </a:t>
            </a:r>
            <a:r>
              <a:rPr sz="2200" spc="-535" dirty="0">
                <a:latin typeface="Times New Roman"/>
                <a:cs typeface="Times New Roman"/>
              </a:rPr>
              <a:t> </a:t>
            </a:r>
            <a:r>
              <a:rPr sz="2200" dirty="0">
                <a:latin typeface="Times New Roman"/>
                <a:cs typeface="Times New Roman"/>
              </a:rPr>
              <a:t>pays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state</a:t>
            </a:r>
            <a:r>
              <a:rPr sz="2200" spc="-10" dirty="0">
                <a:latin typeface="Times New Roman"/>
                <a:cs typeface="Times New Roman"/>
              </a:rPr>
              <a:t> </a:t>
            </a:r>
            <a:r>
              <a:rPr sz="2200" dirty="0">
                <a:latin typeface="Times New Roman"/>
                <a:cs typeface="Times New Roman"/>
              </a:rPr>
              <a:t>for</a:t>
            </a:r>
            <a:r>
              <a:rPr sz="2200" spc="-30" dirty="0">
                <a:latin typeface="Times New Roman"/>
                <a:cs typeface="Times New Roman"/>
              </a:rPr>
              <a:t> </a:t>
            </a:r>
            <a:r>
              <a:rPr sz="2200" spc="5" dirty="0">
                <a:latin typeface="Times New Roman"/>
                <a:cs typeface="Times New Roman"/>
              </a:rPr>
              <a:t>the</a:t>
            </a:r>
            <a:r>
              <a:rPr sz="2200" spc="-35" dirty="0">
                <a:latin typeface="Times New Roman"/>
                <a:cs typeface="Times New Roman"/>
              </a:rPr>
              <a:t> </a:t>
            </a:r>
            <a:r>
              <a:rPr sz="2200" spc="-5" dirty="0">
                <a:latin typeface="Times New Roman"/>
                <a:cs typeface="Times New Roman"/>
              </a:rPr>
              <a:t>benefit</a:t>
            </a:r>
            <a:r>
              <a:rPr sz="2200" spc="-20" dirty="0">
                <a:latin typeface="Times New Roman"/>
                <a:cs typeface="Times New Roman"/>
              </a:rPr>
              <a:t> </a:t>
            </a:r>
            <a:r>
              <a:rPr sz="2200" spc="-5" dirty="0">
                <a:latin typeface="Times New Roman"/>
                <a:cs typeface="Times New Roman"/>
              </a:rPr>
              <a:t>of</a:t>
            </a:r>
            <a:r>
              <a:rPr sz="2200" spc="-10" dirty="0">
                <a:latin typeface="Times New Roman"/>
                <a:cs typeface="Times New Roman"/>
              </a:rPr>
              <a:t> limited</a:t>
            </a:r>
            <a:r>
              <a:rPr sz="2200" spc="-5" dirty="0">
                <a:latin typeface="Times New Roman"/>
                <a:cs typeface="Times New Roman"/>
              </a:rPr>
              <a:t> </a:t>
            </a:r>
            <a:r>
              <a:rPr sz="2200" spc="-20" dirty="0">
                <a:latin typeface="Times New Roman"/>
                <a:cs typeface="Times New Roman"/>
              </a:rPr>
              <a:t>liability</a:t>
            </a:r>
            <a:r>
              <a:rPr sz="2200" spc="-20" dirty="0" smtClean="0">
                <a:latin typeface="Times New Roman"/>
                <a:cs typeface="Times New Roman"/>
              </a:rPr>
              <a:t>.</a:t>
            </a:r>
            <a:endParaRPr lang="en-US" sz="2200" spc="-20" dirty="0" smtClean="0">
              <a:latin typeface="Times New Roman"/>
              <a:cs typeface="Times New Roman"/>
            </a:endParaRPr>
          </a:p>
          <a:p>
            <a:pPr marL="220979" marR="5080" indent="-208915">
              <a:lnSpc>
                <a:spcPct val="120000"/>
              </a:lnSpc>
              <a:buFont typeface="Wingdings"/>
              <a:buChar char=""/>
              <a:tabLst>
                <a:tab pos="211454" algn="l"/>
              </a:tabLst>
            </a:pPr>
            <a:r>
              <a:rPr lang="en-US" sz="2200" dirty="0">
                <a:latin typeface="Times New Roman"/>
                <a:cs typeface="Times New Roman"/>
              </a:rPr>
              <a:t>An LLC must be a private business—it cannot </a:t>
            </a:r>
            <a:r>
              <a:rPr lang="en-US" sz="2200" dirty="0" smtClean="0">
                <a:latin typeface="Times New Roman"/>
                <a:cs typeface="Times New Roman"/>
              </a:rPr>
              <a:t>be publicly </a:t>
            </a:r>
            <a:r>
              <a:rPr lang="en-US" sz="2200" dirty="0">
                <a:latin typeface="Times New Roman"/>
                <a:cs typeface="Times New Roman"/>
              </a:rPr>
              <a:t>traded.</a:t>
            </a:r>
            <a:endParaRPr sz="22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429</TotalTime>
  <Words>2885</Words>
  <Application>Microsoft Office PowerPoint</Application>
  <PresentationFormat>Custom</PresentationFormat>
  <Paragraphs>260</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Chapter 7</vt:lpstr>
      <vt:lpstr>Chapter Objectives 1 of 3</vt:lpstr>
      <vt:lpstr>Chapter Objectives 2 of 3</vt:lpstr>
      <vt:lpstr>Chapter Objectives 3 of 3</vt:lpstr>
      <vt:lpstr>Initial Ethical and Legal Issues Facing a  New Firm</vt:lpstr>
      <vt:lpstr>Establishing a Strong Ethical Culture 1 of 2</vt:lpstr>
      <vt:lpstr>Establishing a Strong Ethical Culture 2 of 2</vt:lpstr>
      <vt:lpstr>Establishing a Strong Ethical Culture 2 of 3</vt:lpstr>
      <vt:lpstr>Potential Payoffs for Establishing a Strong  Ethical Culture</vt:lpstr>
      <vt:lpstr>Choosing an Attorney for a Firm</vt:lpstr>
      <vt:lpstr>Definitions:</vt:lpstr>
      <vt:lpstr>How to Select an Attorney</vt:lpstr>
      <vt:lpstr>Draft a Founders’ Agreement</vt:lpstr>
      <vt:lpstr>Items to Include in a Founders’ Agreement</vt:lpstr>
      <vt:lpstr>Avoiding Legal Disputes 1 of 2</vt:lpstr>
      <vt:lpstr>Avoiding Legal Disputes 2 of 2</vt:lpstr>
      <vt:lpstr>Obtaining Business Licenses and Permits 1 of 2</vt:lpstr>
      <vt:lpstr>Obtaining Business Licenses and Permits 2 of 2</vt:lpstr>
      <vt:lpstr>Choosing a Form of Business Organization</vt:lpstr>
      <vt:lpstr>Factors Critical in Selecting a Form of Business Organization</vt:lpstr>
      <vt:lpstr>Sole Proprietorship</vt:lpstr>
      <vt:lpstr>Advantages and Disadvantages of a  Sole Proprietorship 1 of 2</vt:lpstr>
      <vt:lpstr>Advantages and Disadvantages of a  Sole Proprietorship 2 of 2</vt:lpstr>
      <vt:lpstr>Partnerships 1 of 3</vt:lpstr>
      <vt:lpstr>Partnerships 2 of 3</vt:lpstr>
      <vt:lpstr>Advantages and Disadvantages of a  General Partnership 1 of 2</vt:lpstr>
      <vt:lpstr>Partnerships 3 of 3</vt:lpstr>
      <vt:lpstr>Corporations</vt:lpstr>
      <vt:lpstr>C Corporations 1 of 2</vt:lpstr>
      <vt:lpstr>C Corporations 2 of 2</vt:lpstr>
      <vt:lpstr>Advantages and Disadvantages of a  C Corporation 1of 2</vt:lpstr>
      <vt:lpstr>Advantages and Disadvantages of a  C Corporation 2 of 2</vt:lpstr>
      <vt:lpstr>Subchapter S Corporation 1 of 2</vt:lpstr>
      <vt:lpstr>Subchapter S Corporations 2 of 2</vt:lpstr>
      <vt:lpstr>Limited Liability Company</vt:lpstr>
      <vt:lpstr>Advantages and Disadvantages of a  Limited Liability Company 1 of 2</vt:lpstr>
      <vt:lpstr>Advantages and Disadvantages of a  Limited Liability Company 2 of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EBM_8.ppt [Compatibility Mode]</dc:title>
  <dc:creator>AliShahid</dc:creator>
  <cp:lastModifiedBy>Ramsha Khalid</cp:lastModifiedBy>
  <cp:revision>48</cp:revision>
  <dcterms:created xsi:type="dcterms:W3CDTF">2023-01-17T09:39:58Z</dcterms:created>
  <dcterms:modified xsi:type="dcterms:W3CDTF">2023-04-09T15:11:45Z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2022-04-05T00:00:00Z</vt:filetime>
  </property>
  <property fmtid="{D5CDD505-2E9C-101B-9397-08002B2CF9AE}" pid="3" name="LastSaved">
    <vt:filetime>2023-01-17T00:00:00Z</vt:filetime>
  </property>
</Properties>
</file>