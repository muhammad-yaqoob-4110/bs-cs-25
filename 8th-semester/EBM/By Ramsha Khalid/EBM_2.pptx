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4" r:id="rId7"/>
    <p:sldId id="295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96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7" r:id="rId40"/>
    <p:sldId id="291" r:id="rId41"/>
    <p:sldId id="292" r:id="rId42"/>
    <p:sldId id="293" r:id="rId4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1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-12700" y="278296"/>
            <a:ext cx="10083800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00844" y="1983757"/>
            <a:ext cx="4314825" cy="431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90" y="110820"/>
            <a:ext cx="8254819" cy="157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7905" y="1718306"/>
            <a:ext cx="8942589" cy="4716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09921" y="7120275"/>
            <a:ext cx="151320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50515" y="7185318"/>
            <a:ext cx="442595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2-1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3832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3269" y="1805475"/>
            <a:ext cx="264731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spc="10" dirty="0"/>
              <a:t>Chapter</a:t>
            </a:r>
            <a:r>
              <a:rPr sz="5250" spc="-105" dirty="0"/>
              <a:t> </a:t>
            </a:r>
            <a:r>
              <a:rPr sz="5250" spc="15" dirty="0"/>
              <a:t>2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3120731" y="3907035"/>
            <a:ext cx="3981450" cy="304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635" algn="ctr">
              <a:lnSpc>
                <a:spcPct val="100200"/>
              </a:lnSpc>
              <a:spcBef>
                <a:spcPts val="100"/>
              </a:spcBef>
            </a:pPr>
            <a:r>
              <a:rPr sz="3950" b="1" dirty="0">
                <a:latin typeface="Times New Roman"/>
                <a:cs typeface="Times New Roman"/>
              </a:rPr>
              <a:t>Recognizing </a:t>
            </a:r>
            <a:r>
              <a:rPr sz="3950" b="1" spc="5" dirty="0">
                <a:latin typeface="Times New Roman"/>
                <a:cs typeface="Times New Roman"/>
              </a:rPr>
              <a:t> Opportunities</a:t>
            </a:r>
            <a:r>
              <a:rPr sz="3950" b="1" spc="-130" dirty="0">
                <a:latin typeface="Times New Roman"/>
                <a:cs typeface="Times New Roman"/>
              </a:rPr>
              <a:t> </a:t>
            </a:r>
            <a:r>
              <a:rPr sz="3950" b="1" spc="10" dirty="0">
                <a:latin typeface="Times New Roman"/>
                <a:cs typeface="Times New Roman"/>
              </a:rPr>
              <a:t>and </a:t>
            </a:r>
            <a:r>
              <a:rPr sz="3950" b="1" spc="-97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Generating</a:t>
            </a:r>
            <a:r>
              <a:rPr sz="3950" b="1" spc="-25" dirty="0">
                <a:latin typeface="Times New Roman"/>
                <a:cs typeface="Times New Roman"/>
              </a:rPr>
              <a:t> </a:t>
            </a:r>
            <a:r>
              <a:rPr sz="3950" b="1" dirty="0">
                <a:latin typeface="Times New Roman"/>
                <a:cs typeface="Times New Roman"/>
              </a:rPr>
              <a:t>Ideas</a:t>
            </a:r>
            <a:endParaRPr sz="3950">
              <a:latin typeface="Times New Roman"/>
              <a:cs typeface="Times New Roman"/>
            </a:endParaRPr>
          </a:p>
          <a:p>
            <a:pPr marL="711835">
              <a:lnSpc>
                <a:spcPct val="100000"/>
              </a:lnSpc>
              <a:spcBef>
                <a:spcPts val="1610"/>
              </a:spcBef>
            </a:pPr>
            <a:r>
              <a:rPr sz="2650" spc="-5" dirty="0">
                <a:latin typeface="Times New Roman"/>
                <a:cs typeface="Times New Roman"/>
              </a:rPr>
              <a:t>Bruce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R.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Barringer</a:t>
            </a:r>
            <a:endParaRPr sz="2650">
              <a:latin typeface="Times New Roman"/>
              <a:cs typeface="Times New Roman"/>
            </a:endParaRPr>
          </a:p>
          <a:p>
            <a:pPr marL="841375">
              <a:lnSpc>
                <a:spcPct val="100000"/>
              </a:lnSpc>
              <a:spcBef>
                <a:spcPts val="1575"/>
              </a:spcBef>
            </a:pPr>
            <a:r>
              <a:rPr sz="2650" spc="-5" dirty="0">
                <a:latin typeface="Times New Roman"/>
                <a:cs typeface="Times New Roman"/>
              </a:rPr>
              <a:t>R.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Duane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Ireland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0949" y="244899"/>
            <a:ext cx="38925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Chapter</a:t>
            </a:r>
            <a:r>
              <a:rPr spc="-20" dirty="0"/>
              <a:t> </a:t>
            </a:r>
            <a:r>
              <a:rPr spc="-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909" y="855973"/>
            <a:ext cx="8869045" cy="6188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72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1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/>
              <a:cs typeface="Times New Roman"/>
            </a:endParaRPr>
          </a:p>
          <a:p>
            <a:pPr marL="683260" marR="63500" indent="-671195">
              <a:lnSpc>
                <a:spcPct val="101000"/>
              </a:lnSpc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why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it’s</a:t>
            </a:r>
            <a:r>
              <a:rPr sz="3050" spc="15" dirty="0">
                <a:latin typeface="Times New Roman"/>
                <a:cs typeface="Times New Roman"/>
              </a:rPr>
              <a:t> important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start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firm when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its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“window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opportunity”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is </a:t>
            </a:r>
            <a:r>
              <a:rPr sz="3050" spc="15" dirty="0">
                <a:latin typeface="Times New Roman"/>
                <a:cs typeface="Times New Roman"/>
              </a:rPr>
              <a:t>open.</a:t>
            </a:r>
            <a:endParaRPr sz="3050">
              <a:latin typeface="Times New Roman"/>
              <a:cs typeface="Times New Roman"/>
            </a:endParaRPr>
          </a:p>
          <a:p>
            <a:pPr marL="683260" marR="255270" indent="-671195">
              <a:lnSpc>
                <a:spcPct val="101000"/>
              </a:lnSpc>
              <a:spcBef>
                <a:spcPts val="735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 </a:t>
            </a:r>
            <a:r>
              <a:rPr sz="3050" spc="5" dirty="0">
                <a:latin typeface="Times New Roman"/>
                <a:cs typeface="Times New Roman"/>
              </a:rPr>
              <a:t>the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difference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between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an</a:t>
            </a:r>
            <a:r>
              <a:rPr sz="3050" spc="10" dirty="0">
                <a:latin typeface="Times New Roman"/>
                <a:cs typeface="Times New Roman"/>
              </a:rPr>
              <a:t> opportunity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and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an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idea.</a:t>
            </a:r>
            <a:endParaRPr sz="3050">
              <a:latin typeface="Times New Roman"/>
              <a:cs typeface="Times New Roman"/>
            </a:endParaRPr>
          </a:p>
          <a:p>
            <a:pPr marL="683260" marR="5080" indent="-671195">
              <a:lnSpc>
                <a:spcPct val="101000"/>
              </a:lnSpc>
              <a:spcBef>
                <a:spcPts val="74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5" dirty="0">
                <a:latin typeface="Times New Roman"/>
                <a:cs typeface="Times New Roman"/>
              </a:rPr>
              <a:t>Describe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the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three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general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approaches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entrepreneurs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use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opportunities.</a:t>
            </a:r>
            <a:endParaRPr sz="3050">
              <a:latin typeface="Times New Roman"/>
              <a:cs typeface="Times New Roman"/>
            </a:endParaRPr>
          </a:p>
          <a:p>
            <a:pPr marL="683260" marR="87630" indent="-671195">
              <a:lnSpc>
                <a:spcPct val="101000"/>
              </a:lnSpc>
              <a:spcBef>
                <a:spcPts val="745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environmental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trends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that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most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instrumental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creating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business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opportunities.</a:t>
            </a:r>
            <a:endParaRPr sz="3050">
              <a:latin typeface="Times New Roman"/>
              <a:cs typeface="Times New Roman"/>
            </a:endParaRPr>
          </a:p>
          <a:p>
            <a:pPr marL="683260" marR="242570" indent="-671195">
              <a:lnSpc>
                <a:spcPct val="101000"/>
              </a:lnSpc>
              <a:spcBef>
                <a:spcPts val="73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List </a:t>
            </a:r>
            <a:r>
              <a:rPr sz="3050" spc="15" dirty="0">
                <a:latin typeface="Times New Roman"/>
                <a:cs typeface="Times New Roman"/>
              </a:rPr>
              <a:t>the </a:t>
            </a:r>
            <a:r>
              <a:rPr sz="3050" spc="10" dirty="0">
                <a:latin typeface="Times New Roman"/>
                <a:cs typeface="Times New Roman"/>
              </a:rPr>
              <a:t>personal </a:t>
            </a:r>
            <a:r>
              <a:rPr sz="3050" spc="5" dirty="0">
                <a:latin typeface="Times New Roman"/>
                <a:cs typeface="Times New Roman"/>
              </a:rPr>
              <a:t>characteristics </a:t>
            </a:r>
            <a:r>
              <a:rPr sz="3050" spc="10" dirty="0">
                <a:latin typeface="Times New Roman"/>
                <a:cs typeface="Times New Roman"/>
              </a:rPr>
              <a:t>that </a:t>
            </a:r>
            <a:r>
              <a:rPr sz="3050" spc="15" dirty="0">
                <a:latin typeface="Times New Roman"/>
                <a:cs typeface="Times New Roman"/>
              </a:rPr>
              <a:t>make some 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people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better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at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recognizing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business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than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others.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37160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Chapter</a:t>
            </a:r>
            <a:r>
              <a:rPr spc="-15" dirty="0"/>
              <a:t> </a:t>
            </a:r>
            <a:r>
              <a:rPr spc="-5" dirty="0"/>
              <a:t>Objectives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6142"/>
            <a:ext cx="8803005" cy="424878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81990" indent="-669925">
              <a:lnSpc>
                <a:spcPct val="100000"/>
              </a:lnSpc>
              <a:spcBef>
                <a:spcPts val="86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five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steps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creative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process.</a:t>
            </a:r>
            <a:endParaRPr sz="3050">
              <a:latin typeface="Times New Roman"/>
              <a:cs typeface="Times New Roman"/>
            </a:endParaRPr>
          </a:p>
          <a:p>
            <a:pPr marL="682625" marR="347980" indent="-670560">
              <a:lnSpc>
                <a:spcPct val="101000"/>
              </a:lnSpc>
              <a:spcBef>
                <a:spcPts val="73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Describe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the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purpose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25" dirty="0">
                <a:latin typeface="Times New Roman"/>
                <a:cs typeface="Times New Roman"/>
              </a:rPr>
              <a:t>of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brainstorming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and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its</a:t>
            </a:r>
            <a:r>
              <a:rPr sz="3050" spc="15" dirty="0">
                <a:latin typeface="Times New Roman"/>
                <a:cs typeface="Times New Roman"/>
              </a:rPr>
              <a:t> use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as an </a:t>
            </a:r>
            <a:r>
              <a:rPr sz="3050" spc="10" dirty="0">
                <a:latin typeface="Times New Roman"/>
                <a:cs typeface="Times New Roman"/>
              </a:rPr>
              <a:t>idea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generator.</a:t>
            </a:r>
            <a:endParaRPr sz="3050">
              <a:latin typeface="Times New Roman"/>
              <a:cs typeface="Times New Roman"/>
            </a:endParaRPr>
          </a:p>
          <a:p>
            <a:pPr marL="682625" marR="16510" indent="-670560">
              <a:lnSpc>
                <a:spcPct val="101000"/>
              </a:lnSpc>
              <a:spcBef>
                <a:spcPts val="74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Describe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how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use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library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and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Internet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research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generate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business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ideas.</a:t>
            </a:r>
            <a:endParaRPr sz="3050">
              <a:latin typeface="Times New Roman"/>
              <a:cs typeface="Times New Roman"/>
            </a:endParaRPr>
          </a:p>
          <a:p>
            <a:pPr marL="681990" indent="-669925">
              <a:lnSpc>
                <a:spcPct val="100000"/>
              </a:lnSpc>
              <a:spcBef>
                <a:spcPts val="78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</a:t>
            </a:r>
            <a:r>
              <a:rPr sz="3050" spc="5" dirty="0">
                <a:latin typeface="Times New Roman"/>
                <a:cs typeface="Times New Roman"/>
              </a:rPr>
              <a:t> 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purpose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maintaining</a:t>
            </a:r>
            <a:r>
              <a:rPr sz="3050" spc="5" dirty="0">
                <a:latin typeface="Times New Roman"/>
                <a:cs typeface="Times New Roman"/>
              </a:rPr>
              <a:t> an </a:t>
            </a:r>
            <a:r>
              <a:rPr sz="3050" spc="10" dirty="0">
                <a:latin typeface="Times New Roman"/>
                <a:cs typeface="Times New Roman"/>
              </a:rPr>
              <a:t>idea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bank.</a:t>
            </a:r>
            <a:endParaRPr sz="3050">
              <a:latin typeface="Times New Roman"/>
              <a:cs typeface="Times New Roman"/>
            </a:endParaRPr>
          </a:p>
          <a:p>
            <a:pPr marL="682625" marR="5080" indent="-670560">
              <a:lnSpc>
                <a:spcPct val="101000"/>
              </a:lnSpc>
              <a:spcBef>
                <a:spcPts val="735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Describe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three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steps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protecting </a:t>
            </a:r>
            <a:r>
              <a:rPr sz="3050" spc="5" dirty="0">
                <a:latin typeface="Times New Roman"/>
                <a:cs typeface="Times New Roman"/>
              </a:rPr>
              <a:t>ideas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from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being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lost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stolen.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90" y="110820"/>
            <a:ext cx="8254819" cy="1277844"/>
          </a:xfrm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b="1" spc="-5" dirty="0"/>
              <a:t>What</a:t>
            </a:r>
            <a:r>
              <a:rPr b="1" spc="30" dirty="0"/>
              <a:t> </a:t>
            </a:r>
            <a:r>
              <a:rPr b="1" spc="-15" dirty="0"/>
              <a:t>is</a:t>
            </a:r>
            <a:r>
              <a:rPr b="1" spc="-10" dirty="0"/>
              <a:t> </a:t>
            </a:r>
            <a:r>
              <a:rPr b="1" dirty="0"/>
              <a:t>An</a:t>
            </a:r>
            <a:r>
              <a:rPr b="1" spc="25" dirty="0"/>
              <a:t> </a:t>
            </a:r>
            <a:r>
              <a:rPr b="1" dirty="0"/>
              <a:t>Opportunity?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 dirty="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408" y="1455418"/>
            <a:ext cx="4455792" cy="54572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200" dirty="0"/>
              <a:t>Two ways: Externally stimulated(decides to launch, searches, recognizes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200" dirty="0"/>
              <a:t>an opportunity, starts a business).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200" dirty="0"/>
              <a:t>Internally stimulated(recognizes a problem or an opportunity gap, creates a business to fill it).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740" y="1790700"/>
            <a:ext cx="4274820" cy="461010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164465" marR="154940" algn="ctr">
              <a:lnSpc>
                <a:spcPts val="3170"/>
              </a:lnSpc>
              <a:spcBef>
                <a:spcPts val="1820"/>
              </a:spcBef>
            </a:pP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opportunity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is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favorable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set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circumstances that </a:t>
            </a:r>
            <a:r>
              <a:rPr sz="2650" spc="-5" dirty="0">
                <a:latin typeface="Times New Roman"/>
                <a:cs typeface="Times New Roman"/>
              </a:rPr>
              <a:t> creates a need </a:t>
            </a:r>
            <a:r>
              <a:rPr sz="2650" spc="-10" dirty="0">
                <a:latin typeface="Times New Roman"/>
                <a:cs typeface="Times New Roman"/>
              </a:rPr>
              <a:t>for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5" dirty="0">
                <a:latin typeface="Times New Roman"/>
                <a:cs typeface="Times New Roman"/>
              </a:rPr>
              <a:t>new </a:t>
            </a:r>
            <a:r>
              <a:rPr sz="2650" spc="-10" dirty="0">
                <a:latin typeface="Times New Roman"/>
                <a:cs typeface="Times New Roman"/>
              </a:rPr>
              <a:t> product,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service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business.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What</a:t>
            </a:r>
            <a:r>
              <a:rPr spc="35" dirty="0"/>
              <a:t> </a:t>
            </a:r>
            <a:r>
              <a:rPr spc="-15" dirty="0"/>
              <a:t>is</a:t>
            </a:r>
            <a:r>
              <a:rPr spc="-10" dirty="0"/>
              <a:t> </a:t>
            </a:r>
            <a:r>
              <a:rPr spc="10" dirty="0"/>
              <a:t>an</a:t>
            </a:r>
            <a:r>
              <a:rPr spc="-15" dirty="0"/>
              <a:t> </a:t>
            </a:r>
            <a:r>
              <a:rPr dirty="0"/>
              <a:t>Opportunity?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6505" y="1730677"/>
            <a:ext cx="666051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15" dirty="0">
                <a:latin typeface="Times New Roman"/>
                <a:cs typeface="Times New Roman"/>
              </a:rPr>
              <a:t>An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opportunity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has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four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essential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qualities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545080"/>
            <a:ext cx="6537960" cy="4358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5A57-91AC-4E63-93D4-FA13CDD8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89" y="203160"/>
            <a:ext cx="8254819" cy="1623521"/>
          </a:xfrm>
        </p:spPr>
        <p:txBody>
          <a:bodyPr/>
          <a:lstStyle/>
          <a:p>
            <a:pPr algn="ctr"/>
            <a:r>
              <a:rPr lang="en-US" sz="4000" b="1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 Of Opportunity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28CE4-A53E-4C14-B0C8-DD6E605F6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905" y="1718306"/>
            <a:ext cx="8942589" cy="5309146"/>
          </a:xfrm>
        </p:spPr>
        <p:txBody>
          <a:bodyPr/>
          <a:lstStyle/>
          <a:p>
            <a:pPr algn="ctr"/>
            <a:r>
              <a:rPr lang="en-US" dirty="0"/>
              <a:t>Metaphor describing the time period in which a firm can realistically enter a new market.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Once the market for a new product is established, its window of opportunity opens. As the market grows, firms enter and try to establish a profitable position. At some point, the market matures, and the window of opportunity closes.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31F20"/>
                </a:solidFill>
                <a:effectLst/>
                <a:latin typeface="BookmanStd-Light"/>
              </a:rPr>
              <a:t>Yahoo! </a:t>
            </a:r>
            <a:r>
              <a:rPr lang="en-US" sz="2800" dirty="0">
                <a:solidFill>
                  <a:srgbClr val="231F20"/>
                </a:solidFill>
                <a:latin typeface="BookmanStd-Light"/>
              </a:rPr>
              <a:t>T</a:t>
            </a:r>
            <a:r>
              <a:rPr lang="en-US" sz="2800" b="0" i="0" dirty="0">
                <a:solidFill>
                  <a:srgbClr val="231F20"/>
                </a:solidFill>
                <a:effectLst/>
                <a:latin typeface="BookmanStd-Light"/>
              </a:rPr>
              <a:t>he first search engine</a:t>
            </a:r>
            <a:r>
              <a:rPr lang="en-US" sz="4000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0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342D-7086-4122-9D2E-D8FE72CBE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89" y="533400"/>
            <a:ext cx="8254819" cy="615553"/>
          </a:xfrm>
        </p:spPr>
        <p:txBody>
          <a:bodyPr/>
          <a:lstStyle/>
          <a:p>
            <a:pPr algn="ctr"/>
            <a:r>
              <a:rPr lang="en-US" sz="4000" b="1" dirty="0"/>
              <a:t>Idea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F89F-23F9-4207-82A4-23620014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905" y="1718306"/>
            <a:ext cx="8942589" cy="5673094"/>
          </a:xfrm>
        </p:spPr>
        <p:txBody>
          <a:bodyPr/>
          <a:lstStyle/>
          <a:p>
            <a:pPr algn="ctr"/>
            <a:r>
              <a:rPr lang="en-US" sz="3600" dirty="0"/>
              <a:t>An idea is a thought, an impression, or a notion.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 idea may or may not meet the criteria of an opportunity. </a:t>
            </a:r>
          </a:p>
        </p:txBody>
      </p:sp>
    </p:spTree>
    <p:extLst>
      <p:ext uri="{BB962C8B-B14F-4D97-AF65-F5344CB8AC3E}">
        <p14:creationId xmlns:p14="http://schemas.microsoft.com/office/powerpoint/2010/main" val="117233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400" y="432510"/>
            <a:ext cx="859169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/>
              <a:t>Three</a:t>
            </a:r>
            <a:r>
              <a:rPr sz="4000" b="1" spc="-15" dirty="0"/>
              <a:t> </a:t>
            </a:r>
            <a:r>
              <a:rPr sz="4000" b="1" spc="5" dirty="0"/>
              <a:t>Ways to </a:t>
            </a:r>
            <a:r>
              <a:rPr sz="4000" b="1" dirty="0"/>
              <a:t>Identify</a:t>
            </a:r>
            <a:r>
              <a:rPr sz="4000" b="1" spc="-40" dirty="0"/>
              <a:t> </a:t>
            </a:r>
            <a:r>
              <a:rPr sz="4000" b="1" spc="10" dirty="0"/>
              <a:t>an</a:t>
            </a:r>
            <a:r>
              <a:rPr sz="4000" b="1" dirty="0"/>
              <a:t> Opportunity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" y="2545080"/>
            <a:ext cx="9697212" cy="13670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Approach:</a:t>
            </a:r>
            <a:r>
              <a:rPr spc="15" dirty="0"/>
              <a:t> </a:t>
            </a:r>
            <a:r>
              <a:rPr dirty="0"/>
              <a:t>Observing Trends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293734" cy="39719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Observing</a:t>
            </a:r>
            <a:r>
              <a:rPr sz="3050" spc="-8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Trends</a:t>
            </a:r>
            <a:endParaRPr sz="30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64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Trends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create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opportunities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for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entrepreneurs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pursue.</a:t>
            </a:r>
            <a:endParaRPr sz="26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most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important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trends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are:</a:t>
            </a:r>
          </a:p>
          <a:p>
            <a:pPr marL="1269365" lvl="2" indent="-252095">
              <a:lnSpc>
                <a:spcPct val="100000"/>
              </a:lnSpc>
              <a:spcBef>
                <a:spcPts val="6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650" spc="-10" dirty="0">
                <a:latin typeface="Times New Roman"/>
                <a:cs typeface="Times New Roman"/>
              </a:rPr>
              <a:t>Economic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lang="en-US" sz="2650" spc="-10" dirty="0">
                <a:latin typeface="Times New Roman"/>
                <a:cs typeface="Times New Roman"/>
              </a:rPr>
              <a:t>trends</a:t>
            </a:r>
            <a:r>
              <a:rPr sz="2650" spc="-10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6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650" spc="-10" dirty="0">
                <a:latin typeface="Times New Roman"/>
                <a:cs typeface="Times New Roman"/>
              </a:rPr>
              <a:t>Social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lang="en-US" sz="2650" spc="-10" dirty="0">
                <a:latin typeface="Times New Roman"/>
                <a:cs typeface="Times New Roman"/>
              </a:rPr>
              <a:t>trends</a:t>
            </a:r>
            <a:r>
              <a:rPr sz="2650" spc="-10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610"/>
              </a:spcBef>
              <a:buChar char="•"/>
              <a:tabLst>
                <a:tab pos="1269365" algn="l"/>
                <a:tab pos="1270000" algn="l"/>
              </a:tabLst>
            </a:pPr>
            <a:r>
              <a:rPr sz="2650" spc="-5" dirty="0">
                <a:latin typeface="Times New Roman"/>
                <a:cs typeface="Times New Roman"/>
              </a:rPr>
              <a:t>Technological</a:t>
            </a:r>
            <a:r>
              <a:rPr sz="2650" spc="-8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advances.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6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650" spc="-10" dirty="0">
                <a:latin typeface="Times New Roman"/>
                <a:cs typeface="Times New Roman"/>
              </a:rPr>
              <a:t>Political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action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regulatory</a:t>
            </a:r>
            <a:r>
              <a:rPr sz="2650" spc="-5" dirty="0">
                <a:latin typeface="Times New Roman"/>
                <a:cs typeface="Times New Roman"/>
              </a:rPr>
              <a:t> change</a:t>
            </a:r>
            <a:r>
              <a:rPr lang="en-US" sz="2650" spc="-5" dirty="0">
                <a:latin typeface="Times New Roman"/>
                <a:cs typeface="Times New Roman"/>
              </a:rPr>
              <a:t>s</a:t>
            </a:r>
            <a:r>
              <a:rPr sz="2650" spc="-5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62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It’s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important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aware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changes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these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areas.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8435" y="412376"/>
            <a:ext cx="69405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Approach:</a:t>
            </a:r>
            <a:r>
              <a:rPr spc="15" dirty="0"/>
              <a:t> </a:t>
            </a:r>
            <a:r>
              <a:rPr dirty="0"/>
              <a:t>Observing Trends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03838" y="1023607"/>
            <a:ext cx="5862955" cy="145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547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980440" marR="5080" indent="-968375">
              <a:lnSpc>
                <a:spcPts val="3170"/>
              </a:lnSpc>
              <a:spcBef>
                <a:spcPts val="5"/>
              </a:spcBef>
            </a:pPr>
            <a:r>
              <a:rPr sz="2650" spc="-10" dirty="0">
                <a:latin typeface="Times New Roman"/>
                <a:cs typeface="Times New Roman"/>
              </a:rPr>
              <a:t>Environmental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Trends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Suggesting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Business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Opportunity</a:t>
            </a:r>
            <a:r>
              <a:rPr sz="2650" spc="-5" dirty="0">
                <a:latin typeface="Times New Roman"/>
                <a:cs typeface="Times New Roman"/>
              </a:rPr>
              <a:t> Gaps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220" y="2628900"/>
            <a:ext cx="6380987" cy="4358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0319" y="580097"/>
            <a:ext cx="53765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Trend</a:t>
            </a:r>
            <a:r>
              <a:rPr spc="-10" dirty="0"/>
              <a:t> </a:t>
            </a:r>
            <a:r>
              <a:rPr dirty="0"/>
              <a:t>1:</a:t>
            </a:r>
            <a:r>
              <a:rPr spc="5" dirty="0"/>
              <a:t> </a:t>
            </a:r>
            <a:r>
              <a:rPr dirty="0"/>
              <a:t>Economic</a:t>
            </a:r>
            <a:r>
              <a:rPr spc="-20" dirty="0"/>
              <a:t> </a:t>
            </a:r>
            <a:r>
              <a:rPr dirty="0"/>
              <a:t>Forces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1388" y="2485133"/>
            <a:ext cx="3965575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000"/>
              </a:lnSpc>
              <a:spcBef>
                <a:spcPts val="95"/>
              </a:spcBef>
            </a:pPr>
            <a:r>
              <a:rPr sz="3050" spc="15" dirty="0">
                <a:latin typeface="Times New Roman"/>
                <a:cs typeface="Times New Roman"/>
              </a:rPr>
              <a:t>Economic trends </a:t>
            </a:r>
            <a:r>
              <a:rPr sz="3050" spc="10" dirty="0">
                <a:latin typeface="Times New Roman"/>
                <a:cs typeface="Times New Roman"/>
              </a:rPr>
              <a:t>help </a:t>
            </a:r>
            <a:r>
              <a:rPr sz="3050" spc="15" dirty="0">
                <a:latin typeface="Times New Roman"/>
                <a:cs typeface="Times New Roman"/>
              </a:rPr>
              <a:t> determine </a:t>
            </a:r>
            <a:r>
              <a:rPr sz="3050" spc="5" dirty="0">
                <a:latin typeface="Times New Roman"/>
                <a:cs typeface="Times New Roman"/>
              </a:rPr>
              <a:t>areas </a:t>
            </a:r>
            <a:r>
              <a:rPr sz="3050" spc="10" dirty="0">
                <a:latin typeface="Times New Roman"/>
                <a:cs typeface="Times New Roman"/>
              </a:rPr>
              <a:t>that </a:t>
            </a:r>
            <a:r>
              <a:rPr sz="3050" spc="5" dirty="0">
                <a:latin typeface="Times New Roman"/>
                <a:cs typeface="Times New Roman"/>
              </a:rPr>
              <a:t>are </a:t>
            </a:r>
            <a:r>
              <a:rPr sz="3050" spc="10" dirty="0">
                <a:latin typeface="Times New Roman"/>
                <a:cs typeface="Times New Roman"/>
              </a:rPr>
              <a:t> ripe </a:t>
            </a:r>
            <a:r>
              <a:rPr sz="3050" spc="15" dirty="0">
                <a:latin typeface="Times New Roman"/>
                <a:cs typeface="Times New Roman"/>
              </a:rPr>
              <a:t>for </a:t>
            </a:r>
            <a:r>
              <a:rPr sz="3050" spc="10" dirty="0">
                <a:latin typeface="Times New Roman"/>
                <a:cs typeface="Times New Roman"/>
              </a:rPr>
              <a:t>new </a:t>
            </a:r>
            <a:r>
              <a:rPr sz="3050" spc="15" dirty="0">
                <a:latin typeface="Times New Roman"/>
                <a:cs typeface="Times New Roman"/>
              </a:rPr>
              <a:t>startups </a:t>
            </a:r>
            <a:r>
              <a:rPr sz="3050" spc="10" dirty="0">
                <a:latin typeface="Times New Roman"/>
                <a:cs typeface="Times New Roman"/>
              </a:rPr>
              <a:t>and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areas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that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startups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should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avoid.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5379" y="1790700"/>
            <a:ext cx="4693920" cy="536448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100330" marR="55880">
              <a:lnSpc>
                <a:spcPts val="3170"/>
              </a:lnSpc>
              <a:spcBef>
                <a:spcPts val="1065"/>
              </a:spcBef>
            </a:pPr>
            <a:r>
              <a:rPr sz="2650" spc="-10" dirty="0">
                <a:latin typeface="Times New Roman"/>
                <a:cs typeface="Times New Roman"/>
              </a:rPr>
              <a:t>Example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Economic </a:t>
            </a:r>
            <a:r>
              <a:rPr sz="2650" spc="-30" dirty="0">
                <a:latin typeface="Times New Roman"/>
                <a:cs typeface="Times New Roman"/>
              </a:rPr>
              <a:t>Trend 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Creating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Favorable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Opportunity</a:t>
            </a:r>
            <a:endParaRPr sz="2650">
              <a:latin typeface="Times New Roman"/>
              <a:cs typeface="Times New Roman"/>
            </a:endParaRPr>
          </a:p>
          <a:p>
            <a:pPr marL="351790" marR="528955" indent="-167640">
              <a:lnSpc>
                <a:spcPct val="110800"/>
              </a:lnSpc>
              <a:spcBef>
                <a:spcPts val="555"/>
              </a:spcBef>
              <a:buFont typeface="Arial MT"/>
              <a:buChar char="•"/>
              <a:tabLst>
                <a:tab pos="36766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weak </a:t>
            </a:r>
            <a:r>
              <a:rPr sz="2650" spc="-5" dirty="0">
                <a:latin typeface="Times New Roman"/>
                <a:cs typeface="Times New Roman"/>
              </a:rPr>
              <a:t>economy favors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startups that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help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consumers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save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35" dirty="0">
                <a:latin typeface="Times New Roman"/>
                <a:cs typeface="Times New Roman"/>
              </a:rPr>
              <a:t>money.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1998" y="580097"/>
            <a:ext cx="45916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Trend</a:t>
            </a:r>
            <a:r>
              <a:rPr spc="-15" dirty="0"/>
              <a:t> </a:t>
            </a:r>
            <a:r>
              <a:rPr dirty="0"/>
              <a:t>2:</a:t>
            </a:r>
            <a:r>
              <a:rPr spc="-5" dirty="0"/>
              <a:t> </a:t>
            </a:r>
            <a:r>
              <a:rPr dirty="0"/>
              <a:t>Social</a:t>
            </a:r>
            <a:r>
              <a:rPr spc="-5" dirty="0"/>
              <a:t> Forces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9335" y="2149883"/>
            <a:ext cx="3935729" cy="378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1000"/>
              </a:lnSpc>
              <a:spcBef>
                <a:spcPts val="95"/>
              </a:spcBef>
              <a:tabLst>
                <a:tab pos="1708150" algn="l"/>
              </a:tabLst>
            </a:pPr>
            <a:r>
              <a:rPr sz="3050" spc="10" dirty="0">
                <a:latin typeface="Times New Roman"/>
                <a:cs typeface="Times New Roman"/>
              </a:rPr>
              <a:t>Social </a:t>
            </a:r>
            <a:r>
              <a:rPr sz="3050" spc="15" dirty="0">
                <a:latin typeface="Times New Roman"/>
                <a:cs typeface="Times New Roman"/>
              </a:rPr>
              <a:t>trends show how 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people </a:t>
            </a:r>
            <a:r>
              <a:rPr sz="3050" spc="10" dirty="0">
                <a:latin typeface="Times New Roman"/>
                <a:cs typeface="Times New Roman"/>
              </a:rPr>
              <a:t>and businesses </a:t>
            </a:r>
            <a:r>
              <a:rPr sz="3050" spc="15" dirty="0">
                <a:latin typeface="Times New Roman"/>
                <a:cs typeface="Times New Roman"/>
              </a:rPr>
              <a:t> behave </a:t>
            </a:r>
            <a:r>
              <a:rPr sz="3050" spc="20" dirty="0">
                <a:latin typeface="Times New Roman"/>
                <a:cs typeface="Times New Roman"/>
              </a:rPr>
              <a:t>and </a:t>
            </a:r>
            <a:r>
              <a:rPr sz="3050" spc="15" dirty="0">
                <a:latin typeface="Times New Roman"/>
                <a:cs typeface="Times New Roman"/>
              </a:rPr>
              <a:t>set </a:t>
            </a:r>
            <a:r>
              <a:rPr sz="3050" spc="5" dirty="0">
                <a:latin typeface="Times New Roman"/>
                <a:cs typeface="Times New Roman"/>
              </a:rPr>
              <a:t>their </a:t>
            </a:r>
            <a:r>
              <a:rPr sz="3050" spc="10" dirty="0">
                <a:latin typeface="Times New Roman"/>
                <a:cs typeface="Times New Roman"/>
              </a:rPr>
              <a:t> priorities.	</a:t>
            </a:r>
            <a:r>
              <a:rPr sz="3050" spc="15" dirty="0">
                <a:latin typeface="Times New Roman"/>
                <a:cs typeface="Times New Roman"/>
              </a:rPr>
              <a:t>These </a:t>
            </a:r>
            <a:r>
              <a:rPr sz="3050" spc="10" dirty="0">
                <a:latin typeface="Times New Roman"/>
                <a:cs typeface="Times New Roman"/>
              </a:rPr>
              <a:t>trends </a:t>
            </a:r>
            <a:r>
              <a:rPr sz="3050" spc="15" dirty="0">
                <a:latin typeface="Times New Roman"/>
                <a:cs typeface="Times New Roman"/>
              </a:rPr>
              <a:t> provide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 </a:t>
            </a:r>
            <a:r>
              <a:rPr sz="3050" spc="10" dirty="0">
                <a:latin typeface="Times New Roman"/>
                <a:cs typeface="Times New Roman"/>
              </a:rPr>
              <a:t>businesses </a:t>
            </a:r>
            <a:r>
              <a:rPr sz="3050" spc="15" dirty="0">
                <a:latin typeface="Times New Roman"/>
                <a:cs typeface="Times New Roman"/>
              </a:rPr>
              <a:t>to 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accommodate </a:t>
            </a:r>
            <a:r>
              <a:rPr sz="3050" spc="15" dirty="0">
                <a:latin typeface="Times New Roman"/>
                <a:cs typeface="Times New Roman"/>
              </a:rPr>
              <a:t>the 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changes.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57557" y="1455419"/>
            <a:ext cx="4704715" cy="6316981"/>
            <a:chOff x="4940046" y="1785366"/>
            <a:chExt cx="4704715" cy="5375275"/>
          </a:xfrm>
        </p:grpSpPr>
        <p:sp>
          <p:nvSpPr>
            <p:cNvPr id="6" name="object 6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4693919" y="5364480"/>
                  </a:moveTo>
                  <a:lnTo>
                    <a:pt x="0" y="5364480"/>
                  </a:lnTo>
                  <a:lnTo>
                    <a:pt x="0" y="0"/>
                  </a:lnTo>
                  <a:lnTo>
                    <a:pt x="4693919" y="0"/>
                  </a:lnTo>
                  <a:lnTo>
                    <a:pt x="4693919" y="536448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0" y="0"/>
                  </a:moveTo>
                  <a:lnTo>
                    <a:pt x="4693919" y="0"/>
                  </a:lnTo>
                  <a:lnTo>
                    <a:pt x="4693919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xfrm>
            <a:off x="5077141" y="1485750"/>
            <a:ext cx="4314825" cy="59491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Examples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Social</a:t>
            </a:r>
            <a:r>
              <a:rPr spc="-90" dirty="0"/>
              <a:t> </a:t>
            </a:r>
            <a:r>
              <a:rPr spc="-25" dirty="0"/>
              <a:t>Trends</a:t>
            </a:r>
            <a:endParaRPr sz="2900" dirty="0"/>
          </a:p>
          <a:p>
            <a:pPr marL="208279" marR="500380" indent="-208279">
              <a:lnSpc>
                <a:spcPts val="3170"/>
              </a:lnSpc>
              <a:spcBef>
                <a:spcPts val="2045"/>
              </a:spcBef>
              <a:buFont typeface="Arial MT"/>
              <a:buChar char="•"/>
              <a:tabLst>
                <a:tab pos="208279" algn="l"/>
              </a:tabLst>
            </a:pPr>
            <a:r>
              <a:rPr lang="en-US" spc="-5" dirty="0"/>
              <a:t>Increasing</a:t>
            </a:r>
            <a:r>
              <a:rPr lang="en-US" spc="-45" dirty="0"/>
              <a:t> </a:t>
            </a:r>
            <a:r>
              <a:rPr lang="en-US" spc="-5" dirty="0"/>
              <a:t>interest</a:t>
            </a:r>
            <a:r>
              <a:rPr lang="en-US" spc="-40" dirty="0"/>
              <a:t> </a:t>
            </a:r>
            <a:r>
              <a:rPr lang="en-US" spc="-5" dirty="0"/>
              <a:t>in</a:t>
            </a:r>
            <a:r>
              <a:rPr lang="en-US" spc="-15" dirty="0"/>
              <a:t> social networks</a:t>
            </a:r>
            <a:r>
              <a:rPr lang="en-US" spc="-5" dirty="0"/>
              <a:t> such as Fb, Twitter</a:t>
            </a:r>
            <a:r>
              <a:rPr spc="-5" dirty="0"/>
              <a:t>.</a:t>
            </a:r>
          </a:p>
          <a:p>
            <a:pPr marL="213360" indent="-201295">
              <a:lnSpc>
                <a:spcPts val="3055"/>
              </a:lnSpc>
              <a:buFont typeface="Arial MT"/>
              <a:buChar char="•"/>
              <a:tabLst>
                <a:tab pos="213995" algn="l"/>
              </a:tabLst>
            </a:pPr>
            <a:r>
              <a:rPr spc="-5" dirty="0"/>
              <a:t>Increasing</a:t>
            </a:r>
            <a:r>
              <a:rPr spc="-45" dirty="0"/>
              <a:t> </a:t>
            </a:r>
            <a:r>
              <a:rPr lang="en-US" spc="-5" dirty="0"/>
              <a:t>focus on</a:t>
            </a:r>
            <a:r>
              <a:rPr spc="-15" dirty="0"/>
              <a:t> </a:t>
            </a:r>
            <a:r>
              <a:rPr spc="-10" dirty="0"/>
              <a:t>health,</a:t>
            </a:r>
          </a:p>
          <a:p>
            <a:pPr marL="180340">
              <a:lnSpc>
                <a:spcPts val="3170"/>
              </a:lnSpc>
            </a:pPr>
            <a:r>
              <a:rPr spc="-10" dirty="0"/>
              <a:t>fitness,</a:t>
            </a:r>
            <a:r>
              <a:rPr spc="-25" dirty="0"/>
              <a:t> </a:t>
            </a:r>
            <a:r>
              <a:rPr spc="-10" dirty="0"/>
              <a:t>and</a:t>
            </a:r>
            <a:r>
              <a:rPr spc="-20" dirty="0"/>
              <a:t> </a:t>
            </a:r>
            <a:r>
              <a:rPr spc="-5" dirty="0"/>
              <a:t>wellness.</a:t>
            </a:r>
            <a:endParaRPr lang="en-US" spc="-5" dirty="0"/>
          </a:p>
          <a:p>
            <a:pPr marL="180340">
              <a:lnSpc>
                <a:spcPts val="3170"/>
              </a:lnSpc>
            </a:pPr>
            <a:r>
              <a:rPr lang="en-US" spc="-5" dirty="0"/>
              <a:t>Proliferation of mobile phones and mobile phone apps. </a:t>
            </a:r>
            <a:endParaRPr spc="-5" dirty="0"/>
          </a:p>
          <a:p>
            <a:pPr marL="180340" marR="9525" indent="-167640">
              <a:lnSpc>
                <a:spcPts val="3170"/>
              </a:lnSpc>
              <a:spcBef>
                <a:spcPts val="110"/>
              </a:spcBef>
              <a:buFont typeface="Arial MT"/>
              <a:buChar char="•"/>
              <a:tabLst>
                <a:tab pos="213995" algn="l"/>
              </a:tabLst>
            </a:pPr>
            <a:r>
              <a:rPr dirty="0"/>
              <a:t>	</a:t>
            </a:r>
            <a:r>
              <a:rPr spc="-10" dirty="0"/>
              <a:t>Emphasis </a:t>
            </a:r>
            <a:r>
              <a:rPr spc="-5" dirty="0"/>
              <a:t>on </a:t>
            </a:r>
            <a:r>
              <a:rPr lang="en-US" spc="-10" dirty="0"/>
              <a:t>clean</a:t>
            </a:r>
            <a:r>
              <a:rPr spc="-10" dirty="0"/>
              <a:t> forms </a:t>
            </a:r>
            <a:r>
              <a:rPr spc="-65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40" dirty="0"/>
              <a:t>energy.</a:t>
            </a:r>
          </a:p>
          <a:p>
            <a:pPr marL="213360" indent="-201295">
              <a:lnSpc>
                <a:spcPts val="3055"/>
              </a:lnSpc>
              <a:buFont typeface="Arial MT"/>
              <a:buChar char="•"/>
              <a:tabLst>
                <a:tab pos="213995" algn="l"/>
              </a:tabLst>
            </a:pPr>
            <a:r>
              <a:rPr lang="en-US" spc="-5" dirty="0"/>
              <a:t>Increasing</a:t>
            </a:r>
            <a:r>
              <a:rPr lang="en-US" spc="-45" dirty="0"/>
              <a:t> </a:t>
            </a:r>
            <a:r>
              <a:rPr lang="en-US" spc="-5" dirty="0"/>
              <a:t>interest</a:t>
            </a:r>
            <a:r>
              <a:rPr lang="en-US" spc="-40" dirty="0"/>
              <a:t> </a:t>
            </a:r>
            <a:r>
              <a:rPr lang="en-US" spc="-5" dirty="0"/>
              <a:t>in healthy  and “green” foods. </a:t>
            </a:r>
          </a:p>
          <a:p>
            <a:pPr marL="213360" indent="-201295">
              <a:lnSpc>
                <a:spcPts val="3055"/>
              </a:lnSpc>
              <a:buFont typeface="Arial MT"/>
              <a:buChar char="•"/>
              <a:tabLst>
                <a:tab pos="213995" algn="l"/>
              </a:tabLst>
            </a:pPr>
            <a:r>
              <a:rPr spc="-5" dirty="0"/>
              <a:t>New</a:t>
            </a:r>
            <a:r>
              <a:rPr spc="-25" dirty="0"/>
              <a:t> </a:t>
            </a:r>
            <a:r>
              <a:rPr spc="-10" dirty="0"/>
              <a:t>forms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10" dirty="0"/>
              <a:t>music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other</a:t>
            </a:r>
          </a:p>
          <a:p>
            <a:pPr marL="180340">
              <a:lnSpc>
                <a:spcPts val="3175"/>
              </a:lnSpc>
            </a:pPr>
            <a:r>
              <a:rPr spc="-10" dirty="0"/>
              <a:t>types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10" dirty="0"/>
              <a:t>entertainment.</a:t>
            </a:r>
            <a:endParaRPr lang="en-US"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Trend</a:t>
            </a:r>
            <a:r>
              <a:rPr spc="-15" dirty="0"/>
              <a:t> </a:t>
            </a:r>
            <a:r>
              <a:rPr dirty="0"/>
              <a:t>3: Technological Advances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3028" y="2401369"/>
            <a:ext cx="4086860" cy="143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ctr">
              <a:lnSpc>
                <a:spcPct val="101000"/>
              </a:lnSpc>
              <a:spcBef>
                <a:spcPts val="95"/>
              </a:spcBef>
            </a:pPr>
            <a:r>
              <a:rPr sz="3050" spc="15" dirty="0">
                <a:latin typeface="Times New Roman"/>
                <a:cs typeface="Times New Roman"/>
              </a:rPr>
              <a:t>Advances in </a:t>
            </a:r>
            <a:r>
              <a:rPr sz="3050" spc="10" dirty="0">
                <a:latin typeface="Times New Roman"/>
                <a:cs typeface="Times New Roman"/>
              </a:rPr>
              <a:t>technology 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frequently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create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business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5379" y="1790700"/>
            <a:ext cx="4693920" cy="536448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219075" rIns="0" bIns="0" rtlCol="0">
            <a:spAutoFit/>
          </a:bodyPr>
          <a:lstStyle/>
          <a:p>
            <a:pPr marL="267970" marR="372745">
              <a:lnSpc>
                <a:spcPts val="3170"/>
              </a:lnSpc>
              <a:spcBef>
                <a:spcPts val="1725"/>
              </a:spcBef>
            </a:pPr>
            <a:r>
              <a:rPr sz="2650" spc="-10" dirty="0">
                <a:latin typeface="Times New Roman"/>
                <a:cs typeface="Times New Roman"/>
              </a:rPr>
              <a:t>Examples </a:t>
            </a:r>
            <a:r>
              <a:rPr sz="2650" spc="-5" dirty="0">
                <a:latin typeface="Times New Roman"/>
                <a:cs typeface="Times New Roman"/>
              </a:rPr>
              <a:t>of Entire </a:t>
            </a:r>
            <a:r>
              <a:rPr sz="2650" spc="-10" dirty="0">
                <a:latin typeface="Times New Roman"/>
                <a:cs typeface="Times New Roman"/>
              </a:rPr>
              <a:t>Industries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 </a:t>
            </a:r>
            <a:r>
              <a:rPr sz="2650" spc="-15" dirty="0">
                <a:latin typeface="Times New Roman"/>
                <a:cs typeface="Times New Roman"/>
              </a:rPr>
              <a:t>Have </a:t>
            </a:r>
            <a:r>
              <a:rPr sz="2650" spc="-5" dirty="0">
                <a:latin typeface="Times New Roman"/>
                <a:cs typeface="Times New Roman"/>
              </a:rPr>
              <a:t>Been Created </a:t>
            </a:r>
            <a:r>
              <a:rPr sz="2650" spc="-15" dirty="0">
                <a:latin typeface="Times New Roman"/>
                <a:cs typeface="Times New Roman"/>
              </a:rPr>
              <a:t>as the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Results of </a:t>
            </a:r>
            <a:r>
              <a:rPr sz="2650" spc="-25" dirty="0">
                <a:latin typeface="Times New Roman"/>
                <a:cs typeface="Times New Roman"/>
              </a:rPr>
              <a:t>Technological 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Advances</a:t>
            </a:r>
            <a:endParaRPr sz="2650">
              <a:latin typeface="Times New Roman"/>
              <a:cs typeface="Times New Roman"/>
            </a:endParaRPr>
          </a:p>
          <a:p>
            <a:pPr marL="469265" indent="-201930">
              <a:lnSpc>
                <a:spcPts val="3175"/>
              </a:lnSpc>
              <a:spcBef>
                <a:spcPts val="1065"/>
              </a:spcBef>
              <a:buFont typeface="Arial MT"/>
              <a:buChar char="•"/>
              <a:tabLst>
                <a:tab pos="469900" algn="l"/>
              </a:tabLst>
            </a:pPr>
            <a:r>
              <a:rPr sz="2650" spc="-5" dirty="0">
                <a:latin typeface="Times New Roman"/>
                <a:cs typeface="Times New Roman"/>
              </a:rPr>
              <a:t>Computer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</a:t>
            </a:r>
            <a:endParaRPr sz="2650">
              <a:latin typeface="Times New Roman"/>
              <a:cs typeface="Times New Roman"/>
            </a:endParaRPr>
          </a:p>
          <a:p>
            <a:pPr marL="469265" indent="-201930">
              <a:lnSpc>
                <a:spcPts val="3170"/>
              </a:lnSpc>
              <a:buFont typeface="Arial MT"/>
              <a:buChar char="•"/>
              <a:tabLst>
                <a:tab pos="469900" algn="l"/>
              </a:tabLst>
            </a:pPr>
            <a:r>
              <a:rPr sz="2650" spc="-10" dirty="0">
                <a:latin typeface="Times New Roman"/>
                <a:cs typeface="Times New Roman"/>
              </a:rPr>
              <a:t>Internet</a:t>
            </a:r>
            <a:endParaRPr sz="2650">
              <a:latin typeface="Times New Roman"/>
              <a:cs typeface="Times New Roman"/>
            </a:endParaRPr>
          </a:p>
          <a:p>
            <a:pPr marL="469265" indent="-201930">
              <a:lnSpc>
                <a:spcPts val="3175"/>
              </a:lnSpc>
              <a:buFont typeface="Arial MT"/>
              <a:buChar char="•"/>
              <a:tabLst>
                <a:tab pos="469900" algn="l"/>
              </a:tabLst>
            </a:pPr>
            <a:r>
              <a:rPr sz="2650" spc="-10" dirty="0">
                <a:latin typeface="Times New Roman"/>
                <a:cs typeface="Times New Roman"/>
              </a:rPr>
              <a:t>Digital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photography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Trend</a:t>
            </a:r>
            <a:r>
              <a:rPr spc="-15" dirty="0"/>
              <a:t> </a:t>
            </a:r>
            <a:r>
              <a:rPr dirty="0"/>
              <a:t>3: Technological Advances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6864" y="2401369"/>
            <a:ext cx="3597910" cy="143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175" algn="ctr">
              <a:lnSpc>
                <a:spcPct val="101000"/>
              </a:lnSpc>
              <a:spcBef>
                <a:spcPts val="95"/>
              </a:spcBef>
            </a:pPr>
            <a:r>
              <a:rPr sz="3050" spc="15" dirty="0">
                <a:latin typeface="Times New Roman"/>
                <a:cs typeface="Times New Roman"/>
              </a:rPr>
              <a:t>Once a </a:t>
            </a:r>
            <a:r>
              <a:rPr sz="3050" spc="10" dirty="0">
                <a:latin typeface="Times New Roman"/>
                <a:cs typeface="Times New Roman"/>
              </a:rPr>
              <a:t>technology </a:t>
            </a:r>
            <a:r>
              <a:rPr sz="3050" spc="-5" dirty="0">
                <a:latin typeface="Times New Roman"/>
                <a:cs typeface="Times New Roman"/>
              </a:rPr>
              <a:t>is 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created,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products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often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emerge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advance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it.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40046" y="1785366"/>
            <a:ext cx="4704715" cy="5375275"/>
            <a:chOff x="4940046" y="1785366"/>
            <a:chExt cx="4704715" cy="5375275"/>
          </a:xfrm>
        </p:grpSpPr>
        <p:sp>
          <p:nvSpPr>
            <p:cNvPr id="6" name="object 6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4693919" y="5364480"/>
                  </a:moveTo>
                  <a:lnTo>
                    <a:pt x="0" y="5364480"/>
                  </a:lnTo>
                  <a:lnTo>
                    <a:pt x="0" y="0"/>
                  </a:lnTo>
                  <a:lnTo>
                    <a:pt x="4693919" y="0"/>
                  </a:lnTo>
                  <a:lnTo>
                    <a:pt x="4693919" y="536448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0" y="0"/>
                  </a:moveTo>
                  <a:lnTo>
                    <a:pt x="4693919" y="0"/>
                  </a:lnTo>
                  <a:lnTo>
                    <a:pt x="4693919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00844" y="1983757"/>
            <a:ext cx="3778885" cy="32996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-10" dirty="0">
                <a:latin typeface="Times New Roman"/>
                <a:cs typeface="Times New Roman"/>
              </a:rPr>
              <a:t>Example:</a:t>
            </a:r>
            <a:endParaRPr lang="en-US" sz="265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265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650" spc="-10" dirty="0">
                <a:latin typeface="Times New Roman"/>
                <a:cs typeface="Times New Roman"/>
              </a:rPr>
              <a:t>The creation of the Apple iPod, iPhone, iPad and similar devices has in turned spawned entire industries that produce compatible devices. 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marR="5080" algn="ctr">
              <a:lnSpc>
                <a:spcPct val="100200"/>
              </a:lnSpc>
              <a:spcBef>
                <a:spcPts val="100"/>
              </a:spcBef>
            </a:pPr>
            <a:r>
              <a:rPr dirty="0"/>
              <a:t>Trend</a:t>
            </a:r>
            <a:r>
              <a:rPr spc="-5" dirty="0"/>
              <a:t> </a:t>
            </a:r>
            <a:r>
              <a:rPr dirty="0"/>
              <a:t>4:</a:t>
            </a:r>
            <a:r>
              <a:rPr spc="10" dirty="0"/>
              <a:t> </a:t>
            </a:r>
            <a:r>
              <a:rPr spc="-5" dirty="0"/>
              <a:t>Political</a:t>
            </a:r>
            <a:r>
              <a:rPr spc="5" dirty="0"/>
              <a:t> </a:t>
            </a:r>
            <a:r>
              <a:rPr dirty="0"/>
              <a:t>Action </a:t>
            </a:r>
            <a:r>
              <a:rPr spc="-5" dirty="0"/>
              <a:t>and</a:t>
            </a:r>
            <a:r>
              <a:rPr spc="40" dirty="0"/>
              <a:t> </a:t>
            </a:r>
            <a:r>
              <a:rPr dirty="0"/>
              <a:t>Regulatory </a:t>
            </a:r>
            <a:r>
              <a:rPr spc="-975" dirty="0"/>
              <a:t> </a:t>
            </a:r>
            <a:r>
              <a:rPr dirty="0"/>
              <a:t>Changes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686305"/>
            <a:ext cx="9890760" cy="41275"/>
          </a:xfrm>
          <a:custGeom>
            <a:avLst/>
            <a:gdLst/>
            <a:ahLst/>
            <a:cxnLst/>
            <a:rect l="l" t="t" r="r" b="b"/>
            <a:pathLst>
              <a:path w="9890760" h="41275">
                <a:moveTo>
                  <a:pt x="9890760" y="41147"/>
                </a:moveTo>
                <a:lnTo>
                  <a:pt x="0" y="41147"/>
                </a:lnTo>
                <a:lnTo>
                  <a:pt x="0" y="0"/>
                </a:lnTo>
                <a:lnTo>
                  <a:pt x="9890760" y="0"/>
                </a:lnTo>
                <a:lnTo>
                  <a:pt x="9890760" y="41147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6049" y="2401369"/>
            <a:ext cx="3719195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01000"/>
              </a:lnSpc>
              <a:spcBef>
                <a:spcPts val="95"/>
              </a:spcBef>
            </a:pPr>
            <a:r>
              <a:rPr sz="3050" spc="5" dirty="0">
                <a:latin typeface="Times New Roman"/>
                <a:cs typeface="Times New Roman"/>
              </a:rPr>
              <a:t>Political </a:t>
            </a:r>
            <a:r>
              <a:rPr sz="3050" spc="10" dirty="0">
                <a:latin typeface="Times New Roman"/>
                <a:cs typeface="Times New Roman"/>
              </a:rPr>
              <a:t>action and 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regulatory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changes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also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provide the </a:t>
            </a:r>
            <a:r>
              <a:rPr sz="3050" spc="10" dirty="0">
                <a:latin typeface="Times New Roman"/>
                <a:cs typeface="Times New Roman"/>
              </a:rPr>
              <a:t>basis </a:t>
            </a:r>
            <a:r>
              <a:rPr sz="3050" spc="5" dirty="0">
                <a:latin typeface="Times New Roman"/>
                <a:cs typeface="Times New Roman"/>
              </a:rPr>
              <a:t>for </a:t>
            </a:r>
            <a:r>
              <a:rPr sz="3050" spc="10" dirty="0">
                <a:latin typeface="Times New Roman"/>
                <a:cs typeface="Times New Roman"/>
              </a:rPr>
              <a:t> opportunities.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40046" y="1785366"/>
            <a:ext cx="4704715" cy="5375275"/>
            <a:chOff x="4940046" y="1785366"/>
            <a:chExt cx="4704715" cy="5375275"/>
          </a:xfrm>
        </p:grpSpPr>
        <p:sp>
          <p:nvSpPr>
            <p:cNvPr id="6" name="object 6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4693919" y="5364480"/>
                  </a:moveTo>
                  <a:lnTo>
                    <a:pt x="0" y="5364480"/>
                  </a:lnTo>
                  <a:lnTo>
                    <a:pt x="0" y="0"/>
                  </a:lnTo>
                  <a:lnTo>
                    <a:pt x="4693919" y="0"/>
                  </a:lnTo>
                  <a:lnTo>
                    <a:pt x="4693919" y="536448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0" y="0"/>
                  </a:moveTo>
                  <a:lnTo>
                    <a:pt x="4693919" y="0"/>
                  </a:lnTo>
                  <a:lnTo>
                    <a:pt x="4693919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02225" y="1669578"/>
            <a:ext cx="4380230" cy="5481116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650" spc="-10" dirty="0">
                <a:latin typeface="Times New Roman"/>
                <a:cs typeface="Times New Roman"/>
              </a:rPr>
              <a:t>General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Example</a:t>
            </a:r>
            <a:endParaRPr sz="2650" dirty="0">
              <a:latin typeface="Times New Roman"/>
              <a:cs typeface="Times New Roman"/>
            </a:endParaRPr>
          </a:p>
          <a:p>
            <a:pPr marL="12700" marR="5080">
              <a:lnSpc>
                <a:spcPts val="3170"/>
              </a:lnSpc>
              <a:spcBef>
                <a:spcPts val="1540"/>
              </a:spcBef>
            </a:pPr>
            <a:r>
              <a:rPr sz="2650" spc="-10" dirty="0">
                <a:latin typeface="Times New Roman"/>
                <a:cs typeface="Times New Roman"/>
              </a:rPr>
              <a:t>Laws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protect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environment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have created opportunities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entrepreneurs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-5" dirty="0">
                <a:latin typeface="Times New Roman"/>
                <a:cs typeface="Times New Roman"/>
              </a:rPr>
              <a:t> start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help other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comply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with</a:t>
            </a:r>
            <a:r>
              <a:rPr lang="en-US"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environmental </a:t>
            </a:r>
            <a:r>
              <a:rPr sz="2650" spc="-5" dirty="0">
                <a:latin typeface="Times New Roman"/>
                <a:cs typeface="Times New Roman"/>
              </a:rPr>
              <a:t>laws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lang="en-US"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regulations.</a:t>
            </a:r>
            <a:endParaRPr lang="en-US" sz="2650" spc="-5" dirty="0">
              <a:latin typeface="Times New Roman"/>
              <a:cs typeface="Times New Roman"/>
            </a:endParaRPr>
          </a:p>
          <a:p>
            <a:pPr marL="12700" marR="5080">
              <a:lnSpc>
                <a:spcPts val="3170"/>
              </a:lnSpc>
              <a:spcBef>
                <a:spcPts val="1540"/>
              </a:spcBef>
            </a:pPr>
            <a:r>
              <a:rPr lang="en-US" sz="2650" spc="-5" dirty="0">
                <a:latin typeface="Times New Roman"/>
                <a:cs typeface="Times New Roman"/>
              </a:rPr>
              <a:t>Global political instability and the threat of terrorism have resulted in many firms becoming more security conscious. 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90" y="110820"/>
            <a:ext cx="8253730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200"/>
              </a:lnSpc>
              <a:spcBef>
                <a:spcPts val="100"/>
              </a:spcBef>
            </a:pPr>
            <a:r>
              <a:rPr sz="3950" dirty="0">
                <a:latin typeface="Times New Roman"/>
                <a:cs typeface="Times New Roman"/>
              </a:rPr>
              <a:t>Trend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4:</a:t>
            </a:r>
            <a:r>
              <a:rPr sz="3950" spc="10" dirty="0">
                <a:latin typeface="Times New Roman"/>
                <a:cs typeface="Times New Roman"/>
              </a:rPr>
              <a:t> </a:t>
            </a:r>
            <a:r>
              <a:rPr sz="3950" spc="-5" dirty="0">
                <a:latin typeface="Times New Roman"/>
                <a:cs typeface="Times New Roman"/>
              </a:rPr>
              <a:t>Political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Action </a:t>
            </a:r>
            <a:r>
              <a:rPr sz="3950" spc="-5" dirty="0">
                <a:latin typeface="Times New Roman"/>
                <a:cs typeface="Times New Roman"/>
              </a:rPr>
              <a:t>and</a:t>
            </a:r>
            <a:r>
              <a:rPr sz="3950" spc="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Regulatory </a:t>
            </a:r>
            <a:r>
              <a:rPr sz="3950" spc="-9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Changes</a:t>
            </a:r>
            <a:endParaRPr sz="3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7068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6874" y="2652854"/>
            <a:ext cx="7933055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1260" marR="30480" indent="-2423795">
              <a:lnSpc>
                <a:spcPct val="101000"/>
              </a:lnSpc>
              <a:spcBef>
                <a:spcPts val="95"/>
              </a:spcBef>
            </a:pPr>
            <a:r>
              <a:rPr sz="3050" spc="15" dirty="0">
                <a:latin typeface="Times New Roman"/>
                <a:cs typeface="Times New Roman"/>
              </a:rPr>
              <a:t>Company </a:t>
            </a:r>
            <a:r>
              <a:rPr sz="3050" spc="5" dirty="0">
                <a:latin typeface="Times New Roman"/>
                <a:cs typeface="Times New Roman"/>
              </a:rPr>
              <a:t>created </a:t>
            </a:r>
            <a:r>
              <a:rPr sz="3050" spc="15" dirty="0">
                <a:latin typeface="Times New Roman"/>
                <a:cs typeface="Times New Roman"/>
              </a:rPr>
              <a:t>to </a:t>
            </a:r>
            <a:r>
              <a:rPr sz="3050" spc="10" dirty="0">
                <a:latin typeface="Times New Roman"/>
                <a:cs typeface="Times New Roman"/>
              </a:rPr>
              <a:t>help </a:t>
            </a:r>
            <a:r>
              <a:rPr sz="3050" spc="-105" dirty="0">
                <a:latin typeface="Times New Roman"/>
                <a:cs typeface="Times New Roman"/>
              </a:rPr>
              <a:t>other </a:t>
            </a:r>
            <a:r>
              <a:rPr sz="3050" spc="15" dirty="0">
                <a:latin typeface="Times New Roman"/>
                <a:cs typeface="Times New Roman"/>
              </a:rPr>
              <a:t>companies comply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with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specific</a:t>
            </a:r>
            <a:r>
              <a:rPr sz="3050" spc="-40" dirty="0">
                <a:latin typeface="Times New Roman"/>
                <a:cs typeface="Times New Roman"/>
              </a:rPr>
              <a:t> law.</a:t>
            </a:r>
            <a:endParaRPr sz="3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Second</a:t>
            </a:r>
            <a:r>
              <a:rPr spc="-10" dirty="0"/>
              <a:t> </a:t>
            </a:r>
            <a:r>
              <a:rPr dirty="0"/>
              <a:t>Approach:</a:t>
            </a:r>
            <a:r>
              <a:rPr spc="40" dirty="0"/>
              <a:t> </a:t>
            </a:r>
            <a:r>
              <a:rPr dirty="0"/>
              <a:t>Solving</a:t>
            </a:r>
            <a:r>
              <a:rPr spc="-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Problem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73490" cy="320164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Solving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Problem</a:t>
            </a:r>
            <a:endParaRPr sz="3050" dirty="0">
              <a:latin typeface="Times New Roman"/>
              <a:cs typeface="Times New Roman"/>
            </a:endParaRPr>
          </a:p>
          <a:p>
            <a:pPr marL="829310" marR="92710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Sometimes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identifying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opportunities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simply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involves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noticing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problem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finding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way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solve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it.</a:t>
            </a:r>
          </a:p>
          <a:p>
            <a:pPr marL="829310" marR="5080" lvl="1" indent="-314325">
              <a:lnSpc>
                <a:spcPts val="3170"/>
              </a:lnSpc>
              <a:spcBef>
                <a:spcPts val="62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These problems </a:t>
            </a:r>
            <a:r>
              <a:rPr sz="2650" spc="-5" dirty="0">
                <a:latin typeface="Times New Roman"/>
                <a:cs typeface="Times New Roman"/>
              </a:rPr>
              <a:t>can be pinpointed </a:t>
            </a:r>
            <a:r>
              <a:rPr sz="2650" spc="-10" dirty="0">
                <a:latin typeface="Times New Roman"/>
                <a:cs typeface="Times New Roman"/>
              </a:rPr>
              <a:t>through </a:t>
            </a:r>
            <a:r>
              <a:rPr sz="2650" spc="-5" dirty="0">
                <a:latin typeface="Times New Roman"/>
                <a:cs typeface="Times New Roman"/>
              </a:rPr>
              <a:t>observing trends</a:t>
            </a:r>
            <a:r>
              <a:rPr lang="en-US" sz="2650" spc="-5" dirty="0">
                <a:latin typeface="Times New Roman"/>
                <a:cs typeface="Times New Roman"/>
              </a:rPr>
              <a:t>, observing the challenges that people encounter in their daily lives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10" dirty="0">
                <a:latin typeface="Times New Roman"/>
                <a:cs typeface="Times New Roman"/>
              </a:rPr>
              <a:t>through more </a:t>
            </a:r>
            <a:r>
              <a:rPr sz="2650" spc="-5" dirty="0">
                <a:latin typeface="Times New Roman"/>
                <a:cs typeface="Times New Roman"/>
              </a:rPr>
              <a:t>simple means, </a:t>
            </a:r>
            <a:r>
              <a:rPr sz="2650" spc="-10" dirty="0">
                <a:latin typeface="Times New Roman"/>
                <a:cs typeface="Times New Roman"/>
              </a:rPr>
              <a:t>such </a:t>
            </a:r>
            <a:r>
              <a:rPr sz="2650" dirty="0">
                <a:latin typeface="Times New Roman"/>
                <a:cs typeface="Times New Roman"/>
              </a:rPr>
              <a:t>as </a:t>
            </a:r>
            <a:r>
              <a:rPr sz="2650" spc="-10" dirty="0">
                <a:latin typeface="Times New Roman"/>
                <a:cs typeface="Times New Roman"/>
              </a:rPr>
              <a:t>intuition,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change.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Second</a:t>
            </a:r>
            <a:r>
              <a:rPr spc="-10" dirty="0"/>
              <a:t> </a:t>
            </a:r>
            <a:r>
              <a:rPr dirty="0"/>
              <a:t>Approach:</a:t>
            </a:r>
            <a:r>
              <a:rPr spc="40" dirty="0"/>
              <a:t> </a:t>
            </a:r>
            <a:r>
              <a:rPr dirty="0"/>
              <a:t>Solving</a:t>
            </a:r>
            <a:r>
              <a:rPr spc="-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Problem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740" y="2377440"/>
            <a:ext cx="5164835" cy="32689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5458" y="2570498"/>
            <a:ext cx="4387850" cy="407868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0340" marR="96520" indent="-167640">
              <a:lnSpc>
                <a:spcPts val="3170"/>
              </a:lnSpc>
              <a:spcBef>
                <a:spcPts val="204"/>
              </a:spcBef>
              <a:buFont typeface="Arial MT"/>
              <a:buChar char="•"/>
              <a:tabLst>
                <a:tab pos="195580" algn="l"/>
              </a:tabLst>
            </a:pPr>
            <a:r>
              <a:rPr sz="2650" spc="-10" dirty="0">
                <a:latin typeface="Times New Roman"/>
                <a:cs typeface="Times New Roman"/>
              </a:rPr>
              <a:t>A</a:t>
            </a:r>
            <a:r>
              <a:rPr sz="2650" spc="-1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</a:t>
            </a:r>
            <a:r>
              <a:rPr sz="2650" spc="-15" dirty="0">
                <a:latin typeface="Times New Roman"/>
                <a:cs typeface="Times New Roman"/>
              </a:rPr>
              <a:t>r</a:t>
            </a:r>
            <a:r>
              <a:rPr sz="2650" spc="-5" dirty="0">
                <a:latin typeface="Times New Roman"/>
                <a:cs typeface="Times New Roman"/>
              </a:rPr>
              <a:t>ob</a:t>
            </a:r>
            <a:r>
              <a:rPr sz="2650" dirty="0">
                <a:latin typeface="Times New Roman"/>
                <a:cs typeface="Times New Roman"/>
              </a:rPr>
              <a:t>l</a:t>
            </a:r>
            <a:r>
              <a:rPr sz="2650" spc="-20" dirty="0">
                <a:latin typeface="Times New Roman"/>
                <a:cs typeface="Times New Roman"/>
              </a:rPr>
              <a:t>e</a:t>
            </a:r>
            <a:r>
              <a:rPr sz="2650" spc="-10" dirty="0">
                <a:latin typeface="Times New Roman"/>
                <a:cs typeface="Times New Roman"/>
              </a:rPr>
              <a:t>m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f</a:t>
            </a:r>
            <a:r>
              <a:rPr sz="2650" spc="-20" dirty="0">
                <a:latin typeface="Times New Roman"/>
                <a:cs typeface="Times New Roman"/>
              </a:rPr>
              <a:t>a</a:t>
            </a:r>
            <a:r>
              <a:rPr sz="2650" spc="10" dirty="0">
                <a:latin typeface="Times New Roman"/>
                <a:cs typeface="Times New Roman"/>
              </a:rPr>
              <a:t>c</a:t>
            </a:r>
            <a:r>
              <a:rPr sz="2650" dirty="0">
                <a:latin typeface="Times New Roman"/>
                <a:cs typeface="Times New Roman"/>
              </a:rPr>
              <a:t>i</a:t>
            </a:r>
            <a:r>
              <a:rPr sz="2650" spc="-5" dirty="0">
                <a:latin typeface="Times New Roman"/>
                <a:cs typeface="Times New Roman"/>
              </a:rPr>
              <a:t>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U</a:t>
            </a:r>
            <a:r>
              <a:rPr sz="2650" spc="-5" dirty="0">
                <a:latin typeface="Times New Roman"/>
                <a:cs typeface="Times New Roman"/>
              </a:rPr>
              <a:t>.</a:t>
            </a:r>
            <a:r>
              <a:rPr sz="2650" dirty="0">
                <a:latin typeface="Times New Roman"/>
                <a:cs typeface="Times New Roman"/>
              </a:rPr>
              <a:t>S</a:t>
            </a:r>
            <a:r>
              <a:rPr sz="2650" spc="-5" dirty="0">
                <a:latin typeface="Times New Roman"/>
                <a:cs typeface="Times New Roman"/>
              </a:rPr>
              <a:t>. </a:t>
            </a:r>
            <a:r>
              <a:rPr sz="2650" spc="10" dirty="0">
                <a:latin typeface="Times New Roman"/>
                <a:cs typeface="Times New Roman"/>
              </a:rPr>
              <a:t>a</a:t>
            </a:r>
            <a:r>
              <a:rPr sz="2650" spc="-5" dirty="0">
                <a:latin typeface="Times New Roman"/>
                <a:cs typeface="Times New Roman"/>
              </a:rPr>
              <a:t>nd  </a:t>
            </a:r>
            <a:r>
              <a:rPr sz="2650" spc="-10" dirty="0">
                <a:latin typeface="Times New Roman"/>
                <a:cs typeface="Times New Roman"/>
              </a:rPr>
              <a:t>other </a:t>
            </a:r>
            <a:r>
              <a:rPr sz="2650" spc="-5" dirty="0">
                <a:latin typeface="Times New Roman"/>
                <a:cs typeface="Times New Roman"/>
              </a:rPr>
              <a:t>countries is finding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alternatives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fossil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fuels.</a:t>
            </a:r>
            <a:endParaRPr sz="2650" dirty="0">
              <a:latin typeface="Times New Roman"/>
              <a:cs typeface="Times New Roman"/>
            </a:endParaRPr>
          </a:p>
          <a:p>
            <a:pPr marL="194945" indent="-182880">
              <a:lnSpc>
                <a:spcPts val="3055"/>
              </a:lnSpc>
              <a:buFont typeface="Arial MT"/>
              <a:buChar char="•"/>
              <a:tabLst>
                <a:tab pos="195580" algn="l"/>
              </a:tabLst>
            </a:pPr>
            <a:r>
              <a:rPr sz="2650" spc="-10" dirty="0">
                <a:latin typeface="Times New Roman"/>
                <a:cs typeface="Times New Roman"/>
              </a:rPr>
              <a:t>A</a:t>
            </a:r>
            <a:r>
              <a:rPr sz="2650" spc="-1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l</a:t>
            </a:r>
            <a:r>
              <a:rPr sz="2650" spc="-20" dirty="0">
                <a:latin typeface="Times New Roman"/>
                <a:cs typeface="Times New Roman"/>
              </a:rPr>
              <a:t>a</a:t>
            </a:r>
            <a:r>
              <a:rPr sz="2650" spc="-70" dirty="0">
                <a:latin typeface="Times New Roman"/>
                <a:cs typeface="Times New Roman"/>
              </a:rPr>
              <a:t>r</a:t>
            </a:r>
            <a:r>
              <a:rPr sz="2650" spc="-5" dirty="0">
                <a:latin typeface="Times New Roman"/>
                <a:cs typeface="Times New Roman"/>
              </a:rPr>
              <a:t>ge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nu</a:t>
            </a:r>
            <a:r>
              <a:rPr sz="2650" spc="-35" dirty="0">
                <a:latin typeface="Times New Roman"/>
                <a:cs typeface="Times New Roman"/>
              </a:rPr>
              <a:t>m</a:t>
            </a:r>
            <a:r>
              <a:rPr sz="2650" spc="-5" dirty="0">
                <a:latin typeface="Times New Roman"/>
                <a:cs typeface="Times New Roman"/>
              </a:rPr>
              <a:t>b</a:t>
            </a:r>
            <a:r>
              <a:rPr sz="2650" spc="10" dirty="0">
                <a:latin typeface="Times New Roman"/>
                <a:cs typeface="Times New Roman"/>
              </a:rPr>
              <a:t>e</a:t>
            </a:r>
            <a:r>
              <a:rPr sz="2650" spc="-5" dirty="0">
                <a:latin typeface="Times New Roman"/>
                <a:cs typeface="Times New Roman"/>
              </a:rPr>
              <a:t>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endParaRPr sz="2650" dirty="0">
              <a:latin typeface="Times New Roman"/>
              <a:cs typeface="Times New Roman"/>
            </a:endParaRPr>
          </a:p>
          <a:p>
            <a:pPr marL="180340" marR="714375">
              <a:lnSpc>
                <a:spcPts val="3170"/>
              </a:lnSpc>
              <a:spcBef>
                <a:spcPts val="105"/>
              </a:spcBef>
            </a:pPr>
            <a:r>
              <a:rPr sz="2650" spc="-5" dirty="0">
                <a:latin typeface="Times New Roman"/>
                <a:cs typeface="Times New Roman"/>
              </a:rPr>
              <a:t>entrepreneurial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firms,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like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this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wind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farm,</a:t>
            </a:r>
            <a:r>
              <a:rPr sz="2650" spc="-15" dirty="0">
                <a:latin typeface="Times New Roman"/>
                <a:cs typeface="Times New Roman"/>
              </a:rPr>
              <a:t> are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being</a:t>
            </a:r>
            <a:endParaRPr sz="2650" dirty="0">
              <a:latin typeface="Times New Roman"/>
              <a:cs typeface="Times New Roman"/>
            </a:endParaRPr>
          </a:p>
          <a:p>
            <a:pPr marL="180340">
              <a:lnSpc>
                <a:spcPts val="3065"/>
              </a:lnSpc>
            </a:pPr>
            <a:r>
              <a:rPr sz="2650" spc="-10" dirty="0">
                <a:latin typeface="Times New Roman"/>
                <a:cs typeface="Times New Roman"/>
              </a:rPr>
              <a:t>launched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solve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this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problem.</a:t>
            </a:r>
            <a:endParaRPr lang="en-US" sz="2650" spc="-10" dirty="0">
              <a:latin typeface="Times New Roman"/>
              <a:cs typeface="Times New Roman"/>
            </a:endParaRPr>
          </a:p>
          <a:p>
            <a:pPr marL="180340">
              <a:lnSpc>
                <a:spcPts val="3065"/>
              </a:lnSpc>
            </a:pPr>
            <a:r>
              <a:rPr lang="en-US" sz="2650" spc="-10" dirty="0">
                <a:latin typeface="Times New Roman"/>
                <a:cs typeface="Times New Roman"/>
              </a:rPr>
              <a:t>Among the potential solutions is solar-generated power. </a:t>
            </a:r>
          </a:p>
          <a:p>
            <a:pPr marL="180340">
              <a:lnSpc>
                <a:spcPts val="3065"/>
              </a:lnSpc>
            </a:pP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260" y="110820"/>
            <a:ext cx="7501255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100"/>
              </a:spcBef>
            </a:pPr>
            <a:r>
              <a:rPr dirty="0"/>
              <a:t>Third</a:t>
            </a:r>
            <a:r>
              <a:rPr spc="-10" dirty="0"/>
              <a:t> </a:t>
            </a:r>
            <a:r>
              <a:rPr dirty="0"/>
              <a:t>Approach:</a:t>
            </a:r>
            <a:r>
              <a:rPr spc="40" dirty="0"/>
              <a:t> </a:t>
            </a:r>
            <a:r>
              <a:rPr dirty="0"/>
              <a:t>Finding</a:t>
            </a:r>
            <a:r>
              <a:rPr spc="-10" dirty="0"/>
              <a:t> </a:t>
            </a:r>
            <a:r>
              <a:rPr spc="-5" dirty="0"/>
              <a:t>Gaps</a:t>
            </a:r>
            <a:r>
              <a:rPr dirty="0"/>
              <a:t> </a:t>
            </a:r>
            <a:r>
              <a:rPr spc="5" dirty="0"/>
              <a:t>in</a:t>
            </a:r>
            <a:r>
              <a:rPr spc="-10" dirty="0"/>
              <a:t> </a:t>
            </a:r>
            <a:r>
              <a:rPr spc="5" dirty="0"/>
              <a:t>the </a:t>
            </a:r>
            <a:r>
              <a:rPr spc="-975" dirty="0"/>
              <a:t> </a:t>
            </a:r>
            <a:r>
              <a:rPr dirty="0"/>
              <a:t>Marketplace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969821"/>
            <a:ext cx="8848090" cy="288036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520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Gaps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Marketplace</a:t>
            </a:r>
            <a:endParaRPr sz="3050">
              <a:latin typeface="Times New Roman"/>
              <a:cs typeface="Times New Roman"/>
            </a:endParaRPr>
          </a:p>
          <a:p>
            <a:pPr marL="829310" marR="483870" lvl="1" indent="-314325">
              <a:lnSpc>
                <a:spcPts val="2860"/>
              </a:lnSpc>
              <a:spcBef>
                <a:spcPts val="69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third </a:t>
            </a:r>
            <a:r>
              <a:rPr sz="2650" spc="-10" dirty="0">
                <a:latin typeface="Times New Roman"/>
                <a:cs typeface="Times New Roman"/>
              </a:rPr>
              <a:t>approach </a:t>
            </a:r>
            <a:r>
              <a:rPr sz="2650" spc="-5" dirty="0">
                <a:latin typeface="Times New Roman"/>
                <a:cs typeface="Times New Roman"/>
              </a:rPr>
              <a:t>to identifying opportunities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find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gap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marketplace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ct val="89700"/>
              </a:lnSpc>
              <a:spcBef>
                <a:spcPts val="58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gap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marketplace</a:t>
            </a:r>
            <a:r>
              <a:rPr sz="2650" spc="-7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often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created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when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product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service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needed </a:t>
            </a:r>
            <a:r>
              <a:rPr sz="2650" spc="-5" dirty="0">
                <a:latin typeface="Times New Roman"/>
                <a:cs typeface="Times New Roman"/>
              </a:rPr>
              <a:t>by a specific </a:t>
            </a:r>
            <a:r>
              <a:rPr sz="2650" spc="-10" dirty="0">
                <a:latin typeface="Times New Roman"/>
                <a:cs typeface="Times New Roman"/>
              </a:rPr>
              <a:t>group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people </a:t>
            </a:r>
            <a:r>
              <a:rPr sz="2650" spc="-5" dirty="0">
                <a:latin typeface="Times New Roman"/>
                <a:cs typeface="Times New Roman"/>
              </a:rPr>
              <a:t>but doesn’t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represent </a:t>
            </a:r>
            <a:r>
              <a:rPr sz="2650" spc="-5" dirty="0">
                <a:latin typeface="Times New Roman"/>
                <a:cs typeface="Times New Roman"/>
              </a:rPr>
              <a:t>a large enough </a:t>
            </a:r>
            <a:r>
              <a:rPr sz="2650" spc="-10" dirty="0">
                <a:latin typeface="Times New Roman"/>
                <a:cs typeface="Times New Roman"/>
              </a:rPr>
              <a:t>market </a:t>
            </a:r>
            <a:r>
              <a:rPr sz="2650" spc="-5" dirty="0">
                <a:latin typeface="Times New Roman"/>
                <a:cs typeface="Times New Roman"/>
              </a:rPr>
              <a:t>to be of interest to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mainstream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retailers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manufacturers.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068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260" y="110820"/>
            <a:ext cx="7501255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200"/>
              </a:lnSpc>
              <a:spcBef>
                <a:spcPts val="100"/>
              </a:spcBef>
            </a:pPr>
            <a:r>
              <a:rPr dirty="0"/>
              <a:t>Third</a:t>
            </a:r>
            <a:r>
              <a:rPr spc="-10" dirty="0"/>
              <a:t> </a:t>
            </a:r>
            <a:r>
              <a:rPr dirty="0"/>
              <a:t>Approach:</a:t>
            </a:r>
            <a:r>
              <a:rPr spc="40" dirty="0"/>
              <a:t> </a:t>
            </a:r>
            <a:r>
              <a:rPr dirty="0"/>
              <a:t>Finding</a:t>
            </a:r>
            <a:r>
              <a:rPr spc="-10" dirty="0"/>
              <a:t> </a:t>
            </a:r>
            <a:r>
              <a:rPr spc="-5" dirty="0"/>
              <a:t>Gaps</a:t>
            </a:r>
            <a:r>
              <a:rPr dirty="0"/>
              <a:t> </a:t>
            </a:r>
            <a:r>
              <a:rPr spc="5" dirty="0"/>
              <a:t>in</a:t>
            </a:r>
            <a:r>
              <a:rPr spc="-10" dirty="0"/>
              <a:t> </a:t>
            </a:r>
            <a:r>
              <a:rPr spc="5" dirty="0"/>
              <a:t>the </a:t>
            </a:r>
            <a:r>
              <a:rPr spc="-975" dirty="0"/>
              <a:t> </a:t>
            </a:r>
            <a:r>
              <a:rPr dirty="0"/>
              <a:t>Marketplace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7068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6049" y="2569210"/>
            <a:ext cx="3613150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1000"/>
              </a:lnSpc>
              <a:spcBef>
                <a:spcPts val="95"/>
              </a:spcBef>
            </a:pPr>
            <a:r>
              <a:rPr sz="3050" spc="15" dirty="0">
                <a:latin typeface="Times New Roman"/>
                <a:cs typeface="Times New Roman"/>
              </a:rPr>
              <a:t>Product gaps </a:t>
            </a:r>
            <a:r>
              <a:rPr sz="3050" dirty="0">
                <a:latin typeface="Times New Roman"/>
                <a:cs typeface="Times New Roman"/>
              </a:rPr>
              <a:t>in </a:t>
            </a:r>
            <a:r>
              <a:rPr sz="3050" spc="15" dirty="0">
                <a:latin typeface="Times New Roman"/>
                <a:cs typeface="Times New Roman"/>
              </a:rPr>
              <a:t>the </a:t>
            </a:r>
            <a:r>
              <a:rPr sz="3050" spc="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marketplace represent 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potentially viable 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business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opportunities.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40046" y="1785366"/>
            <a:ext cx="4704715" cy="5375275"/>
            <a:chOff x="4940046" y="1785366"/>
            <a:chExt cx="4704715" cy="5375275"/>
          </a:xfrm>
        </p:grpSpPr>
        <p:sp>
          <p:nvSpPr>
            <p:cNvPr id="6" name="object 6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4693919" y="5364480"/>
                  </a:moveTo>
                  <a:lnTo>
                    <a:pt x="0" y="5364480"/>
                  </a:lnTo>
                  <a:lnTo>
                    <a:pt x="0" y="0"/>
                  </a:lnTo>
                  <a:lnTo>
                    <a:pt x="4693919" y="0"/>
                  </a:lnTo>
                  <a:lnTo>
                    <a:pt x="4693919" y="536448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380" y="1790700"/>
              <a:ext cx="4693920" cy="5364480"/>
            </a:xfrm>
            <a:custGeom>
              <a:avLst/>
              <a:gdLst/>
              <a:ahLst/>
              <a:cxnLst/>
              <a:rect l="l" t="t" r="r" b="b"/>
              <a:pathLst>
                <a:path w="4693920" h="5364480">
                  <a:moveTo>
                    <a:pt x="0" y="0"/>
                  </a:moveTo>
                  <a:lnTo>
                    <a:pt x="4693919" y="0"/>
                  </a:lnTo>
                  <a:lnTo>
                    <a:pt x="4693919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4307" y="1981200"/>
            <a:ext cx="4076065" cy="36131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650" spc="-10" dirty="0">
                <a:latin typeface="Times New Roman"/>
                <a:cs typeface="Times New Roman"/>
              </a:rPr>
              <a:t>Specific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Example</a:t>
            </a:r>
            <a:endParaRPr sz="26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3170"/>
              </a:lnSpc>
              <a:spcBef>
                <a:spcPts val="1535"/>
              </a:spcBef>
              <a:tabLst>
                <a:tab pos="3345179" algn="l"/>
              </a:tabLst>
            </a:pPr>
            <a:r>
              <a:rPr sz="2650" spc="-35" dirty="0">
                <a:latin typeface="Times New Roman"/>
                <a:cs typeface="Times New Roman"/>
              </a:rPr>
              <a:t>Tish</a:t>
            </a:r>
            <a:r>
              <a:rPr sz="2650" spc="65" dirty="0">
                <a:latin typeface="Times New Roman"/>
                <a:cs typeface="Times New Roman"/>
              </a:rPr>
              <a:t> </a:t>
            </a:r>
            <a:r>
              <a:rPr sz="2650" spc="-5" dirty="0" err="1">
                <a:latin typeface="Times New Roman"/>
                <a:cs typeface="Times New Roman"/>
              </a:rPr>
              <a:t>Cirovolv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realized there </a:t>
            </a:r>
            <a:r>
              <a:rPr sz="2650" spc="-10" dirty="0">
                <a:latin typeface="Times New Roman"/>
                <a:cs typeface="Times New Roman"/>
              </a:rPr>
              <a:t>were </a:t>
            </a:r>
            <a:r>
              <a:rPr sz="2650" spc="-5" dirty="0">
                <a:latin typeface="Times New Roman"/>
                <a:cs typeface="Times New Roman"/>
              </a:rPr>
              <a:t>no </a:t>
            </a:r>
            <a:r>
              <a:rPr sz="2650" spc="-10" dirty="0">
                <a:latin typeface="Times New Roman"/>
                <a:cs typeface="Times New Roman"/>
              </a:rPr>
              <a:t>guitars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 the </a:t>
            </a:r>
            <a:r>
              <a:rPr sz="2650" spc="-10" dirty="0">
                <a:latin typeface="Times New Roman"/>
                <a:cs typeface="Times New Roman"/>
              </a:rPr>
              <a:t>market made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specifically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>
                <a:latin typeface="Times New Roman"/>
                <a:cs typeface="Times New Roman"/>
              </a:rPr>
              <a:t>women.</a:t>
            </a:r>
            <a:r>
              <a:rPr lang="en-US" sz="2650" spc="-5">
                <a:latin typeface="Times New Roman"/>
                <a:cs typeface="Times New Roman"/>
              </a:rPr>
              <a:t>  </a:t>
            </a:r>
            <a:r>
              <a:rPr sz="2650" spc="-105">
                <a:latin typeface="Times New Roman"/>
                <a:cs typeface="Times New Roman"/>
              </a:rPr>
              <a:t>To</a:t>
            </a:r>
            <a:r>
              <a:rPr lang="en-US" sz="2650" spc="-105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fill this gap, she started Daisy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Rock Guitars,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company </a:t>
            </a:r>
            <a:r>
              <a:rPr sz="2650" dirty="0">
                <a:latin typeface="Times New Roman"/>
                <a:cs typeface="Times New Roman"/>
              </a:rPr>
              <a:t>that</a:t>
            </a:r>
            <a:r>
              <a:rPr lang="en-US"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makes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guitars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just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for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women.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41390"/>
            <a:ext cx="9906000" cy="621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-5" dirty="0"/>
              <a:t>Personal </a:t>
            </a:r>
            <a:r>
              <a:rPr b="1" dirty="0"/>
              <a:t>Characteristics</a:t>
            </a:r>
            <a:r>
              <a:rPr b="1" spc="30" dirty="0"/>
              <a:t> </a:t>
            </a:r>
            <a:r>
              <a:rPr b="1" dirty="0"/>
              <a:t>of</a:t>
            </a:r>
            <a:r>
              <a:rPr b="1" spc="-20" dirty="0"/>
              <a:t> </a:t>
            </a:r>
            <a:r>
              <a:rPr b="1" spc="5" dirty="0"/>
              <a:t>the</a:t>
            </a:r>
            <a:r>
              <a:rPr b="1" spc="10" dirty="0"/>
              <a:t> </a:t>
            </a:r>
            <a:r>
              <a:rPr b="1" dirty="0"/>
              <a:t>Entrepreneur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5174" y="1816117"/>
            <a:ext cx="7350759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176655" marR="5080" indent="-1164590">
              <a:lnSpc>
                <a:spcPts val="3170"/>
              </a:lnSpc>
              <a:spcBef>
                <a:spcPts val="195"/>
              </a:spcBef>
            </a:pPr>
            <a:r>
              <a:rPr sz="2650" spc="-10" dirty="0">
                <a:latin typeface="Times New Roman"/>
                <a:cs typeface="Times New Roman"/>
              </a:rPr>
              <a:t>Characteristics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tend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make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some</a:t>
            </a:r>
            <a:r>
              <a:rPr sz="2650" spc="-10" dirty="0">
                <a:latin typeface="Times New Roman"/>
                <a:cs typeface="Times New Roman"/>
              </a:rPr>
              <a:t> people </a:t>
            </a:r>
            <a:r>
              <a:rPr sz="2650" spc="-5" dirty="0">
                <a:latin typeface="Times New Roman"/>
                <a:cs typeface="Times New Roman"/>
              </a:rPr>
              <a:t>better </a:t>
            </a:r>
            <a:r>
              <a:rPr sz="2650" spc="-15" dirty="0">
                <a:latin typeface="Times New Roman"/>
                <a:cs typeface="Times New Roman"/>
              </a:rPr>
              <a:t>at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recognizing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opportunities </a:t>
            </a:r>
            <a:r>
              <a:rPr sz="2650" spc="-10" dirty="0">
                <a:latin typeface="Times New Roman"/>
                <a:cs typeface="Times New Roman"/>
              </a:rPr>
              <a:t>than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others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3299459"/>
            <a:ext cx="2766060" cy="83820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1610"/>
              </a:spcBef>
            </a:pPr>
            <a:r>
              <a:rPr sz="2650" spc="-10" dirty="0">
                <a:latin typeface="Times New Roman"/>
                <a:cs typeface="Times New Roman"/>
              </a:rPr>
              <a:t>Prior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Experience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1220" y="3299459"/>
            <a:ext cx="2766060" cy="83820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610"/>
              </a:spcBef>
            </a:pPr>
            <a:r>
              <a:rPr sz="2650" spc="-10" dirty="0">
                <a:latin typeface="Times New Roman"/>
                <a:cs typeface="Times New Roman"/>
              </a:rPr>
              <a:t>Cognitive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Factors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5311139"/>
            <a:ext cx="2766060" cy="83820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610"/>
              </a:spcBef>
            </a:pPr>
            <a:r>
              <a:rPr sz="2650" spc="-10" dirty="0">
                <a:latin typeface="Times New Roman"/>
                <a:cs typeface="Times New Roman"/>
              </a:rPr>
              <a:t>Social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Networks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1220" y="5311139"/>
            <a:ext cx="2766060" cy="83820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711200">
              <a:lnSpc>
                <a:spcPct val="100000"/>
              </a:lnSpc>
              <a:spcBef>
                <a:spcPts val="1610"/>
              </a:spcBef>
            </a:pPr>
            <a:r>
              <a:rPr sz="2650" spc="-10" dirty="0">
                <a:latin typeface="Times New Roman"/>
                <a:cs typeface="Times New Roman"/>
              </a:rPr>
              <a:t>Creativity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0376" y="580097"/>
            <a:ext cx="34175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Prior</a:t>
            </a:r>
            <a:r>
              <a:rPr spc="-90" dirty="0"/>
              <a:t> </a:t>
            </a:r>
            <a:r>
              <a:rPr dirty="0"/>
              <a:t>Experience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719366"/>
            <a:ext cx="8865870" cy="36925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Prior</a:t>
            </a:r>
            <a:r>
              <a:rPr sz="3050" spc="15" dirty="0">
                <a:latin typeface="Times New Roman"/>
                <a:cs typeface="Times New Roman"/>
              </a:rPr>
              <a:t> Industry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Experience</a:t>
            </a:r>
            <a:endParaRPr sz="3050">
              <a:latin typeface="Times New Roman"/>
              <a:cs typeface="Times New Roman"/>
            </a:endParaRPr>
          </a:p>
          <a:p>
            <a:pPr marL="829310" marR="73469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Several </a:t>
            </a:r>
            <a:r>
              <a:rPr sz="2650" spc="-5" dirty="0">
                <a:latin typeface="Times New Roman"/>
                <a:cs typeface="Times New Roman"/>
              </a:rPr>
              <a:t>studies </a:t>
            </a:r>
            <a:r>
              <a:rPr sz="2650" spc="-10" dirty="0">
                <a:latin typeface="Times New Roman"/>
                <a:cs typeface="Times New Roman"/>
              </a:rPr>
              <a:t>have shown that </a:t>
            </a:r>
            <a:r>
              <a:rPr sz="2650" spc="-5" dirty="0">
                <a:latin typeface="Times New Roman"/>
                <a:cs typeface="Times New Roman"/>
              </a:rPr>
              <a:t>prior experience in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10" dirty="0">
                <a:latin typeface="Times New Roman"/>
                <a:cs typeface="Times New Roman"/>
              </a:rPr>
              <a:t>helps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10" dirty="0">
                <a:latin typeface="Times New Roman"/>
                <a:cs typeface="Times New Roman"/>
              </a:rPr>
              <a:t>entrepreneur recognize </a:t>
            </a:r>
            <a:r>
              <a:rPr sz="2650" spc="-5" dirty="0">
                <a:latin typeface="Times New Roman"/>
                <a:cs typeface="Times New Roman"/>
              </a:rPr>
              <a:t>business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opportunities.</a:t>
            </a:r>
            <a:endParaRPr sz="2650">
              <a:latin typeface="Times New Roman"/>
              <a:cs typeface="Times New Roman"/>
            </a:endParaRPr>
          </a:p>
          <a:p>
            <a:pPr marL="1269365" marR="257810" lvl="2" indent="-252095">
              <a:lnSpc>
                <a:spcPct val="100000"/>
              </a:lnSpc>
              <a:spcBef>
                <a:spcPts val="440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" dirty="0">
                <a:latin typeface="Times New Roman"/>
                <a:cs typeface="Times New Roman"/>
              </a:rPr>
              <a:t> working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industry,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dirty="0">
                <a:latin typeface="Times New Roman"/>
                <a:cs typeface="Times New Roman"/>
              </a:rPr>
              <a:t> individual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spot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market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niche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 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underserved.</a:t>
            </a:r>
            <a:endParaRPr sz="2200">
              <a:latin typeface="Times New Roman"/>
              <a:cs typeface="Times New Roman"/>
            </a:endParaRPr>
          </a:p>
          <a:p>
            <a:pPr marL="1269365" marR="5080" lvl="2" indent="-252095">
              <a:lnSpc>
                <a:spcPct val="100000"/>
              </a:lnSpc>
              <a:spcBef>
                <a:spcPts val="5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spc="-10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by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working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industry,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5" dirty="0">
                <a:latin typeface="Times New Roman"/>
                <a:cs typeface="Times New Roman"/>
              </a:rPr>
              <a:t> individual </a:t>
            </a:r>
            <a:r>
              <a:rPr sz="2200" dirty="0">
                <a:latin typeface="Times New Roman"/>
                <a:cs typeface="Times New Roman"/>
              </a:rPr>
              <a:t> builds </a:t>
            </a:r>
            <a:r>
              <a:rPr sz="2200" spc="-5" dirty="0">
                <a:latin typeface="Times New Roman"/>
                <a:cs typeface="Times New Roman"/>
              </a:rPr>
              <a:t>a network of social contacts who provide </a:t>
            </a:r>
            <a:r>
              <a:rPr sz="2200" dirty="0">
                <a:latin typeface="Times New Roman"/>
                <a:cs typeface="Times New Roman"/>
              </a:rPr>
              <a:t>insights </a:t>
            </a:r>
            <a:r>
              <a:rPr sz="2200" spc="-5" dirty="0">
                <a:latin typeface="Times New Roman"/>
                <a:cs typeface="Times New Roman"/>
              </a:rPr>
              <a:t>that </a:t>
            </a:r>
            <a:r>
              <a:rPr sz="2200" spc="-10" dirty="0">
                <a:latin typeface="Times New Roman"/>
                <a:cs typeface="Times New Roman"/>
              </a:rPr>
              <a:t>lead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recognizing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opportunities.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C06B-5FD1-4E75-974F-84A229D9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89" y="762000"/>
            <a:ext cx="8254819" cy="607859"/>
          </a:xfrm>
        </p:spPr>
        <p:txBody>
          <a:bodyPr/>
          <a:lstStyle/>
          <a:p>
            <a:pPr algn="ctr"/>
            <a:r>
              <a:rPr lang="en-US" b="1" dirty="0"/>
              <a:t>Corridor Principle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F12FC-EE79-49B8-9A9F-F4D38B68B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905" y="1718306"/>
            <a:ext cx="8942589" cy="2462213"/>
          </a:xfrm>
        </p:spPr>
        <p:txBody>
          <a:bodyPr/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States that once an entrepreneur starts a firm, he or she begins a journey down a path where “corridors” leading to new venture opportunities become apparent. </a:t>
            </a:r>
          </a:p>
        </p:txBody>
      </p:sp>
    </p:spTree>
    <p:extLst>
      <p:ext uri="{BB962C8B-B14F-4D97-AF65-F5344CB8AC3E}">
        <p14:creationId xmlns:p14="http://schemas.microsoft.com/office/powerpoint/2010/main" val="2571042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167" y="580097"/>
            <a:ext cx="3616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Cognitive</a:t>
            </a:r>
            <a:r>
              <a:rPr spc="-55" dirty="0"/>
              <a:t> </a:t>
            </a:r>
            <a:r>
              <a:rPr dirty="0"/>
              <a:t>Factors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23325" cy="40532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Cognitive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Factors</a:t>
            </a:r>
            <a:endParaRPr sz="3050">
              <a:latin typeface="Times New Roman"/>
              <a:cs typeface="Times New Roman"/>
            </a:endParaRPr>
          </a:p>
          <a:p>
            <a:pPr marL="829310" marR="2159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Studies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have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shown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recognition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(inborn)natural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skill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cognitive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process.</a:t>
            </a:r>
            <a:endParaRPr sz="2650">
              <a:latin typeface="Times New Roman"/>
              <a:cs typeface="Times New Roman"/>
            </a:endParaRPr>
          </a:p>
          <a:p>
            <a:pPr marL="829310" marR="61976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Some </a:t>
            </a:r>
            <a:r>
              <a:rPr sz="2650" spc="-5" dirty="0">
                <a:latin typeface="Times New Roman"/>
                <a:cs typeface="Times New Roman"/>
              </a:rPr>
              <a:t>people believe </a:t>
            </a:r>
            <a:r>
              <a:rPr sz="2650" dirty="0">
                <a:latin typeface="Times New Roman"/>
                <a:cs typeface="Times New Roman"/>
              </a:rPr>
              <a:t>that </a:t>
            </a:r>
            <a:r>
              <a:rPr sz="2650" spc="-10" dirty="0">
                <a:latin typeface="Times New Roman"/>
                <a:cs typeface="Times New Roman"/>
              </a:rPr>
              <a:t>entrepreneurs have </a:t>
            </a:r>
            <a:r>
              <a:rPr sz="2650" spc="-5" dirty="0">
                <a:latin typeface="Times New Roman"/>
                <a:cs typeface="Times New Roman"/>
              </a:rPr>
              <a:t>a “sixth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sense”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allows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them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see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opportunities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others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miss.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This </a:t>
            </a:r>
            <a:r>
              <a:rPr sz="2650" spc="-5" dirty="0">
                <a:latin typeface="Times New Roman"/>
                <a:cs typeface="Times New Roman"/>
              </a:rPr>
              <a:t>“sixth sense” is called entrepreneurial </a:t>
            </a:r>
            <a:r>
              <a:rPr sz="2650" spc="-10" dirty="0">
                <a:latin typeface="Times New Roman"/>
                <a:cs typeface="Times New Roman"/>
              </a:rPr>
              <a:t>alertness,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formally </a:t>
            </a:r>
            <a:r>
              <a:rPr sz="2650" spc="-5" dirty="0">
                <a:latin typeface="Times New Roman"/>
                <a:cs typeface="Times New Roman"/>
              </a:rPr>
              <a:t>defined </a:t>
            </a:r>
            <a:r>
              <a:rPr sz="2650" dirty="0">
                <a:latin typeface="Times New Roman"/>
                <a:cs typeface="Times New Roman"/>
              </a:rPr>
              <a:t>as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ability </a:t>
            </a:r>
            <a:r>
              <a:rPr sz="2650" spc="-5" dirty="0">
                <a:latin typeface="Times New Roman"/>
                <a:cs typeface="Times New Roman"/>
              </a:rPr>
              <a:t>to notice things without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engaging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deliberate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search.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Social</a:t>
            </a:r>
            <a:r>
              <a:rPr spc="-45" dirty="0"/>
              <a:t> </a:t>
            </a:r>
            <a:r>
              <a:rPr dirty="0"/>
              <a:t>Networks</a:t>
            </a:r>
          </a:p>
          <a:p>
            <a:pPr marL="1270"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2006"/>
            <a:ext cx="8815070" cy="5145768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520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Social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Networks</a:t>
            </a:r>
            <a:endParaRPr sz="3050" dirty="0">
              <a:latin typeface="Times New Roman"/>
              <a:cs typeface="Times New Roman"/>
            </a:endParaRPr>
          </a:p>
          <a:p>
            <a:pPr marL="829310" marR="667385" lvl="1" indent="-314325">
              <a:lnSpc>
                <a:spcPts val="2860"/>
              </a:lnSpc>
              <a:spcBef>
                <a:spcPts val="69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extent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 depth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individual’s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social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network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affects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opportunity</a:t>
            </a:r>
            <a:r>
              <a:rPr sz="265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5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recognition</a:t>
            </a:r>
            <a:r>
              <a:rPr sz="2650" spc="-5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ct val="89600"/>
              </a:lnSpc>
              <a:spcBef>
                <a:spcPts val="58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People </a:t>
            </a:r>
            <a:r>
              <a:rPr sz="2650" dirty="0">
                <a:latin typeface="Times New Roman"/>
                <a:cs typeface="Times New Roman"/>
              </a:rPr>
              <a:t>who </a:t>
            </a:r>
            <a:r>
              <a:rPr sz="2650" spc="-10" dirty="0">
                <a:latin typeface="Times New Roman"/>
                <a:cs typeface="Times New Roman"/>
              </a:rPr>
              <a:t>build </a:t>
            </a:r>
            <a:r>
              <a:rPr sz="2650" spc="-5" dirty="0">
                <a:latin typeface="Times New Roman"/>
                <a:cs typeface="Times New Roman"/>
              </a:rPr>
              <a:t>a substantial </a:t>
            </a:r>
            <a:r>
              <a:rPr sz="2650" spc="-10" dirty="0">
                <a:latin typeface="Times New Roman"/>
                <a:cs typeface="Times New Roman"/>
              </a:rPr>
              <a:t>network </a:t>
            </a:r>
            <a:r>
              <a:rPr sz="2650" spc="-5" dirty="0">
                <a:latin typeface="Times New Roman"/>
                <a:cs typeface="Times New Roman"/>
              </a:rPr>
              <a:t>of social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professional </a:t>
            </a:r>
            <a:r>
              <a:rPr sz="2650" spc="-5" dirty="0">
                <a:latin typeface="Times New Roman"/>
                <a:cs typeface="Times New Roman"/>
              </a:rPr>
              <a:t>contacts will be exposed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more </a:t>
            </a:r>
            <a:r>
              <a:rPr sz="2650" spc="-5" dirty="0">
                <a:latin typeface="Times New Roman"/>
                <a:cs typeface="Times New Roman"/>
              </a:rPr>
              <a:t>opportunities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 </a:t>
            </a:r>
            <a:r>
              <a:rPr sz="2650" spc="-10" dirty="0">
                <a:latin typeface="Times New Roman"/>
                <a:cs typeface="Times New Roman"/>
              </a:rPr>
              <a:t>than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people</a:t>
            </a:r>
            <a:r>
              <a:rPr sz="2650" spc="-15" dirty="0">
                <a:latin typeface="Times New Roman"/>
                <a:cs typeface="Times New Roman"/>
              </a:rPr>
              <a:t> with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limited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networks.</a:t>
            </a:r>
            <a:endParaRPr sz="2650" dirty="0">
              <a:latin typeface="Times New Roman"/>
              <a:cs typeface="Times New Roman"/>
            </a:endParaRPr>
          </a:p>
          <a:p>
            <a:pPr marL="829310" marR="487045" lvl="1" indent="-314325">
              <a:lnSpc>
                <a:spcPts val="2840"/>
              </a:lnSpc>
              <a:spcBef>
                <a:spcPts val="69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one survey of 65 start-ups, </a:t>
            </a:r>
            <a:r>
              <a:rPr sz="2650" dirty="0">
                <a:latin typeface="Times New Roman"/>
                <a:cs typeface="Times New Roman"/>
              </a:rPr>
              <a:t>half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founders reported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got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their</a:t>
            </a:r>
            <a:r>
              <a:rPr sz="2650" spc="-10" dirty="0">
                <a:latin typeface="Times New Roman"/>
                <a:cs typeface="Times New Roman"/>
              </a:rPr>
              <a:t> business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idea through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social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contacts.</a:t>
            </a:r>
            <a:endParaRPr lang="en-US" sz="2650" spc="-5" dirty="0">
              <a:latin typeface="Times New Roman"/>
              <a:cs typeface="Times New Roman"/>
            </a:endParaRPr>
          </a:p>
          <a:p>
            <a:pPr marL="829310" marR="487045" lvl="1" indent="-314325">
              <a:lnSpc>
                <a:spcPts val="2840"/>
              </a:lnSpc>
              <a:spcBef>
                <a:spcPts val="690"/>
              </a:spcBef>
              <a:buChar char="–"/>
              <a:tabLst>
                <a:tab pos="830580" algn="l"/>
                <a:tab pos="831215" algn="l"/>
              </a:tabLst>
            </a:pPr>
            <a:endParaRPr sz="2650" dirty="0">
              <a:latin typeface="Times New Roman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345"/>
              </a:spcBef>
              <a:tabLst>
                <a:tab pos="388620" algn="l"/>
                <a:tab pos="389255" algn="l"/>
              </a:tabLst>
            </a:pPr>
            <a:r>
              <a:rPr lang="en-US" sz="3050" spc="20" dirty="0">
                <a:latin typeface="Times New Roman"/>
                <a:cs typeface="Times New Roman"/>
              </a:rPr>
              <a:t>-</a:t>
            </a:r>
            <a:r>
              <a:rPr sz="3050" spc="20" dirty="0">
                <a:latin typeface="Times New Roman"/>
                <a:cs typeface="Times New Roman"/>
              </a:rPr>
              <a:t>Strong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Tie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Vs.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Weak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Tie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Relationships</a:t>
            </a:r>
            <a:endParaRPr sz="3050" dirty="0">
              <a:latin typeface="Times New Roman"/>
              <a:cs typeface="Times New Roman"/>
            </a:endParaRPr>
          </a:p>
          <a:p>
            <a:pPr marL="829310" marR="786765" lvl="1" indent="-314325">
              <a:lnSpc>
                <a:spcPts val="2860"/>
              </a:lnSpc>
              <a:spcBef>
                <a:spcPts val="69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R</a:t>
            </a:r>
            <a:r>
              <a:rPr sz="2650" spc="-5" dirty="0">
                <a:latin typeface="Times New Roman"/>
                <a:cs typeface="Times New Roman"/>
              </a:rPr>
              <a:t>elationships </a:t>
            </a:r>
            <a:r>
              <a:rPr sz="2650" spc="-15" dirty="0">
                <a:latin typeface="Times New Roman"/>
                <a:cs typeface="Times New Roman"/>
              </a:rPr>
              <a:t>with </a:t>
            </a:r>
            <a:r>
              <a:rPr sz="2650" spc="-10" dirty="0">
                <a:latin typeface="Times New Roman"/>
                <a:cs typeface="Times New Roman"/>
              </a:rPr>
              <a:t>other </a:t>
            </a:r>
            <a:r>
              <a:rPr sz="2650" spc="-5" dirty="0">
                <a:latin typeface="Times New Roman"/>
                <a:cs typeface="Times New Roman"/>
              </a:rPr>
              <a:t>people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 </a:t>
            </a:r>
            <a:r>
              <a:rPr sz="2650" spc="-6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called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“ties.”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(See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next</a:t>
            </a:r>
            <a:r>
              <a:rPr sz="2650" spc="-5" dirty="0">
                <a:latin typeface="Times New Roman"/>
                <a:cs typeface="Times New Roman"/>
              </a:rPr>
              <a:t> slide.)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Social</a:t>
            </a:r>
            <a:r>
              <a:rPr spc="-45" dirty="0"/>
              <a:t> </a:t>
            </a:r>
            <a:r>
              <a:rPr dirty="0"/>
              <a:t>Networks</a:t>
            </a:r>
          </a:p>
          <a:p>
            <a:pPr marL="1270"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692515" cy="46151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20" dirty="0">
                <a:latin typeface="Times New Roman"/>
                <a:cs typeface="Times New Roman"/>
              </a:rPr>
              <a:t>Nature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Strong-Tie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Vs.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Weak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Tie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Relationships</a:t>
            </a:r>
            <a:endParaRPr sz="3050" dirty="0">
              <a:latin typeface="Times New Roman"/>
              <a:cs typeface="Times New Roman"/>
            </a:endParaRPr>
          </a:p>
          <a:p>
            <a:pPr marL="829310" marR="68961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Strong-tie relationship </a:t>
            </a:r>
            <a:r>
              <a:rPr sz="2650" spc="-15" dirty="0">
                <a:latin typeface="Times New Roman"/>
                <a:cs typeface="Times New Roman"/>
              </a:rPr>
              <a:t>are </a:t>
            </a:r>
            <a:r>
              <a:rPr sz="2650" spc="-5" dirty="0">
                <a:latin typeface="Times New Roman"/>
                <a:cs typeface="Times New Roman"/>
              </a:rPr>
              <a:t>characterized by frequent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interaction</a:t>
            </a:r>
            <a:r>
              <a:rPr sz="2650" spc="-7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form </a:t>
            </a:r>
            <a:r>
              <a:rPr sz="2650" spc="-5" dirty="0">
                <a:latin typeface="Times New Roman"/>
                <a:cs typeface="Times New Roman"/>
              </a:rPr>
              <a:t>between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coworkers,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friends,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spouses.</a:t>
            </a:r>
            <a:endParaRPr sz="2650" dirty="0">
              <a:latin typeface="Times New Roman"/>
              <a:cs typeface="Times New Roman"/>
            </a:endParaRPr>
          </a:p>
          <a:p>
            <a:pPr marL="829310" marR="594995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Weak-tie relationships </a:t>
            </a:r>
            <a:r>
              <a:rPr sz="2650" spc="-15" dirty="0">
                <a:latin typeface="Times New Roman"/>
                <a:cs typeface="Times New Roman"/>
              </a:rPr>
              <a:t>are </a:t>
            </a:r>
            <a:r>
              <a:rPr sz="2650" spc="-5" dirty="0">
                <a:latin typeface="Times New Roman"/>
                <a:cs typeface="Times New Roman"/>
              </a:rPr>
              <a:t>characterized by </a:t>
            </a:r>
            <a:r>
              <a:rPr sz="2650" spc="-10" dirty="0">
                <a:latin typeface="Times New Roman"/>
                <a:cs typeface="Times New Roman"/>
              </a:rPr>
              <a:t>infrequent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interaction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10" dirty="0">
                <a:latin typeface="Times New Roman"/>
                <a:cs typeface="Times New Roman"/>
              </a:rPr>
              <a:t> form</a:t>
            </a:r>
            <a:r>
              <a:rPr sz="2650" spc="-5" dirty="0">
                <a:latin typeface="Times New Roman"/>
                <a:cs typeface="Times New Roman"/>
              </a:rPr>
              <a:t> between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casual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acquaintances.</a:t>
            </a:r>
            <a:endParaRPr sz="2650" dirty="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Result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 algn="just">
              <a:lnSpc>
                <a:spcPts val="3170"/>
              </a:lnSpc>
              <a:spcBef>
                <a:spcPts val="745"/>
              </a:spcBef>
              <a:buChar char="–"/>
              <a:tabLst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It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more </a:t>
            </a:r>
            <a:r>
              <a:rPr sz="2650" spc="-5" dirty="0">
                <a:latin typeface="Times New Roman"/>
                <a:cs typeface="Times New Roman"/>
              </a:rPr>
              <a:t>likely </a:t>
            </a:r>
            <a:r>
              <a:rPr sz="2650" spc="-10" dirty="0">
                <a:latin typeface="Times New Roman"/>
                <a:cs typeface="Times New Roman"/>
              </a:rPr>
              <a:t>that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entrepreneur will </a:t>
            </a:r>
            <a:r>
              <a:rPr sz="2650" dirty="0">
                <a:latin typeface="Times New Roman"/>
                <a:cs typeface="Times New Roman"/>
              </a:rPr>
              <a:t>get </a:t>
            </a:r>
            <a:r>
              <a:rPr sz="2650" spc="-5" dirty="0">
                <a:latin typeface="Times New Roman"/>
                <a:cs typeface="Times New Roman"/>
              </a:rPr>
              <a:t>new </a:t>
            </a:r>
            <a:r>
              <a:rPr sz="2650" spc="-10" dirty="0">
                <a:latin typeface="Times New Roman"/>
                <a:cs typeface="Times New Roman"/>
              </a:rPr>
              <a:t>business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 </a:t>
            </a:r>
            <a:r>
              <a:rPr sz="2650" spc="-10" dirty="0">
                <a:latin typeface="Times New Roman"/>
                <a:cs typeface="Times New Roman"/>
              </a:rPr>
              <a:t>through weak-tie </a:t>
            </a:r>
            <a:r>
              <a:rPr sz="2650" spc="-5" dirty="0">
                <a:latin typeface="Times New Roman"/>
                <a:cs typeface="Times New Roman"/>
              </a:rPr>
              <a:t>rather </a:t>
            </a:r>
            <a:r>
              <a:rPr sz="2650" spc="-10" dirty="0">
                <a:latin typeface="Times New Roman"/>
                <a:cs typeface="Times New Roman"/>
              </a:rPr>
              <a:t>than strong-tie </a:t>
            </a:r>
            <a:r>
              <a:rPr sz="2650" spc="-5" dirty="0">
                <a:latin typeface="Times New Roman"/>
                <a:cs typeface="Times New Roman"/>
              </a:rPr>
              <a:t>relationships.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(See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next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slide.)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Social</a:t>
            </a:r>
            <a:r>
              <a:rPr spc="-45" dirty="0"/>
              <a:t> </a:t>
            </a:r>
            <a:r>
              <a:rPr dirty="0"/>
              <a:t>Networks</a:t>
            </a:r>
          </a:p>
          <a:p>
            <a:pPr marL="1270"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2919" y="3131819"/>
            <a:ext cx="8968740" cy="4107179"/>
          </a:xfrm>
          <a:custGeom>
            <a:avLst/>
            <a:gdLst/>
            <a:ahLst/>
            <a:cxnLst/>
            <a:rect l="l" t="t" r="r" b="b"/>
            <a:pathLst>
              <a:path w="8968740" h="4107179">
                <a:moveTo>
                  <a:pt x="0" y="0"/>
                </a:moveTo>
                <a:lnTo>
                  <a:pt x="8968740" y="0"/>
                </a:lnTo>
              </a:path>
              <a:path w="8968740" h="4107179">
                <a:moveTo>
                  <a:pt x="4442460" y="0"/>
                </a:moveTo>
                <a:lnTo>
                  <a:pt x="4442460" y="410718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4027" y="3408698"/>
            <a:ext cx="3715385" cy="203708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54610" algn="just">
              <a:lnSpc>
                <a:spcPts val="3170"/>
              </a:lnSpc>
              <a:spcBef>
                <a:spcPts val="190"/>
              </a:spcBef>
            </a:pPr>
            <a:r>
              <a:rPr sz="2650" spc="-5" dirty="0">
                <a:latin typeface="Times New Roman"/>
                <a:cs typeface="Times New Roman"/>
              </a:rPr>
              <a:t>These </a:t>
            </a:r>
            <a:r>
              <a:rPr sz="2650" spc="-10" dirty="0">
                <a:latin typeface="Times New Roman"/>
                <a:cs typeface="Times New Roman"/>
              </a:rPr>
              <a:t>relationships,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typically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form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between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like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minded individuals, tend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reinforce </a:t>
            </a:r>
            <a:r>
              <a:rPr sz="2650" spc="-5" dirty="0">
                <a:latin typeface="Times New Roman"/>
                <a:cs typeface="Times New Roman"/>
              </a:rPr>
              <a:t>insights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ideas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 people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already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have.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1404" y="3408698"/>
            <a:ext cx="3634740" cy="32442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540" algn="ctr">
              <a:lnSpc>
                <a:spcPts val="3170"/>
              </a:lnSpc>
              <a:spcBef>
                <a:spcPts val="180"/>
              </a:spcBef>
            </a:pPr>
            <a:r>
              <a:rPr sz="2650" spc="-5" dirty="0">
                <a:latin typeface="Times New Roman"/>
                <a:cs typeface="Times New Roman"/>
              </a:rPr>
              <a:t>These </a:t>
            </a:r>
            <a:r>
              <a:rPr sz="2650" spc="-10" dirty="0">
                <a:latin typeface="Times New Roman"/>
                <a:cs typeface="Times New Roman"/>
              </a:rPr>
              <a:t>relationships,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form </a:t>
            </a:r>
            <a:r>
              <a:rPr sz="2650" spc="-5" dirty="0">
                <a:latin typeface="Times New Roman"/>
                <a:cs typeface="Times New Roman"/>
              </a:rPr>
              <a:t>between casual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acquaintances, </a:t>
            </a:r>
            <a:r>
              <a:rPr sz="2650" spc="-5" dirty="0">
                <a:latin typeface="Times New Roman"/>
                <a:cs typeface="Times New Roman"/>
              </a:rPr>
              <a:t>are not </a:t>
            </a:r>
            <a:r>
              <a:rPr sz="2650" spc="-15" dirty="0">
                <a:latin typeface="Times New Roman"/>
                <a:cs typeface="Times New Roman"/>
              </a:rPr>
              <a:t>as 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apt </a:t>
            </a:r>
            <a:r>
              <a:rPr sz="2650" spc="-5" dirty="0">
                <a:latin typeface="Times New Roman"/>
                <a:cs typeface="Times New Roman"/>
              </a:rPr>
              <a:t>to be </a:t>
            </a:r>
            <a:r>
              <a:rPr sz="2650" spc="-10" dirty="0">
                <a:latin typeface="Times New Roman"/>
                <a:cs typeface="Times New Roman"/>
              </a:rPr>
              <a:t>between </a:t>
            </a:r>
            <a:r>
              <a:rPr sz="2650" spc="-5" dirty="0">
                <a:latin typeface="Times New Roman"/>
                <a:cs typeface="Times New Roman"/>
              </a:rPr>
              <a:t>like-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minded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individuals,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person </a:t>
            </a:r>
            <a:r>
              <a:rPr sz="2650" spc="-10" dirty="0">
                <a:latin typeface="Times New Roman"/>
                <a:cs typeface="Times New Roman"/>
              </a:rPr>
              <a:t>may say </a:t>
            </a:r>
            <a:r>
              <a:rPr sz="2650" spc="-5" dirty="0">
                <a:latin typeface="Times New Roman"/>
                <a:cs typeface="Times New Roman"/>
              </a:rPr>
              <a:t>something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another </a:t>
            </a:r>
            <a:r>
              <a:rPr sz="2650" dirty="0">
                <a:latin typeface="Times New Roman"/>
                <a:cs typeface="Times New Roman"/>
              </a:rPr>
              <a:t>that </a:t>
            </a:r>
            <a:r>
              <a:rPr sz="2650" spc="-5" dirty="0">
                <a:latin typeface="Times New Roman"/>
                <a:cs typeface="Times New Roman"/>
              </a:rPr>
              <a:t>sparks a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completely</a:t>
            </a:r>
            <a:r>
              <a:rPr sz="2650" spc="-7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new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409" y="1732296"/>
            <a:ext cx="8253095" cy="143383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330450" marR="5080" indent="-2167255">
              <a:lnSpc>
                <a:spcPts val="3170"/>
              </a:lnSpc>
              <a:spcBef>
                <a:spcPts val="204"/>
              </a:spcBef>
            </a:pPr>
            <a:r>
              <a:rPr sz="2650" spc="-5" dirty="0">
                <a:latin typeface="Times New Roman"/>
                <a:cs typeface="Times New Roman"/>
              </a:rPr>
              <a:t>Why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weak-tie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relationships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lead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more</a:t>
            </a:r>
            <a:r>
              <a:rPr sz="2650" spc="-5" dirty="0">
                <a:latin typeface="Times New Roman"/>
                <a:cs typeface="Times New Roman"/>
              </a:rPr>
              <a:t> new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business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than strong-tie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relationships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  <a:tabLst>
                <a:tab pos="5027930" algn="l"/>
              </a:tabLst>
            </a:pPr>
            <a:r>
              <a:rPr sz="2650" spc="-20" dirty="0">
                <a:latin typeface="Times New Roman"/>
                <a:cs typeface="Times New Roman"/>
              </a:rPr>
              <a:t>Strong-Tie</a:t>
            </a:r>
            <a:r>
              <a:rPr sz="2650" spc="-5" dirty="0">
                <a:latin typeface="Times New Roman"/>
                <a:cs typeface="Times New Roman"/>
              </a:rPr>
              <a:t> Relationships	</a:t>
            </a:r>
            <a:r>
              <a:rPr sz="2650" spc="-45" dirty="0">
                <a:latin typeface="Times New Roman"/>
                <a:cs typeface="Times New Roman"/>
              </a:rPr>
              <a:t>Weak-Tie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Relationships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90" y="110820"/>
            <a:ext cx="8254819" cy="1277844"/>
          </a:xfrm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b="1" dirty="0"/>
              <a:t>Creativity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49665" cy="32480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Creativity</a:t>
            </a:r>
            <a:endParaRPr sz="3050" dirty="0">
              <a:latin typeface="Times New Roman"/>
              <a:cs typeface="Times New Roman"/>
            </a:endParaRPr>
          </a:p>
          <a:p>
            <a:pPr marL="829310" marR="49847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Creativity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the process of </a:t>
            </a:r>
            <a:r>
              <a:rPr sz="2650" spc="-10" dirty="0">
                <a:latin typeface="Times New Roman"/>
                <a:cs typeface="Times New Roman"/>
              </a:rPr>
              <a:t>generating </a:t>
            </a:r>
            <a:r>
              <a:rPr sz="2650" spc="-5" dirty="0">
                <a:latin typeface="Times New Roman"/>
                <a:cs typeface="Times New Roman"/>
              </a:rPr>
              <a:t>a novel or useful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idea.</a:t>
            </a:r>
            <a:endParaRPr sz="2650" dirty="0">
              <a:latin typeface="Times New Roman"/>
              <a:cs typeface="Times New Roman"/>
            </a:endParaRPr>
          </a:p>
          <a:p>
            <a:pPr marL="829310" marR="90805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Opportunity </a:t>
            </a:r>
            <a:r>
              <a:rPr sz="2650" spc="-5" dirty="0">
                <a:latin typeface="Times New Roman"/>
                <a:cs typeface="Times New Roman"/>
              </a:rPr>
              <a:t>recognition </a:t>
            </a:r>
            <a:r>
              <a:rPr sz="2650" spc="-10" dirty="0">
                <a:latin typeface="Times New Roman"/>
                <a:cs typeface="Times New Roman"/>
              </a:rPr>
              <a:t>may be, </a:t>
            </a:r>
            <a:r>
              <a:rPr sz="2650" dirty="0">
                <a:latin typeface="Times New Roman"/>
                <a:cs typeface="Times New Roman"/>
              </a:rPr>
              <a:t>at </a:t>
            </a:r>
            <a:r>
              <a:rPr sz="2650" spc="-5" dirty="0">
                <a:latin typeface="Times New Roman"/>
                <a:cs typeface="Times New Roman"/>
              </a:rPr>
              <a:t>least </a:t>
            </a:r>
            <a:r>
              <a:rPr sz="2650" spc="-2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part, a </a:t>
            </a:r>
            <a:r>
              <a:rPr sz="2650" spc="-10" dirty="0">
                <a:latin typeface="Times New Roman"/>
                <a:cs typeface="Times New Roman"/>
              </a:rPr>
              <a:t>creative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process.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For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individual,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0" dirty="0">
                <a:latin typeface="Times New Roman"/>
                <a:cs typeface="Times New Roman"/>
              </a:rPr>
              <a:t> creative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process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broken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down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into five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stages.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621" rIns="0" bIns="0" rtlCol="0">
            <a:spAutoFit/>
          </a:bodyPr>
          <a:lstStyle/>
          <a:p>
            <a:pPr marL="3035300" marR="5080" indent="-2423160">
              <a:lnSpc>
                <a:spcPct val="100299"/>
              </a:lnSpc>
              <a:spcBef>
                <a:spcPts val="95"/>
              </a:spcBef>
            </a:pPr>
            <a:r>
              <a:rPr dirty="0"/>
              <a:t>Difference</a:t>
            </a:r>
            <a:r>
              <a:rPr spc="5" dirty="0"/>
              <a:t> </a:t>
            </a:r>
            <a:r>
              <a:rPr spc="-5" dirty="0"/>
              <a:t>Between</a:t>
            </a:r>
            <a:r>
              <a:rPr spc="25" dirty="0"/>
              <a:t> </a:t>
            </a:r>
            <a:r>
              <a:rPr dirty="0"/>
              <a:t>Creativity</a:t>
            </a:r>
            <a:r>
              <a:rPr spc="-15" dirty="0"/>
              <a:t> </a:t>
            </a:r>
            <a:r>
              <a:rPr spc="-5" dirty="0"/>
              <a:t>and </a:t>
            </a:r>
            <a:r>
              <a:rPr spc="-969" dirty="0"/>
              <a:t> </a:t>
            </a:r>
            <a:r>
              <a:rPr dirty="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739" y="2302273"/>
            <a:ext cx="7452359" cy="344004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50" b="1" spc="-10" dirty="0">
                <a:latin typeface="Times New Roman"/>
                <a:cs typeface="Times New Roman"/>
              </a:rPr>
              <a:t>Creativity</a:t>
            </a:r>
            <a:r>
              <a:rPr sz="2650" spc="-10" dirty="0">
                <a:latin typeface="Times New Roman"/>
                <a:cs typeface="Times New Roman"/>
              </a:rPr>
              <a:t>: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lang="en-US" sz="2650" spc="-10" dirty="0">
                <a:latin typeface="Times New Roman"/>
                <a:cs typeface="Times New Roman"/>
              </a:rPr>
              <a:t> Creativity is the process of generating a novel or useful idea but does not require implementation.</a:t>
            </a: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endParaRPr sz="3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b="1" spc="-10" dirty="0">
                <a:latin typeface="Times New Roman"/>
                <a:cs typeface="Times New Roman"/>
              </a:rPr>
              <a:t>Innovation</a:t>
            </a:r>
            <a:r>
              <a:rPr sz="2650" spc="-10" dirty="0">
                <a:latin typeface="Times New Roman"/>
                <a:cs typeface="Times New Roman"/>
              </a:rPr>
              <a:t>: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en-US" sz="2650" spc="-10" dirty="0">
                <a:latin typeface="Times New Roman"/>
                <a:cs typeface="Times New Roman"/>
              </a:rPr>
              <a:t>Innovation refers to the successful introduction of new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en-US" sz="2650" spc="-10" dirty="0">
                <a:latin typeface="Times New Roman"/>
                <a:cs typeface="Times New Roman"/>
              </a:rPr>
              <a:t>outcomes by a firm.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621" rIns="0" bIns="0" rtlCol="0">
            <a:spAutoFit/>
          </a:bodyPr>
          <a:lstStyle/>
          <a:p>
            <a:pPr marL="3035300" marR="5080" indent="-2339340">
              <a:lnSpc>
                <a:spcPct val="100299"/>
              </a:lnSpc>
              <a:spcBef>
                <a:spcPts val="95"/>
              </a:spcBef>
            </a:pPr>
            <a:r>
              <a:rPr dirty="0"/>
              <a:t>Difference </a:t>
            </a:r>
            <a:r>
              <a:rPr spc="-5" dirty="0"/>
              <a:t>between </a:t>
            </a:r>
            <a:r>
              <a:rPr spc="5" dirty="0"/>
              <a:t>Invention </a:t>
            </a:r>
            <a:r>
              <a:rPr spc="10" dirty="0"/>
              <a:t>and </a:t>
            </a:r>
            <a:r>
              <a:rPr spc="-975" dirty="0"/>
              <a:t> </a:t>
            </a:r>
            <a:r>
              <a:rPr dirty="0"/>
              <a:t>Innovation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739" y="1787900"/>
            <a:ext cx="8324850" cy="3414524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650" b="1" spc="5" dirty="0">
                <a:latin typeface="Times New Roman"/>
                <a:cs typeface="Times New Roman"/>
              </a:rPr>
              <a:t>Invention</a:t>
            </a:r>
            <a:r>
              <a:rPr sz="2650" spc="5" dirty="0">
                <a:latin typeface="Arial MT"/>
                <a:cs typeface="Arial MT"/>
              </a:rPr>
              <a:t>:</a:t>
            </a:r>
            <a:endParaRPr sz="2650" dirty="0">
              <a:latin typeface="Arial MT"/>
              <a:cs typeface="Arial MT"/>
            </a:endParaRPr>
          </a:p>
          <a:p>
            <a:pPr marL="390525" marR="5080" indent="-378460">
              <a:lnSpc>
                <a:spcPts val="3170"/>
              </a:lnSpc>
              <a:spcBef>
                <a:spcPts val="760"/>
              </a:spcBef>
            </a:pPr>
            <a:r>
              <a:rPr sz="2650" spc="-10" dirty="0">
                <a:latin typeface="Times New Roman"/>
                <a:cs typeface="Times New Roman"/>
              </a:rPr>
              <a:t>Invention----The </a:t>
            </a:r>
            <a:r>
              <a:rPr sz="2650" spc="-5" dirty="0">
                <a:latin typeface="Times New Roman"/>
                <a:cs typeface="Times New Roman"/>
              </a:rPr>
              <a:t>creation of something </a:t>
            </a:r>
            <a:r>
              <a:rPr sz="2650" spc="-10" dirty="0">
                <a:latin typeface="Times New Roman"/>
                <a:cs typeface="Times New Roman"/>
              </a:rPr>
              <a:t>new-----Result </a:t>
            </a:r>
            <a:r>
              <a:rPr sz="2650" spc="-5" dirty="0">
                <a:latin typeface="Times New Roman"/>
                <a:cs typeface="Times New Roman"/>
              </a:rPr>
              <a:t>in new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knowledge.</a:t>
            </a:r>
            <a:endParaRPr lang="en-US" sz="2650" spc="-10" dirty="0">
              <a:latin typeface="Times New Roman"/>
              <a:cs typeface="Times New Roman"/>
            </a:endParaRPr>
          </a:p>
          <a:p>
            <a:pPr marL="390525" marR="5080" indent="-378460">
              <a:lnSpc>
                <a:spcPts val="3170"/>
              </a:lnSpc>
              <a:spcBef>
                <a:spcPts val="76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650" b="1" spc="5" dirty="0">
                <a:latin typeface="Times New Roman"/>
                <a:cs typeface="Times New Roman"/>
              </a:rPr>
              <a:t>Innovation:</a:t>
            </a:r>
            <a:endParaRPr sz="2650" dirty="0">
              <a:latin typeface="Times New Roman"/>
              <a:cs typeface="Times New Roman"/>
            </a:endParaRPr>
          </a:p>
          <a:p>
            <a:pPr marL="390525" marR="136525" indent="-378460">
              <a:lnSpc>
                <a:spcPts val="3170"/>
              </a:lnSpc>
              <a:spcBef>
                <a:spcPts val="765"/>
              </a:spcBef>
            </a:pPr>
            <a:r>
              <a:rPr sz="2650" spc="-10" dirty="0">
                <a:latin typeface="Times New Roman"/>
                <a:cs typeface="Times New Roman"/>
              </a:rPr>
              <a:t>Innovation---- </a:t>
            </a:r>
            <a:r>
              <a:rPr sz="2650" spc="-5" dirty="0">
                <a:latin typeface="Times New Roman"/>
                <a:cs typeface="Times New Roman"/>
              </a:rPr>
              <a:t>the transformation of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10" dirty="0">
                <a:latin typeface="Times New Roman"/>
                <a:cs typeface="Times New Roman"/>
              </a:rPr>
              <a:t>idea </a:t>
            </a:r>
            <a:r>
              <a:rPr sz="2650" spc="-5" dirty="0">
                <a:latin typeface="Times New Roman"/>
                <a:cs typeface="Times New Roman"/>
              </a:rPr>
              <a:t>or resources </a:t>
            </a:r>
            <a:r>
              <a:rPr sz="2650" spc="-10" dirty="0">
                <a:latin typeface="Times New Roman"/>
                <a:cs typeface="Times New Roman"/>
              </a:rPr>
              <a:t>into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useful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information----</a:t>
            </a:r>
            <a:r>
              <a:rPr lang="en-US" sz="2650" spc="-10" dirty="0">
                <a:latin typeface="Times New Roman"/>
                <a:cs typeface="Times New Roman"/>
              </a:rPr>
              <a:t>R</a:t>
            </a:r>
            <a:r>
              <a:rPr sz="2650" spc="-10" dirty="0">
                <a:latin typeface="Times New Roman"/>
                <a:cs typeface="Times New Roman"/>
              </a:rPr>
              <a:t>esult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new</a:t>
            </a:r>
            <a:r>
              <a:rPr sz="2650" spc="-5" dirty="0">
                <a:latin typeface="Times New Roman"/>
                <a:cs typeface="Times New Roman"/>
              </a:rPr>
              <a:t> product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service.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Creativity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8800" y="2092515"/>
            <a:ext cx="6773502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latin typeface="Times New Roman"/>
                <a:cs typeface="Times New Roman"/>
              </a:rPr>
              <a:t>Five-Steps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Generating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Creative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Ideas</a:t>
            </a:r>
            <a:endParaRPr sz="30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48" y="3048000"/>
            <a:ext cx="9157716" cy="22631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pc="5" dirty="0"/>
              <a:t>Full</a:t>
            </a:r>
            <a:r>
              <a:rPr spc="-30" dirty="0"/>
              <a:t> </a:t>
            </a:r>
            <a:r>
              <a:rPr spc="-5" dirty="0"/>
              <a:t>View</a:t>
            </a:r>
            <a:r>
              <a:rPr spc="3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5" dirty="0"/>
              <a:t>the</a:t>
            </a:r>
            <a:r>
              <a:rPr spc="-10" dirty="0"/>
              <a:t> </a:t>
            </a:r>
            <a:r>
              <a:rPr dirty="0"/>
              <a:t>Opportunity Recognition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  <a:tabLst>
                <a:tab pos="4262120" algn="l"/>
                <a:tab pos="10057765" algn="l"/>
              </a:tabLst>
            </a:pPr>
            <a:r>
              <a:rPr u="heavy" dirty="0">
                <a:uFill>
                  <a:solidFill>
                    <a:srgbClr val="993300"/>
                  </a:solidFill>
                </a:uFill>
              </a:rPr>
              <a:t> 	</a:t>
            </a:r>
            <a:r>
              <a:rPr u="heavy" spc="-5" dirty="0">
                <a:uFill>
                  <a:solidFill>
                    <a:srgbClr val="993300"/>
                  </a:solidFill>
                </a:uFill>
              </a:rPr>
              <a:t>Process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964" y="1860319"/>
            <a:ext cx="8763000" cy="7905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967740" marR="5080" indent="-955675">
              <a:lnSpc>
                <a:spcPts val="2860"/>
              </a:lnSpc>
              <a:spcBef>
                <a:spcPts val="450"/>
              </a:spcBef>
            </a:pPr>
            <a:r>
              <a:rPr sz="2650" spc="-5" dirty="0">
                <a:latin typeface="Times New Roman"/>
                <a:cs typeface="Times New Roman"/>
              </a:rPr>
              <a:t>Depicts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connection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between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an</a:t>
            </a:r>
            <a:r>
              <a:rPr sz="2650" spc="-5" dirty="0">
                <a:latin typeface="Times New Roman"/>
                <a:cs typeface="Times New Roman"/>
              </a:rPr>
              <a:t> awareness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emerging</a:t>
            </a:r>
            <a:r>
              <a:rPr sz="2650" spc="-10" dirty="0">
                <a:latin typeface="Times New Roman"/>
                <a:cs typeface="Times New Roman"/>
              </a:rPr>
              <a:t> trends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personal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characteristics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entrepreneur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811" y="2962656"/>
            <a:ext cx="6280403" cy="40264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873" y="557696"/>
            <a:ext cx="7394651" cy="621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dirty="0"/>
              <a:t>Techniques</a:t>
            </a:r>
            <a:r>
              <a:rPr b="1" spc="-10" dirty="0"/>
              <a:t> </a:t>
            </a:r>
            <a:r>
              <a:rPr b="1" spc="5" dirty="0"/>
              <a:t>For</a:t>
            </a:r>
            <a:r>
              <a:rPr b="1" spc="-25" dirty="0"/>
              <a:t> </a:t>
            </a:r>
            <a:r>
              <a:rPr b="1" dirty="0"/>
              <a:t>Generating</a:t>
            </a:r>
            <a:r>
              <a:rPr b="1" spc="-15" dirty="0"/>
              <a:t> </a:t>
            </a:r>
            <a:r>
              <a:rPr b="1" dirty="0"/>
              <a:t>Ideas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0560" y="2796539"/>
            <a:ext cx="3688079" cy="67056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950"/>
              </a:spcBef>
            </a:pPr>
            <a:r>
              <a:rPr sz="2650" spc="-10" dirty="0">
                <a:latin typeface="Times New Roman"/>
                <a:cs typeface="Times New Roman"/>
              </a:rPr>
              <a:t>Brainstorming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2120" y="2796539"/>
            <a:ext cx="3688079" cy="67056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908050">
              <a:lnSpc>
                <a:spcPct val="100000"/>
              </a:lnSpc>
              <a:spcBef>
                <a:spcPts val="950"/>
              </a:spcBef>
            </a:pPr>
            <a:r>
              <a:rPr sz="2650" spc="-10" dirty="0">
                <a:latin typeface="Times New Roman"/>
                <a:cs typeface="Times New Roman"/>
              </a:rPr>
              <a:t>Focus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Groups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5160" y="4221479"/>
            <a:ext cx="3688079" cy="83820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665480" marR="657225" indent="391160">
              <a:lnSpc>
                <a:spcPts val="3170"/>
              </a:lnSpc>
              <a:spcBef>
                <a:spcPts val="140"/>
              </a:spcBef>
            </a:pPr>
            <a:r>
              <a:rPr sz="2650" spc="-10" dirty="0">
                <a:latin typeface="Times New Roman"/>
                <a:cs typeface="Times New Roman"/>
              </a:rPr>
              <a:t>Library and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Internet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Research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2505" y="580097"/>
            <a:ext cx="29324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Brainstorming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59825" cy="44864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Brainstorming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Is</a:t>
            </a:r>
            <a:r>
              <a:rPr sz="2650" spc="-5" dirty="0">
                <a:latin typeface="Times New Roman"/>
                <a:cs typeface="Times New Roman"/>
              </a:rPr>
              <a:t> 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technique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used to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generate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large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number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ideas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solutions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problems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quickly.</a:t>
            </a:r>
            <a:endParaRPr sz="2650" dirty="0">
              <a:latin typeface="Times New Roman"/>
              <a:cs typeface="Times New Roman"/>
            </a:endParaRPr>
          </a:p>
          <a:p>
            <a:pPr marL="829310" marR="43307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brainstorming </a:t>
            </a:r>
            <a:r>
              <a:rPr sz="2650" spc="-5" dirty="0">
                <a:latin typeface="Times New Roman"/>
                <a:cs typeface="Times New Roman"/>
              </a:rPr>
              <a:t>“session” typically involves a </a:t>
            </a:r>
            <a:r>
              <a:rPr sz="2650" spc="-10" dirty="0">
                <a:latin typeface="Times New Roman"/>
                <a:cs typeface="Times New Roman"/>
              </a:rPr>
              <a:t>group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6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people,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should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targeted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specific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topic.</a:t>
            </a:r>
            <a:endParaRPr sz="26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5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5" dirty="0">
                <a:latin typeface="Times New Roman"/>
                <a:cs typeface="Times New Roman"/>
              </a:rPr>
              <a:t>Rules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brainstorming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session: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530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spc="-5" dirty="0">
                <a:latin typeface="Times New Roman"/>
                <a:cs typeface="Times New Roman"/>
              </a:rPr>
              <a:t>No</a:t>
            </a:r>
            <a:r>
              <a:rPr sz="2200" spc="-10" dirty="0">
                <a:latin typeface="Times New Roman"/>
                <a:cs typeface="Times New Roman"/>
              </a:rPr>
              <a:t> criticism.</a:t>
            </a:r>
            <a:endParaRPr sz="220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530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spc="-5" dirty="0">
                <a:latin typeface="Times New Roman"/>
                <a:cs typeface="Times New Roman"/>
              </a:rPr>
              <a:t>Freewhelling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encouraged.</a:t>
            </a:r>
            <a:endParaRPr sz="220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5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session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should</a:t>
            </a:r>
            <a:r>
              <a:rPr sz="2200" spc="-10" dirty="0">
                <a:latin typeface="Times New Roman"/>
                <a:cs typeface="Times New Roman"/>
              </a:rPr>
              <a:t> move</a:t>
            </a:r>
            <a:r>
              <a:rPr sz="2200" dirty="0">
                <a:latin typeface="Times New Roman"/>
                <a:cs typeface="Times New Roman"/>
              </a:rPr>
              <a:t> quickly.</a:t>
            </a:r>
            <a:endParaRPr lang="en-US" sz="220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52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Leapfrogging is encouraged.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1373" y="580097"/>
            <a:ext cx="28314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Focus</a:t>
            </a:r>
            <a:r>
              <a:rPr spc="-65" dirty="0"/>
              <a:t> </a:t>
            </a:r>
            <a:r>
              <a:rPr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97925" cy="450969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20" dirty="0">
                <a:latin typeface="Times New Roman"/>
                <a:cs typeface="Times New Roman"/>
              </a:rPr>
              <a:t>Focus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Group</a:t>
            </a:r>
            <a:endParaRPr sz="3050" dirty="0">
              <a:latin typeface="Times New Roman"/>
              <a:cs typeface="Times New Roman"/>
            </a:endParaRPr>
          </a:p>
          <a:p>
            <a:pPr marL="829310" marR="23241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focus </a:t>
            </a:r>
            <a:r>
              <a:rPr sz="2650" spc="-10" dirty="0">
                <a:latin typeface="Times New Roman"/>
                <a:cs typeface="Times New Roman"/>
              </a:rPr>
              <a:t>group </a:t>
            </a:r>
            <a:r>
              <a:rPr sz="2650" spc="-5" dirty="0">
                <a:latin typeface="Times New Roman"/>
                <a:cs typeface="Times New Roman"/>
              </a:rPr>
              <a:t>is a gathering of </a:t>
            </a:r>
            <a:r>
              <a:rPr sz="2650" spc="-10" dirty="0">
                <a:latin typeface="Times New Roman"/>
                <a:cs typeface="Times New Roman"/>
              </a:rPr>
              <a:t>five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ten </a:t>
            </a:r>
            <a:r>
              <a:rPr sz="2650" spc="-5" dirty="0">
                <a:latin typeface="Times New Roman"/>
                <a:cs typeface="Times New Roman"/>
              </a:rPr>
              <a:t>people, </a:t>
            </a:r>
            <a:r>
              <a:rPr sz="2650" spc="-10" dirty="0">
                <a:latin typeface="Times New Roman"/>
                <a:cs typeface="Times New Roman"/>
              </a:rPr>
              <a:t>who </a:t>
            </a:r>
            <a:r>
              <a:rPr sz="2650" spc="-5" dirty="0">
                <a:latin typeface="Times New Roman"/>
                <a:cs typeface="Times New Roman"/>
              </a:rPr>
              <a:t> have been selected based on their </a:t>
            </a:r>
            <a:r>
              <a:rPr sz="2650" spc="-10" dirty="0">
                <a:latin typeface="Times New Roman"/>
                <a:cs typeface="Times New Roman"/>
              </a:rPr>
              <a:t>common characteristics </a:t>
            </a:r>
            <a:r>
              <a:rPr sz="2650" spc="-65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relative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issues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being</a:t>
            </a:r>
            <a:r>
              <a:rPr sz="2650" spc="-5" dirty="0">
                <a:latin typeface="Times New Roman"/>
                <a:cs typeface="Times New Roman"/>
              </a:rPr>
              <a:t> discussed.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Focus groups are conducted </a:t>
            </a:r>
            <a:r>
              <a:rPr sz="2650" spc="-5" dirty="0">
                <a:latin typeface="Times New Roman"/>
                <a:cs typeface="Times New Roman"/>
              </a:rPr>
              <a:t>by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trained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moderator</a:t>
            </a:r>
            <a:r>
              <a:rPr lang="en-US" sz="2650" spc="-10" dirty="0">
                <a:latin typeface="Times New Roman"/>
                <a:cs typeface="Times New Roman"/>
              </a:rPr>
              <a:t>s</a:t>
            </a:r>
            <a:r>
              <a:rPr sz="2650" spc="-10" dirty="0">
                <a:latin typeface="Times New Roman"/>
                <a:cs typeface="Times New Roman"/>
              </a:rPr>
              <a:t>,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who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uses</a:t>
            </a:r>
            <a:r>
              <a:rPr sz="2650" spc="-5" dirty="0">
                <a:latin typeface="Times New Roman"/>
                <a:cs typeface="Times New Roman"/>
              </a:rPr>
              <a:t> the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internal </a:t>
            </a:r>
            <a:r>
              <a:rPr sz="2650" spc="-10" dirty="0">
                <a:latin typeface="Times New Roman"/>
                <a:cs typeface="Times New Roman"/>
              </a:rPr>
              <a:t>dynamics </a:t>
            </a:r>
            <a:r>
              <a:rPr sz="2650" spc="-5" dirty="0">
                <a:latin typeface="Times New Roman"/>
                <a:cs typeface="Times New Roman"/>
              </a:rPr>
              <a:t>of the </a:t>
            </a:r>
            <a:r>
              <a:rPr sz="2650" spc="-10" dirty="0">
                <a:latin typeface="Times New Roman"/>
                <a:cs typeface="Times New Roman"/>
              </a:rPr>
              <a:t>group </a:t>
            </a:r>
            <a:r>
              <a:rPr sz="2650" spc="-5" dirty="0">
                <a:latin typeface="Times New Roman"/>
                <a:cs typeface="Times New Roman"/>
              </a:rPr>
              <a:t>environment to </a:t>
            </a:r>
            <a:r>
              <a:rPr sz="2650" spc="-10" dirty="0">
                <a:latin typeface="Times New Roman"/>
                <a:cs typeface="Times New Roman"/>
              </a:rPr>
              <a:t>gain </a:t>
            </a:r>
            <a:r>
              <a:rPr sz="2650" spc="-5" dirty="0">
                <a:latin typeface="Times New Roman"/>
                <a:cs typeface="Times New Roman"/>
              </a:rPr>
              <a:t>insight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into why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people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feel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way</a:t>
            </a:r>
            <a:r>
              <a:rPr sz="2650" spc="-10" dirty="0">
                <a:latin typeface="Times New Roman"/>
                <a:cs typeface="Times New Roman"/>
              </a:rPr>
              <a:t> they</a:t>
            </a:r>
            <a:r>
              <a:rPr sz="2650" spc="-5" dirty="0">
                <a:latin typeface="Times New Roman"/>
                <a:cs typeface="Times New Roman"/>
              </a:rPr>
              <a:t> do </a:t>
            </a:r>
            <a:r>
              <a:rPr sz="2650" spc="-10" dirty="0">
                <a:latin typeface="Times New Roman"/>
                <a:cs typeface="Times New Roman"/>
              </a:rPr>
              <a:t>about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particular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issue.</a:t>
            </a:r>
            <a:endParaRPr sz="2650" dirty="0">
              <a:latin typeface="Times New Roman"/>
              <a:cs typeface="Times New Roman"/>
            </a:endParaRPr>
          </a:p>
          <a:p>
            <a:pPr marL="829310" marR="250825" lvl="1" indent="-314325">
              <a:lnSpc>
                <a:spcPts val="3170"/>
              </a:lnSpc>
              <a:spcBef>
                <a:spcPts val="61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Although </a:t>
            </a:r>
            <a:r>
              <a:rPr sz="2650" spc="-5" dirty="0">
                <a:latin typeface="Times New Roman"/>
                <a:cs typeface="Times New Roman"/>
              </a:rPr>
              <a:t>focus </a:t>
            </a:r>
            <a:r>
              <a:rPr sz="2650" spc="-10" dirty="0">
                <a:latin typeface="Times New Roman"/>
                <a:cs typeface="Times New Roman"/>
              </a:rPr>
              <a:t>groups </a:t>
            </a:r>
            <a:r>
              <a:rPr sz="2650" spc="-5" dirty="0">
                <a:latin typeface="Times New Roman"/>
                <a:cs typeface="Times New Roman"/>
              </a:rPr>
              <a:t>are used </a:t>
            </a:r>
            <a:r>
              <a:rPr sz="2650" dirty="0">
                <a:latin typeface="Times New Roman"/>
                <a:cs typeface="Times New Roman"/>
              </a:rPr>
              <a:t>for </a:t>
            </a:r>
            <a:r>
              <a:rPr sz="2650" spc="-5" dirty="0">
                <a:latin typeface="Times New Roman"/>
                <a:cs typeface="Times New Roman"/>
              </a:rPr>
              <a:t>a variety of purposes,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they</a:t>
            </a:r>
            <a:r>
              <a:rPr sz="2650" spc="-5" dirty="0">
                <a:latin typeface="Times New Roman"/>
                <a:cs typeface="Times New Roman"/>
              </a:rPr>
              <a:t> can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used</a:t>
            </a:r>
            <a:r>
              <a:rPr sz="2650" spc="-5" dirty="0">
                <a:latin typeface="Times New Roman"/>
                <a:cs typeface="Times New Roman"/>
              </a:rPr>
              <a:t> to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help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generate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new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business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5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Library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dirty="0"/>
              <a:t>Internet </a:t>
            </a:r>
            <a:r>
              <a:rPr spc="-10" dirty="0"/>
              <a:t>Research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568055" cy="36506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 algn="just">
              <a:lnSpc>
                <a:spcPct val="100000"/>
              </a:lnSpc>
              <a:spcBef>
                <a:spcPts val="885"/>
              </a:spcBef>
              <a:buChar char="•"/>
              <a:tabLst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Library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Research</a:t>
            </a:r>
            <a:endParaRPr sz="3050" dirty="0">
              <a:latin typeface="Times New Roman"/>
              <a:cs typeface="Times New Roman"/>
            </a:endParaRPr>
          </a:p>
          <a:p>
            <a:pPr marL="829310" marR="20955" lvl="1" indent="-314325" algn="just">
              <a:lnSpc>
                <a:spcPts val="3170"/>
              </a:lnSpc>
              <a:spcBef>
                <a:spcPts val="750"/>
              </a:spcBef>
              <a:buChar char="–"/>
              <a:tabLst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Libraries </a:t>
            </a:r>
            <a:r>
              <a:rPr sz="2650" spc="-5" dirty="0">
                <a:latin typeface="Times New Roman"/>
                <a:cs typeface="Times New Roman"/>
              </a:rPr>
              <a:t>are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10" dirty="0">
                <a:latin typeface="Times New Roman"/>
                <a:cs typeface="Times New Roman"/>
              </a:rPr>
              <a:t>often </a:t>
            </a:r>
            <a:r>
              <a:rPr sz="2650" spc="-5" dirty="0">
                <a:latin typeface="Times New Roman"/>
                <a:cs typeface="Times New Roman"/>
              </a:rPr>
              <a:t>underutilized source of </a:t>
            </a:r>
            <a:r>
              <a:rPr sz="2650" spc="-10" dirty="0">
                <a:latin typeface="Times New Roman"/>
                <a:cs typeface="Times New Roman"/>
              </a:rPr>
              <a:t>information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generating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new</a:t>
            </a:r>
            <a:r>
              <a:rPr sz="2650" spc="-10" dirty="0">
                <a:latin typeface="Times New Roman"/>
                <a:cs typeface="Times New Roman"/>
              </a:rPr>
              <a:t> business</a:t>
            </a:r>
            <a:r>
              <a:rPr sz="2650" spc="-5" dirty="0">
                <a:latin typeface="Times New Roman"/>
                <a:cs typeface="Times New Roman"/>
              </a:rPr>
              <a:t> ideas.</a:t>
            </a:r>
            <a:endParaRPr sz="2650" dirty="0">
              <a:latin typeface="Times New Roman"/>
              <a:cs typeface="Times New Roman"/>
            </a:endParaRPr>
          </a:p>
          <a:p>
            <a:pPr marL="829310" marR="171450" lvl="1" indent="-314325" algn="just">
              <a:lnSpc>
                <a:spcPts val="3170"/>
              </a:lnSpc>
              <a:spcBef>
                <a:spcPts val="635"/>
              </a:spcBef>
              <a:buChar char="–"/>
              <a:tabLst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best </a:t>
            </a:r>
            <a:r>
              <a:rPr sz="2650" spc="-5" dirty="0">
                <a:latin typeface="Times New Roman"/>
                <a:cs typeface="Times New Roman"/>
              </a:rPr>
              <a:t>approach is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5" dirty="0">
                <a:latin typeface="Times New Roman"/>
                <a:cs typeface="Times New Roman"/>
              </a:rPr>
              <a:t>talk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5" dirty="0">
                <a:latin typeface="Times New Roman"/>
                <a:cs typeface="Times New Roman"/>
              </a:rPr>
              <a:t>a reference </a:t>
            </a:r>
            <a:r>
              <a:rPr sz="2650" spc="-10" dirty="0">
                <a:latin typeface="Times New Roman"/>
                <a:cs typeface="Times New Roman"/>
              </a:rPr>
              <a:t>librarian, who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can </a:t>
            </a:r>
            <a:r>
              <a:rPr sz="2650" spc="-10" dirty="0">
                <a:latin typeface="Times New Roman"/>
                <a:cs typeface="Times New Roman"/>
              </a:rPr>
              <a:t>point </a:t>
            </a:r>
            <a:r>
              <a:rPr sz="2650" spc="-5" dirty="0">
                <a:latin typeface="Times New Roman"/>
                <a:cs typeface="Times New Roman"/>
              </a:rPr>
              <a:t>out useful resources, such </a:t>
            </a:r>
            <a:r>
              <a:rPr sz="2650" dirty="0">
                <a:latin typeface="Times New Roman"/>
                <a:cs typeface="Times New Roman"/>
              </a:rPr>
              <a:t>as </a:t>
            </a:r>
            <a:r>
              <a:rPr sz="2650" spc="-5" dirty="0">
                <a:latin typeface="Times New Roman"/>
                <a:cs typeface="Times New Roman"/>
              </a:rPr>
              <a:t>industry-specific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magazines,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trade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journals,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5" dirty="0">
                <a:latin typeface="Times New Roman"/>
                <a:cs typeface="Times New Roman"/>
              </a:rPr>
              <a:t> industry </a:t>
            </a:r>
            <a:r>
              <a:rPr sz="2650" spc="-10" dirty="0">
                <a:latin typeface="Times New Roman"/>
                <a:cs typeface="Times New Roman"/>
              </a:rPr>
              <a:t>reports.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 algn="just">
              <a:lnSpc>
                <a:spcPts val="3170"/>
              </a:lnSpc>
              <a:spcBef>
                <a:spcPts val="620"/>
              </a:spcBef>
              <a:buChar char="–"/>
              <a:tabLst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Simply </a:t>
            </a:r>
            <a:r>
              <a:rPr sz="2650" spc="-5" dirty="0">
                <a:latin typeface="Times New Roman"/>
                <a:cs typeface="Times New Roman"/>
              </a:rPr>
              <a:t>browsing </a:t>
            </a:r>
            <a:r>
              <a:rPr sz="2650" spc="-10" dirty="0">
                <a:latin typeface="Times New Roman"/>
                <a:cs typeface="Times New Roman"/>
              </a:rPr>
              <a:t>through </a:t>
            </a:r>
            <a:r>
              <a:rPr sz="2650" spc="-5" dirty="0">
                <a:latin typeface="Times New Roman"/>
                <a:cs typeface="Times New Roman"/>
              </a:rPr>
              <a:t>several issues of a </a:t>
            </a:r>
            <a:r>
              <a:rPr sz="2650" spc="-10" dirty="0">
                <a:latin typeface="Times New Roman"/>
                <a:cs typeface="Times New Roman"/>
              </a:rPr>
              <a:t>trade journal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</a:t>
            </a:r>
            <a:r>
              <a:rPr sz="2650" spc="-5" dirty="0">
                <a:latin typeface="Times New Roman"/>
                <a:cs typeface="Times New Roman"/>
              </a:rPr>
              <a:t> report on 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topic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spark </a:t>
            </a:r>
            <a:r>
              <a:rPr sz="2650" spc="-15" dirty="0">
                <a:latin typeface="Times New Roman"/>
                <a:cs typeface="Times New Roman"/>
              </a:rPr>
              <a:t>new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ideas.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26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Libraries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dirty="0"/>
              <a:t>Internet</a:t>
            </a:r>
            <a:r>
              <a:rPr spc="40" dirty="0"/>
              <a:t> </a:t>
            </a:r>
            <a:r>
              <a:rPr spc="-5" dirty="0"/>
              <a:t>Research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8620" y="2317413"/>
            <a:ext cx="8005445" cy="3734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1000"/>
              </a:lnSpc>
              <a:spcBef>
                <a:spcPts val="95"/>
              </a:spcBef>
            </a:pPr>
            <a:r>
              <a:rPr sz="3050" dirty="0">
                <a:latin typeface="Times New Roman"/>
                <a:cs typeface="Times New Roman"/>
              </a:rPr>
              <a:t>Large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public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and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university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libraries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typically </a:t>
            </a:r>
            <a:r>
              <a:rPr sz="3050" spc="10" dirty="0">
                <a:latin typeface="Times New Roman"/>
                <a:cs typeface="Times New Roman"/>
              </a:rPr>
              <a:t>have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access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lang="en-US" sz="3050" spc="15" dirty="0">
                <a:latin typeface="Times New Roman"/>
                <a:cs typeface="Times New Roman"/>
              </a:rPr>
              <a:t> powerful</a:t>
            </a:r>
            <a:r>
              <a:rPr sz="3050" spc="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search </a:t>
            </a:r>
            <a:r>
              <a:rPr sz="3050" spc="15" dirty="0">
                <a:latin typeface="Times New Roman"/>
                <a:cs typeface="Times New Roman"/>
              </a:rPr>
              <a:t>engines </a:t>
            </a:r>
            <a:r>
              <a:rPr sz="3050" spc="10" dirty="0">
                <a:latin typeface="Times New Roman"/>
                <a:cs typeface="Times New Roman"/>
              </a:rPr>
              <a:t>and industry reports that </a:t>
            </a:r>
            <a:r>
              <a:rPr sz="3050" spc="15" dirty="0">
                <a:latin typeface="Times New Roman"/>
                <a:cs typeface="Times New Roman"/>
              </a:rPr>
              <a:t> would </a:t>
            </a:r>
            <a:r>
              <a:rPr sz="3050" spc="5" dirty="0">
                <a:latin typeface="Times New Roman"/>
                <a:cs typeface="Times New Roman"/>
              </a:rPr>
              <a:t>cost </a:t>
            </a:r>
            <a:r>
              <a:rPr sz="3050" spc="10" dirty="0">
                <a:latin typeface="Times New Roman"/>
                <a:cs typeface="Times New Roman"/>
              </a:rPr>
              <a:t>thousands of dollars </a:t>
            </a:r>
            <a:r>
              <a:rPr sz="3050" spc="15" dirty="0">
                <a:latin typeface="Times New Roman"/>
                <a:cs typeface="Times New Roman"/>
              </a:rPr>
              <a:t>to </a:t>
            </a:r>
            <a:r>
              <a:rPr sz="3050" spc="10" dirty="0">
                <a:latin typeface="Times New Roman"/>
                <a:cs typeface="Times New Roman"/>
              </a:rPr>
              <a:t>access </a:t>
            </a:r>
            <a:r>
              <a:rPr sz="3050" spc="30" dirty="0">
                <a:latin typeface="Times New Roman"/>
                <a:cs typeface="Times New Roman"/>
              </a:rPr>
              <a:t>on </a:t>
            </a:r>
            <a:r>
              <a:rPr sz="3050" spc="20" dirty="0">
                <a:latin typeface="Times New Roman"/>
                <a:cs typeface="Times New Roman"/>
              </a:rPr>
              <a:t>your 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own.</a:t>
            </a:r>
            <a:endParaRPr lang="en-US" sz="3050" spc="20" dirty="0">
              <a:latin typeface="Times New Roman"/>
              <a:cs typeface="Times New Roman"/>
            </a:endParaRPr>
          </a:p>
          <a:p>
            <a:pPr marL="12065" marR="5080" algn="ctr">
              <a:lnSpc>
                <a:spcPct val="101000"/>
              </a:lnSpc>
              <a:spcBef>
                <a:spcPts val="95"/>
              </a:spcBef>
            </a:pPr>
            <a:endParaRPr lang="en-US" sz="3050" spc="20" dirty="0">
              <a:latin typeface="Times New Roman"/>
              <a:cs typeface="Times New Roman"/>
            </a:endParaRPr>
          </a:p>
          <a:p>
            <a:pPr marL="12065" marR="5080">
              <a:lnSpc>
                <a:spcPct val="101000"/>
              </a:lnSpc>
              <a:spcBef>
                <a:spcPts val="95"/>
              </a:spcBef>
            </a:pPr>
            <a:r>
              <a:rPr lang="en-US" sz="2950" dirty="0">
                <a:latin typeface="Times New Roman"/>
                <a:cs typeface="Times New Roman"/>
              </a:rPr>
              <a:t>An example is IBIS World (www.ibisworld.com), a company that publishes market research on all major industries and subcategories within industries. </a:t>
            </a:r>
            <a:endParaRPr sz="2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5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Library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dirty="0"/>
              <a:t>Internet </a:t>
            </a:r>
            <a:r>
              <a:rPr spc="-10" dirty="0"/>
              <a:t>Research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75065" cy="44551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Internet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Research</a:t>
            </a:r>
            <a:endParaRPr sz="3050" dirty="0">
              <a:latin typeface="Times New Roman"/>
              <a:cs typeface="Times New Roman"/>
            </a:endParaRPr>
          </a:p>
          <a:p>
            <a:pPr marL="829310" marR="15494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 </a:t>
            </a:r>
            <a:r>
              <a:rPr sz="2650" spc="-5" dirty="0">
                <a:latin typeface="Times New Roman"/>
                <a:cs typeface="Times New Roman"/>
              </a:rPr>
              <a:t>you are starting </a:t>
            </a:r>
            <a:r>
              <a:rPr sz="2650" spc="-10" dirty="0">
                <a:latin typeface="Times New Roman"/>
                <a:cs typeface="Times New Roman"/>
              </a:rPr>
              <a:t>from </a:t>
            </a:r>
            <a:r>
              <a:rPr sz="2650" spc="-5" dirty="0">
                <a:latin typeface="Times New Roman"/>
                <a:cs typeface="Times New Roman"/>
              </a:rPr>
              <a:t>scratch, </a:t>
            </a:r>
            <a:r>
              <a:rPr sz="2650" spc="-10" dirty="0">
                <a:latin typeface="Times New Roman"/>
                <a:cs typeface="Times New Roman"/>
              </a:rPr>
              <a:t>simply </a:t>
            </a:r>
            <a:r>
              <a:rPr sz="2650" spc="-5" dirty="0">
                <a:latin typeface="Times New Roman"/>
                <a:cs typeface="Times New Roman"/>
              </a:rPr>
              <a:t>typing </a:t>
            </a:r>
            <a:r>
              <a:rPr sz="2650" spc="-10" dirty="0">
                <a:latin typeface="Times New Roman"/>
                <a:cs typeface="Times New Roman"/>
              </a:rPr>
              <a:t>“new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business</a:t>
            </a:r>
            <a:r>
              <a:rPr sz="2650" spc="-5" dirty="0">
                <a:latin typeface="Times New Roman"/>
                <a:cs typeface="Times New Roman"/>
              </a:rPr>
              <a:t> ideas”</a:t>
            </a:r>
            <a:r>
              <a:rPr sz="2650" spc="-10" dirty="0">
                <a:latin typeface="Times New Roman"/>
                <a:cs typeface="Times New Roman"/>
              </a:rPr>
              <a:t> into</a:t>
            </a:r>
            <a:r>
              <a:rPr sz="2650" spc="-5" dirty="0">
                <a:latin typeface="Times New Roman"/>
                <a:cs typeface="Times New Roman"/>
              </a:rPr>
              <a:t> a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search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engine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will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produce </a:t>
            </a:r>
            <a:r>
              <a:rPr sz="2650" spc="-5" dirty="0">
                <a:latin typeface="Times New Roman"/>
                <a:cs typeface="Times New Roman"/>
              </a:rPr>
              <a:t>links to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newspapers and magazine </a:t>
            </a:r>
            <a:r>
              <a:rPr sz="2650" spc="-5" dirty="0">
                <a:latin typeface="Times New Roman"/>
                <a:cs typeface="Times New Roman"/>
              </a:rPr>
              <a:t>articles about the </a:t>
            </a:r>
            <a:r>
              <a:rPr sz="2650" spc="-10" dirty="0">
                <a:latin typeface="Times New Roman"/>
                <a:cs typeface="Times New Roman"/>
              </a:rPr>
              <a:t>“hottest” </a:t>
            </a:r>
            <a:r>
              <a:rPr sz="2650" spc="-15" dirty="0">
                <a:latin typeface="Times New Roman"/>
                <a:cs typeface="Times New Roman"/>
              </a:rPr>
              <a:t>new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business </a:t>
            </a:r>
            <a:r>
              <a:rPr sz="2650" spc="-5" dirty="0">
                <a:latin typeface="Times New Roman"/>
                <a:cs typeface="Times New Roman"/>
              </a:rPr>
              <a:t>ideas.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3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 </a:t>
            </a:r>
            <a:r>
              <a:rPr sz="2650" spc="-5" dirty="0">
                <a:latin typeface="Times New Roman"/>
                <a:cs typeface="Times New Roman"/>
              </a:rPr>
              <a:t>you have a specific </a:t>
            </a:r>
            <a:r>
              <a:rPr sz="2650" spc="-10" dirty="0">
                <a:latin typeface="Times New Roman"/>
                <a:cs typeface="Times New Roman"/>
              </a:rPr>
              <a:t>topic </a:t>
            </a:r>
            <a:r>
              <a:rPr sz="2650" spc="-5" dirty="0">
                <a:latin typeface="Times New Roman"/>
                <a:cs typeface="Times New Roman"/>
              </a:rPr>
              <a:t>in mind, setting up </a:t>
            </a:r>
            <a:r>
              <a:rPr sz="2650" spc="-10" dirty="0">
                <a:latin typeface="Times New Roman"/>
                <a:cs typeface="Times New Roman"/>
              </a:rPr>
              <a:t>Google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Yahoo! e-mail </a:t>
            </a:r>
            <a:r>
              <a:rPr sz="2650" spc="-10" dirty="0">
                <a:latin typeface="Times New Roman"/>
                <a:cs typeface="Times New Roman"/>
              </a:rPr>
              <a:t>alerts </a:t>
            </a:r>
            <a:r>
              <a:rPr sz="2650" spc="-5" dirty="0">
                <a:latin typeface="Times New Roman"/>
                <a:cs typeface="Times New Roman"/>
              </a:rPr>
              <a:t>will </a:t>
            </a:r>
            <a:r>
              <a:rPr sz="2650" spc="-10" dirty="0">
                <a:latin typeface="Times New Roman"/>
                <a:cs typeface="Times New Roman"/>
              </a:rPr>
              <a:t>provide </a:t>
            </a:r>
            <a:r>
              <a:rPr sz="2650" spc="-5" dirty="0">
                <a:latin typeface="Times New Roman"/>
                <a:cs typeface="Times New Roman"/>
              </a:rPr>
              <a:t>you to </a:t>
            </a:r>
            <a:r>
              <a:rPr sz="2650" spc="-10" dirty="0">
                <a:latin typeface="Times New Roman"/>
                <a:cs typeface="Times New Roman"/>
              </a:rPr>
              <a:t>links </a:t>
            </a:r>
            <a:r>
              <a:rPr sz="2650" spc="-5" dirty="0">
                <a:latin typeface="Times New Roman"/>
                <a:cs typeface="Times New Roman"/>
              </a:rPr>
              <a:t>to a constant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stream </a:t>
            </a:r>
            <a:r>
              <a:rPr sz="2650" spc="-5" dirty="0">
                <a:latin typeface="Times New Roman"/>
                <a:cs typeface="Times New Roman"/>
              </a:rPr>
              <a:t>of newspaper articles, blog posts,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news releases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about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topic.</a:t>
            </a:r>
            <a:endParaRPr sz="26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51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Targeted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searches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also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useful.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1C62-EEDC-41E8-ABE9-8CBF436D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CB15F-CF14-4E7F-9443-CDC54C83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7904" y="2209800"/>
            <a:ext cx="8942589" cy="4154984"/>
          </a:xfrm>
        </p:spPr>
        <p:txBody>
          <a:bodyPr/>
          <a:lstStyle/>
          <a:p>
            <a:pPr algn="ctr"/>
            <a:r>
              <a:rPr lang="en-US" sz="2700" dirty="0"/>
              <a:t>Another approach is to </a:t>
            </a:r>
            <a:r>
              <a:rPr lang="en-US" sz="2900" i="1" dirty="0"/>
              <a:t>follow business leaders and experts </a:t>
            </a:r>
            <a:r>
              <a:rPr lang="en-US" sz="2700" dirty="0"/>
              <a:t>in the industries you’re interested in on</a:t>
            </a:r>
          </a:p>
          <a:p>
            <a:pPr algn="ctr"/>
            <a:r>
              <a:rPr lang="en-US" sz="2700" dirty="0"/>
              <a:t>Twitter. </a:t>
            </a:r>
          </a:p>
          <a:p>
            <a:pPr algn="ctr"/>
            <a:endParaRPr lang="en-US" sz="2700" dirty="0"/>
          </a:p>
          <a:p>
            <a:pPr algn="just"/>
            <a:r>
              <a:rPr lang="en-US" sz="2700" dirty="0"/>
              <a:t>The best way to locate people on Twitter you might be interested in following is by typing into the search bar labeled “Who to Follow” relevant keywords preceded by the “#” sign. </a:t>
            </a:r>
          </a:p>
          <a:p>
            <a:pPr algn="just"/>
            <a:r>
              <a:rPr lang="en-US" sz="2700" dirty="0"/>
              <a:t>For example, if you’re interested in solar power, type “#</a:t>
            </a:r>
            <a:r>
              <a:rPr lang="en-US" sz="2700" dirty="0" err="1"/>
              <a:t>solarpower</a:t>
            </a:r>
            <a:r>
              <a:rPr lang="en-US" sz="2700" dirty="0"/>
              <a:t>” into the search bar. All the results will be people or companies who tweet about solar power topics.</a:t>
            </a:r>
          </a:p>
        </p:txBody>
      </p:sp>
    </p:spTree>
    <p:extLst>
      <p:ext uri="{BB962C8B-B14F-4D97-AF65-F5344CB8AC3E}">
        <p14:creationId xmlns:p14="http://schemas.microsoft.com/office/powerpoint/2010/main" val="2790446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167" y="580097"/>
            <a:ext cx="3616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Other</a:t>
            </a:r>
            <a:r>
              <a:rPr spc="-20" dirty="0"/>
              <a:t> </a:t>
            </a:r>
            <a:r>
              <a:rPr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46185" cy="33293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Customer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Advisory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Boards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Some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companies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set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up customer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advisory </a:t>
            </a:r>
            <a:r>
              <a:rPr sz="2650" spc="-10" dirty="0">
                <a:latin typeface="Times New Roman"/>
                <a:cs typeface="Times New Roman"/>
              </a:rPr>
              <a:t>boards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that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meet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regularly </a:t>
            </a:r>
            <a:r>
              <a:rPr sz="2650" spc="-5" dirty="0">
                <a:latin typeface="Times New Roman"/>
                <a:cs typeface="Times New Roman"/>
              </a:rPr>
              <a:t>to discuss needs, </a:t>
            </a:r>
            <a:r>
              <a:rPr sz="2650" spc="-10" dirty="0">
                <a:latin typeface="Times New Roman"/>
                <a:cs typeface="Times New Roman"/>
              </a:rPr>
              <a:t>wants,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10" dirty="0">
                <a:latin typeface="Times New Roman"/>
                <a:cs typeface="Times New Roman"/>
              </a:rPr>
              <a:t>problems that may </a:t>
            </a:r>
            <a:r>
              <a:rPr sz="2650" spc="-5" dirty="0">
                <a:latin typeface="Times New Roman"/>
                <a:cs typeface="Times New Roman"/>
              </a:rPr>
              <a:t> lead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5" dirty="0">
                <a:latin typeface="Times New Roman"/>
                <a:cs typeface="Times New Roman"/>
              </a:rPr>
              <a:t>new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ideas.</a:t>
            </a:r>
            <a:endParaRPr sz="2650" dirty="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Day-In-The-Life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Research</a:t>
            </a:r>
            <a:endParaRPr sz="3050" dirty="0">
              <a:latin typeface="Times New Roman"/>
              <a:cs typeface="Times New Roman"/>
            </a:endParaRPr>
          </a:p>
          <a:p>
            <a:pPr marL="829310" marR="637540" lvl="1" indent="-314325">
              <a:lnSpc>
                <a:spcPts val="3170"/>
              </a:lnSpc>
              <a:spcBef>
                <a:spcPts val="76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type of research, </a:t>
            </a:r>
            <a:r>
              <a:rPr sz="2650" spc="-10" dirty="0">
                <a:latin typeface="Times New Roman"/>
                <a:cs typeface="Times New Roman"/>
              </a:rPr>
              <a:t>where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employees </a:t>
            </a:r>
            <a:r>
              <a:rPr sz="2650" spc="-5" dirty="0">
                <a:latin typeface="Times New Roman"/>
                <a:cs typeface="Times New Roman"/>
              </a:rPr>
              <a:t>of a company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spend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day</a:t>
            </a:r>
            <a:r>
              <a:rPr sz="2650" spc="-5" dirty="0">
                <a:latin typeface="Times New Roman"/>
                <a:cs typeface="Times New Roman"/>
              </a:rPr>
              <a:t> with 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customer.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9392" y="580097"/>
            <a:ext cx="48583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Encouraging</a:t>
            </a:r>
            <a:r>
              <a:rPr spc="-25" dirty="0"/>
              <a:t> </a:t>
            </a:r>
            <a:r>
              <a:rPr spc="-5" dirty="0"/>
              <a:t>New</a:t>
            </a:r>
            <a:r>
              <a:rPr dirty="0"/>
              <a:t> Ideas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0865" y="1802006"/>
            <a:ext cx="8849995" cy="456311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520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Establishing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Focal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Point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Ideas</a:t>
            </a:r>
            <a:endParaRPr sz="30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ct val="89700"/>
              </a:lnSpc>
              <a:spcBef>
                <a:spcPts val="65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Some firms </a:t>
            </a:r>
            <a:r>
              <a:rPr sz="2650" spc="-5" dirty="0">
                <a:latin typeface="Times New Roman"/>
                <a:cs typeface="Times New Roman"/>
              </a:rPr>
              <a:t>meet the challenge of </a:t>
            </a:r>
            <a:r>
              <a:rPr sz="2650" spc="-10" dirty="0">
                <a:latin typeface="Times New Roman"/>
                <a:cs typeface="Times New Roman"/>
              </a:rPr>
              <a:t>encouraging, </a:t>
            </a:r>
            <a:r>
              <a:rPr sz="2650" spc="-5" dirty="0">
                <a:latin typeface="Times New Roman"/>
                <a:cs typeface="Times New Roman"/>
              </a:rPr>
              <a:t>collecting, </a:t>
            </a:r>
            <a:r>
              <a:rPr sz="2650" dirty="0">
                <a:latin typeface="Times New Roman"/>
                <a:cs typeface="Times New Roman"/>
              </a:rPr>
              <a:t> and </a:t>
            </a:r>
            <a:r>
              <a:rPr sz="2650" spc="-5" dirty="0">
                <a:latin typeface="Times New Roman"/>
                <a:cs typeface="Times New Roman"/>
              </a:rPr>
              <a:t>evaluating ideas by </a:t>
            </a:r>
            <a:r>
              <a:rPr sz="2650" spc="-10" dirty="0">
                <a:latin typeface="Times New Roman"/>
                <a:cs typeface="Times New Roman"/>
              </a:rPr>
              <a:t>designating </a:t>
            </a:r>
            <a:r>
              <a:rPr sz="2650" spc="-5" dirty="0">
                <a:latin typeface="Times New Roman"/>
                <a:cs typeface="Times New Roman"/>
              </a:rPr>
              <a:t>a specific person to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screen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5" dirty="0">
                <a:latin typeface="Times New Roman"/>
                <a:cs typeface="Times New Roman"/>
              </a:rPr>
              <a:t> track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them—for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its </a:t>
            </a:r>
            <a:r>
              <a:rPr sz="2650" spc="-5" dirty="0">
                <a:latin typeface="Times New Roman"/>
                <a:cs typeface="Times New Roman"/>
              </a:rPr>
              <a:t>everybody’s </a:t>
            </a:r>
            <a:r>
              <a:rPr sz="2650" spc="-15" dirty="0">
                <a:latin typeface="Times New Roman"/>
                <a:cs typeface="Times New Roman"/>
              </a:rPr>
              <a:t>job,</a:t>
            </a:r>
            <a:r>
              <a:rPr sz="2650" spc="-5" dirty="0">
                <a:latin typeface="Times New Roman"/>
                <a:cs typeface="Times New Roman"/>
              </a:rPr>
              <a:t> it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may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one’s </a:t>
            </a:r>
            <a:r>
              <a:rPr sz="2650" spc="-10" dirty="0">
                <a:latin typeface="Times New Roman"/>
                <a:cs typeface="Times New Roman"/>
              </a:rPr>
              <a:t>responsibility.</a:t>
            </a:r>
            <a:endParaRPr sz="2650">
              <a:latin typeface="Times New Roman"/>
              <a:cs typeface="Times New Roman"/>
            </a:endParaRPr>
          </a:p>
          <a:p>
            <a:pPr marL="829310" marR="365760" lvl="1" indent="-314325">
              <a:lnSpc>
                <a:spcPts val="2860"/>
              </a:lnSpc>
              <a:spcBef>
                <a:spcPts val="66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Another </a:t>
            </a:r>
            <a:r>
              <a:rPr sz="2650" spc="-5" dirty="0">
                <a:latin typeface="Times New Roman"/>
                <a:cs typeface="Times New Roman"/>
              </a:rPr>
              <a:t>approach is to </a:t>
            </a:r>
            <a:r>
              <a:rPr sz="2650" spc="-10" dirty="0">
                <a:latin typeface="Times New Roman"/>
                <a:cs typeface="Times New Roman"/>
              </a:rPr>
              <a:t>establish </a:t>
            </a:r>
            <a:r>
              <a:rPr sz="2650" dirty="0">
                <a:latin typeface="Times New Roman"/>
                <a:cs typeface="Times New Roman"/>
              </a:rPr>
              <a:t>an idea </a:t>
            </a:r>
            <a:r>
              <a:rPr sz="2650" spc="-5" dirty="0">
                <a:latin typeface="Times New Roman"/>
                <a:cs typeface="Times New Roman"/>
              </a:rPr>
              <a:t>bank </a:t>
            </a:r>
            <a:r>
              <a:rPr sz="2650" spc="-10" dirty="0">
                <a:latin typeface="Times New Roman"/>
                <a:cs typeface="Times New Roman"/>
              </a:rPr>
              <a:t>(or vault), </a:t>
            </a:r>
            <a:r>
              <a:rPr sz="2650" spc="-5" dirty="0">
                <a:latin typeface="Times New Roman"/>
                <a:cs typeface="Times New Roman"/>
              </a:rPr>
              <a:t> which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physical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digital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repository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storing</a:t>
            </a:r>
            <a:r>
              <a:rPr sz="2650" spc="-5" dirty="0">
                <a:latin typeface="Times New Roman"/>
                <a:cs typeface="Times New Roman"/>
              </a:rPr>
              <a:t> ideas.</a:t>
            </a:r>
            <a:endParaRPr sz="265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330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Encouraging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Creativity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Firm </a:t>
            </a:r>
            <a:r>
              <a:rPr sz="3050" spc="10" dirty="0">
                <a:latin typeface="Times New Roman"/>
                <a:cs typeface="Times New Roman"/>
              </a:rPr>
              <a:t>Level</a:t>
            </a:r>
            <a:endParaRPr sz="3050">
              <a:latin typeface="Times New Roman"/>
              <a:cs typeface="Times New Roman"/>
            </a:endParaRPr>
          </a:p>
          <a:p>
            <a:pPr marL="829310" marR="139065" lvl="1" indent="-314325">
              <a:lnSpc>
                <a:spcPct val="89600"/>
              </a:lnSpc>
              <a:spcBef>
                <a:spcPts val="66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Creativity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the raw </a:t>
            </a:r>
            <a:r>
              <a:rPr sz="2650" spc="-10" dirty="0">
                <a:latin typeface="Times New Roman"/>
                <a:cs typeface="Times New Roman"/>
              </a:rPr>
              <a:t>material that </a:t>
            </a:r>
            <a:r>
              <a:rPr sz="2650" spc="-5" dirty="0">
                <a:latin typeface="Times New Roman"/>
                <a:cs typeface="Times New Roman"/>
              </a:rPr>
              <a:t>goes into innovation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should be </a:t>
            </a:r>
            <a:r>
              <a:rPr sz="2650" spc="-10" dirty="0">
                <a:latin typeface="Times New Roman"/>
                <a:cs typeface="Times New Roman"/>
              </a:rPr>
              <a:t>encouraged </a:t>
            </a:r>
            <a:r>
              <a:rPr sz="2650" dirty="0">
                <a:latin typeface="Times New Roman"/>
                <a:cs typeface="Times New Roman"/>
              </a:rPr>
              <a:t>at </a:t>
            </a:r>
            <a:r>
              <a:rPr sz="2650" spc="-5" dirty="0">
                <a:latin typeface="Times New Roman"/>
                <a:cs typeface="Times New Roman"/>
              </a:rPr>
              <a:t>the organizational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individual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supervisory</a:t>
            </a:r>
            <a:r>
              <a:rPr sz="2650" spc="-10" dirty="0">
                <a:latin typeface="Times New Roman"/>
                <a:cs typeface="Times New Roman"/>
              </a:rPr>
              <a:t> level.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849" y="457200"/>
            <a:ext cx="9430700" cy="621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dirty="0"/>
              <a:t>Protecting</a:t>
            </a:r>
            <a:r>
              <a:rPr b="1" spc="-10" dirty="0"/>
              <a:t> </a:t>
            </a:r>
            <a:r>
              <a:rPr b="1" dirty="0"/>
              <a:t>Ideas </a:t>
            </a:r>
            <a:r>
              <a:rPr b="1" spc="5" dirty="0"/>
              <a:t>From </a:t>
            </a:r>
            <a:r>
              <a:rPr b="1" dirty="0"/>
              <a:t>Being</a:t>
            </a:r>
            <a:r>
              <a:rPr b="1" spc="-5" dirty="0"/>
              <a:t> </a:t>
            </a:r>
            <a:r>
              <a:rPr b="1" dirty="0"/>
              <a:t>Lost</a:t>
            </a:r>
            <a:r>
              <a:rPr b="1" spc="5" dirty="0"/>
              <a:t> </a:t>
            </a:r>
            <a:r>
              <a:rPr b="1" dirty="0"/>
              <a:t>or</a:t>
            </a:r>
            <a:r>
              <a:rPr b="1" spc="-15" dirty="0"/>
              <a:t> </a:t>
            </a:r>
            <a:r>
              <a:rPr b="1" spc="5" dirty="0"/>
              <a:t>Stolen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62305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04825" indent="-376555">
              <a:lnSpc>
                <a:spcPct val="100000"/>
              </a:lnSpc>
              <a:spcBef>
                <a:spcPts val="520"/>
              </a:spcBef>
              <a:buChar char="•"/>
              <a:tabLst>
                <a:tab pos="505459" algn="l"/>
                <a:tab pos="506095" algn="l"/>
              </a:tabLst>
            </a:pPr>
            <a:r>
              <a:rPr spc="15" dirty="0"/>
              <a:t>Step</a:t>
            </a:r>
            <a:r>
              <a:rPr spc="-40" dirty="0"/>
              <a:t> </a:t>
            </a:r>
            <a:r>
              <a:rPr spc="15" dirty="0"/>
              <a:t>1</a:t>
            </a:r>
          </a:p>
          <a:p>
            <a:pPr marL="945515" marR="5080" lvl="1" indent="-314325">
              <a:lnSpc>
                <a:spcPct val="89600"/>
              </a:lnSpc>
              <a:spcBef>
                <a:spcPts val="655"/>
              </a:spcBef>
              <a:buChar char="–"/>
              <a:tabLst>
                <a:tab pos="947419" algn="l"/>
                <a:tab pos="94805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idea </a:t>
            </a:r>
            <a:r>
              <a:rPr sz="2650" spc="-5" dirty="0">
                <a:latin typeface="Times New Roman"/>
                <a:cs typeface="Times New Roman"/>
              </a:rPr>
              <a:t>should be put </a:t>
            </a:r>
            <a:r>
              <a:rPr sz="2650" spc="-2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a tangible </a:t>
            </a:r>
            <a:r>
              <a:rPr sz="2650" spc="-10" dirty="0">
                <a:latin typeface="Times New Roman"/>
                <a:cs typeface="Times New Roman"/>
              </a:rPr>
              <a:t>form </a:t>
            </a:r>
            <a:r>
              <a:rPr sz="2650" spc="-5" dirty="0">
                <a:latin typeface="Times New Roman"/>
                <a:cs typeface="Times New Roman"/>
              </a:rPr>
              <a:t>such </a:t>
            </a:r>
            <a:r>
              <a:rPr sz="2650" spc="-15" dirty="0">
                <a:latin typeface="Times New Roman"/>
                <a:cs typeface="Times New Roman"/>
              </a:rPr>
              <a:t>as </a:t>
            </a:r>
            <a:r>
              <a:rPr sz="2650" spc="-10" dirty="0">
                <a:latin typeface="Times New Roman"/>
                <a:cs typeface="Times New Roman"/>
              </a:rPr>
              <a:t>entered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into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physical </a:t>
            </a:r>
            <a:r>
              <a:rPr sz="2650" dirty="0">
                <a:latin typeface="Times New Roman"/>
                <a:cs typeface="Times New Roman"/>
              </a:rPr>
              <a:t>idea </a:t>
            </a:r>
            <a:r>
              <a:rPr sz="2650" spc="-10" dirty="0">
                <a:latin typeface="Times New Roman"/>
                <a:cs typeface="Times New Roman"/>
              </a:rPr>
              <a:t>logbook </a:t>
            </a:r>
            <a:r>
              <a:rPr sz="2650" spc="-5" dirty="0">
                <a:latin typeface="Times New Roman"/>
                <a:cs typeface="Times New Roman"/>
              </a:rPr>
              <a:t>or saved on a computer disk, </a:t>
            </a:r>
            <a:r>
              <a:rPr sz="2650" dirty="0">
                <a:latin typeface="Times New Roman"/>
                <a:cs typeface="Times New Roman"/>
              </a:rPr>
              <a:t> and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date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idea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was</a:t>
            </a:r>
            <a:r>
              <a:rPr sz="2650" spc="-10" dirty="0">
                <a:latin typeface="Times New Roman"/>
                <a:cs typeface="Times New Roman"/>
              </a:rPr>
              <a:t> first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thought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should be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entered.</a:t>
            </a:r>
            <a:endParaRPr sz="2650" dirty="0">
              <a:latin typeface="Times New Roman"/>
              <a:cs typeface="Times New Roman"/>
            </a:endParaRPr>
          </a:p>
          <a:p>
            <a:pPr marL="504825" indent="-376555">
              <a:lnSpc>
                <a:spcPct val="100000"/>
              </a:lnSpc>
              <a:spcBef>
                <a:spcPts val="380"/>
              </a:spcBef>
              <a:buChar char="•"/>
              <a:tabLst>
                <a:tab pos="505459" algn="l"/>
                <a:tab pos="506095" algn="l"/>
              </a:tabLst>
            </a:pPr>
            <a:r>
              <a:rPr spc="15" dirty="0"/>
              <a:t>Step</a:t>
            </a:r>
            <a:r>
              <a:rPr spc="-40" dirty="0"/>
              <a:t> </a:t>
            </a:r>
            <a:r>
              <a:rPr spc="15" dirty="0"/>
              <a:t>2</a:t>
            </a:r>
          </a:p>
          <a:p>
            <a:pPr marL="945515" marR="17145" lvl="1" indent="-314325">
              <a:lnSpc>
                <a:spcPts val="2860"/>
              </a:lnSpc>
              <a:spcBef>
                <a:spcPts val="690"/>
              </a:spcBef>
              <a:buChar char="–"/>
              <a:tabLst>
                <a:tab pos="947419" algn="l"/>
                <a:tab pos="94805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idea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should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secured.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This </a:t>
            </a:r>
            <a:r>
              <a:rPr sz="2650" spc="-10" dirty="0">
                <a:latin typeface="Times New Roman"/>
                <a:cs typeface="Times New Roman"/>
              </a:rPr>
              <a:t>may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seem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like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obvious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step, </a:t>
            </a:r>
            <a:r>
              <a:rPr sz="2650" spc="-5" dirty="0">
                <a:latin typeface="Times New Roman"/>
                <a:cs typeface="Times New Roman"/>
              </a:rPr>
              <a:t>but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is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often</a:t>
            </a:r>
            <a:r>
              <a:rPr sz="2650" spc="-5" dirty="0">
                <a:latin typeface="Times New Roman"/>
                <a:cs typeface="Times New Roman"/>
              </a:rPr>
              <a:t> overlooked.</a:t>
            </a:r>
            <a:endParaRPr sz="2650" dirty="0">
              <a:latin typeface="Times New Roman"/>
              <a:cs typeface="Times New Roman"/>
            </a:endParaRPr>
          </a:p>
          <a:p>
            <a:pPr marL="504825" indent="-376555">
              <a:lnSpc>
                <a:spcPct val="100000"/>
              </a:lnSpc>
              <a:spcBef>
                <a:spcPts val="335"/>
              </a:spcBef>
              <a:buChar char="•"/>
              <a:tabLst>
                <a:tab pos="505459" algn="l"/>
                <a:tab pos="506095" algn="l"/>
              </a:tabLst>
            </a:pPr>
            <a:r>
              <a:rPr spc="15" dirty="0"/>
              <a:t>Step</a:t>
            </a:r>
            <a:r>
              <a:rPr spc="-40" dirty="0"/>
              <a:t> </a:t>
            </a:r>
            <a:r>
              <a:rPr spc="15" dirty="0"/>
              <a:t>3</a:t>
            </a:r>
          </a:p>
          <a:p>
            <a:pPr marL="945515" marR="137795" lvl="1" indent="-314325">
              <a:lnSpc>
                <a:spcPct val="89600"/>
              </a:lnSpc>
              <a:spcBef>
                <a:spcPts val="660"/>
              </a:spcBef>
              <a:buChar char="–"/>
              <a:tabLst>
                <a:tab pos="947419" algn="l"/>
                <a:tab pos="948055" algn="l"/>
              </a:tabLst>
            </a:pPr>
            <a:r>
              <a:rPr sz="2650" spc="-10" dirty="0">
                <a:latin typeface="Times New Roman"/>
                <a:cs typeface="Times New Roman"/>
              </a:rPr>
              <a:t>Avoid making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inadvertent or </a:t>
            </a:r>
            <a:r>
              <a:rPr sz="2650" spc="-10" dirty="0">
                <a:latin typeface="Times New Roman"/>
                <a:cs typeface="Times New Roman"/>
              </a:rPr>
              <a:t>voluntary </a:t>
            </a:r>
            <a:r>
              <a:rPr sz="2650" spc="-5" dirty="0">
                <a:latin typeface="Times New Roman"/>
                <a:cs typeface="Times New Roman"/>
              </a:rPr>
              <a:t>disclosure of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6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idea, in a manner </a:t>
            </a:r>
            <a:r>
              <a:rPr sz="2650" spc="-10" dirty="0">
                <a:latin typeface="Times New Roman"/>
                <a:cs typeface="Times New Roman"/>
              </a:rPr>
              <a:t>that forfeits </a:t>
            </a:r>
            <a:r>
              <a:rPr sz="2650" spc="-5" dirty="0">
                <a:latin typeface="Times New Roman"/>
                <a:cs typeface="Times New Roman"/>
              </a:rPr>
              <a:t>the right to </a:t>
            </a:r>
            <a:r>
              <a:rPr sz="2650" spc="-10" dirty="0">
                <a:latin typeface="Times New Roman"/>
                <a:cs typeface="Times New Roman"/>
              </a:rPr>
              <a:t>claim </a:t>
            </a:r>
            <a:r>
              <a:rPr sz="2650" spc="-5" dirty="0">
                <a:latin typeface="Times New Roman"/>
                <a:cs typeface="Times New Roman"/>
              </a:rPr>
              <a:t>exclusive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rights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it.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980</TotalTime>
  <Words>2262</Words>
  <Application>Microsoft Office PowerPoint</Application>
  <PresentationFormat>Custom</PresentationFormat>
  <Paragraphs>241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MT</vt:lpstr>
      <vt:lpstr>BookmanStd-Light</vt:lpstr>
      <vt:lpstr>Calibri</vt:lpstr>
      <vt:lpstr>Times New Roman</vt:lpstr>
      <vt:lpstr>Office Theme</vt:lpstr>
      <vt:lpstr>Chapter 2</vt:lpstr>
      <vt:lpstr>Chapter Objectives</vt:lpstr>
      <vt:lpstr>Chapter Objectives 2 of 2</vt:lpstr>
      <vt:lpstr>What is An Opportunity? 1 of 2</vt:lpstr>
      <vt:lpstr>What is an Opportunity? 2 of 2</vt:lpstr>
      <vt:lpstr>Window Of Opportunity  </vt:lpstr>
      <vt:lpstr>Idea </vt:lpstr>
      <vt:lpstr>Three Ways to Identify an Opportunity</vt:lpstr>
      <vt:lpstr>First Approach: Observing Trends 1 of 2</vt:lpstr>
      <vt:lpstr>First Approach: Observing Trends</vt:lpstr>
      <vt:lpstr>Trend 1: Economic Forces</vt:lpstr>
      <vt:lpstr>Trend 2: Social Forces</vt:lpstr>
      <vt:lpstr>Trend 3: Technological Advances 1 of 2</vt:lpstr>
      <vt:lpstr>Trend 3: Technological Advances 2 of 2</vt:lpstr>
      <vt:lpstr>Trend 4: Political Action and Regulatory  Changes 1 of 2</vt:lpstr>
      <vt:lpstr>PowerPoint Presentation</vt:lpstr>
      <vt:lpstr>Second Approach: Solving a Problem 1 of 2</vt:lpstr>
      <vt:lpstr>Second Approach: Solving a Problem 2 of 2</vt:lpstr>
      <vt:lpstr>Third Approach: Finding Gaps in the  Marketplace 1 of 2</vt:lpstr>
      <vt:lpstr>Third Approach: Finding Gaps in the  Marketplace 2 of 2</vt:lpstr>
      <vt:lpstr>Personal Characteristics of the Entrepreneur</vt:lpstr>
      <vt:lpstr>Prior Experience</vt:lpstr>
      <vt:lpstr>Corridor Principle</vt:lpstr>
      <vt:lpstr>Cognitive Factors</vt:lpstr>
      <vt:lpstr>Social Networks 1 of 3</vt:lpstr>
      <vt:lpstr>Social Networks 2 of 3</vt:lpstr>
      <vt:lpstr>Social Networks 3 of 3</vt:lpstr>
      <vt:lpstr>Creativity 1 of 2</vt:lpstr>
      <vt:lpstr>Difference Between Creativity and  Innovation</vt:lpstr>
      <vt:lpstr>Difference between Invention and  Innovation</vt:lpstr>
      <vt:lpstr>Creativity 2 of 2</vt:lpstr>
      <vt:lpstr>Full View of the Opportunity Recognition   Process </vt:lpstr>
      <vt:lpstr>Techniques For Generating Ideas</vt:lpstr>
      <vt:lpstr>Brainstorming</vt:lpstr>
      <vt:lpstr>Focus Groups</vt:lpstr>
      <vt:lpstr>Library and Internet Research 1 of 3</vt:lpstr>
      <vt:lpstr>Libraries and Internet Research 2 of 3</vt:lpstr>
      <vt:lpstr>Library and Internet Research 3 of 3</vt:lpstr>
      <vt:lpstr>PowerPoint Presentation</vt:lpstr>
      <vt:lpstr>Other Techniques</vt:lpstr>
      <vt:lpstr>Encouraging New Ideas</vt:lpstr>
      <vt:lpstr>Protecting Ideas From Being Lost or Stolen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barringer_e3_ppt_02.ppt [Compatibility Mode]</dc:title>
  <dc:creator>AliShahid</dc:creator>
  <cp:lastModifiedBy>ramsha</cp:lastModifiedBy>
  <cp:revision>48</cp:revision>
  <dcterms:created xsi:type="dcterms:W3CDTF">2023-01-17T09:19:07Z</dcterms:created>
  <dcterms:modified xsi:type="dcterms:W3CDTF">2023-01-31T18:48:10Z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2022-02-03T00:00:00Z</vt:filetime>
  </property>
  <property fmtid="{D5CDD505-2E9C-101B-9397-08002B2CF9AE}" pid="3" name="LastSaved">
    <vt:filetime>2023-01-17T00:00:00Z</vt:filetime>
  </property>
</Properties>
</file>