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301" r:id="rId32"/>
    <p:sldId id="286" r:id="rId33"/>
    <p:sldId id="287" r:id="rId34"/>
    <p:sldId id="288" r:id="rId35"/>
    <p:sldId id="289" r:id="rId36"/>
    <p:sldId id="290" r:id="rId37"/>
    <p:sldId id="302" r:id="rId38"/>
    <p:sldId id="291" r:id="rId39"/>
    <p:sldId id="303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48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91780" y="580097"/>
            <a:ext cx="4874839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5-1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5-1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5-1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5-1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5-1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14300"/>
            <a:ext cx="10058400" cy="7543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278296"/>
            <a:ext cx="10083800" cy="1232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405" y="2288286"/>
            <a:ext cx="8985250" cy="4704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72377" y="7191899"/>
            <a:ext cx="151320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spc="5" dirty="0"/>
              <a:t>©2010</a:t>
            </a:r>
            <a:r>
              <a:rPr spc="-25" dirty="0"/>
              <a:t> </a:t>
            </a:r>
            <a:r>
              <a:rPr spc="5" dirty="0"/>
              <a:t>Prentice</a:t>
            </a:r>
            <a:r>
              <a:rPr spc="-35" dirty="0"/>
              <a:t> </a:t>
            </a:r>
            <a:r>
              <a:rPr dirty="0"/>
              <a:t>Hall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050515" y="7185318"/>
            <a:ext cx="442595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789"/>
              </a:lnSpc>
            </a:pPr>
            <a:r>
              <a:rPr spc="15" dirty="0"/>
              <a:t>5-1</a:t>
            </a:r>
            <a:fld id="{81D60167-4931-47E6-BA6A-407CBD079E47}" type="slidenum">
              <a:rPr spc="15" dirty="0"/>
              <a:t>‹#›</a:t>
            </a:fld>
            <a:endParaRPr spc="1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38327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0909" y="1721655"/>
            <a:ext cx="264731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50" spc="10" dirty="0"/>
              <a:t>Chapter</a:t>
            </a:r>
            <a:r>
              <a:rPr sz="5250" spc="-105" dirty="0"/>
              <a:t> </a:t>
            </a:r>
            <a:r>
              <a:rPr sz="5250" spc="15" dirty="0"/>
              <a:t>5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3071863" y="3739313"/>
            <a:ext cx="4420870" cy="2444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90575">
              <a:lnSpc>
                <a:spcPct val="100299"/>
              </a:lnSpc>
              <a:spcBef>
                <a:spcPts val="95"/>
              </a:spcBef>
            </a:pPr>
            <a:r>
              <a:rPr sz="3950" b="1" dirty="0">
                <a:latin typeface="Times New Roman"/>
                <a:cs typeface="Times New Roman"/>
              </a:rPr>
              <a:t>Industry </a:t>
            </a:r>
            <a:r>
              <a:rPr sz="3950" b="1" spc="10" dirty="0">
                <a:latin typeface="Times New Roman"/>
                <a:cs typeface="Times New Roman"/>
              </a:rPr>
              <a:t>and </a:t>
            </a:r>
            <a:r>
              <a:rPr sz="3950" b="1" spc="15" dirty="0">
                <a:latin typeface="Times New Roman"/>
                <a:cs typeface="Times New Roman"/>
              </a:rPr>
              <a:t> </a:t>
            </a:r>
            <a:r>
              <a:rPr sz="3950" b="1" spc="-5" dirty="0">
                <a:latin typeface="Times New Roman"/>
                <a:cs typeface="Times New Roman"/>
              </a:rPr>
              <a:t>C</a:t>
            </a:r>
            <a:r>
              <a:rPr sz="3950" b="1" spc="5" dirty="0">
                <a:latin typeface="Times New Roman"/>
                <a:cs typeface="Times New Roman"/>
              </a:rPr>
              <a:t>o</a:t>
            </a:r>
            <a:r>
              <a:rPr sz="3950" b="1" spc="-10" dirty="0">
                <a:latin typeface="Times New Roman"/>
                <a:cs typeface="Times New Roman"/>
              </a:rPr>
              <a:t>m</a:t>
            </a:r>
            <a:r>
              <a:rPr sz="3950" b="1" spc="20" dirty="0">
                <a:latin typeface="Times New Roman"/>
                <a:cs typeface="Times New Roman"/>
              </a:rPr>
              <a:t>p</a:t>
            </a:r>
            <a:r>
              <a:rPr sz="3950" b="1" spc="-20" dirty="0">
                <a:latin typeface="Times New Roman"/>
                <a:cs typeface="Times New Roman"/>
              </a:rPr>
              <a:t>e</a:t>
            </a:r>
            <a:r>
              <a:rPr sz="3950" b="1" spc="25" dirty="0">
                <a:latin typeface="Times New Roman"/>
                <a:cs typeface="Times New Roman"/>
              </a:rPr>
              <a:t>t</a:t>
            </a:r>
            <a:r>
              <a:rPr sz="3950" b="1" spc="5" dirty="0">
                <a:latin typeface="Times New Roman"/>
                <a:cs typeface="Times New Roman"/>
              </a:rPr>
              <a:t>i</a:t>
            </a:r>
            <a:r>
              <a:rPr sz="3950" b="1" spc="-15" dirty="0">
                <a:latin typeface="Times New Roman"/>
                <a:cs typeface="Times New Roman"/>
              </a:rPr>
              <a:t>t</a:t>
            </a:r>
            <a:r>
              <a:rPr sz="3950" b="1" dirty="0">
                <a:latin typeface="Times New Roman"/>
                <a:cs typeface="Times New Roman"/>
              </a:rPr>
              <a:t>or</a:t>
            </a:r>
            <a:r>
              <a:rPr sz="3950" b="1" spc="-290" dirty="0">
                <a:latin typeface="Times New Roman"/>
                <a:cs typeface="Times New Roman"/>
              </a:rPr>
              <a:t> </a:t>
            </a:r>
            <a:r>
              <a:rPr sz="3950" b="1" spc="-5" dirty="0">
                <a:latin typeface="Times New Roman"/>
                <a:cs typeface="Times New Roman"/>
              </a:rPr>
              <a:t>A</a:t>
            </a:r>
            <a:r>
              <a:rPr sz="3950" b="1" spc="20" dirty="0">
                <a:latin typeface="Times New Roman"/>
                <a:cs typeface="Times New Roman"/>
              </a:rPr>
              <a:t>n</a:t>
            </a:r>
            <a:r>
              <a:rPr sz="3950" b="1" spc="5" dirty="0">
                <a:latin typeface="Times New Roman"/>
                <a:cs typeface="Times New Roman"/>
              </a:rPr>
              <a:t>al</a:t>
            </a:r>
            <a:r>
              <a:rPr sz="3950" b="1" dirty="0">
                <a:latin typeface="Times New Roman"/>
                <a:cs typeface="Times New Roman"/>
              </a:rPr>
              <a:t>ys</a:t>
            </a:r>
            <a:r>
              <a:rPr sz="3950" b="1" spc="5" dirty="0">
                <a:latin typeface="Times New Roman"/>
                <a:cs typeface="Times New Roman"/>
              </a:rPr>
              <a:t>i</a:t>
            </a:r>
            <a:r>
              <a:rPr sz="3950" b="1" dirty="0">
                <a:latin typeface="Times New Roman"/>
                <a:cs typeface="Times New Roman"/>
              </a:rPr>
              <a:t>s</a:t>
            </a:r>
            <a:endParaRPr sz="3950">
              <a:latin typeface="Times New Roman"/>
              <a:cs typeface="Times New Roman"/>
            </a:endParaRPr>
          </a:p>
          <a:p>
            <a:pPr marL="929640">
              <a:lnSpc>
                <a:spcPct val="100000"/>
              </a:lnSpc>
              <a:spcBef>
                <a:spcPts val="1610"/>
              </a:spcBef>
            </a:pPr>
            <a:r>
              <a:rPr sz="2650" spc="-5" dirty="0">
                <a:latin typeface="Times New Roman"/>
                <a:cs typeface="Times New Roman"/>
              </a:rPr>
              <a:t>Bruce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R.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Barringer</a:t>
            </a:r>
            <a:endParaRPr sz="2650">
              <a:latin typeface="Times New Roman"/>
              <a:cs typeface="Times New Roman"/>
            </a:endParaRPr>
          </a:p>
          <a:p>
            <a:pPr marL="1059180">
              <a:lnSpc>
                <a:spcPct val="100000"/>
              </a:lnSpc>
              <a:spcBef>
                <a:spcPts val="1575"/>
              </a:spcBef>
            </a:pPr>
            <a:r>
              <a:rPr sz="2650" spc="-5" dirty="0">
                <a:latin typeface="Times New Roman"/>
                <a:cs typeface="Times New Roman"/>
              </a:rPr>
              <a:t>R.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Duane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Ireland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Chapter</a:t>
            </a:r>
            <a:r>
              <a:rPr spc="-15" dirty="0"/>
              <a:t> </a:t>
            </a:r>
            <a:r>
              <a:rPr spc="-5" dirty="0"/>
              <a:t>Objectives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6142"/>
            <a:ext cx="8651875" cy="471805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681990" indent="-669925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Explain</a:t>
            </a:r>
            <a:r>
              <a:rPr sz="3050" spc="5" dirty="0">
                <a:latin typeface="Times New Roman"/>
                <a:cs typeface="Times New Roman"/>
              </a:rPr>
              <a:t> 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purpose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an </a:t>
            </a:r>
            <a:r>
              <a:rPr sz="3050" spc="10" dirty="0">
                <a:latin typeface="Times New Roman"/>
                <a:cs typeface="Times New Roman"/>
              </a:rPr>
              <a:t>industry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analysis.</a:t>
            </a:r>
            <a:endParaRPr sz="3050">
              <a:latin typeface="Times New Roman"/>
              <a:cs typeface="Times New Roman"/>
            </a:endParaRPr>
          </a:p>
          <a:p>
            <a:pPr marL="682625" marR="102870" indent="-670560">
              <a:lnSpc>
                <a:spcPct val="101000"/>
              </a:lnSpc>
              <a:spcBef>
                <a:spcPts val="730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Identify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five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competitive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forces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that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determine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industry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profitability.</a:t>
            </a:r>
            <a:endParaRPr sz="3050">
              <a:latin typeface="Times New Roman"/>
              <a:cs typeface="Times New Roman"/>
            </a:endParaRPr>
          </a:p>
          <a:p>
            <a:pPr marL="682625" marR="339090" indent="-670560">
              <a:lnSpc>
                <a:spcPct val="101000"/>
              </a:lnSpc>
              <a:spcBef>
                <a:spcPts val="740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Explain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role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25" dirty="0">
                <a:latin typeface="Times New Roman"/>
                <a:cs typeface="Times New Roman"/>
              </a:rPr>
              <a:t>of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“barriers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entry”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in </a:t>
            </a:r>
            <a:r>
              <a:rPr sz="3050" spc="10" dirty="0">
                <a:latin typeface="Times New Roman"/>
                <a:cs typeface="Times New Roman"/>
              </a:rPr>
              <a:t>creating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disincentives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firms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enter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an </a:t>
            </a:r>
            <a:r>
              <a:rPr sz="3050" spc="10" dirty="0">
                <a:latin typeface="Times New Roman"/>
                <a:cs typeface="Times New Roman"/>
              </a:rPr>
              <a:t>industry.</a:t>
            </a:r>
            <a:endParaRPr sz="3050">
              <a:latin typeface="Times New Roman"/>
              <a:cs typeface="Times New Roman"/>
            </a:endParaRPr>
          </a:p>
          <a:p>
            <a:pPr marL="682625" marR="5080" indent="-670560">
              <a:lnSpc>
                <a:spcPct val="101000"/>
              </a:lnSpc>
              <a:spcBef>
                <a:spcPts val="745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Identify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nontraditional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barriers</a:t>
            </a:r>
            <a:r>
              <a:rPr sz="3050" spc="1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to</a:t>
            </a:r>
            <a:r>
              <a:rPr sz="3050" spc="10" dirty="0">
                <a:latin typeface="Times New Roman"/>
                <a:cs typeface="Times New Roman"/>
              </a:rPr>
              <a:t> entry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that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are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especially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associated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with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entrepreneurial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firms.</a:t>
            </a:r>
            <a:endParaRPr sz="3050">
              <a:latin typeface="Times New Roman"/>
              <a:cs typeface="Times New Roman"/>
            </a:endParaRPr>
          </a:p>
          <a:p>
            <a:pPr marL="682625" marR="861060" indent="-670560">
              <a:lnSpc>
                <a:spcPct val="101000"/>
              </a:lnSpc>
              <a:spcBef>
                <a:spcPts val="730"/>
              </a:spcBef>
              <a:buAutoNum type="arabicPeriod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List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four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industry-related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questions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ask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before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pursuing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idea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for</a:t>
            </a:r>
            <a:r>
              <a:rPr sz="3050" spc="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firm.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Chapter</a:t>
            </a:r>
            <a:r>
              <a:rPr spc="-15" dirty="0"/>
              <a:t> </a:t>
            </a:r>
            <a:r>
              <a:rPr spc="-5" dirty="0"/>
              <a:t>Objectives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98398"/>
            <a:ext cx="8708390" cy="4625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2625" marR="621030" indent="-670560">
              <a:lnSpc>
                <a:spcPct val="101000"/>
              </a:lnSpc>
              <a:spcBef>
                <a:spcPts val="95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Identify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five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primary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industry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types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and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opportunities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they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offer.</a:t>
            </a:r>
            <a:endParaRPr sz="3050">
              <a:latin typeface="Times New Roman"/>
              <a:cs typeface="Times New Roman"/>
            </a:endParaRPr>
          </a:p>
          <a:p>
            <a:pPr marL="681990" indent="-669925">
              <a:lnSpc>
                <a:spcPct val="100000"/>
              </a:lnSpc>
              <a:spcBef>
                <a:spcPts val="770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Explain</a:t>
            </a:r>
            <a:r>
              <a:rPr sz="3050" spc="5" dirty="0">
                <a:latin typeface="Times New Roman"/>
                <a:cs typeface="Times New Roman"/>
              </a:rPr>
              <a:t> 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purpose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competitor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analysis.</a:t>
            </a:r>
            <a:endParaRPr sz="3050">
              <a:latin typeface="Times New Roman"/>
              <a:cs typeface="Times New Roman"/>
            </a:endParaRPr>
          </a:p>
          <a:p>
            <a:pPr marL="682625" marR="5080" indent="-670560">
              <a:lnSpc>
                <a:spcPct val="101000"/>
              </a:lnSpc>
              <a:spcBef>
                <a:spcPts val="740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Identify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three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groups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competitors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new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firm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will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face.</a:t>
            </a:r>
            <a:endParaRPr sz="3050">
              <a:latin typeface="Times New Roman"/>
              <a:cs typeface="Times New Roman"/>
            </a:endParaRPr>
          </a:p>
          <a:p>
            <a:pPr marL="682625" marR="1527810" indent="-670560">
              <a:lnSpc>
                <a:spcPct val="101000"/>
              </a:lnSpc>
              <a:spcBef>
                <a:spcPts val="745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Describe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ways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firm </a:t>
            </a:r>
            <a:r>
              <a:rPr sz="3050" spc="5" dirty="0">
                <a:latin typeface="Times New Roman"/>
                <a:cs typeface="Times New Roman"/>
              </a:rPr>
              <a:t>can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ethically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obtain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information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about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its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competitors.</a:t>
            </a:r>
            <a:endParaRPr sz="3050">
              <a:latin typeface="Times New Roman"/>
              <a:cs typeface="Times New Roman"/>
            </a:endParaRPr>
          </a:p>
          <a:p>
            <a:pPr marL="682625" marR="159385" indent="-670560">
              <a:lnSpc>
                <a:spcPct val="101000"/>
              </a:lnSpc>
              <a:spcBef>
                <a:spcPts val="730"/>
              </a:spcBef>
              <a:buAutoNum type="arabicPeriod" startAt="6"/>
              <a:tabLst>
                <a:tab pos="681990" algn="l"/>
                <a:tab pos="682625" algn="l"/>
              </a:tabLst>
            </a:pPr>
            <a:r>
              <a:rPr sz="3050" spc="10" dirty="0">
                <a:latin typeface="Times New Roman"/>
                <a:cs typeface="Times New Roman"/>
              </a:rPr>
              <a:t>Describe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the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reasons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completing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competitive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analysis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grid.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5558" y="580097"/>
            <a:ext cx="5489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 dirty="0"/>
              <a:t>What</a:t>
            </a:r>
            <a:r>
              <a:rPr spc="25" dirty="0"/>
              <a:t> </a:t>
            </a:r>
            <a:r>
              <a:rPr spc="-15" dirty="0"/>
              <a:t>is </a:t>
            </a:r>
            <a:r>
              <a:rPr spc="5" dirty="0"/>
              <a:t>Industry</a:t>
            </a:r>
            <a:r>
              <a:rPr spc="-25" dirty="0"/>
              <a:t> </a:t>
            </a:r>
            <a:r>
              <a:rPr dirty="0"/>
              <a:t>Analysis?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89035" cy="332930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Industry</a:t>
            </a:r>
            <a:endParaRPr sz="30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An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20" dirty="0">
                <a:latin typeface="Times New Roman"/>
                <a:cs typeface="Times New Roman"/>
              </a:rPr>
              <a:t>is</a:t>
            </a:r>
            <a:r>
              <a:rPr sz="2650" spc="-5" dirty="0">
                <a:latin typeface="Times New Roman"/>
                <a:cs typeface="Times New Roman"/>
              </a:rPr>
              <a:t> a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group</a:t>
            </a:r>
            <a:r>
              <a:rPr sz="2650" spc="-5" dirty="0">
                <a:latin typeface="Times New Roman"/>
                <a:cs typeface="Times New Roman"/>
              </a:rPr>
              <a:t> 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</a:t>
            </a:r>
            <a:r>
              <a:rPr sz="2650" spc="-5" dirty="0">
                <a:latin typeface="Times New Roman"/>
                <a:cs typeface="Times New Roman"/>
              </a:rPr>
              <a:t> producing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similar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product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or service, such </a:t>
            </a:r>
            <a:r>
              <a:rPr sz="2650" spc="-15" dirty="0">
                <a:latin typeface="Times New Roman"/>
                <a:cs typeface="Times New Roman"/>
              </a:rPr>
              <a:t>as </a:t>
            </a:r>
            <a:r>
              <a:rPr sz="2650" spc="-10" dirty="0">
                <a:latin typeface="Times New Roman"/>
                <a:cs typeface="Times New Roman"/>
              </a:rPr>
              <a:t>airlines, </a:t>
            </a:r>
            <a:r>
              <a:rPr sz="2650" spc="-5" dirty="0">
                <a:latin typeface="Times New Roman"/>
                <a:cs typeface="Times New Roman"/>
              </a:rPr>
              <a:t>fitness drinks, </a:t>
            </a:r>
            <a:r>
              <a:rPr sz="2650" spc="-10" dirty="0">
                <a:latin typeface="Times New Roman"/>
                <a:cs typeface="Times New Roman"/>
              </a:rPr>
              <a:t>furniture, </a:t>
            </a:r>
            <a:r>
              <a:rPr sz="2650" spc="-5" dirty="0">
                <a:latin typeface="Times New Roman"/>
                <a:cs typeface="Times New Roman"/>
              </a:rPr>
              <a:t>or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electronic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games.</a:t>
            </a:r>
            <a:endParaRPr sz="2650">
              <a:latin typeface="Times New Roman"/>
              <a:cs typeface="Times New Roman"/>
            </a:endParaRPr>
          </a:p>
          <a:p>
            <a:pPr marL="388620" indent="-376555">
              <a:lnSpc>
                <a:spcPct val="100000"/>
              </a:lnSpc>
              <a:spcBef>
                <a:spcPts val="64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Industry</a:t>
            </a:r>
            <a:r>
              <a:rPr sz="3050" spc="-7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Analysis</a:t>
            </a:r>
            <a:endParaRPr sz="3050">
              <a:latin typeface="Times New Roman"/>
              <a:cs typeface="Times New Roman"/>
            </a:endParaRPr>
          </a:p>
          <a:p>
            <a:pPr marL="829310" marR="684530" lvl="1" indent="-314325">
              <a:lnSpc>
                <a:spcPts val="3170"/>
              </a:lnSpc>
              <a:spcBef>
                <a:spcPts val="76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Is business </a:t>
            </a:r>
            <a:r>
              <a:rPr sz="2650" spc="-5" dirty="0">
                <a:latin typeface="Times New Roman"/>
                <a:cs typeface="Times New Roman"/>
              </a:rPr>
              <a:t>research </a:t>
            </a:r>
            <a:r>
              <a:rPr sz="2650" spc="-10" dirty="0">
                <a:latin typeface="Times New Roman"/>
                <a:cs typeface="Times New Roman"/>
              </a:rPr>
              <a:t>that </a:t>
            </a:r>
            <a:r>
              <a:rPr sz="2650" spc="-5" dirty="0">
                <a:latin typeface="Times New Roman"/>
                <a:cs typeface="Times New Roman"/>
              </a:rPr>
              <a:t>focuses on the </a:t>
            </a:r>
            <a:r>
              <a:rPr sz="2650" spc="-10" dirty="0">
                <a:latin typeface="Times New Roman"/>
                <a:cs typeface="Times New Roman"/>
              </a:rPr>
              <a:t>potential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dirty="0">
                <a:latin typeface="Times New Roman"/>
                <a:cs typeface="Times New Roman"/>
              </a:rPr>
              <a:t>an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76" y="580097"/>
            <a:ext cx="75965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" dirty="0"/>
              <a:t>Wh</a:t>
            </a:r>
            <a:r>
              <a:rPr lang="en-US" spc="-5" dirty="0"/>
              <a:t>y</a:t>
            </a:r>
            <a:r>
              <a:rPr spc="30" dirty="0"/>
              <a:t> </a:t>
            </a:r>
            <a:r>
              <a:rPr spc="-15" dirty="0"/>
              <a:t>is</a:t>
            </a:r>
            <a:r>
              <a:rPr spc="-10" dirty="0"/>
              <a:t> </a:t>
            </a:r>
            <a:r>
              <a:rPr spc="5" dirty="0"/>
              <a:t>Industry</a:t>
            </a:r>
            <a:r>
              <a:rPr spc="-1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Important?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1817" y="3407119"/>
            <a:ext cx="277876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dirty="0">
                <a:latin typeface="Times New Roman"/>
                <a:cs typeface="Times New Roman"/>
              </a:rPr>
              <a:t>I</a:t>
            </a:r>
            <a:r>
              <a:rPr sz="3050" spc="45" dirty="0">
                <a:latin typeface="Times New Roman"/>
                <a:cs typeface="Times New Roman"/>
              </a:rPr>
              <a:t>n</a:t>
            </a:r>
            <a:r>
              <a:rPr sz="3050" spc="15" dirty="0">
                <a:latin typeface="Times New Roman"/>
                <a:cs typeface="Times New Roman"/>
              </a:rPr>
              <a:t>dus</a:t>
            </a:r>
            <a:r>
              <a:rPr sz="3050" spc="10" dirty="0">
                <a:latin typeface="Times New Roman"/>
                <a:cs typeface="Times New Roman"/>
              </a:rPr>
              <a:t>t</a:t>
            </a:r>
            <a:r>
              <a:rPr sz="3050" dirty="0">
                <a:latin typeface="Times New Roman"/>
                <a:cs typeface="Times New Roman"/>
              </a:rPr>
              <a:t>r</a:t>
            </a:r>
            <a:r>
              <a:rPr sz="3050" spc="15" dirty="0">
                <a:latin typeface="Times New Roman"/>
                <a:cs typeface="Times New Roman"/>
              </a:rPr>
              <a:t>y</a:t>
            </a:r>
            <a:r>
              <a:rPr sz="3050" spc="-18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</a:t>
            </a:r>
            <a:r>
              <a:rPr sz="3050" spc="15" dirty="0">
                <a:latin typeface="Times New Roman"/>
                <a:cs typeface="Times New Roman"/>
              </a:rPr>
              <a:t>n</a:t>
            </a:r>
            <a:r>
              <a:rPr sz="3050" dirty="0">
                <a:latin typeface="Times New Roman"/>
                <a:cs typeface="Times New Roman"/>
              </a:rPr>
              <a:t>a</a:t>
            </a:r>
            <a:r>
              <a:rPr sz="3050" spc="10" dirty="0">
                <a:latin typeface="Times New Roman"/>
                <a:cs typeface="Times New Roman"/>
              </a:rPr>
              <a:t>l</a:t>
            </a:r>
            <a:r>
              <a:rPr sz="3050" spc="15" dirty="0">
                <a:latin typeface="Times New Roman"/>
                <a:cs typeface="Times New Roman"/>
              </a:rPr>
              <a:t>ys</a:t>
            </a:r>
            <a:r>
              <a:rPr sz="3050" spc="10" dirty="0">
                <a:latin typeface="Times New Roman"/>
                <a:cs typeface="Times New Roman"/>
              </a:rPr>
              <a:t>is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353305" y="1869186"/>
            <a:ext cx="5291455" cy="5291455"/>
            <a:chOff x="4353305" y="1869186"/>
            <a:chExt cx="5291455" cy="5291455"/>
          </a:xfrm>
        </p:grpSpPr>
        <p:sp>
          <p:nvSpPr>
            <p:cNvPr id="6" name="object 6"/>
            <p:cNvSpPr/>
            <p:nvPr/>
          </p:nvSpPr>
          <p:spPr>
            <a:xfrm>
              <a:off x="4358639" y="1874520"/>
              <a:ext cx="5280660" cy="5280660"/>
            </a:xfrm>
            <a:custGeom>
              <a:avLst/>
              <a:gdLst/>
              <a:ahLst/>
              <a:cxnLst/>
              <a:rect l="l" t="t" r="r" b="b"/>
              <a:pathLst>
                <a:path w="5280659" h="5280659">
                  <a:moveTo>
                    <a:pt x="5280659" y="5280660"/>
                  </a:moveTo>
                  <a:lnTo>
                    <a:pt x="0" y="5280660"/>
                  </a:lnTo>
                  <a:lnTo>
                    <a:pt x="0" y="0"/>
                  </a:lnTo>
                  <a:lnTo>
                    <a:pt x="5280659" y="0"/>
                  </a:lnTo>
                  <a:lnTo>
                    <a:pt x="5280659" y="528066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58639" y="1874520"/>
              <a:ext cx="5280660" cy="5280660"/>
            </a:xfrm>
            <a:custGeom>
              <a:avLst/>
              <a:gdLst/>
              <a:ahLst/>
              <a:cxnLst/>
              <a:rect l="l" t="t" r="r" b="b"/>
              <a:pathLst>
                <a:path w="5280659" h="5280659">
                  <a:moveTo>
                    <a:pt x="0" y="0"/>
                  </a:moveTo>
                  <a:lnTo>
                    <a:pt x="5280659" y="0"/>
                  </a:lnTo>
                  <a:lnTo>
                    <a:pt x="5280659" y="5280660"/>
                  </a:lnTo>
                  <a:lnTo>
                    <a:pt x="0" y="5280660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30283" y="1787238"/>
            <a:ext cx="5013325" cy="5079365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650" spc="-10" dirty="0">
                <a:latin typeface="Times New Roman"/>
                <a:cs typeface="Times New Roman"/>
              </a:rPr>
              <a:t>Importance</a:t>
            </a:r>
            <a:endParaRPr sz="2650">
              <a:latin typeface="Times New Roman"/>
              <a:cs typeface="Times New Roman"/>
            </a:endParaRPr>
          </a:p>
          <a:p>
            <a:pPr marL="213995" marR="182880" indent="-213995">
              <a:lnSpc>
                <a:spcPct val="110700"/>
              </a:lnSpc>
              <a:spcBef>
                <a:spcPts val="535"/>
              </a:spcBef>
              <a:buFont typeface="Arial MT"/>
              <a:buChar char="•"/>
              <a:tabLst>
                <a:tab pos="213995" algn="l"/>
              </a:tabLst>
            </a:pPr>
            <a:r>
              <a:rPr sz="2650" spc="-5" dirty="0">
                <a:latin typeface="Times New Roman"/>
                <a:cs typeface="Times New Roman"/>
              </a:rPr>
              <a:t>Once it is </a:t>
            </a:r>
            <a:r>
              <a:rPr sz="2650" spc="-10" dirty="0">
                <a:latin typeface="Times New Roman"/>
                <a:cs typeface="Times New Roman"/>
              </a:rPr>
              <a:t>determined that </a:t>
            </a:r>
            <a:r>
              <a:rPr sz="2650" spc="-5" dirty="0">
                <a:latin typeface="Times New Roman"/>
                <a:cs typeface="Times New Roman"/>
              </a:rPr>
              <a:t>a new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venture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feasible in regard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10" dirty="0">
                <a:latin typeface="Times New Roman"/>
                <a:cs typeface="Times New Roman"/>
              </a:rPr>
              <a:t>and market </a:t>
            </a:r>
            <a:r>
              <a:rPr sz="2650" spc="-5" dirty="0">
                <a:latin typeface="Times New Roman"/>
                <a:cs typeface="Times New Roman"/>
              </a:rPr>
              <a:t>in which it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will </a:t>
            </a:r>
            <a:r>
              <a:rPr sz="2650" spc="-10" dirty="0">
                <a:latin typeface="Times New Roman"/>
                <a:cs typeface="Times New Roman"/>
              </a:rPr>
              <a:t>compete,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more in-depth </a:t>
            </a:r>
            <a:r>
              <a:rPr sz="2650" spc="-5" dirty="0">
                <a:latin typeface="Times New Roman"/>
                <a:cs typeface="Times New Roman"/>
              </a:rPr>
              <a:t> analysis is </a:t>
            </a:r>
            <a:r>
              <a:rPr sz="2650" spc="-10" dirty="0">
                <a:latin typeface="Times New Roman"/>
                <a:cs typeface="Times New Roman"/>
              </a:rPr>
              <a:t>needed </a:t>
            </a:r>
            <a:r>
              <a:rPr sz="2650" spc="-5" dirty="0">
                <a:latin typeface="Times New Roman"/>
                <a:cs typeface="Times New Roman"/>
              </a:rPr>
              <a:t>to learn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ins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outs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industry.</a:t>
            </a:r>
            <a:endParaRPr sz="2650">
              <a:latin typeface="Times New Roman"/>
              <a:cs typeface="Times New Roman"/>
            </a:endParaRPr>
          </a:p>
          <a:p>
            <a:pPr marL="208279" marR="5080" indent="-208279">
              <a:lnSpc>
                <a:spcPts val="3520"/>
              </a:lnSpc>
              <a:spcBef>
                <a:spcPts val="170"/>
              </a:spcBef>
              <a:buFont typeface="Arial MT"/>
              <a:buChar char="•"/>
              <a:tabLst>
                <a:tab pos="208279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analysis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helps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</a:t>
            </a:r>
            <a:r>
              <a:rPr sz="2650" spc="-5" dirty="0">
                <a:latin typeface="Times New Roman"/>
                <a:cs typeface="Times New Roman"/>
              </a:rPr>
              <a:t> determine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if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niche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market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identified</a:t>
            </a:r>
            <a:endParaRPr sz="2650">
              <a:latin typeface="Times New Roman"/>
              <a:cs typeface="Times New Roman"/>
            </a:endParaRPr>
          </a:p>
          <a:p>
            <a:pPr marL="264160" marR="972819">
              <a:lnSpc>
                <a:spcPts val="3520"/>
              </a:lnSpc>
            </a:pPr>
            <a:r>
              <a:rPr sz="2650" spc="-10" dirty="0">
                <a:latin typeface="Times New Roman"/>
                <a:cs typeface="Times New Roman"/>
              </a:rPr>
              <a:t>during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feasibility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analysis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favorable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new</a:t>
            </a:r>
            <a:r>
              <a:rPr sz="2650" spc="-15" dirty="0">
                <a:latin typeface="Times New Roman"/>
                <a:cs typeface="Times New Roman"/>
              </a:rPr>
              <a:t> firm.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8356" y="580097"/>
            <a:ext cx="43002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Three</a:t>
            </a:r>
            <a:r>
              <a:rPr spc="-40" dirty="0"/>
              <a:t> </a:t>
            </a:r>
            <a:r>
              <a:rPr spc="5" dirty="0"/>
              <a:t>Key</a:t>
            </a:r>
            <a:r>
              <a:rPr spc="-20" dirty="0"/>
              <a:t> </a:t>
            </a:r>
            <a:r>
              <a:rPr dirty="0"/>
              <a:t>Questions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45037" y="1732296"/>
            <a:ext cx="7800975" cy="83058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indent="74295">
              <a:lnSpc>
                <a:spcPts val="3170"/>
              </a:lnSpc>
              <a:spcBef>
                <a:spcPts val="195"/>
              </a:spcBef>
            </a:pPr>
            <a:r>
              <a:rPr sz="2650" spc="-10" dirty="0">
                <a:latin typeface="Times New Roman"/>
                <a:cs typeface="Times New Roman"/>
              </a:rPr>
              <a:t>When studying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25" dirty="0">
                <a:latin typeface="Times New Roman"/>
                <a:cs typeface="Times New Roman"/>
              </a:rPr>
              <a:t>industry, </a:t>
            </a:r>
            <a:r>
              <a:rPr sz="2650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entrepreneur must answer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three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questions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before pursuing</a:t>
            </a:r>
            <a:r>
              <a:rPr sz="2650" spc="-5" dirty="0">
                <a:latin typeface="Times New Roman"/>
                <a:cs typeface="Times New Roman"/>
              </a:rPr>
              <a:t> the</a:t>
            </a:r>
            <a:r>
              <a:rPr sz="2650" spc="-10" dirty="0">
                <a:latin typeface="Times New Roman"/>
                <a:cs typeface="Times New Roman"/>
              </a:rPr>
              <a:t> idea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starting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0" dirty="0">
                <a:latin typeface="Times New Roman"/>
                <a:cs typeface="Times New Roman"/>
              </a:rPr>
              <a:t> firm.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59" y="3131819"/>
            <a:ext cx="2682240" cy="3017520"/>
          </a:xfrm>
          <a:custGeom>
            <a:avLst/>
            <a:gdLst/>
            <a:ahLst/>
            <a:cxnLst/>
            <a:rect l="l" t="t" r="r" b="b"/>
            <a:pathLst>
              <a:path w="2682240" h="3017520">
                <a:moveTo>
                  <a:pt x="2682240" y="3017519"/>
                </a:moveTo>
                <a:lnTo>
                  <a:pt x="0" y="3017519"/>
                </a:lnTo>
                <a:lnTo>
                  <a:pt x="0" y="0"/>
                </a:lnTo>
                <a:lnTo>
                  <a:pt x="2682240" y="0"/>
                </a:lnTo>
                <a:lnTo>
                  <a:pt x="2682240" y="301751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1459" y="3634740"/>
            <a:ext cx="2682240" cy="1851789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121920" marR="113664" indent="635" algn="ctr">
              <a:lnSpc>
                <a:spcPct val="100000"/>
              </a:lnSpc>
              <a:spcBef>
                <a:spcPts val="1240"/>
              </a:spcBef>
            </a:pPr>
            <a:r>
              <a:rPr sz="2200" spc="-10" dirty="0">
                <a:latin typeface="Times New Roman"/>
                <a:cs typeface="Times New Roman"/>
              </a:rPr>
              <a:t>Is </a:t>
            </a:r>
            <a:r>
              <a:rPr sz="2200" spc="-5" dirty="0">
                <a:latin typeface="Times New Roman"/>
                <a:cs typeface="Times New Roman"/>
              </a:rPr>
              <a:t>the industry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accessible—in </a:t>
            </a:r>
            <a:r>
              <a:rPr sz="2200" dirty="0">
                <a:latin typeface="Times New Roman"/>
                <a:cs typeface="Times New Roman"/>
              </a:rPr>
              <a:t>other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words,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is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realistic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place </a:t>
            </a:r>
            <a:r>
              <a:rPr sz="2200" dirty="0">
                <a:latin typeface="Times New Roman"/>
                <a:cs typeface="Times New Roman"/>
              </a:rPr>
              <a:t>for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new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venture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enter?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57059" y="3131819"/>
            <a:ext cx="2682240" cy="3017520"/>
          </a:xfrm>
          <a:custGeom>
            <a:avLst/>
            <a:gdLst/>
            <a:ahLst/>
            <a:cxnLst/>
            <a:rect l="l" t="t" r="r" b="b"/>
            <a:pathLst>
              <a:path w="2682240" h="3017520">
                <a:moveTo>
                  <a:pt x="2682239" y="3017519"/>
                </a:moveTo>
                <a:lnTo>
                  <a:pt x="0" y="3017519"/>
                </a:lnTo>
                <a:lnTo>
                  <a:pt x="0" y="0"/>
                </a:lnTo>
                <a:lnTo>
                  <a:pt x="2682239" y="0"/>
                </a:lnTo>
                <a:lnTo>
                  <a:pt x="2682239" y="301751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57059" y="3634740"/>
            <a:ext cx="2682240" cy="2190343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157480" rIns="0" bIns="0" rtlCol="0">
            <a:spAutoFit/>
          </a:bodyPr>
          <a:lstStyle/>
          <a:p>
            <a:pPr marL="89535" marR="82550" indent="-71120" algn="ctr">
              <a:lnSpc>
                <a:spcPct val="100000"/>
              </a:lnSpc>
              <a:spcBef>
                <a:spcPts val="1240"/>
              </a:spcBef>
            </a:pPr>
            <a:r>
              <a:rPr sz="2200" spc="-10" dirty="0">
                <a:latin typeface="Times New Roman"/>
                <a:cs typeface="Times New Roman"/>
              </a:rPr>
              <a:t>Are </a:t>
            </a:r>
            <a:r>
              <a:rPr sz="2200" spc="-5" dirty="0">
                <a:latin typeface="Times New Roman"/>
                <a:cs typeface="Times New Roman"/>
              </a:rPr>
              <a:t>there positions in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industry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lang="en-US" sz="2200" spc="-50" dirty="0">
                <a:latin typeface="Times New Roman"/>
                <a:cs typeface="Times New Roman"/>
              </a:rPr>
              <a:t>will </a:t>
            </a:r>
            <a:r>
              <a:rPr sz="2200" dirty="0">
                <a:latin typeface="Times New Roman"/>
                <a:cs typeface="Times New Roman"/>
              </a:rPr>
              <a:t>avoid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some </a:t>
            </a:r>
            <a:r>
              <a:rPr sz="2200" spc="-5" dirty="0">
                <a:latin typeface="Times New Roman"/>
                <a:cs typeface="Times New Roman"/>
              </a:rPr>
              <a:t>of the negative</a:t>
            </a:r>
            <a:r>
              <a:rPr lang="en-US" sz="2200" spc="-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attributes of the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industry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whole?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04259" y="3131819"/>
            <a:ext cx="2682240" cy="3017520"/>
          </a:xfrm>
          <a:custGeom>
            <a:avLst/>
            <a:gdLst/>
            <a:ahLst/>
            <a:cxnLst/>
            <a:rect l="l" t="t" r="r" b="b"/>
            <a:pathLst>
              <a:path w="2682240" h="3017520">
                <a:moveTo>
                  <a:pt x="2682240" y="3017519"/>
                </a:moveTo>
                <a:lnTo>
                  <a:pt x="0" y="3017519"/>
                </a:lnTo>
                <a:lnTo>
                  <a:pt x="0" y="0"/>
                </a:lnTo>
                <a:lnTo>
                  <a:pt x="2682240" y="0"/>
                </a:lnTo>
                <a:lnTo>
                  <a:pt x="2682240" y="301751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04259" y="3634740"/>
            <a:ext cx="2682240" cy="2514600"/>
          </a:xfrm>
          <a:prstGeom prst="rect">
            <a:avLst/>
          </a:prstGeom>
          <a:solidFill>
            <a:srgbClr val="FFFFCC"/>
          </a:solidFill>
          <a:ln w="10668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200">
              <a:latin typeface="Times New Roman"/>
              <a:cs typeface="Times New Roman"/>
            </a:endParaRPr>
          </a:p>
          <a:p>
            <a:pPr marL="88265" marR="81280" indent="-2540" algn="ctr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Does the </a:t>
            </a:r>
            <a:r>
              <a:rPr sz="2200" dirty="0">
                <a:latin typeface="Times New Roman"/>
                <a:cs typeface="Times New Roman"/>
              </a:rPr>
              <a:t>industry 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contain </a:t>
            </a:r>
            <a:r>
              <a:rPr sz="2200" spc="-10" dirty="0">
                <a:latin typeface="Times New Roman"/>
                <a:cs typeface="Times New Roman"/>
              </a:rPr>
              <a:t>markets </a:t>
            </a:r>
            <a:r>
              <a:rPr sz="2200" spc="-5" dirty="0">
                <a:latin typeface="Times New Roman"/>
                <a:cs typeface="Times New Roman"/>
              </a:rPr>
              <a:t>that </a:t>
            </a:r>
            <a:r>
              <a:rPr sz="2200" dirty="0">
                <a:latin typeface="Times New Roman"/>
                <a:cs typeface="Times New Roman"/>
              </a:rPr>
              <a:t> are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ripe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innovation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underserved?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1459" y="3131819"/>
            <a:ext cx="2682240" cy="50292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774065">
              <a:lnSpc>
                <a:spcPct val="100000"/>
              </a:lnSpc>
              <a:spcBef>
                <a:spcPts val="320"/>
              </a:spcBef>
            </a:pPr>
            <a:r>
              <a:rPr sz="2200" spc="-5" dirty="0">
                <a:latin typeface="Times New Roman"/>
                <a:cs typeface="Times New Roman"/>
              </a:rPr>
              <a:t>Question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57059" y="3131819"/>
            <a:ext cx="2682240" cy="50292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688975">
              <a:lnSpc>
                <a:spcPct val="100000"/>
              </a:lnSpc>
              <a:spcBef>
                <a:spcPts val="320"/>
              </a:spcBef>
            </a:pPr>
            <a:r>
              <a:rPr sz="2200" spc="-5" dirty="0">
                <a:latin typeface="Times New Roman"/>
                <a:cs typeface="Times New Roman"/>
              </a:rPr>
              <a:t>Question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4259" y="3131819"/>
            <a:ext cx="2682240" cy="502920"/>
          </a:xfrm>
          <a:prstGeom prst="rect">
            <a:avLst/>
          </a:prstGeom>
          <a:solidFill>
            <a:srgbClr val="FFFFCC"/>
          </a:solidFill>
          <a:ln w="10668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690245">
              <a:lnSpc>
                <a:spcPct val="100000"/>
              </a:lnSpc>
              <a:spcBef>
                <a:spcPts val="320"/>
              </a:spcBef>
            </a:pPr>
            <a:r>
              <a:rPr sz="2200" spc="-5" dirty="0">
                <a:latin typeface="Times New Roman"/>
                <a:cs typeface="Times New Roman"/>
              </a:rPr>
              <a:t>Question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spc="5" dirty="0"/>
              <a:t>Industry</a:t>
            </a:r>
            <a:r>
              <a:rPr dirty="0"/>
              <a:t> </a:t>
            </a:r>
            <a:r>
              <a:rPr spc="-5" dirty="0"/>
              <a:t>and</a:t>
            </a:r>
            <a:r>
              <a:rPr dirty="0"/>
              <a:t> Firm-Level</a:t>
            </a:r>
            <a:r>
              <a:rPr spc="5" dirty="0"/>
              <a:t> </a:t>
            </a:r>
            <a:r>
              <a:rPr spc="-5" dirty="0"/>
              <a:t>Factors</a:t>
            </a:r>
          </a:p>
          <a:p>
            <a:pPr algn="ctr">
              <a:lnSpc>
                <a:spcPct val="100000"/>
              </a:lnSpc>
              <a:spcBef>
                <a:spcPts val="10"/>
              </a:spcBef>
              <a:tabLst>
                <a:tab pos="3038475" algn="l"/>
                <a:tab pos="10057765" algn="l"/>
              </a:tabLst>
            </a:pPr>
            <a:r>
              <a:rPr u="heavy" dirty="0">
                <a:uFill>
                  <a:solidFill>
                    <a:srgbClr val="993300"/>
                  </a:solidFill>
                </a:uFill>
              </a:rPr>
              <a:t> 	</a:t>
            </a:r>
            <a:r>
              <a:rPr u="heavy" spc="-5" dirty="0">
                <a:uFill>
                  <a:solidFill>
                    <a:srgbClr val="993300"/>
                  </a:solidFill>
                </a:uFill>
              </a:rPr>
              <a:t>Affect</a:t>
            </a:r>
            <a:r>
              <a:rPr u="heavy" spc="15" dirty="0">
                <a:uFill>
                  <a:solidFill>
                    <a:srgbClr val="9933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993300"/>
                  </a:solidFill>
                </a:uFill>
              </a:rPr>
              <a:t>Performance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69985" cy="477710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Firm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Level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Factors</a:t>
            </a:r>
            <a:endParaRPr sz="30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Include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firm’s </a:t>
            </a:r>
            <a:r>
              <a:rPr sz="2650" spc="-5" dirty="0">
                <a:latin typeface="Times New Roman"/>
                <a:cs typeface="Times New Roman"/>
              </a:rPr>
              <a:t>assets, products, culture, </a:t>
            </a:r>
            <a:r>
              <a:rPr sz="2650" spc="-10" dirty="0">
                <a:latin typeface="Times New Roman"/>
                <a:cs typeface="Times New Roman"/>
              </a:rPr>
              <a:t>teamwork among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its </a:t>
            </a:r>
            <a:r>
              <a:rPr sz="2650" spc="-5" dirty="0">
                <a:latin typeface="Times New Roman"/>
                <a:cs typeface="Times New Roman"/>
              </a:rPr>
              <a:t>employees,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reputation,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other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resources.</a:t>
            </a:r>
            <a:endParaRPr sz="2650">
              <a:latin typeface="Times New Roman"/>
              <a:cs typeface="Times New Roman"/>
            </a:endParaRPr>
          </a:p>
          <a:p>
            <a:pPr marL="388620" indent="-376555">
              <a:lnSpc>
                <a:spcPct val="100000"/>
              </a:lnSpc>
              <a:spcBef>
                <a:spcPts val="64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Industry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Level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Factors</a:t>
            </a:r>
            <a:endParaRPr sz="3050">
              <a:latin typeface="Times New Roman"/>
              <a:cs typeface="Times New Roman"/>
            </a:endParaRPr>
          </a:p>
          <a:p>
            <a:pPr marL="829310" marR="636270" lvl="1" indent="-314325">
              <a:lnSpc>
                <a:spcPts val="3170"/>
              </a:lnSpc>
              <a:spcBef>
                <a:spcPts val="77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Include </a:t>
            </a:r>
            <a:r>
              <a:rPr sz="2650" spc="-5" dirty="0">
                <a:latin typeface="Times New Roman"/>
                <a:cs typeface="Times New Roman"/>
              </a:rPr>
              <a:t>threat of </a:t>
            </a:r>
            <a:r>
              <a:rPr sz="2650" spc="-15" dirty="0">
                <a:latin typeface="Times New Roman"/>
                <a:cs typeface="Times New Roman"/>
              </a:rPr>
              <a:t>new </a:t>
            </a:r>
            <a:r>
              <a:rPr sz="2650" spc="-5" dirty="0">
                <a:latin typeface="Times New Roman"/>
                <a:cs typeface="Times New Roman"/>
              </a:rPr>
              <a:t>entrants, rivalry among </a:t>
            </a:r>
            <a:r>
              <a:rPr sz="2650" spc="-10" dirty="0">
                <a:latin typeface="Times New Roman"/>
                <a:cs typeface="Times New Roman"/>
              </a:rPr>
              <a:t>existing 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firms,</a:t>
            </a:r>
            <a:r>
              <a:rPr sz="2650" spc="-5" dirty="0">
                <a:latin typeface="Times New Roman"/>
                <a:cs typeface="Times New Roman"/>
              </a:rPr>
              <a:t> bargaining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power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buyers,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related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factors.</a:t>
            </a:r>
            <a:endParaRPr sz="2650">
              <a:latin typeface="Times New Roman"/>
              <a:cs typeface="Times New Roman"/>
            </a:endParaRPr>
          </a:p>
          <a:p>
            <a:pPr marL="388620" indent="-376555">
              <a:lnSpc>
                <a:spcPct val="100000"/>
              </a:lnSpc>
              <a:spcBef>
                <a:spcPts val="64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Conclusion</a:t>
            </a:r>
            <a:endParaRPr sz="3050">
              <a:latin typeface="Times New Roman"/>
              <a:cs typeface="Times New Roman"/>
            </a:endParaRPr>
          </a:p>
          <a:p>
            <a:pPr marL="829310" marR="115570" lvl="1" indent="-314325">
              <a:lnSpc>
                <a:spcPts val="3170"/>
              </a:lnSpc>
              <a:spcBef>
                <a:spcPts val="74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various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studies,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researchers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have</a:t>
            </a:r>
            <a:r>
              <a:rPr sz="2650" spc="-10" dirty="0">
                <a:latin typeface="Times New Roman"/>
                <a:cs typeface="Times New Roman"/>
              </a:rPr>
              <a:t> found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from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8%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30% </a:t>
            </a:r>
            <a:r>
              <a:rPr sz="2650" spc="-5" dirty="0">
                <a:latin typeface="Times New Roman"/>
                <a:cs typeface="Times New Roman"/>
              </a:rPr>
              <a:t>of the </a:t>
            </a:r>
            <a:r>
              <a:rPr sz="2650" spc="-10" dirty="0">
                <a:latin typeface="Times New Roman"/>
                <a:cs typeface="Times New Roman"/>
              </a:rPr>
              <a:t>variation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spc="-10" dirty="0">
                <a:latin typeface="Times New Roman"/>
                <a:cs typeface="Times New Roman"/>
              </a:rPr>
              <a:t>firm profitability </a:t>
            </a:r>
            <a:r>
              <a:rPr sz="2650" spc="-5" dirty="0">
                <a:latin typeface="Times New Roman"/>
                <a:cs typeface="Times New Roman"/>
              </a:rPr>
              <a:t>is </a:t>
            </a:r>
            <a:r>
              <a:rPr sz="2650" spc="-10" dirty="0">
                <a:latin typeface="Times New Roman"/>
                <a:cs typeface="Times New Roman"/>
              </a:rPr>
              <a:t>directly </a:t>
            </a:r>
            <a:r>
              <a:rPr sz="2650" spc="-5" dirty="0">
                <a:latin typeface="Times New Roman"/>
                <a:cs typeface="Times New Roman"/>
              </a:rPr>
              <a:t> attributable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industry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spc="-10" dirty="0">
                <a:latin typeface="Times New Roman"/>
                <a:cs typeface="Times New Roman"/>
              </a:rPr>
              <a:t>which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</a:t>
            </a:r>
            <a:r>
              <a:rPr sz="2650" spc="-5" dirty="0">
                <a:latin typeface="Times New Roman"/>
                <a:cs typeface="Times New Roman"/>
              </a:rPr>
              <a:t> competes.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Techniques</a:t>
            </a:r>
            <a:r>
              <a:rPr spc="-5" dirty="0"/>
              <a:t> </a:t>
            </a:r>
            <a:r>
              <a:rPr dirty="0"/>
              <a:t>Available</a:t>
            </a:r>
            <a:r>
              <a:rPr spc="15" dirty="0"/>
              <a:t> </a:t>
            </a:r>
            <a:r>
              <a:rPr spc="5" dirty="0"/>
              <a:t>to</a:t>
            </a:r>
            <a:r>
              <a:rPr spc="-5" dirty="0"/>
              <a:t> </a:t>
            </a:r>
            <a:r>
              <a:rPr spc="-10" dirty="0"/>
              <a:t>Assess</a:t>
            </a:r>
            <a:r>
              <a:rPr spc="35" dirty="0"/>
              <a:t> </a:t>
            </a:r>
            <a:r>
              <a:rPr dirty="0"/>
              <a:t>Industry</a:t>
            </a:r>
          </a:p>
          <a:p>
            <a:pPr algn="ctr">
              <a:lnSpc>
                <a:spcPct val="100000"/>
              </a:lnSpc>
              <a:spcBef>
                <a:spcPts val="10"/>
              </a:spcBef>
              <a:tabLst>
                <a:tab pos="3590290" algn="l"/>
                <a:tab pos="10057765" algn="l"/>
              </a:tabLst>
            </a:pPr>
            <a:r>
              <a:rPr u="heavy" dirty="0">
                <a:uFill>
                  <a:solidFill>
                    <a:srgbClr val="993300"/>
                  </a:solidFill>
                </a:uFill>
              </a:rPr>
              <a:t> 	Attractiveness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2019" y="3215639"/>
            <a:ext cx="3604260" cy="1257300"/>
          </a:xfrm>
          <a:prstGeom prst="rect">
            <a:avLst/>
          </a:prstGeom>
          <a:solidFill>
            <a:srgbClr val="FFFFCC"/>
          </a:solidFill>
          <a:ln w="10668">
            <a:solidFill>
              <a:srgbClr val="000000"/>
            </a:solidFill>
          </a:ln>
        </p:spPr>
        <p:txBody>
          <a:bodyPr vert="horz" wrap="square" lIns="0" tIns="227965" rIns="0" bIns="0" rtlCol="0">
            <a:spAutoFit/>
          </a:bodyPr>
          <a:lstStyle/>
          <a:p>
            <a:pPr marL="423545" marR="363855" indent="-50800">
              <a:lnSpc>
                <a:spcPts val="3170"/>
              </a:lnSpc>
              <a:spcBef>
                <a:spcPts val="1795"/>
              </a:spcBef>
            </a:pPr>
            <a:r>
              <a:rPr sz="2650" spc="-10" dirty="0">
                <a:latin typeface="Times New Roman"/>
                <a:cs typeface="Times New Roman"/>
              </a:rPr>
              <a:t>Study</a:t>
            </a:r>
            <a:r>
              <a:rPr sz="2650" spc="-8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Environmental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Business</a:t>
            </a:r>
            <a:r>
              <a:rPr sz="2650" spc="-70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Trends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0660" y="3215639"/>
            <a:ext cx="3604260" cy="1257300"/>
          </a:xfrm>
          <a:prstGeom prst="rect">
            <a:avLst/>
          </a:prstGeom>
          <a:solidFill>
            <a:srgbClr val="FFFFCC"/>
          </a:solidFill>
          <a:ln w="10667">
            <a:solidFill>
              <a:srgbClr val="000000"/>
            </a:solidFill>
          </a:ln>
        </p:spPr>
        <p:txBody>
          <a:bodyPr vert="horz" wrap="square" lIns="0" tIns="227965" rIns="0" bIns="0" rtlCol="0">
            <a:spAutoFit/>
          </a:bodyPr>
          <a:lstStyle/>
          <a:p>
            <a:pPr marL="873125" marR="323850" indent="-542925">
              <a:lnSpc>
                <a:spcPts val="3170"/>
              </a:lnSpc>
              <a:spcBef>
                <a:spcPts val="1795"/>
              </a:spcBef>
            </a:pPr>
            <a:r>
              <a:rPr sz="2650" spc="-10" dirty="0">
                <a:latin typeface="Times New Roman"/>
                <a:cs typeface="Times New Roman"/>
              </a:rPr>
              <a:t>The Five Competitive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Forces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Model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6522" y="2066118"/>
            <a:ext cx="530479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10" dirty="0">
                <a:latin typeface="Times New Roman"/>
                <a:cs typeface="Times New Roman"/>
              </a:rPr>
              <a:t>Assessing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Industry</a:t>
            </a:r>
            <a:r>
              <a:rPr sz="3050" spc="-18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Attractiveness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2939" y="663836"/>
            <a:ext cx="5165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Studying</a:t>
            </a:r>
            <a:r>
              <a:rPr spc="-25" dirty="0"/>
              <a:t> </a:t>
            </a:r>
            <a:r>
              <a:rPr dirty="0"/>
              <a:t>Industry</a:t>
            </a:r>
            <a:r>
              <a:rPr spc="15" dirty="0"/>
              <a:t> </a:t>
            </a:r>
            <a:r>
              <a:rPr spc="-5" dirty="0"/>
              <a:t>Trends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86766"/>
            <a:ext cx="8710930" cy="5143203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Environmental</a:t>
            </a:r>
            <a:r>
              <a:rPr sz="3050" spc="-9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Trends</a:t>
            </a:r>
            <a:endParaRPr sz="3050" dirty="0">
              <a:latin typeface="Times New Roman"/>
              <a:cs typeface="Times New Roman"/>
            </a:endParaRPr>
          </a:p>
          <a:p>
            <a:pPr marL="829310" marR="7543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Include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economic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trends,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social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trends,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technological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advances,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political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regulatory </a:t>
            </a:r>
            <a:r>
              <a:rPr sz="2650" spc="-5" dirty="0">
                <a:latin typeface="Times New Roman"/>
                <a:cs typeface="Times New Roman"/>
              </a:rPr>
              <a:t>changes.</a:t>
            </a:r>
            <a:endParaRPr sz="2650" dirty="0">
              <a:latin typeface="Times New Roman"/>
              <a:cs typeface="Times New Roman"/>
            </a:endParaRPr>
          </a:p>
          <a:p>
            <a:pPr marL="829310" marR="47752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For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example,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industries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sell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products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seniors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benefiting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lang="en-US" sz="2650" spc="-5" dirty="0">
                <a:latin typeface="Times New Roman"/>
                <a:cs typeface="Times New Roman"/>
              </a:rPr>
              <a:t>from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lang="en-US" sz="2650" spc="-15" dirty="0">
                <a:latin typeface="Times New Roman"/>
                <a:cs typeface="Times New Roman"/>
              </a:rPr>
              <a:t>social trend of the </a:t>
            </a:r>
            <a:r>
              <a:rPr sz="2650" spc="-5" dirty="0">
                <a:latin typeface="Times New Roman"/>
                <a:cs typeface="Times New Roman"/>
              </a:rPr>
              <a:t>aging 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population.</a:t>
            </a:r>
            <a:endParaRPr sz="2650" dirty="0">
              <a:latin typeface="Times New Roman"/>
              <a:cs typeface="Times New Roman"/>
            </a:endParaRPr>
          </a:p>
          <a:p>
            <a:pPr marL="388620" indent="-376555">
              <a:lnSpc>
                <a:spcPct val="100000"/>
              </a:lnSpc>
              <a:spcBef>
                <a:spcPts val="64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Business</a:t>
            </a:r>
            <a:r>
              <a:rPr sz="3050" spc="-5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Trends</a:t>
            </a:r>
            <a:endParaRPr sz="3050" dirty="0">
              <a:latin typeface="Times New Roman"/>
              <a:cs typeface="Times New Roman"/>
            </a:endParaRPr>
          </a:p>
          <a:p>
            <a:pPr marL="830580" lvl="1" indent="-316230">
              <a:lnSpc>
                <a:spcPct val="100000"/>
              </a:lnSpc>
              <a:spcBef>
                <a:spcPts val="64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Other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trends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that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impact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3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For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example,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</a:t>
            </a:r>
            <a:r>
              <a:rPr sz="2650" spc="-10" dirty="0">
                <a:latin typeface="Times New Roman"/>
                <a:cs typeface="Times New Roman"/>
              </a:rPr>
              <a:t> profit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margins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increasing </a:t>
            </a:r>
            <a:r>
              <a:rPr sz="2650" spc="-5" dirty="0">
                <a:latin typeface="Times New Roman"/>
                <a:cs typeface="Times New Roman"/>
              </a:rPr>
              <a:t> or </a:t>
            </a:r>
            <a:r>
              <a:rPr sz="2650" spc="-10" dirty="0">
                <a:latin typeface="Times New Roman"/>
                <a:cs typeface="Times New Roman"/>
              </a:rPr>
              <a:t>falling? Is </a:t>
            </a:r>
            <a:r>
              <a:rPr sz="2650" spc="-5" dirty="0">
                <a:latin typeface="Times New Roman"/>
                <a:cs typeface="Times New Roman"/>
              </a:rPr>
              <a:t>innovation </a:t>
            </a:r>
            <a:r>
              <a:rPr sz="2650" spc="-10" dirty="0">
                <a:latin typeface="Times New Roman"/>
                <a:cs typeface="Times New Roman"/>
              </a:rPr>
              <a:t>accelerating </a:t>
            </a:r>
            <a:r>
              <a:rPr sz="2650" spc="-5" dirty="0">
                <a:latin typeface="Times New Roman"/>
                <a:cs typeface="Times New Roman"/>
              </a:rPr>
              <a:t>or </a:t>
            </a:r>
            <a:r>
              <a:rPr sz="2650" spc="-10" dirty="0">
                <a:latin typeface="Times New Roman"/>
                <a:cs typeface="Times New Roman"/>
              </a:rPr>
              <a:t>declining? </a:t>
            </a:r>
            <a:r>
              <a:rPr sz="2650" spc="-5" dirty="0">
                <a:latin typeface="Times New Roman"/>
                <a:cs typeface="Times New Roman"/>
              </a:rPr>
              <a:t>Are input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costs </a:t>
            </a:r>
            <a:r>
              <a:rPr sz="2650" spc="-5" dirty="0">
                <a:latin typeface="Times New Roman"/>
                <a:cs typeface="Times New Roman"/>
              </a:rPr>
              <a:t>going up or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down?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70687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7098" y="580097"/>
            <a:ext cx="7346950" cy="971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spc="-5" dirty="0"/>
              <a:t>Five</a:t>
            </a:r>
            <a:r>
              <a:rPr spc="-25" dirty="0"/>
              <a:t> </a:t>
            </a:r>
            <a:r>
              <a:rPr spc="5" dirty="0"/>
              <a:t>Competitive</a:t>
            </a:r>
            <a:r>
              <a:rPr spc="-25" dirty="0"/>
              <a:t> </a:t>
            </a:r>
            <a:r>
              <a:rPr spc="-5" dirty="0"/>
              <a:t>Forces</a:t>
            </a:r>
            <a:r>
              <a:rPr spc="35" dirty="0"/>
              <a:t> </a:t>
            </a:r>
            <a:r>
              <a:rPr dirty="0"/>
              <a:t>Model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590865" y="1886766"/>
            <a:ext cx="8819515" cy="324866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Explanation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25" dirty="0">
                <a:latin typeface="Times New Roman"/>
                <a:cs typeface="Times New Roman"/>
              </a:rPr>
              <a:t>of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Five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Forces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Model</a:t>
            </a:r>
            <a:endParaRPr sz="3050" dirty="0">
              <a:latin typeface="Times New Roman"/>
              <a:cs typeface="Times New Roman"/>
            </a:endParaRPr>
          </a:p>
          <a:p>
            <a:pPr marL="829310" marR="804545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five </a:t>
            </a:r>
            <a:r>
              <a:rPr sz="2650" spc="-5" dirty="0">
                <a:latin typeface="Times New Roman"/>
                <a:cs typeface="Times New Roman"/>
              </a:rPr>
              <a:t>competitive </a:t>
            </a:r>
            <a:r>
              <a:rPr sz="2650" spc="-10" dirty="0">
                <a:latin typeface="Times New Roman"/>
                <a:cs typeface="Times New Roman"/>
              </a:rPr>
              <a:t>forces model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framework for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understanding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structure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an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industry.</a:t>
            </a:r>
            <a:endParaRPr sz="2650" dirty="0">
              <a:latin typeface="Times New Roman"/>
              <a:cs typeface="Times New Roman"/>
            </a:endParaRPr>
          </a:p>
          <a:p>
            <a:pPr marL="829310" marR="102235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model </a:t>
            </a:r>
            <a:r>
              <a:rPr sz="2650" spc="-5" dirty="0">
                <a:latin typeface="Times New Roman"/>
                <a:cs typeface="Times New Roman"/>
              </a:rPr>
              <a:t>is composed of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forces </a:t>
            </a:r>
            <a:r>
              <a:rPr sz="2650" spc="-10" dirty="0">
                <a:latin typeface="Times New Roman"/>
                <a:cs typeface="Times New Roman"/>
              </a:rPr>
              <a:t>that </a:t>
            </a:r>
            <a:r>
              <a:rPr sz="2650" spc="-5" dirty="0">
                <a:latin typeface="Times New Roman"/>
                <a:cs typeface="Times New Roman"/>
              </a:rPr>
              <a:t>determine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</a:t>
            </a:r>
            <a:r>
              <a:rPr sz="2650" spc="-10" dirty="0">
                <a:latin typeface="Times New Roman"/>
                <a:cs typeface="Times New Roman"/>
              </a:rPr>
              <a:t> profitability.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T</a:t>
            </a:r>
            <a:r>
              <a:rPr lang="en-US" sz="2650" spc="-15" dirty="0">
                <a:latin typeface="Times New Roman"/>
                <a:cs typeface="Times New Roman"/>
              </a:rPr>
              <a:t>hese forces </a:t>
            </a:r>
            <a:r>
              <a:rPr sz="2650" spc="-10" dirty="0">
                <a:latin typeface="Times New Roman"/>
                <a:cs typeface="Times New Roman"/>
              </a:rPr>
              <a:t>determine</a:t>
            </a:r>
            <a:r>
              <a:rPr sz="2650" spc="-15" dirty="0">
                <a:latin typeface="Times New Roman"/>
                <a:cs typeface="Times New Roman"/>
              </a:rPr>
              <a:t> the </a:t>
            </a:r>
            <a:r>
              <a:rPr sz="2650" spc="-5" dirty="0">
                <a:latin typeface="Times New Roman"/>
                <a:cs typeface="Times New Roman"/>
              </a:rPr>
              <a:t>average</a:t>
            </a:r>
            <a:r>
              <a:rPr sz="2650" spc="-10" dirty="0">
                <a:latin typeface="Times New Roman"/>
                <a:cs typeface="Times New Roman"/>
              </a:rPr>
              <a:t> rate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return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lang="en-US" sz="2650" spc="-5" dirty="0">
                <a:latin typeface="Times New Roman"/>
                <a:cs typeface="Times New Roman"/>
              </a:rPr>
              <a:t>competing in a particular industry</a:t>
            </a:r>
            <a:r>
              <a:rPr sz="2650" spc="-5" dirty="0">
                <a:latin typeface="Times New Roman"/>
                <a:cs typeface="Times New Roman"/>
              </a:rPr>
              <a:t>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70687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3114" y="663836"/>
            <a:ext cx="7346950" cy="971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spc="-5" dirty="0"/>
              <a:t>Five</a:t>
            </a:r>
            <a:r>
              <a:rPr spc="-25" dirty="0"/>
              <a:t> </a:t>
            </a:r>
            <a:r>
              <a:rPr spc="5" dirty="0"/>
              <a:t>Competitive</a:t>
            </a:r>
            <a:r>
              <a:rPr spc="-25" dirty="0"/>
              <a:t> </a:t>
            </a:r>
            <a:r>
              <a:rPr spc="-5" dirty="0"/>
              <a:t>Forces</a:t>
            </a:r>
            <a:r>
              <a:rPr spc="35" dirty="0"/>
              <a:t> </a:t>
            </a:r>
            <a:r>
              <a:rPr dirty="0"/>
              <a:t>Model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86766"/>
            <a:ext cx="8849995" cy="3201646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Explanation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25" dirty="0">
                <a:latin typeface="Times New Roman"/>
                <a:cs typeface="Times New Roman"/>
              </a:rPr>
              <a:t>of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Five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Forces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Model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(continued)</a:t>
            </a:r>
            <a:endParaRPr sz="3050" dirty="0">
              <a:latin typeface="Times New Roman"/>
              <a:cs typeface="Times New Roman"/>
            </a:endParaRPr>
          </a:p>
          <a:p>
            <a:pPr marL="829310" marR="380365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Each </a:t>
            </a:r>
            <a:r>
              <a:rPr sz="2650" spc="-5" dirty="0">
                <a:latin typeface="Times New Roman"/>
                <a:cs typeface="Times New Roman"/>
              </a:rPr>
              <a:t>of the </a:t>
            </a:r>
            <a:r>
              <a:rPr sz="2650" spc="-10" dirty="0">
                <a:latin typeface="Times New Roman"/>
                <a:cs typeface="Times New Roman"/>
              </a:rPr>
              <a:t>five-forces </a:t>
            </a:r>
            <a:r>
              <a:rPr sz="2650" spc="-5" dirty="0">
                <a:latin typeface="Times New Roman"/>
                <a:cs typeface="Times New Roman"/>
              </a:rPr>
              <a:t>impacts the </a:t>
            </a:r>
            <a:r>
              <a:rPr sz="2650" spc="-10" dirty="0">
                <a:latin typeface="Times New Roman"/>
                <a:cs typeface="Times New Roman"/>
              </a:rPr>
              <a:t>average rate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10" dirty="0">
                <a:latin typeface="Times New Roman"/>
                <a:cs typeface="Times New Roman"/>
              </a:rPr>
              <a:t>return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firms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in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 by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applying </a:t>
            </a:r>
            <a:r>
              <a:rPr sz="2650" spc="-10" dirty="0">
                <a:latin typeface="Times New Roman"/>
                <a:cs typeface="Times New Roman"/>
              </a:rPr>
              <a:t>pressure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</a:t>
            </a:r>
            <a:r>
              <a:rPr sz="2650" spc="-10" dirty="0">
                <a:latin typeface="Times New Roman"/>
                <a:cs typeface="Times New Roman"/>
              </a:rPr>
              <a:t> profitability.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 algn="just">
              <a:lnSpc>
                <a:spcPts val="3170"/>
              </a:lnSpc>
              <a:spcBef>
                <a:spcPts val="625"/>
              </a:spcBef>
              <a:buChar char="–"/>
              <a:tabLst>
                <a:tab pos="831215" algn="l"/>
              </a:tabLst>
            </a:pPr>
            <a:r>
              <a:rPr lang="en-US" sz="2650" spc="-15" dirty="0">
                <a:latin typeface="Times New Roman"/>
                <a:cs typeface="Times New Roman"/>
              </a:rPr>
              <a:t>Well-managed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 try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spc="-5" dirty="0">
                <a:latin typeface="Times New Roman"/>
                <a:cs typeface="Times New Roman"/>
              </a:rPr>
              <a:t>position their </a:t>
            </a:r>
            <a:r>
              <a:rPr sz="2650" spc="-10" dirty="0">
                <a:latin typeface="Times New Roman"/>
                <a:cs typeface="Times New Roman"/>
              </a:rPr>
              <a:t>firms </a:t>
            </a:r>
            <a:r>
              <a:rPr sz="2650" spc="-20" dirty="0">
                <a:latin typeface="Times New Roman"/>
                <a:cs typeface="Times New Roman"/>
              </a:rPr>
              <a:t>in </a:t>
            </a:r>
            <a:r>
              <a:rPr sz="2650" spc="-5" dirty="0">
                <a:latin typeface="Times New Roman"/>
                <a:cs typeface="Times New Roman"/>
              </a:rPr>
              <a:t>a way </a:t>
            </a:r>
            <a:r>
              <a:rPr sz="2650" dirty="0">
                <a:latin typeface="Times New Roman"/>
                <a:cs typeface="Times New Roman"/>
              </a:rPr>
              <a:t>that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avoids</a:t>
            </a:r>
            <a:r>
              <a:rPr sz="2650" spc="-5" dirty="0">
                <a:latin typeface="Times New Roman"/>
                <a:cs typeface="Times New Roman"/>
              </a:rPr>
              <a:t> or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diminishes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these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forces—in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 </a:t>
            </a:r>
            <a:r>
              <a:rPr sz="2650" spc="-10" dirty="0">
                <a:latin typeface="Times New Roman"/>
                <a:cs typeface="Times New Roman"/>
              </a:rPr>
              <a:t>attempt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beat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average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rate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return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</a:t>
            </a:r>
            <a:r>
              <a:rPr lang="en-US" sz="2650" spc="-15" dirty="0">
                <a:latin typeface="Times New Roman"/>
                <a:cs typeface="Times New Roman"/>
              </a:rPr>
              <a:t>or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87452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7098" y="663836"/>
            <a:ext cx="7346950" cy="971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spc="-5" dirty="0"/>
              <a:t>Five</a:t>
            </a:r>
            <a:r>
              <a:rPr lang="en-US" spc="-25" dirty="0"/>
              <a:t> </a:t>
            </a:r>
            <a:r>
              <a:rPr lang="en-US" spc="5" dirty="0"/>
              <a:t>Competitive</a:t>
            </a:r>
            <a:r>
              <a:rPr spc="-25" dirty="0"/>
              <a:t> </a:t>
            </a:r>
            <a:r>
              <a:rPr spc="-5" dirty="0"/>
              <a:t>Forces</a:t>
            </a:r>
            <a:r>
              <a:rPr spc="35" dirty="0"/>
              <a:t> </a:t>
            </a:r>
            <a:r>
              <a:rPr dirty="0"/>
              <a:t>Model</a:t>
            </a:r>
          </a:p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2200" spc="-5" dirty="0"/>
              <a:t>3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 dirty="0"/>
          </a:p>
        </p:txBody>
      </p:sp>
      <p:sp>
        <p:nvSpPr>
          <p:cNvPr id="3" name="object 3"/>
          <p:cNvSpPr/>
          <p:nvPr/>
        </p:nvSpPr>
        <p:spPr>
          <a:xfrm>
            <a:off x="0" y="187452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39" y="2125979"/>
            <a:ext cx="7879079" cy="48539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20" dirty="0"/>
              <a:t> </a:t>
            </a:r>
            <a:r>
              <a:rPr dirty="0"/>
              <a:t>of Substitutes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34755" cy="409932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Threat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Substitutes</a:t>
            </a:r>
            <a:endParaRPr sz="3050" dirty="0">
              <a:latin typeface="Times New Roman"/>
              <a:cs typeface="Times New Roman"/>
            </a:endParaRPr>
          </a:p>
          <a:p>
            <a:pPr marL="829310" marR="37211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price that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consumers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</a:t>
            </a:r>
            <a:r>
              <a:rPr sz="2650" spc="-10" dirty="0">
                <a:latin typeface="Times New Roman"/>
                <a:cs typeface="Times New Roman"/>
              </a:rPr>
              <a:t> willing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pay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0" dirty="0">
                <a:latin typeface="Times New Roman"/>
                <a:cs typeface="Times New Roman"/>
              </a:rPr>
              <a:t> product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depends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in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part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availability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substitute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products.</a:t>
            </a:r>
            <a:endParaRPr sz="2650" dirty="0">
              <a:latin typeface="Times New Roman"/>
              <a:cs typeface="Times New Roman"/>
            </a:endParaRPr>
          </a:p>
          <a:p>
            <a:pPr marL="829310" marR="65659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For </a:t>
            </a:r>
            <a:r>
              <a:rPr sz="2650" spc="-10" dirty="0">
                <a:latin typeface="Times New Roman"/>
                <a:cs typeface="Times New Roman"/>
              </a:rPr>
              <a:t>example, there </a:t>
            </a:r>
            <a:r>
              <a:rPr sz="2650" spc="-5" dirty="0">
                <a:latin typeface="Times New Roman"/>
                <a:cs typeface="Times New Roman"/>
              </a:rPr>
              <a:t>are few if </a:t>
            </a:r>
            <a:r>
              <a:rPr sz="2650" dirty="0">
                <a:latin typeface="Times New Roman"/>
                <a:cs typeface="Times New Roman"/>
              </a:rPr>
              <a:t>any </a:t>
            </a:r>
            <a:r>
              <a:rPr sz="2650" spc="-5" dirty="0">
                <a:latin typeface="Times New Roman"/>
                <a:cs typeface="Times New Roman"/>
              </a:rPr>
              <a:t>substitutes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prescription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medicines,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which </a:t>
            </a:r>
            <a:r>
              <a:rPr sz="2650" spc="-5" dirty="0">
                <a:latin typeface="Times New Roman"/>
                <a:cs typeface="Times New Roman"/>
              </a:rPr>
              <a:t>is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reasons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pharmaceutical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industry</a:t>
            </a:r>
            <a:r>
              <a:rPr sz="2650" spc="-5" dirty="0">
                <a:latin typeface="Times New Roman"/>
                <a:cs typeface="Times New Roman"/>
              </a:rPr>
              <a:t> is so </a:t>
            </a:r>
            <a:r>
              <a:rPr sz="2650" spc="-10" dirty="0">
                <a:latin typeface="Times New Roman"/>
                <a:cs typeface="Times New Roman"/>
              </a:rPr>
              <a:t>profitable.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 </a:t>
            </a:r>
            <a:r>
              <a:rPr sz="2650" spc="-5" dirty="0">
                <a:latin typeface="Times New Roman"/>
                <a:cs typeface="Times New Roman"/>
              </a:rPr>
              <a:t>contrast, when </a:t>
            </a:r>
            <a:r>
              <a:rPr sz="2650" spc="-10" dirty="0">
                <a:latin typeface="Times New Roman"/>
                <a:cs typeface="Times New Roman"/>
              </a:rPr>
              <a:t>close </a:t>
            </a:r>
            <a:r>
              <a:rPr sz="2650" spc="-5" dirty="0">
                <a:latin typeface="Times New Roman"/>
                <a:cs typeface="Times New Roman"/>
              </a:rPr>
              <a:t>substitutes </a:t>
            </a:r>
            <a:r>
              <a:rPr sz="2650" spc="-10" dirty="0">
                <a:latin typeface="Times New Roman"/>
                <a:cs typeface="Times New Roman"/>
              </a:rPr>
              <a:t>for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product exist, </a:t>
            </a:r>
            <a:r>
              <a:rPr sz="2650" spc="-5" dirty="0">
                <a:latin typeface="Times New Roman"/>
                <a:cs typeface="Times New Roman"/>
              </a:rPr>
              <a:t> industry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profitability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suppressed,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because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consumers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will</a:t>
            </a:r>
            <a:r>
              <a:rPr lang="en-US"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opt out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price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gets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too</a:t>
            </a:r>
            <a:r>
              <a:rPr sz="2650" spc="-5" dirty="0">
                <a:latin typeface="Times New Roman"/>
                <a:cs typeface="Times New Roman"/>
              </a:rPr>
              <a:t> high.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20" dirty="0"/>
              <a:t> </a:t>
            </a:r>
            <a:r>
              <a:rPr dirty="0"/>
              <a:t>of Substitutes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87765" cy="3201646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Threat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Substitutes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(continued)</a:t>
            </a:r>
            <a:endParaRPr sz="30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extent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which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substitutes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suppress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0" dirty="0">
                <a:latin typeface="Times New Roman"/>
                <a:cs typeface="Times New Roman"/>
              </a:rPr>
              <a:t> profitability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industry depends on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propensity </a:t>
            </a:r>
            <a:r>
              <a:rPr lang="en-US" sz="2650" spc="-10" dirty="0">
                <a:latin typeface="Times New Roman"/>
                <a:cs typeface="Times New Roman"/>
              </a:rPr>
              <a:t>of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buyers to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substitute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between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alternatives.</a:t>
            </a:r>
            <a:endParaRPr sz="2650" dirty="0">
              <a:latin typeface="Times New Roman"/>
              <a:cs typeface="Times New Roman"/>
            </a:endParaRPr>
          </a:p>
          <a:p>
            <a:pPr marL="829310" marR="19685" lvl="1" indent="-314325" algn="just">
              <a:lnSpc>
                <a:spcPts val="3170"/>
              </a:lnSpc>
              <a:spcBef>
                <a:spcPts val="620"/>
              </a:spcBef>
              <a:buChar char="–"/>
              <a:tabLst>
                <a:tab pos="831215" algn="l"/>
              </a:tabLst>
            </a:pPr>
            <a:r>
              <a:rPr sz="2650" spc="-15" dirty="0">
                <a:latin typeface="Times New Roman"/>
                <a:cs typeface="Times New Roman"/>
              </a:rPr>
              <a:t>This </a:t>
            </a:r>
            <a:r>
              <a:rPr sz="2650" spc="-5" dirty="0">
                <a:latin typeface="Times New Roman"/>
                <a:cs typeface="Times New Roman"/>
              </a:rPr>
              <a:t>is </a:t>
            </a:r>
            <a:r>
              <a:rPr sz="2650" spc="-10" dirty="0">
                <a:latin typeface="Times New Roman"/>
                <a:cs typeface="Times New Roman"/>
              </a:rPr>
              <a:t>why firms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10" dirty="0">
                <a:latin typeface="Times New Roman"/>
                <a:cs typeface="Times New Roman"/>
              </a:rPr>
              <a:t>often </a:t>
            </a:r>
            <a:r>
              <a:rPr sz="2650" spc="-5" dirty="0">
                <a:latin typeface="Times New Roman"/>
                <a:cs typeface="Times New Roman"/>
              </a:rPr>
              <a:t>offer their customers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amenities to </a:t>
            </a:r>
            <a:r>
              <a:rPr sz="2650" spc="-10" dirty="0">
                <a:latin typeface="Times New Roman"/>
                <a:cs typeface="Times New Roman"/>
              </a:rPr>
              <a:t>reduce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likelihood that </a:t>
            </a:r>
            <a:r>
              <a:rPr sz="2650" dirty="0">
                <a:latin typeface="Times New Roman"/>
                <a:cs typeface="Times New Roman"/>
              </a:rPr>
              <a:t>they </a:t>
            </a:r>
            <a:r>
              <a:rPr sz="2650" spc="-5" dirty="0">
                <a:latin typeface="Times New Roman"/>
                <a:cs typeface="Times New Roman"/>
              </a:rPr>
              <a:t>will </a:t>
            </a:r>
            <a:r>
              <a:rPr sz="2650" spc="-10" dirty="0">
                <a:latin typeface="Times New Roman"/>
                <a:cs typeface="Times New Roman"/>
              </a:rPr>
              <a:t>switch </a:t>
            </a:r>
            <a:r>
              <a:rPr sz="2650" spc="-5" dirty="0">
                <a:latin typeface="Times New Roman"/>
                <a:cs typeface="Times New Roman"/>
              </a:rPr>
              <a:t>to a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substitute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product,</a:t>
            </a:r>
            <a:r>
              <a:rPr sz="2650" spc="-5" dirty="0">
                <a:latin typeface="Times New Roman"/>
                <a:cs typeface="Times New Roman"/>
              </a:rPr>
              <a:t> even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light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price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increase.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20" dirty="0"/>
              <a:t> </a:t>
            </a:r>
            <a:r>
              <a:rPr dirty="0"/>
              <a:t>of Substitutes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3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2461260"/>
            <a:ext cx="5035295" cy="30175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52305" y="1783963"/>
            <a:ext cx="4290695" cy="494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365760" indent="-167640">
              <a:lnSpc>
                <a:spcPct val="110600"/>
              </a:lnSpc>
              <a:spcBef>
                <a:spcPts val="100"/>
              </a:spcBef>
              <a:buFont typeface="Arial MT"/>
              <a:buChar char="•"/>
              <a:tabLst>
                <a:tab pos="195580" algn="l"/>
              </a:tabLst>
            </a:pPr>
            <a:r>
              <a:rPr sz="2650" spc="-10" dirty="0">
                <a:latin typeface="Times New Roman"/>
                <a:cs typeface="Times New Roman"/>
              </a:rPr>
              <a:t>A</a:t>
            </a:r>
            <a:r>
              <a:rPr sz="2650" spc="-15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customer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could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easily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get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cup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20" dirty="0">
                <a:latin typeface="Times New Roman"/>
                <a:cs typeface="Times New Roman"/>
              </a:rPr>
              <a:t> coffee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cheaper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at</a:t>
            </a:r>
            <a:endParaRPr sz="265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  <a:spcBef>
                <a:spcPts val="350"/>
              </a:spcBef>
            </a:pPr>
            <a:r>
              <a:rPr sz="2650" spc="-5" dirty="0">
                <a:latin typeface="Times New Roman"/>
                <a:cs typeface="Times New Roman"/>
              </a:rPr>
              <a:t>one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Starbuck’s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competitors.</a:t>
            </a:r>
            <a:endParaRPr sz="2650">
              <a:latin typeface="Times New Roman"/>
              <a:cs typeface="Times New Roman"/>
            </a:endParaRPr>
          </a:p>
          <a:p>
            <a:pPr marL="180340" marR="194310" indent="-167640">
              <a:lnSpc>
                <a:spcPts val="3520"/>
              </a:lnSpc>
              <a:spcBef>
                <a:spcPts val="165"/>
              </a:spcBef>
              <a:buFont typeface="Arial MT"/>
              <a:buChar char="•"/>
              <a:tabLst>
                <a:tab pos="208279" algn="l"/>
              </a:tabLst>
            </a:pPr>
            <a:r>
              <a:rPr dirty="0"/>
              <a:t>	</a:t>
            </a:r>
            <a:r>
              <a:rPr sz="2650" spc="-105" dirty="0">
                <a:latin typeface="Times New Roman"/>
                <a:cs typeface="Times New Roman"/>
              </a:rPr>
              <a:t>To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decrease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the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likelihood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this,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Starbucks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offers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high-</a:t>
            </a:r>
            <a:endParaRPr sz="2650">
              <a:latin typeface="Times New Roman"/>
              <a:cs typeface="Times New Roman"/>
            </a:endParaRPr>
          </a:p>
          <a:p>
            <a:pPr marL="180340" marR="665480">
              <a:lnSpc>
                <a:spcPts val="3520"/>
              </a:lnSpc>
              <a:spcBef>
                <a:spcPts val="5"/>
              </a:spcBef>
            </a:pPr>
            <a:r>
              <a:rPr sz="2650" spc="-5" dirty="0">
                <a:latin typeface="Times New Roman"/>
                <a:cs typeface="Times New Roman"/>
              </a:rPr>
              <a:t>quality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fresh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coffee,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good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service,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a pleasant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atmosphere.</a:t>
            </a:r>
            <a:endParaRPr sz="2650">
              <a:latin typeface="Times New Roman"/>
              <a:cs typeface="Times New Roman"/>
            </a:endParaRPr>
          </a:p>
          <a:p>
            <a:pPr marL="180340" marR="922019" indent="-167640">
              <a:lnSpc>
                <a:spcPts val="3520"/>
              </a:lnSpc>
              <a:buFont typeface="Arial MT"/>
              <a:buChar char="•"/>
              <a:tabLst>
                <a:tab pos="213995" algn="l"/>
              </a:tabLst>
            </a:pPr>
            <a:r>
              <a:rPr dirty="0"/>
              <a:t>	</a:t>
            </a:r>
            <a:r>
              <a:rPr sz="2650" spc="-10" dirty="0">
                <a:latin typeface="Times New Roman"/>
                <a:cs typeface="Times New Roman"/>
              </a:rPr>
              <a:t>Starbucks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has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therefore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reduced the threat of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substitutes.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1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5" dirty="0"/>
              <a:t>New</a:t>
            </a:r>
            <a:r>
              <a:rPr spc="-35" dirty="0"/>
              <a:t> </a:t>
            </a:r>
            <a:r>
              <a:rPr spc="5" dirty="0"/>
              <a:t>Entrants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6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60790" cy="4440318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Threat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New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Entrants</a:t>
            </a:r>
            <a:endParaRPr sz="3050" dirty="0">
              <a:latin typeface="Times New Roman"/>
              <a:cs typeface="Times New Roman"/>
            </a:endParaRPr>
          </a:p>
          <a:p>
            <a:pPr marL="829310" marR="1524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0" dirty="0">
                <a:latin typeface="Times New Roman"/>
                <a:cs typeface="Times New Roman"/>
              </a:rPr>
              <a:t> firms</a:t>
            </a:r>
            <a:r>
              <a:rPr sz="2650" spc="-5" dirty="0">
                <a:latin typeface="Times New Roman"/>
                <a:cs typeface="Times New Roman"/>
              </a:rPr>
              <a:t> in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an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15" dirty="0">
                <a:latin typeface="Times New Roman"/>
                <a:cs typeface="Times New Roman"/>
              </a:rPr>
              <a:t>are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highly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profitable,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the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industry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becomes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magnet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spc="-5" dirty="0">
                <a:latin typeface="Times New Roman"/>
                <a:cs typeface="Times New Roman"/>
              </a:rPr>
              <a:t> new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entrants.</a:t>
            </a:r>
            <a:endParaRPr sz="2650" dirty="0">
              <a:latin typeface="Times New Roman"/>
              <a:cs typeface="Times New Roman"/>
            </a:endParaRPr>
          </a:p>
          <a:p>
            <a:pPr marL="829310" marR="635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Unless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something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</a:t>
            </a:r>
            <a:r>
              <a:rPr sz="2650" spc="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done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stop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this,</a:t>
            </a:r>
            <a:r>
              <a:rPr sz="2650" spc="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competition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 industry </a:t>
            </a:r>
            <a:r>
              <a:rPr sz="2650" spc="-15" dirty="0">
                <a:latin typeface="Times New Roman"/>
                <a:cs typeface="Times New Roman"/>
              </a:rPr>
              <a:t>will </a:t>
            </a:r>
            <a:r>
              <a:rPr sz="2650" spc="-5" dirty="0">
                <a:latin typeface="Times New Roman"/>
                <a:cs typeface="Times New Roman"/>
              </a:rPr>
              <a:t>increase,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average industry </a:t>
            </a:r>
            <a:r>
              <a:rPr sz="2650" spc="-10" dirty="0">
                <a:latin typeface="Times New Roman"/>
                <a:cs typeface="Times New Roman"/>
              </a:rPr>
              <a:t>profitability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will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decline.</a:t>
            </a:r>
            <a:endParaRPr sz="2650" dirty="0">
              <a:latin typeface="Times New Roman"/>
              <a:cs typeface="Times New Roman"/>
            </a:endParaRPr>
          </a:p>
          <a:p>
            <a:pPr marL="829310" marR="48895" lvl="1" indent="-314325">
              <a:lnSpc>
                <a:spcPts val="3170"/>
              </a:lnSpc>
              <a:spcBef>
                <a:spcPts val="63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Firms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10" dirty="0">
                <a:latin typeface="Times New Roman"/>
                <a:cs typeface="Times New Roman"/>
              </a:rPr>
              <a:t>industry try </a:t>
            </a:r>
            <a:r>
              <a:rPr sz="2650" spc="-5" dirty="0">
                <a:latin typeface="Times New Roman"/>
                <a:cs typeface="Times New Roman"/>
              </a:rPr>
              <a:t>to keep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number of new entrants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low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by </a:t>
            </a:r>
            <a:r>
              <a:rPr sz="2650" spc="-10" dirty="0">
                <a:latin typeface="Times New Roman"/>
                <a:cs typeface="Times New Roman"/>
              </a:rPr>
              <a:t>erecting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barriers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entry.</a:t>
            </a:r>
            <a:endParaRPr sz="2650" dirty="0">
              <a:latin typeface="Times New Roman"/>
              <a:cs typeface="Times New Roman"/>
            </a:endParaRPr>
          </a:p>
          <a:p>
            <a:pPr marL="1269365" marR="5080" lvl="2" indent="-252095">
              <a:lnSpc>
                <a:spcPct val="100000"/>
              </a:lnSpc>
              <a:spcBef>
                <a:spcPts val="42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spc="-5" dirty="0">
                <a:latin typeface="Times New Roman"/>
                <a:cs typeface="Times New Roman"/>
              </a:rPr>
              <a:t>A barrier to entry is condition </a:t>
            </a:r>
            <a:r>
              <a:rPr sz="2200" dirty="0">
                <a:latin typeface="Times New Roman"/>
                <a:cs typeface="Times New Roman"/>
              </a:rPr>
              <a:t>that </a:t>
            </a:r>
            <a:r>
              <a:rPr sz="2200" spc="-5" dirty="0">
                <a:latin typeface="Times New Roman"/>
                <a:cs typeface="Times New Roman"/>
              </a:rPr>
              <a:t>creates a disincentive </a:t>
            </a:r>
            <a:r>
              <a:rPr lang="en-US" sz="2200" spc="-5" dirty="0">
                <a:latin typeface="Times New Roman"/>
                <a:cs typeface="Times New Roman"/>
              </a:rPr>
              <a:t>way </a:t>
            </a:r>
            <a:r>
              <a:rPr sz="2200" dirty="0">
                <a:latin typeface="Times New Roman"/>
                <a:cs typeface="Times New Roman"/>
              </a:rPr>
              <a:t>for </a:t>
            </a:r>
            <a:r>
              <a:rPr sz="2200" spc="-5" dirty="0">
                <a:latin typeface="Times New Roman"/>
                <a:cs typeface="Times New Roman"/>
              </a:rPr>
              <a:t>a </a:t>
            </a:r>
            <a:r>
              <a:rPr sz="2200" spc="-10" dirty="0">
                <a:latin typeface="Times New Roman"/>
                <a:cs typeface="Times New Roman"/>
              </a:rPr>
              <a:t>new</a:t>
            </a:r>
            <a:r>
              <a:rPr lang="en-US"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firm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enter</a:t>
            </a:r>
            <a:r>
              <a:rPr sz="2200" spc="-10" dirty="0">
                <a:latin typeface="Times New Roman"/>
                <a:cs typeface="Times New Roman"/>
              </a:rPr>
              <a:t> an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industry.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87" y="412376"/>
            <a:ext cx="47625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15" dirty="0"/>
              <a:t> </a:t>
            </a:r>
            <a:r>
              <a:rPr dirty="0"/>
              <a:t>of </a:t>
            </a:r>
            <a:r>
              <a:rPr spc="-5" dirty="0"/>
              <a:t>New</a:t>
            </a:r>
            <a:r>
              <a:rPr spc="-30" dirty="0"/>
              <a:t> </a:t>
            </a:r>
            <a:r>
              <a:rPr spc="5" dirty="0"/>
              <a:t>Entrants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24169" y="1023607"/>
            <a:ext cx="2275205" cy="105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77265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6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Barriers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Entry</a:t>
            </a:r>
            <a:endParaRPr sz="26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81405" y="2288286"/>
          <a:ext cx="8968740" cy="46939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39">
                <a:tc>
                  <a:txBody>
                    <a:bodyPr/>
                    <a:lstStyle/>
                    <a:p>
                      <a:pPr marR="405765" algn="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Entry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Explanation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  <a:p>
                      <a:pPr marR="43116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Economies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Scale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99390" marR="193675" algn="ctr">
                        <a:lnSpc>
                          <a:spcPct val="101600"/>
                        </a:lnSpc>
                        <a:spcBef>
                          <a:spcPts val="163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Industries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characterized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large economies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difficult for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firms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enter,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unless</a:t>
                      </a:r>
                      <a:r>
                        <a:rPr sz="19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they </a:t>
                      </a:r>
                      <a:r>
                        <a:rPr sz="1950" b="1" spc="-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willing 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accept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disadvantage.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609600" marR="600710" indent="342265">
                        <a:lnSpc>
                          <a:spcPct val="101600"/>
                        </a:lnSpc>
                        <a:spcBef>
                          <a:spcPts val="5"/>
                        </a:spcBef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Product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ff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50" b="1" spc="-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ia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ion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32080" marR="210185" indent="-2540" algn="ctr">
                        <a:lnSpc>
                          <a:spcPct val="101499"/>
                        </a:lnSpc>
                        <a:spcBef>
                          <a:spcPts val="98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Industries such as the soft drink industry that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characterized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firms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strong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brands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difficult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break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spending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heavily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advertising.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5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667385" marR="662305" indent="314960">
                        <a:lnSpc>
                          <a:spcPct val="101499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Capital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5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-3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eme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385445" marR="375285" indent="22225">
                        <a:lnSpc>
                          <a:spcPct val="101499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need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invest large amounts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money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gain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entrance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another</a:t>
                      </a:r>
                      <a:r>
                        <a:rPr sz="195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entry.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87" y="412376"/>
            <a:ext cx="47625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15" dirty="0"/>
              <a:t> </a:t>
            </a:r>
            <a:r>
              <a:rPr dirty="0"/>
              <a:t>of </a:t>
            </a:r>
            <a:r>
              <a:rPr spc="-5" dirty="0"/>
              <a:t>New</a:t>
            </a:r>
            <a:r>
              <a:rPr spc="-30" dirty="0"/>
              <a:t> </a:t>
            </a:r>
            <a:r>
              <a:rPr spc="5" dirty="0"/>
              <a:t>Entrants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08888" y="1023607"/>
            <a:ext cx="3905885" cy="105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105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3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6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Barriers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Entry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(continued)</a:t>
            </a:r>
            <a:endParaRPr sz="26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261717"/>
              </p:ext>
            </p:extLst>
          </p:nvPr>
        </p:nvGraphicFramePr>
        <p:xfrm>
          <a:off x="581405" y="2288286"/>
          <a:ext cx="8968740" cy="4960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39"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Entry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Explanation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72415" marR="432434" indent="146050">
                        <a:lnSpc>
                          <a:spcPct val="101499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advantages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size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35"/>
                        </a:lnSpc>
                      </a:pPr>
                      <a:endParaRPr lang="en-US" sz="1950" b="1" spc="10" dirty="0"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ts val="2035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950" b="1" spc="10" dirty="0">
                          <a:latin typeface="Times New Roman"/>
                          <a:cs typeface="Times New Roman"/>
                        </a:rPr>
                        <a:t>firms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advantages</a:t>
                      </a:r>
                      <a:r>
                        <a:rPr sz="19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related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lang="en-US" sz="1950" b="0" spc="0" dirty="0">
                          <a:latin typeface="Times New Roman"/>
                          <a:cs typeface="Times New Roman"/>
                        </a:rPr>
                        <a:t> 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iz</a:t>
                      </a:r>
                      <a:r>
                        <a:rPr lang="en-US" sz="1950" b="1" spc="5" dirty="0">
                          <a:latin typeface="Times New Roman"/>
                          <a:cs typeface="Times New Roman"/>
                        </a:rPr>
                        <a:t>e that are not available to new entrants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example, the existing firms in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</a:t>
                      </a:r>
                      <a:r>
                        <a:rPr lang="en-US"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purchased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land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less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expensive</a:t>
                      </a:r>
                      <a:r>
                        <a:rPr lang="en-US"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today.</a:t>
                      </a:r>
                      <a:endParaRPr lang="en-US" sz="1950" b="1" spc="-5" dirty="0">
                        <a:latin typeface="Times New Roman"/>
                        <a:cs typeface="Times New Roman"/>
                      </a:endParaRPr>
                    </a:p>
                    <a:p>
                      <a:pPr algn="just">
                        <a:lnSpc>
                          <a:spcPts val="2035"/>
                        </a:lnSpc>
                      </a:pP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912494" marR="217170" indent="-692150">
                        <a:lnSpc>
                          <a:spcPct val="101499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sz="1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distribution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channels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33045" marR="228600" algn="just">
                        <a:lnSpc>
                          <a:spcPct val="101499"/>
                        </a:lnSpc>
                        <a:spcBef>
                          <a:spcPts val="98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Distribution channels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often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hard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crack.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lang="en-US"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particularly true in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crowded markets,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such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lang="en-US"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convenience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store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market.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5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575945" marR="548005" indent="-190500">
                        <a:lnSpc>
                          <a:spcPct val="101600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Government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950" b="1" spc="-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legal</a:t>
                      </a:r>
                      <a:r>
                        <a:rPr sz="1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10185" indent="194945" algn="just">
                        <a:lnSpc>
                          <a:spcPct val="101600"/>
                        </a:lnSpc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Some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industries, such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broadcasting,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require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lang="en-US"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granting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license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authority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compete.</a:t>
                      </a:r>
                      <a:r>
                        <a:rPr lang="en-US" sz="1950" b="1" spc="10" dirty="0">
                          <a:latin typeface="Times New Roman"/>
                          <a:cs typeface="Times New Roman"/>
                        </a:rPr>
                        <a:t> In knowledge-intensive industries, such as biotechnology and software, patents, trademarks, and copyrights form major barriers to entry. 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1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5" dirty="0"/>
              <a:t>New</a:t>
            </a:r>
            <a:r>
              <a:rPr spc="-35" dirty="0"/>
              <a:t> </a:t>
            </a:r>
            <a:r>
              <a:rPr spc="5" dirty="0"/>
              <a:t>Entrants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4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6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677910" cy="356997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25" dirty="0">
                <a:latin typeface="Times New Roman"/>
                <a:cs typeface="Times New Roman"/>
              </a:rPr>
              <a:t>Non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Traditional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Barriers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Entry</a:t>
            </a:r>
            <a:endParaRPr sz="3050">
              <a:latin typeface="Times New Roman"/>
              <a:cs typeface="Times New Roman"/>
            </a:endParaRPr>
          </a:p>
          <a:p>
            <a:pPr marL="829310" marR="762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is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difficult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 </a:t>
            </a:r>
            <a:r>
              <a:rPr sz="2650" spc="-5" dirty="0">
                <a:latin typeface="Times New Roman"/>
                <a:cs typeface="Times New Roman"/>
              </a:rPr>
              <a:t>start-ups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execute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barriers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entry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 </a:t>
            </a:r>
            <a:r>
              <a:rPr sz="2650" spc="-5" dirty="0">
                <a:latin typeface="Times New Roman"/>
                <a:cs typeface="Times New Roman"/>
              </a:rPr>
              <a:t> are </a:t>
            </a:r>
            <a:r>
              <a:rPr sz="2650" spc="-10" dirty="0">
                <a:latin typeface="Times New Roman"/>
                <a:cs typeface="Times New Roman"/>
              </a:rPr>
              <a:t>expensive,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such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as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economies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scale,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because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money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usually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tight.</a:t>
            </a:r>
            <a:endParaRPr sz="26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Start-ups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have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rely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nontraditional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barriers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entry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discourage </a:t>
            </a:r>
            <a:r>
              <a:rPr sz="2650" spc="-15" dirty="0">
                <a:latin typeface="Times New Roman"/>
                <a:cs typeface="Times New Roman"/>
              </a:rPr>
              <a:t>new</a:t>
            </a:r>
            <a:r>
              <a:rPr sz="2650" spc="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entrants,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such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assembling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world-class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management team </a:t>
            </a:r>
            <a:r>
              <a:rPr sz="2650" spc="-10" dirty="0">
                <a:latin typeface="Times New Roman"/>
                <a:cs typeface="Times New Roman"/>
              </a:rPr>
              <a:t>that would </a:t>
            </a:r>
            <a:r>
              <a:rPr sz="2650" spc="-5" dirty="0">
                <a:latin typeface="Times New Roman"/>
                <a:cs typeface="Times New Roman"/>
              </a:rPr>
              <a:t>be </a:t>
            </a:r>
            <a:r>
              <a:rPr sz="2650" spc="-10" dirty="0">
                <a:latin typeface="Times New Roman"/>
                <a:cs typeface="Times New Roman"/>
              </a:rPr>
              <a:t>difficult for </a:t>
            </a:r>
            <a:r>
              <a:rPr sz="2650" spc="-5" dirty="0">
                <a:latin typeface="Times New Roman"/>
                <a:cs typeface="Times New Roman"/>
              </a:rPr>
              <a:t>another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company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replicate.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87" y="412376"/>
            <a:ext cx="47625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15" dirty="0"/>
              <a:t> </a:t>
            </a:r>
            <a:r>
              <a:rPr dirty="0"/>
              <a:t>of </a:t>
            </a:r>
            <a:r>
              <a:rPr spc="-5" dirty="0"/>
              <a:t>New</a:t>
            </a:r>
            <a:r>
              <a:rPr spc="-30" dirty="0"/>
              <a:t> </a:t>
            </a:r>
            <a:r>
              <a:rPr spc="5" dirty="0"/>
              <a:t>Entrants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06050" y="1023607"/>
            <a:ext cx="4314190" cy="105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5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6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Nontraditional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Barriers</a:t>
            </a:r>
            <a:r>
              <a:rPr sz="2650" spc="-5" dirty="0">
                <a:latin typeface="Times New Roman"/>
                <a:cs typeface="Times New Roman"/>
              </a:rPr>
              <a:t> to </a:t>
            </a:r>
            <a:r>
              <a:rPr sz="2650" spc="-10" dirty="0">
                <a:latin typeface="Times New Roman"/>
                <a:cs typeface="Times New Roman"/>
              </a:rPr>
              <a:t>Entry</a:t>
            </a:r>
            <a:endParaRPr sz="26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81405" y="2288286"/>
          <a:ext cx="8968740" cy="46939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39"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Entry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Explanation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393065" marR="387985" indent="386715">
                        <a:lnSpc>
                          <a:spcPct val="101600"/>
                        </a:lnSpc>
                        <a:spcBef>
                          <a:spcPts val="5"/>
                        </a:spcBef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Strength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management</a:t>
                      </a:r>
                      <a:r>
                        <a:rPr sz="195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team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57175" marR="248285" algn="ctr">
                        <a:lnSpc>
                          <a:spcPct val="101499"/>
                        </a:lnSpc>
                        <a:spcBef>
                          <a:spcPts val="98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start-up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puts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together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world-class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management </a:t>
                      </a:r>
                      <a:r>
                        <a:rPr sz="1950" b="1" spc="-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team,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give potential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rivals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pause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taking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start-up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chosen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industry.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828675" marR="728345" indent="-85725">
                        <a:lnSpc>
                          <a:spcPct val="101600"/>
                        </a:lnSpc>
                        <a:spcBef>
                          <a:spcPts val="5"/>
                        </a:spcBef>
                      </a:pP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ov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r 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advantage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59079" marR="253365" indent="-1270" algn="ctr">
                        <a:lnSpc>
                          <a:spcPct val="101499"/>
                        </a:lnSpc>
                        <a:spcBef>
                          <a:spcPts val="98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start-up pioneers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new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concept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within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industry,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name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recognition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start-up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establishes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create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entry.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2579">
                <a:tc>
                  <a:txBody>
                    <a:bodyPr/>
                    <a:lstStyle/>
                    <a:p>
                      <a:pPr marL="393065" marR="387985" indent="1270" algn="ctr">
                        <a:lnSpc>
                          <a:spcPct val="101600"/>
                        </a:lnSpc>
                        <a:spcBef>
                          <a:spcPts val="163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Passion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management</a:t>
                      </a:r>
                      <a:r>
                        <a:rPr sz="195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team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employees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00660" marR="276860" indent="635" algn="ctr">
                        <a:lnSpc>
                          <a:spcPct val="101499"/>
                        </a:lnSpc>
                        <a:spcBef>
                          <a:spcPts val="31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If the employees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start-up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motivated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unique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culture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start-up,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anticipate large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financial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reward,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this is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combination that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cannot be </a:t>
                      </a:r>
                      <a:r>
                        <a:rPr sz="1950" b="1" spc="-4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replicated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larger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firms.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787" y="412376"/>
            <a:ext cx="47625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Threat</a:t>
            </a:r>
            <a:r>
              <a:rPr spc="-15" dirty="0"/>
              <a:t> </a:t>
            </a:r>
            <a:r>
              <a:rPr dirty="0"/>
              <a:t>of </a:t>
            </a:r>
            <a:r>
              <a:rPr spc="-5" dirty="0"/>
              <a:t>New</a:t>
            </a:r>
            <a:r>
              <a:rPr spc="-30" dirty="0"/>
              <a:t> </a:t>
            </a:r>
            <a:r>
              <a:rPr spc="5" dirty="0"/>
              <a:t>Entrants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17317" y="1023607"/>
            <a:ext cx="5941060" cy="105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01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6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6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50" spc="-10" dirty="0">
                <a:latin typeface="Times New Roman"/>
                <a:cs typeface="Times New Roman"/>
              </a:rPr>
              <a:t>Nontraditional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Barriers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Entry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(continued)</a:t>
            </a:r>
            <a:endParaRPr sz="265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81405" y="2288286"/>
          <a:ext cx="8968740" cy="4610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2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739">
                <a:tc>
                  <a:txBody>
                    <a:bodyPr/>
                    <a:lstStyle/>
                    <a:p>
                      <a:pPr marL="58166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Entry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160655" algn="ctr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Explanation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8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96315" marR="534670" indent="-541020">
                        <a:lnSpc>
                          <a:spcPct val="101600"/>
                        </a:lnSpc>
                        <a:spcBef>
                          <a:spcPts val="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sz="195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Business </a:t>
                      </a:r>
                      <a:r>
                        <a:rPr sz="1950" b="1" spc="-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02565" marR="198755" indent="3810" algn="ctr">
                        <a:lnSpc>
                          <a:spcPct val="101499"/>
                        </a:lnSpc>
                        <a:spcBef>
                          <a:spcPts val="29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start-up is able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construct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unique business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establish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network of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relationships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makes the business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work, this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set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advantages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creates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entry.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1025525" marR="519430" indent="-584200">
                        <a:lnSpc>
                          <a:spcPct val="101600"/>
                        </a:lnSpc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Internet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Domain </a:t>
                      </a:r>
                      <a:r>
                        <a:rPr sz="1950" b="1" spc="-4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189865" marR="270510" indent="1905" algn="ctr">
                        <a:lnSpc>
                          <a:spcPct val="101600"/>
                        </a:lnSpc>
                        <a:spcBef>
                          <a:spcPts val="1635"/>
                        </a:spcBef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Some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Internet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domain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names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so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“spot-on” that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they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give 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start-up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meaningful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leg up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 terms of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e-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commerce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opportunities.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8759">
                <a:tc>
                  <a:txBody>
                    <a:bodyPr/>
                    <a:lstStyle/>
                    <a:p>
                      <a:pPr marL="522605" marR="517525" algn="ctr">
                        <a:lnSpc>
                          <a:spcPct val="101600"/>
                        </a:lnSpc>
                        <a:spcBef>
                          <a:spcPts val="163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Inventing</a:t>
                      </a:r>
                      <a:r>
                        <a:rPr sz="19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new </a:t>
                      </a:r>
                      <a:r>
                        <a:rPr sz="1950" b="1" spc="-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approach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an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07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211454" marR="290195" indent="-1270" algn="ctr">
                        <a:lnSpc>
                          <a:spcPct val="101499"/>
                        </a:lnSpc>
                        <a:spcBef>
                          <a:spcPts val="97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start-up invents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new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approach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an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executes it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exemplary fashion, these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factors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barrier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entry</a:t>
                      </a:r>
                      <a:r>
                        <a:rPr sz="19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potential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imitators.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1238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Rivalry</a:t>
            </a:r>
            <a:r>
              <a:rPr spc="-25" dirty="0"/>
              <a:t> </a:t>
            </a:r>
            <a:r>
              <a:rPr spc="5" dirty="0"/>
              <a:t>Among</a:t>
            </a:r>
            <a:r>
              <a:rPr spc="-25" dirty="0"/>
              <a:t> </a:t>
            </a:r>
            <a:r>
              <a:rPr spc="5" dirty="0"/>
              <a:t>Existing</a:t>
            </a:r>
            <a:r>
              <a:rPr spc="-60" dirty="0"/>
              <a:t> </a:t>
            </a:r>
            <a:r>
              <a:rPr spc="5" dirty="0"/>
              <a:t>Firms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48090" cy="405320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Rivalry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Among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Existing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Firms</a:t>
            </a:r>
            <a:endParaRPr sz="3050">
              <a:latin typeface="Times New Roman"/>
              <a:cs typeface="Times New Roman"/>
            </a:endParaRPr>
          </a:p>
          <a:p>
            <a:pPr marL="829310" marR="69469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 </a:t>
            </a:r>
            <a:r>
              <a:rPr sz="2650" spc="-5" dirty="0">
                <a:latin typeface="Times New Roman"/>
                <a:cs typeface="Times New Roman"/>
              </a:rPr>
              <a:t>most industries, the </a:t>
            </a:r>
            <a:r>
              <a:rPr sz="2650" spc="-10" dirty="0">
                <a:latin typeface="Times New Roman"/>
                <a:cs typeface="Times New Roman"/>
              </a:rPr>
              <a:t>major determinant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10" dirty="0">
                <a:latin typeface="Times New Roman"/>
                <a:cs typeface="Times New Roman"/>
              </a:rPr>
              <a:t>industry 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profitability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 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level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competition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among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existing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firms.</a:t>
            </a:r>
            <a:endParaRPr sz="26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Some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industries are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fiercely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competitive,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point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where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prices </a:t>
            </a:r>
            <a:r>
              <a:rPr sz="2650" spc="-15" dirty="0">
                <a:latin typeface="Times New Roman"/>
                <a:cs typeface="Times New Roman"/>
              </a:rPr>
              <a:t>are </a:t>
            </a:r>
            <a:r>
              <a:rPr sz="2650" spc="-5" dirty="0">
                <a:latin typeface="Times New Roman"/>
                <a:cs typeface="Times New Roman"/>
              </a:rPr>
              <a:t>pushed </a:t>
            </a:r>
            <a:r>
              <a:rPr sz="2650" spc="-10" dirty="0">
                <a:latin typeface="Times New Roman"/>
                <a:cs typeface="Times New Roman"/>
              </a:rPr>
              <a:t>below </a:t>
            </a:r>
            <a:r>
              <a:rPr sz="2650" spc="-5" dirty="0">
                <a:latin typeface="Times New Roman"/>
                <a:cs typeface="Times New Roman"/>
              </a:rPr>
              <a:t>the level of </a:t>
            </a:r>
            <a:r>
              <a:rPr sz="2650" spc="-10" dirty="0">
                <a:latin typeface="Times New Roman"/>
                <a:cs typeface="Times New Roman"/>
              </a:rPr>
              <a:t>costs, and </a:t>
            </a:r>
            <a:r>
              <a:rPr sz="2650" spc="-5" dirty="0">
                <a:latin typeface="Times New Roman"/>
                <a:cs typeface="Times New Roman"/>
              </a:rPr>
              <a:t>industry-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wide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losses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occur.</a:t>
            </a:r>
            <a:endParaRPr sz="2650">
              <a:latin typeface="Times New Roman"/>
              <a:cs typeface="Times New Roman"/>
            </a:endParaRPr>
          </a:p>
          <a:p>
            <a:pPr marL="829310" marR="485775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 other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industries,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competition</a:t>
            </a:r>
            <a:r>
              <a:rPr sz="2650" spc="-6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</a:t>
            </a:r>
            <a:r>
              <a:rPr sz="2650" spc="-10" dirty="0">
                <a:latin typeface="Times New Roman"/>
                <a:cs typeface="Times New Roman"/>
              </a:rPr>
              <a:t> much less </a:t>
            </a:r>
            <a:r>
              <a:rPr sz="2650" spc="-5" dirty="0">
                <a:latin typeface="Times New Roman"/>
                <a:cs typeface="Times New Roman"/>
              </a:rPr>
              <a:t>intense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price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competition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 </a:t>
            </a:r>
            <a:r>
              <a:rPr sz="2650" spc="-10" dirty="0">
                <a:latin typeface="Times New Roman"/>
                <a:cs typeface="Times New Roman"/>
              </a:rPr>
              <a:t>subdued.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2406" y="412376"/>
            <a:ext cx="62712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Rivalry</a:t>
            </a:r>
            <a:r>
              <a:rPr spc="-25" dirty="0"/>
              <a:t> </a:t>
            </a:r>
            <a:r>
              <a:rPr spc="5" dirty="0"/>
              <a:t>Among</a:t>
            </a:r>
            <a:r>
              <a:rPr spc="-25" dirty="0"/>
              <a:t> </a:t>
            </a:r>
            <a:r>
              <a:rPr spc="5" dirty="0"/>
              <a:t>Existing</a:t>
            </a:r>
            <a:r>
              <a:rPr spc="-60" dirty="0"/>
              <a:t> </a:t>
            </a:r>
            <a:r>
              <a:rPr spc="5" dirty="0"/>
              <a:t>Firms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10044" y="957836"/>
            <a:ext cx="7576184" cy="1874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83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867535" marR="5080" indent="-1855470" algn="ctr">
              <a:lnSpc>
                <a:spcPts val="3170"/>
              </a:lnSpc>
              <a:spcBef>
                <a:spcPts val="5"/>
              </a:spcBef>
            </a:pPr>
            <a:r>
              <a:rPr sz="2650" spc="-10" dirty="0">
                <a:latin typeface="Times New Roman"/>
                <a:cs typeface="Times New Roman"/>
              </a:rPr>
              <a:t>Factors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determine </a:t>
            </a:r>
            <a:r>
              <a:rPr sz="2650" spc="-15" dirty="0">
                <a:latin typeface="Times New Roman"/>
                <a:cs typeface="Times New Roman"/>
              </a:rPr>
              <a:t>the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lang="en-US" sz="2650" spc="10" dirty="0">
                <a:latin typeface="Times New Roman"/>
                <a:cs typeface="Times New Roman"/>
              </a:rPr>
              <a:t>nature and </a:t>
            </a:r>
            <a:r>
              <a:rPr sz="2650" spc="-10" dirty="0">
                <a:latin typeface="Times New Roman"/>
                <a:cs typeface="Times New Roman"/>
              </a:rPr>
              <a:t>intensity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</a:t>
            </a:r>
            <a:r>
              <a:rPr lang="en-US" sz="2650" spc="-5" dirty="0">
                <a:latin typeface="Times New Roman"/>
                <a:cs typeface="Times New Roman"/>
              </a:rPr>
              <a:t>e </a:t>
            </a:r>
            <a:r>
              <a:rPr sz="2650" spc="-10" dirty="0">
                <a:latin typeface="Times New Roman"/>
                <a:cs typeface="Times New Roman"/>
              </a:rPr>
              <a:t>rivalry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among</a:t>
            </a:r>
            <a:r>
              <a:rPr lang="en-US"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existing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firms</a:t>
            </a:r>
            <a:r>
              <a:rPr sz="2650" spc="-5" dirty="0">
                <a:latin typeface="Times New Roman"/>
                <a:cs typeface="Times New Roman"/>
              </a:rPr>
              <a:t> in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an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25" dirty="0">
                <a:latin typeface="Times New Roman"/>
                <a:cs typeface="Times New Roman"/>
              </a:rPr>
              <a:t>industry.</a:t>
            </a:r>
            <a:endParaRPr sz="265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564694"/>
              </p:ext>
            </p:extLst>
          </p:nvPr>
        </p:nvGraphicFramePr>
        <p:xfrm>
          <a:off x="919975" y="2921190"/>
          <a:ext cx="8130540" cy="4107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L="493395" marR="401955" algn="ctr">
                        <a:lnSpc>
                          <a:spcPct val="101499"/>
                        </a:lnSpc>
                        <a:spcBef>
                          <a:spcPts val="1750"/>
                        </a:spcBef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95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balance 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competitors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20345" marR="299085" algn="ctr">
                        <a:lnSpc>
                          <a:spcPct val="101499"/>
                        </a:lnSpc>
                        <a:spcBef>
                          <a:spcPts val="175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competitors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there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are,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likely it </a:t>
                      </a:r>
                      <a:r>
                        <a:rPr sz="1950" b="1" spc="-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is that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one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more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will try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gain customers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cutting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its price.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87325" marR="177165" indent="-3810" algn="ctr">
                        <a:lnSpc>
                          <a:spcPct val="101499"/>
                        </a:lnSpc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Degree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difference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between</a:t>
                      </a:r>
                      <a:r>
                        <a:rPr sz="195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products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100" dirty="0">
                        <a:latin typeface="Times New Roman"/>
                        <a:cs typeface="Times New Roman"/>
                      </a:endParaRPr>
                    </a:p>
                    <a:p>
                      <a:pPr marL="673100" marR="452755" indent="-131445">
                        <a:lnSpc>
                          <a:spcPct val="101600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degree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products differ from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one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another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affects</a:t>
                      </a:r>
                      <a:r>
                        <a:rPr sz="19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rivalry.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2406" y="412376"/>
            <a:ext cx="627126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Rivalry</a:t>
            </a:r>
            <a:r>
              <a:rPr spc="-25" dirty="0"/>
              <a:t> </a:t>
            </a:r>
            <a:r>
              <a:rPr spc="5" dirty="0"/>
              <a:t>Among</a:t>
            </a:r>
            <a:r>
              <a:rPr spc="-25" dirty="0"/>
              <a:t> </a:t>
            </a:r>
            <a:r>
              <a:rPr spc="5" dirty="0"/>
              <a:t>Existing</a:t>
            </a:r>
            <a:r>
              <a:rPr spc="-60" dirty="0"/>
              <a:t> </a:t>
            </a:r>
            <a:r>
              <a:rPr spc="5" dirty="0"/>
              <a:t>Firms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117" y="1023607"/>
            <a:ext cx="8719820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095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3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2866" y="2791205"/>
          <a:ext cx="8130540" cy="41071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7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718820" marR="116205" indent="-510540">
                        <a:lnSpc>
                          <a:spcPct val="101600"/>
                        </a:lnSpc>
                        <a:spcBef>
                          <a:spcPts val="5"/>
                        </a:spcBef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Growth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950" b="1" spc="-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336550" marR="497205" algn="ctr">
                        <a:lnSpc>
                          <a:spcPct val="101499"/>
                        </a:lnSpc>
                        <a:spcBef>
                          <a:spcPts val="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competition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among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firms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slow-growth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industry is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stronger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than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among those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 fast-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growth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industries.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871219" marR="398780" indent="-467995">
                        <a:lnSpc>
                          <a:spcPct val="101499"/>
                        </a:lnSpc>
                        <a:spcBef>
                          <a:spcPts val="175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fixed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costs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49554" marR="237490" algn="ctr">
                        <a:lnSpc>
                          <a:spcPct val="101600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Firms that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have high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fixed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costs must sell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higher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volume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their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product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reach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break-even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point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firms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costs.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Bargaining</a:t>
            </a:r>
            <a:r>
              <a:rPr spc="-20" dirty="0"/>
              <a:t> </a:t>
            </a:r>
            <a:r>
              <a:rPr spc="10" dirty="0"/>
              <a:t>Power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5" dirty="0"/>
              <a:t>Suppliers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42375" cy="405320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 algn="just">
              <a:lnSpc>
                <a:spcPct val="100000"/>
              </a:lnSpc>
              <a:spcBef>
                <a:spcPts val="885"/>
              </a:spcBef>
              <a:buChar char="•"/>
              <a:tabLst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Bargaining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Power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Suppliers</a:t>
            </a:r>
            <a:endParaRPr sz="3050">
              <a:latin typeface="Times New Roman"/>
              <a:cs typeface="Times New Roman"/>
            </a:endParaRPr>
          </a:p>
          <a:p>
            <a:pPr marL="829310" marR="187960" lvl="1" indent="-314325" algn="just">
              <a:lnSpc>
                <a:spcPts val="3170"/>
              </a:lnSpc>
              <a:spcBef>
                <a:spcPts val="750"/>
              </a:spcBef>
              <a:buChar char="–"/>
              <a:tabLst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Suppliers </a:t>
            </a:r>
            <a:r>
              <a:rPr sz="2650" spc="-5" dirty="0">
                <a:latin typeface="Times New Roman"/>
                <a:cs typeface="Times New Roman"/>
              </a:rPr>
              <a:t>can suppress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profitability of the industries to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which </a:t>
            </a:r>
            <a:r>
              <a:rPr sz="2650" spc="-10" dirty="0">
                <a:latin typeface="Times New Roman"/>
                <a:cs typeface="Times New Roman"/>
              </a:rPr>
              <a:t>they </a:t>
            </a:r>
            <a:r>
              <a:rPr sz="2650" dirty="0">
                <a:latin typeface="Times New Roman"/>
                <a:cs typeface="Times New Roman"/>
              </a:rPr>
              <a:t>sell </a:t>
            </a:r>
            <a:r>
              <a:rPr sz="2650" spc="-5" dirty="0">
                <a:latin typeface="Times New Roman"/>
                <a:cs typeface="Times New Roman"/>
              </a:rPr>
              <a:t>by </a:t>
            </a:r>
            <a:r>
              <a:rPr sz="2650" spc="-10" dirty="0">
                <a:latin typeface="Times New Roman"/>
                <a:cs typeface="Times New Roman"/>
              </a:rPr>
              <a:t>raising prices </a:t>
            </a:r>
            <a:r>
              <a:rPr sz="2650" spc="-5" dirty="0">
                <a:latin typeface="Times New Roman"/>
                <a:cs typeface="Times New Roman"/>
              </a:rPr>
              <a:t>or reducing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quality of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components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they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provide.</a:t>
            </a:r>
            <a:endParaRPr sz="2650">
              <a:latin typeface="Times New Roman"/>
              <a:cs typeface="Times New Roman"/>
            </a:endParaRPr>
          </a:p>
          <a:p>
            <a:pPr marL="829310" marR="6858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If </a:t>
            </a:r>
            <a:r>
              <a:rPr sz="2650" spc="-5" dirty="0">
                <a:latin typeface="Times New Roman"/>
                <a:cs typeface="Times New Roman"/>
              </a:rPr>
              <a:t>a supplier reduces the </a:t>
            </a:r>
            <a:r>
              <a:rPr sz="2650" spc="-10" dirty="0">
                <a:latin typeface="Times New Roman"/>
                <a:cs typeface="Times New Roman"/>
              </a:rPr>
              <a:t>quality </a:t>
            </a:r>
            <a:r>
              <a:rPr sz="2650" spc="-5" dirty="0">
                <a:latin typeface="Times New Roman"/>
                <a:cs typeface="Times New Roman"/>
              </a:rPr>
              <a:t>of the </a:t>
            </a:r>
            <a:r>
              <a:rPr sz="2650" spc="-10" dirty="0">
                <a:latin typeface="Times New Roman"/>
                <a:cs typeface="Times New Roman"/>
              </a:rPr>
              <a:t>components </a:t>
            </a:r>
            <a:r>
              <a:rPr sz="2650" spc="-20" dirty="0">
                <a:latin typeface="Times New Roman"/>
                <a:cs typeface="Times New Roman"/>
              </a:rPr>
              <a:t>it 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supplies, </a:t>
            </a:r>
            <a:r>
              <a:rPr sz="2650" spc="-15" dirty="0">
                <a:latin typeface="Times New Roman"/>
                <a:cs typeface="Times New Roman"/>
              </a:rPr>
              <a:t>the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quality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finished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will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suffer,</a:t>
            </a:r>
            <a:r>
              <a:rPr sz="2650" dirty="0">
                <a:latin typeface="Times New Roman"/>
                <a:cs typeface="Times New Roman"/>
              </a:rPr>
              <a:t> and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manufacturer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will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eventually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have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lower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its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price.</a:t>
            </a:r>
            <a:endParaRPr sz="26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If </a:t>
            </a:r>
            <a:r>
              <a:rPr sz="2650" spc="-5" dirty="0">
                <a:latin typeface="Times New Roman"/>
                <a:cs typeface="Times New Roman"/>
              </a:rPr>
              <a:t>the suppliers are </a:t>
            </a:r>
            <a:r>
              <a:rPr sz="2650" spc="-10" dirty="0">
                <a:latin typeface="Times New Roman"/>
                <a:cs typeface="Times New Roman"/>
              </a:rPr>
              <a:t>powerful relative </a:t>
            </a:r>
            <a:r>
              <a:rPr sz="2650" spc="-5" dirty="0">
                <a:latin typeface="Times New Roman"/>
                <a:cs typeface="Times New Roman"/>
              </a:rPr>
              <a:t>to the </a:t>
            </a:r>
            <a:r>
              <a:rPr sz="2650" spc="-15" dirty="0">
                <a:latin typeface="Times New Roman"/>
                <a:cs typeface="Times New Roman"/>
              </a:rPr>
              <a:t>firms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which </a:t>
            </a:r>
            <a:r>
              <a:rPr sz="2650" spc="-10" dirty="0">
                <a:latin typeface="Times New Roman"/>
                <a:cs typeface="Times New Roman"/>
              </a:rPr>
              <a:t>they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sell,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10" dirty="0">
                <a:latin typeface="Times New Roman"/>
                <a:cs typeface="Times New Roman"/>
              </a:rPr>
              <a:t>profitability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can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suffer.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912" y="412376"/>
            <a:ext cx="62464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Bargaining</a:t>
            </a:r>
            <a:r>
              <a:rPr spc="-20" dirty="0"/>
              <a:t> </a:t>
            </a:r>
            <a:r>
              <a:rPr spc="10" dirty="0"/>
              <a:t>Power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5" dirty="0"/>
              <a:t>Suppliers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1226" y="914742"/>
            <a:ext cx="7555865" cy="22847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2144395" marR="5080" indent="-2132330" algn="just">
              <a:lnSpc>
                <a:spcPts val="3170"/>
              </a:lnSpc>
              <a:spcBef>
                <a:spcPts val="5"/>
              </a:spcBef>
            </a:pPr>
            <a:r>
              <a:rPr sz="2650" spc="-10" dirty="0">
                <a:latin typeface="Times New Roman"/>
                <a:cs typeface="Times New Roman"/>
              </a:rPr>
              <a:t>Factors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have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impact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the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ability</a:t>
            </a:r>
            <a:r>
              <a:rPr sz="2650" spc="-5" dirty="0">
                <a:latin typeface="Times New Roman"/>
                <a:cs typeface="Times New Roman"/>
              </a:rPr>
              <a:t> of</a:t>
            </a:r>
            <a:r>
              <a:rPr sz="2650" spc="-10" dirty="0">
                <a:latin typeface="Times New Roman"/>
                <a:cs typeface="Times New Roman"/>
              </a:rPr>
              <a:t> suppliers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20" dirty="0">
                <a:latin typeface="Times New Roman"/>
                <a:cs typeface="Times New Roman"/>
              </a:rPr>
              <a:t>to</a:t>
            </a:r>
            <a:r>
              <a:rPr lang="en-US"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exert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pressure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on </a:t>
            </a:r>
            <a:r>
              <a:rPr sz="2650" spc="-10" dirty="0">
                <a:latin typeface="Times New Roman"/>
                <a:cs typeface="Times New Roman"/>
              </a:rPr>
              <a:t>buyers</a:t>
            </a:r>
            <a:r>
              <a:rPr lang="en-US" sz="2650" spc="-10" dirty="0">
                <a:latin typeface="Times New Roman"/>
                <a:cs typeface="Times New Roman"/>
              </a:rPr>
              <a:t> and suppress the profitability of the industries they serve. </a:t>
            </a:r>
            <a:endParaRPr sz="265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695080"/>
              </p:ext>
            </p:extLst>
          </p:nvPr>
        </p:nvGraphicFramePr>
        <p:xfrm>
          <a:off x="701951" y="3200059"/>
          <a:ext cx="8130540" cy="4107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 dirty="0">
                        <a:latin typeface="Times New Roman"/>
                        <a:cs typeface="Times New Roman"/>
                      </a:endParaRPr>
                    </a:p>
                    <a:p>
                      <a:pPr marL="388620" marR="384175" indent="281305">
                        <a:lnSpc>
                          <a:spcPct val="101600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ion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319405" marR="311785" algn="ctr">
                        <a:lnSpc>
                          <a:spcPct val="101499"/>
                        </a:lnSpc>
                        <a:spcBef>
                          <a:spcPts val="1750"/>
                        </a:spcBef>
                      </a:pP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When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they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only a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few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suppliers that supply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critical product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a large number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buyers, the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advantage.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3250">
                        <a:latin typeface="Times New Roman"/>
                        <a:cs typeface="Times New Roman"/>
                      </a:endParaRPr>
                    </a:p>
                    <a:p>
                      <a:pPr marL="309245">
                        <a:lnSpc>
                          <a:spcPct val="100000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Switching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costs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 dirty="0">
                        <a:latin typeface="Times New Roman"/>
                        <a:cs typeface="Times New Roman"/>
                      </a:endParaRPr>
                    </a:p>
                    <a:p>
                      <a:pPr marL="334645" marR="331470" indent="2540" algn="ctr">
                        <a:lnSpc>
                          <a:spcPct val="101499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Switching costs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fixed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costs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that buyers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encounter when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switching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changing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one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another.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switching costs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high,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buyer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will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less likely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9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suppliers.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912" y="412376"/>
            <a:ext cx="62464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Bargaining</a:t>
            </a:r>
            <a:r>
              <a:rPr spc="-20" dirty="0"/>
              <a:t> </a:t>
            </a:r>
            <a:r>
              <a:rPr spc="10" dirty="0"/>
              <a:t>Power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5" dirty="0"/>
              <a:t>Suppliers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30084" y="1023607"/>
            <a:ext cx="8313420" cy="6662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3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6686" y="2707385"/>
          <a:ext cx="8130540" cy="4107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557530" marR="218440" indent="-332740">
                        <a:lnSpc>
                          <a:spcPct val="101600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Attractiveness</a:t>
                      </a:r>
                      <a:r>
                        <a:rPr sz="195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substitutes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287655" marR="447040" indent="1270" algn="ctr">
                        <a:lnSpc>
                          <a:spcPct val="101499"/>
                        </a:lnSpc>
                        <a:spcBef>
                          <a:spcPts val="1750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 power is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enhanced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there are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attractive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substitutes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product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services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</a:t>
                      </a:r>
                      <a:r>
                        <a:rPr sz="195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offers.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534670" marR="529590" indent="635" algn="ctr">
                        <a:lnSpc>
                          <a:spcPct val="101600"/>
                        </a:lnSpc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Threat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forward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L="356235" marR="344170" indent="-4445" algn="ctr">
                        <a:lnSpc>
                          <a:spcPct val="101499"/>
                        </a:lnSpc>
                        <a:spcBef>
                          <a:spcPts val="174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power 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 is enhanced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there is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credible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possibility that the supplier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might enter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buyer’s 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industry.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Bargaining</a:t>
            </a:r>
            <a:r>
              <a:rPr spc="-25" dirty="0"/>
              <a:t> </a:t>
            </a:r>
            <a:r>
              <a:rPr spc="10" dirty="0"/>
              <a:t>Power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5" dirty="0"/>
              <a:t>Buyers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31885" cy="437451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Bargaining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Power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Buyers</a:t>
            </a:r>
            <a:endParaRPr sz="30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Buyers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can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suppress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profitability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industries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from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which </a:t>
            </a:r>
            <a:r>
              <a:rPr sz="2650" spc="-10" dirty="0">
                <a:latin typeface="Times New Roman"/>
                <a:cs typeface="Times New Roman"/>
              </a:rPr>
              <a:t>they </a:t>
            </a:r>
            <a:r>
              <a:rPr sz="2650" spc="-5" dirty="0">
                <a:latin typeface="Times New Roman"/>
                <a:cs typeface="Times New Roman"/>
              </a:rPr>
              <a:t>purchase by demanding </a:t>
            </a:r>
            <a:r>
              <a:rPr sz="2650" spc="-10" dirty="0">
                <a:latin typeface="Times New Roman"/>
                <a:cs typeface="Times New Roman"/>
              </a:rPr>
              <a:t>price concessions </a:t>
            </a:r>
            <a:r>
              <a:rPr sz="2650" spc="-5" dirty="0">
                <a:latin typeface="Times New Roman"/>
                <a:cs typeface="Times New Roman"/>
              </a:rPr>
              <a:t>or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increases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 </a:t>
            </a:r>
            <a:r>
              <a:rPr sz="2650" spc="-10" dirty="0">
                <a:latin typeface="Times New Roman"/>
                <a:cs typeface="Times New Roman"/>
              </a:rPr>
              <a:t>quality.</a:t>
            </a:r>
            <a:endParaRPr sz="2650">
              <a:latin typeface="Times New Roman"/>
              <a:cs typeface="Times New Roman"/>
            </a:endParaRPr>
          </a:p>
          <a:p>
            <a:pPr marL="829310" marR="122555" lvl="1" indent="-314325">
              <a:lnSpc>
                <a:spcPts val="3170"/>
              </a:lnSpc>
              <a:spcBef>
                <a:spcPts val="615"/>
              </a:spcBef>
              <a:buChar char="–"/>
              <a:tabLst>
                <a:tab pos="830580" algn="l"/>
                <a:tab pos="831215" algn="l"/>
                <a:tab pos="7045325" algn="l"/>
              </a:tabLst>
            </a:pPr>
            <a:r>
              <a:rPr sz="2650" spc="-15" dirty="0">
                <a:latin typeface="Times New Roman"/>
                <a:cs typeface="Times New Roman"/>
              </a:rPr>
              <a:t>For </a:t>
            </a:r>
            <a:r>
              <a:rPr sz="2650" spc="-10" dirty="0">
                <a:latin typeface="Times New Roman"/>
                <a:cs typeface="Times New Roman"/>
              </a:rPr>
              <a:t>example,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automobile </a:t>
            </a:r>
            <a:r>
              <a:rPr sz="2650" spc="-5" dirty="0">
                <a:latin typeface="Times New Roman"/>
                <a:cs typeface="Times New Roman"/>
              </a:rPr>
              <a:t>industry is </a:t>
            </a:r>
            <a:r>
              <a:rPr sz="2650" spc="-10" dirty="0">
                <a:latin typeface="Times New Roman"/>
                <a:cs typeface="Times New Roman"/>
              </a:rPr>
              <a:t>dominated </a:t>
            </a:r>
            <a:r>
              <a:rPr sz="2650" spc="-5" dirty="0">
                <a:latin typeface="Times New Roman"/>
                <a:cs typeface="Times New Roman"/>
              </a:rPr>
              <a:t>by a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handful of </a:t>
            </a:r>
            <a:r>
              <a:rPr sz="2650" spc="-10" dirty="0">
                <a:latin typeface="Times New Roman"/>
                <a:cs typeface="Times New Roman"/>
              </a:rPr>
              <a:t>large companies that </a:t>
            </a:r>
            <a:r>
              <a:rPr sz="2650" spc="-5" dirty="0">
                <a:latin typeface="Times New Roman"/>
                <a:cs typeface="Times New Roman"/>
              </a:rPr>
              <a:t>buy </a:t>
            </a:r>
            <a:r>
              <a:rPr sz="2650" spc="-10" dirty="0">
                <a:latin typeface="Times New Roman"/>
                <a:cs typeface="Times New Roman"/>
              </a:rPr>
              <a:t>products from 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thousands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suppliers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different</a:t>
            </a:r>
            <a:r>
              <a:rPr sz="2650" spc="-5" dirty="0">
                <a:latin typeface="Times New Roman"/>
                <a:cs typeface="Times New Roman"/>
              </a:rPr>
              <a:t> industries.	This</a:t>
            </a:r>
            <a:r>
              <a:rPr sz="2650" spc="-8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allows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automakers </a:t>
            </a:r>
            <a:r>
              <a:rPr sz="2650" spc="-5" dirty="0">
                <a:latin typeface="Times New Roman"/>
                <a:cs typeface="Times New Roman"/>
              </a:rPr>
              <a:t>to suppress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profitability of the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industries </a:t>
            </a:r>
            <a:r>
              <a:rPr sz="2650" spc="-10" dirty="0">
                <a:latin typeface="Times New Roman"/>
                <a:cs typeface="Times New Roman"/>
              </a:rPr>
              <a:t>from which </a:t>
            </a:r>
            <a:r>
              <a:rPr sz="2650" dirty="0">
                <a:latin typeface="Times New Roman"/>
                <a:cs typeface="Times New Roman"/>
              </a:rPr>
              <a:t>they </a:t>
            </a:r>
            <a:r>
              <a:rPr sz="2650" spc="-5" dirty="0">
                <a:latin typeface="Times New Roman"/>
                <a:cs typeface="Times New Roman"/>
              </a:rPr>
              <a:t>buy by demanding </a:t>
            </a:r>
            <a:r>
              <a:rPr sz="2650" spc="-10" dirty="0">
                <a:latin typeface="Times New Roman"/>
                <a:cs typeface="Times New Roman"/>
              </a:rPr>
              <a:t>price </a:t>
            </a:r>
            <a:r>
              <a:rPr sz="2650" spc="-5" dirty="0">
                <a:latin typeface="Times New Roman"/>
                <a:cs typeface="Times New Roman"/>
              </a:rPr>
              <a:t> reductions.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5339" y="412376"/>
            <a:ext cx="57683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Bargaining</a:t>
            </a:r>
            <a:r>
              <a:rPr spc="-25" dirty="0"/>
              <a:t> </a:t>
            </a:r>
            <a:r>
              <a:rPr spc="10" dirty="0"/>
              <a:t>Power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5" dirty="0"/>
              <a:t>Buyers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72490" y="914400"/>
            <a:ext cx="8313420" cy="1874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5080" algn="ctr">
              <a:lnSpc>
                <a:spcPts val="3170"/>
              </a:lnSpc>
              <a:spcBef>
                <a:spcPts val="5"/>
              </a:spcBef>
            </a:pPr>
            <a:r>
              <a:rPr sz="2650" spc="-10" dirty="0">
                <a:latin typeface="Times New Roman"/>
                <a:cs typeface="Times New Roman"/>
              </a:rPr>
              <a:t>Factors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lang="en-US" sz="2650" spc="-10" dirty="0">
                <a:latin typeface="Times New Roman"/>
                <a:cs typeface="Times New Roman"/>
              </a:rPr>
              <a:t>affect buyers’ ability to exert pressure on suppliers and suppress the profitability of the industries from which they buy</a:t>
            </a:r>
            <a:endParaRPr sz="265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316449"/>
              </p:ext>
            </p:extLst>
          </p:nvPr>
        </p:nvGraphicFramePr>
        <p:xfrm>
          <a:off x="872490" y="2852421"/>
          <a:ext cx="8130540" cy="4107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78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388620" marR="384175" indent="63500">
                        <a:lnSpc>
                          <a:spcPct val="101499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Buyer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group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tr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ion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208279" marR="205104" indent="2540" algn="ctr">
                        <a:lnSpc>
                          <a:spcPct val="101499"/>
                        </a:lnSpc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there are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only a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few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large buyers,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they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buy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large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suppliers,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they can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pressure</a:t>
                      </a:r>
                      <a:r>
                        <a:rPr sz="19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suppliers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to</a:t>
                      </a:r>
                      <a:r>
                        <a:rPr sz="195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costs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thus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affect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profitability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industries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buy.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marL="424815">
                        <a:lnSpc>
                          <a:spcPct val="100000"/>
                        </a:lnSpc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Buyer’s</a:t>
                      </a:r>
                      <a:r>
                        <a:rPr sz="195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costs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100" dirty="0">
                        <a:latin typeface="Times New Roman"/>
                        <a:cs typeface="Times New Roman"/>
                      </a:endParaRPr>
                    </a:p>
                    <a:p>
                      <a:pPr marL="342265" marR="337820" indent="-1270" algn="ctr">
                        <a:lnSpc>
                          <a:spcPct val="101499"/>
                        </a:lnSpc>
                        <a:spcBef>
                          <a:spcPts val="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greater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importance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item is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buyer,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more sensitive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buyer will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be 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price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pays.</a:t>
                      </a:r>
                      <a:endParaRPr sz="19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5339" y="412376"/>
            <a:ext cx="57683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Bargaining</a:t>
            </a:r>
            <a:r>
              <a:rPr spc="-25" dirty="0"/>
              <a:t> </a:t>
            </a:r>
            <a:r>
              <a:rPr spc="10" dirty="0"/>
              <a:t>Power</a:t>
            </a:r>
            <a:r>
              <a:rPr spc="-3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5" dirty="0"/>
              <a:t>Buyers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57670" y="1023607"/>
            <a:ext cx="7997825" cy="6662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49554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3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3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2866" y="2707385"/>
          <a:ext cx="8130540" cy="4107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3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6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7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83210" marR="278130" indent="-1905" algn="ctr">
                        <a:lnSpc>
                          <a:spcPct val="101499"/>
                        </a:lnSpc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Degree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nd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n 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supplier’s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products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540385" marR="450215" indent="-1270" algn="ctr">
                        <a:lnSpc>
                          <a:spcPct val="101499"/>
                        </a:lnSpc>
                        <a:spcBef>
                          <a:spcPts val="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degree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supplier’s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product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differs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competitors</a:t>
                      </a:r>
                      <a:r>
                        <a:rPr sz="195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affect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buyer’s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bargaining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power.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3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  <a:p>
                      <a:pPr marL="534670" marR="529590" indent="91440" algn="just">
                        <a:lnSpc>
                          <a:spcPct val="101600"/>
                        </a:lnSpc>
                      </a:pP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Threat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backward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950" b="1" spc="-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99745" marR="495300" indent="-635" algn="ctr">
                        <a:lnSpc>
                          <a:spcPct val="101499"/>
                        </a:lnSpc>
                        <a:spcBef>
                          <a:spcPts val="1745"/>
                        </a:spcBef>
                      </a:pP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power of buyers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enhanced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there is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9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credible threat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9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5" dirty="0">
                          <a:latin typeface="Times New Roman"/>
                          <a:cs typeface="Times New Roman"/>
                        </a:rPr>
                        <a:t>buyer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might</a:t>
                      </a:r>
                      <a:r>
                        <a:rPr sz="195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195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1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950" b="1" spc="-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spc="5" dirty="0">
                          <a:latin typeface="Times New Roman"/>
                          <a:cs typeface="Times New Roman"/>
                        </a:rPr>
                        <a:t>supplier’s</a:t>
                      </a:r>
                      <a:r>
                        <a:rPr sz="195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950" b="1" dirty="0">
                          <a:latin typeface="Times New Roman"/>
                          <a:cs typeface="Times New Roman"/>
                        </a:rPr>
                        <a:t>industry.</a:t>
                      </a:r>
                      <a:endParaRPr sz="19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278296"/>
            <a:ext cx="10083800" cy="757354"/>
          </a:xfrm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 dirty="0"/>
              <a:t>The Value of the Five Forces Model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627745" cy="3663311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lang="en-US" sz="2800" spc="10" dirty="0">
                <a:latin typeface="Times New Roman"/>
                <a:cs typeface="Times New Roman"/>
              </a:rPr>
              <a:t>Along with helping a firm understand the dynamics of the industry it plans to enter, the five forces model can be used in two ways:</a:t>
            </a:r>
          </a:p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1029335" marR="5080" lvl="1" indent="-514350">
              <a:lnSpc>
                <a:spcPts val="3170"/>
              </a:lnSpc>
              <a:spcBef>
                <a:spcPts val="620"/>
              </a:spcBef>
              <a:buAutoNum type="arabicParenBoth"/>
              <a:tabLst>
                <a:tab pos="830580" algn="l"/>
                <a:tab pos="831215" algn="l"/>
              </a:tabLst>
            </a:pPr>
            <a:r>
              <a:rPr lang="en-US" sz="2650" spc="-10" dirty="0">
                <a:latin typeface="Times New Roman"/>
                <a:cs typeface="Times New Roman"/>
              </a:rPr>
              <a:t>to help a firm determine whether it should enter a particular industry.</a:t>
            </a:r>
          </a:p>
          <a:p>
            <a:pPr marL="1029335" marR="5080" lvl="1" indent="-514350">
              <a:lnSpc>
                <a:spcPts val="3170"/>
              </a:lnSpc>
              <a:spcBef>
                <a:spcPts val="620"/>
              </a:spcBef>
              <a:buAutoNum type="arabicParenBoth"/>
              <a:tabLst>
                <a:tab pos="830580" algn="l"/>
                <a:tab pos="831215" algn="l"/>
              </a:tabLst>
            </a:pPr>
            <a:r>
              <a:rPr lang="en-US" sz="2650" dirty="0">
                <a:latin typeface="Times New Roman"/>
                <a:cs typeface="Times New Roman"/>
              </a:rPr>
              <a:t>whether it can carve out an attractive position in that industry. 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17949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30" dirty="0"/>
              <a:t> </a:t>
            </a:r>
            <a:r>
              <a:rPr dirty="0"/>
              <a:t>Application of</a:t>
            </a:r>
            <a:r>
              <a:rPr spc="30" dirty="0"/>
              <a:t> </a:t>
            </a:r>
            <a:r>
              <a:rPr spc="5" dirty="0"/>
              <a:t>the</a:t>
            </a:r>
            <a:r>
              <a:rPr spc="-15" dirty="0"/>
              <a:t> </a:t>
            </a:r>
            <a:r>
              <a:rPr spc="5" dirty="0"/>
              <a:t>Five</a:t>
            </a:r>
            <a:r>
              <a:rPr spc="-15" dirty="0"/>
              <a:t> </a:t>
            </a:r>
            <a:r>
              <a:rPr dirty="0"/>
              <a:t>Forces</a:t>
            </a:r>
            <a:r>
              <a:rPr spc="-35" dirty="0"/>
              <a:t> </a:t>
            </a:r>
            <a:r>
              <a:rPr dirty="0"/>
              <a:t>Model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627745" cy="356997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lang="en-US" sz="3050" spc="10" dirty="0">
                <a:latin typeface="Times New Roman"/>
                <a:cs typeface="Times New Roman"/>
              </a:rPr>
              <a:t>First</a:t>
            </a:r>
            <a:r>
              <a:rPr lang="en-US" sz="3050" spc="5" dirty="0">
                <a:latin typeface="Times New Roman"/>
                <a:cs typeface="Times New Roman"/>
              </a:rPr>
              <a:t> </a:t>
            </a:r>
            <a:r>
              <a:rPr lang="en-US" sz="3050" spc="10" dirty="0">
                <a:latin typeface="Times New Roman"/>
                <a:cs typeface="Times New Roman"/>
              </a:rPr>
              <a:t>Application</a:t>
            </a:r>
            <a:r>
              <a:rPr lang="en-US" sz="3050" spc="-60" dirty="0">
                <a:latin typeface="Times New Roman"/>
                <a:cs typeface="Times New Roman"/>
              </a:rPr>
              <a:t> </a:t>
            </a:r>
            <a:r>
              <a:rPr lang="en-US" sz="3050" spc="25" dirty="0">
                <a:latin typeface="Times New Roman"/>
                <a:cs typeface="Times New Roman"/>
              </a:rPr>
              <a:t>of</a:t>
            </a:r>
            <a:r>
              <a:rPr lang="en-US" sz="3050" spc="-15" dirty="0">
                <a:latin typeface="Times New Roman"/>
                <a:cs typeface="Times New Roman"/>
              </a:rPr>
              <a:t> </a:t>
            </a:r>
            <a:r>
              <a:rPr lang="en-US" sz="3050" spc="15" dirty="0">
                <a:latin typeface="Times New Roman"/>
                <a:cs typeface="Times New Roman"/>
              </a:rPr>
              <a:t>the</a:t>
            </a:r>
            <a:r>
              <a:rPr lang="en-US" sz="3050" spc="-10" dirty="0">
                <a:latin typeface="Times New Roman"/>
                <a:cs typeface="Times New Roman"/>
              </a:rPr>
              <a:t> </a:t>
            </a:r>
            <a:r>
              <a:rPr lang="en-US" sz="3050" spc="20" dirty="0">
                <a:latin typeface="Times New Roman"/>
                <a:cs typeface="Times New Roman"/>
              </a:rPr>
              <a:t>Model</a:t>
            </a:r>
            <a:endParaRPr sz="3050" dirty="0">
              <a:latin typeface="Times New Roman"/>
              <a:cs typeface="Times New Roman"/>
            </a:endParaRPr>
          </a:p>
          <a:p>
            <a:pPr marL="829310" marR="315595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five </a:t>
            </a:r>
            <a:r>
              <a:rPr sz="2650" spc="-5" dirty="0">
                <a:latin typeface="Times New Roman"/>
                <a:cs typeface="Times New Roman"/>
              </a:rPr>
              <a:t>forces </a:t>
            </a:r>
            <a:r>
              <a:rPr sz="2650" spc="-10" dirty="0">
                <a:latin typeface="Times New Roman"/>
                <a:cs typeface="Times New Roman"/>
              </a:rPr>
              <a:t>model </a:t>
            </a:r>
            <a:r>
              <a:rPr sz="2650" spc="-5" dirty="0">
                <a:latin typeface="Times New Roman"/>
                <a:cs typeface="Times New Roman"/>
              </a:rPr>
              <a:t>can be used to </a:t>
            </a:r>
            <a:r>
              <a:rPr sz="2650" dirty="0">
                <a:latin typeface="Times New Roman"/>
                <a:cs typeface="Times New Roman"/>
              </a:rPr>
              <a:t>assess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attractiveness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industry by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determining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level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threat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industry</a:t>
            </a:r>
            <a:r>
              <a:rPr sz="2650" spc="-5" dirty="0">
                <a:latin typeface="Times New Roman"/>
                <a:cs typeface="Times New Roman"/>
              </a:rPr>
              <a:t> profitability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each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forces.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If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firm </a:t>
            </a:r>
            <a:r>
              <a:rPr sz="2650" spc="-5" dirty="0">
                <a:latin typeface="Times New Roman"/>
                <a:cs typeface="Times New Roman"/>
              </a:rPr>
              <a:t>fills out the form shown on the </a:t>
            </a:r>
            <a:r>
              <a:rPr sz="2650" spc="-10" dirty="0">
                <a:latin typeface="Times New Roman"/>
                <a:cs typeface="Times New Roman"/>
              </a:rPr>
              <a:t>next </a:t>
            </a:r>
            <a:r>
              <a:rPr sz="2650" spc="-5" dirty="0">
                <a:latin typeface="Times New Roman"/>
                <a:cs typeface="Times New Roman"/>
              </a:rPr>
              <a:t>slide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several of the threats to industry </a:t>
            </a:r>
            <a:r>
              <a:rPr sz="2650" spc="-10" dirty="0">
                <a:latin typeface="Times New Roman"/>
                <a:cs typeface="Times New Roman"/>
              </a:rPr>
              <a:t>profitability </a:t>
            </a:r>
            <a:r>
              <a:rPr sz="2650" spc="-5" dirty="0">
                <a:latin typeface="Times New Roman"/>
                <a:cs typeface="Times New Roman"/>
              </a:rPr>
              <a:t>are </a:t>
            </a:r>
            <a:r>
              <a:rPr sz="2650" spc="-10" dirty="0">
                <a:latin typeface="Times New Roman"/>
                <a:cs typeface="Times New Roman"/>
              </a:rPr>
              <a:t>high,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firm may </a:t>
            </a:r>
            <a:r>
              <a:rPr sz="2650" spc="-15" dirty="0">
                <a:latin typeface="Times New Roman"/>
                <a:cs typeface="Times New Roman"/>
              </a:rPr>
              <a:t>want </a:t>
            </a:r>
            <a:r>
              <a:rPr sz="2650" spc="-5" dirty="0">
                <a:latin typeface="Times New Roman"/>
                <a:cs typeface="Times New Roman"/>
              </a:rPr>
              <a:t>to reconsider entering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industry or </a:t>
            </a:r>
            <a:r>
              <a:rPr sz="2650" spc="-10" dirty="0">
                <a:latin typeface="Times New Roman"/>
                <a:cs typeface="Times New Roman"/>
              </a:rPr>
              <a:t>think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carefully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about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position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would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occupy.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694" y="412376"/>
            <a:ext cx="87153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First</a:t>
            </a:r>
            <a:r>
              <a:rPr spc="-30" dirty="0"/>
              <a:t> </a:t>
            </a:r>
            <a:r>
              <a:rPr dirty="0"/>
              <a:t>Application of</a:t>
            </a:r>
            <a:r>
              <a:rPr spc="30" dirty="0"/>
              <a:t> </a:t>
            </a:r>
            <a:r>
              <a:rPr spc="5" dirty="0"/>
              <a:t>the</a:t>
            </a:r>
            <a:r>
              <a:rPr spc="-15" dirty="0"/>
              <a:t> </a:t>
            </a:r>
            <a:r>
              <a:rPr spc="5" dirty="0"/>
              <a:t>Five</a:t>
            </a:r>
            <a:r>
              <a:rPr spc="-15" dirty="0"/>
              <a:t> </a:t>
            </a:r>
            <a:r>
              <a:rPr dirty="0"/>
              <a:t>Force</a:t>
            </a:r>
            <a:r>
              <a:rPr lang="en-US" dirty="0"/>
              <a:t>s</a:t>
            </a:r>
            <a:r>
              <a:rPr dirty="0"/>
              <a:t> Model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55432" y="1023607"/>
            <a:ext cx="8547735" cy="1057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650" spc="-5" dirty="0">
                <a:latin typeface="Times New Roman"/>
                <a:cs typeface="Times New Roman"/>
              </a:rPr>
              <a:t>Assessing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</a:t>
            </a:r>
            <a:r>
              <a:rPr sz="2650" spc="-16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Attractiveness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Using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Five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Forces Model</a:t>
            </a:r>
            <a:endParaRPr sz="26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8759" y="2293620"/>
            <a:ext cx="7376159" cy="479450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Second</a:t>
            </a:r>
            <a:r>
              <a:rPr spc="-10" dirty="0"/>
              <a:t> </a:t>
            </a:r>
            <a:r>
              <a:rPr spc="5" dirty="0"/>
              <a:t>Application</a:t>
            </a:r>
            <a:r>
              <a:rPr spc="-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5" dirty="0"/>
              <a:t>the</a:t>
            </a:r>
            <a:r>
              <a:rPr spc="-20" dirty="0"/>
              <a:t> </a:t>
            </a:r>
            <a:r>
              <a:rPr spc="5" dirty="0"/>
              <a:t>Five</a:t>
            </a:r>
            <a:r>
              <a:rPr spc="-20" dirty="0"/>
              <a:t> </a:t>
            </a:r>
            <a:r>
              <a:rPr dirty="0"/>
              <a:t>Forces Model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2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852535" cy="31673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Second</a:t>
            </a:r>
            <a:r>
              <a:rPr sz="3050" spc="-3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Application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the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Model</a:t>
            </a:r>
            <a:endParaRPr sz="30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second way a new </a:t>
            </a:r>
            <a:r>
              <a:rPr sz="2650" spc="-10" dirty="0">
                <a:latin typeface="Times New Roman"/>
                <a:cs typeface="Times New Roman"/>
              </a:rPr>
              <a:t>firm </a:t>
            </a:r>
            <a:r>
              <a:rPr sz="2650" spc="-5" dirty="0">
                <a:latin typeface="Times New Roman"/>
                <a:cs typeface="Times New Roman"/>
              </a:rPr>
              <a:t>can </a:t>
            </a:r>
            <a:r>
              <a:rPr sz="2650" spc="-10" dirty="0">
                <a:latin typeface="Times New Roman"/>
                <a:cs typeface="Times New Roman"/>
              </a:rPr>
              <a:t>apply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five forces model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help determine whether </a:t>
            </a:r>
            <a:r>
              <a:rPr sz="2650" spc="-5" dirty="0">
                <a:latin typeface="Times New Roman"/>
                <a:cs typeface="Times New Roman"/>
              </a:rPr>
              <a:t>it should enter </a:t>
            </a:r>
            <a:r>
              <a:rPr sz="2650" spc="-15" dirty="0">
                <a:latin typeface="Times New Roman"/>
                <a:cs typeface="Times New Roman"/>
              </a:rPr>
              <a:t>an </a:t>
            </a:r>
            <a:r>
              <a:rPr sz="2650" spc="-5" dirty="0">
                <a:latin typeface="Times New Roman"/>
                <a:cs typeface="Times New Roman"/>
              </a:rPr>
              <a:t>industry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by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using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model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answer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several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key</a:t>
            </a:r>
            <a:r>
              <a:rPr sz="2650" spc="-5" dirty="0">
                <a:latin typeface="Times New Roman"/>
                <a:cs typeface="Times New Roman"/>
              </a:rPr>
              <a:t> questions.</a:t>
            </a:r>
            <a:endParaRPr sz="2650">
              <a:latin typeface="Times New Roman"/>
              <a:cs typeface="Times New Roman"/>
            </a:endParaRPr>
          </a:p>
          <a:p>
            <a:pPr marL="829310" marR="28575" lvl="1" indent="-314325" algn="just">
              <a:lnSpc>
                <a:spcPts val="3170"/>
              </a:lnSpc>
              <a:spcBef>
                <a:spcPts val="620"/>
              </a:spcBef>
              <a:buChar char="–"/>
              <a:tabLst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questions are shown in the </a:t>
            </a:r>
            <a:r>
              <a:rPr sz="2650" spc="-10" dirty="0">
                <a:latin typeface="Times New Roman"/>
                <a:cs typeface="Times New Roman"/>
              </a:rPr>
              <a:t>figure </a:t>
            </a:r>
            <a:r>
              <a:rPr sz="2650" spc="-5" dirty="0">
                <a:latin typeface="Times New Roman"/>
                <a:cs typeface="Times New Roman"/>
              </a:rPr>
              <a:t>on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next </a:t>
            </a:r>
            <a:r>
              <a:rPr sz="2650" spc="-5" dirty="0">
                <a:latin typeface="Times New Roman"/>
                <a:cs typeface="Times New Roman"/>
              </a:rPr>
              <a:t>slide,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help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firm </a:t>
            </a:r>
            <a:r>
              <a:rPr sz="2650" spc="-5" dirty="0">
                <a:latin typeface="Times New Roman"/>
                <a:cs typeface="Times New Roman"/>
              </a:rPr>
              <a:t>project the </a:t>
            </a:r>
            <a:r>
              <a:rPr sz="2650" spc="-10" dirty="0">
                <a:latin typeface="Times New Roman"/>
                <a:cs typeface="Times New Roman"/>
              </a:rPr>
              <a:t>potential </a:t>
            </a:r>
            <a:r>
              <a:rPr sz="2650" spc="-5" dirty="0">
                <a:latin typeface="Times New Roman"/>
                <a:cs typeface="Times New Roman"/>
              </a:rPr>
              <a:t>success of a </a:t>
            </a:r>
            <a:r>
              <a:rPr sz="2650" spc="-15" dirty="0">
                <a:latin typeface="Times New Roman"/>
                <a:cs typeface="Times New Roman"/>
              </a:rPr>
              <a:t>new </a:t>
            </a:r>
            <a:r>
              <a:rPr sz="2650" spc="-10" dirty="0">
                <a:latin typeface="Times New Roman"/>
                <a:cs typeface="Times New Roman"/>
              </a:rPr>
              <a:t>venture </a:t>
            </a:r>
            <a:r>
              <a:rPr sz="2650" spc="-20" dirty="0">
                <a:latin typeface="Times New Roman"/>
                <a:cs typeface="Times New Roman"/>
              </a:rPr>
              <a:t>in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particular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industry.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57" y="412376"/>
            <a:ext cx="92735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Second</a:t>
            </a:r>
            <a:r>
              <a:rPr spc="-10" dirty="0"/>
              <a:t> </a:t>
            </a:r>
            <a:r>
              <a:rPr spc="5" dirty="0"/>
              <a:t>Application</a:t>
            </a:r>
            <a:r>
              <a:rPr spc="-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5" dirty="0"/>
              <a:t>the</a:t>
            </a:r>
            <a:r>
              <a:rPr spc="-20" dirty="0"/>
              <a:t> </a:t>
            </a:r>
            <a:r>
              <a:rPr spc="5" dirty="0"/>
              <a:t>Five</a:t>
            </a:r>
            <a:r>
              <a:rPr spc="-20" dirty="0"/>
              <a:t> </a:t>
            </a:r>
            <a:r>
              <a:rPr dirty="0"/>
              <a:t>Forced</a:t>
            </a:r>
            <a:r>
              <a:rPr spc="-5" dirty="0"/>
              <a:t> </a:t>
            </a:r>
            <a:r>
              <a:rPr dirty="0"/>
              <a:t>Model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8719" y="1023607"/>
            <a:ext cx="8358505" cy="1256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010" algn="ctr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2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of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Times New Roman"/>
              <a:cs typeface="Times New Roman"/>
            </a:endParaRPr>
          </a:p>
          <a:p>
            <a:pPr marL="1911350" marR="5080" indent="-1899285">
              <a:lnSpc>
                <a:spcPts val="2380"/>
              </a:lnSpc>
            </a:pPr>
            <a:r>
              <a:rPr sz="2200" spc="-5" dirty="0">
                <a:latin typeface="Times New Roman"/>
                <a:cs typeface="Times New Roman"/>
              </a:rPr>
              <a:t>Using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Five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Forces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Model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Pose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Questions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to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Determine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the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Potential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Success 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New </a:t>
            </a:r>
            <a:r>
              <a:rPr sz="2200" spc="-40" dirty="0">
                <a:latin typeface="Times New Roman"/>
                <a:cs typeface="Times New Roman"/>
              </a:rPr>
              <a:t>Venture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 </a:t>
            </a:r>
            <a:r>
              <a:rPr sz="2200" spc="-10" dirty="0">
                <a:latin typeface="Times New Roman"/>
                <a:cs typeface="Times New Roman"/>
              </a:rPr>
              <a:t>an</a:t>
            </a:r>
            <a:r>
              <a:rPr sz="2200" spc="-5" dirty="0">
                <a:latin typeface="Times New Roman"/>
                <a:cs typeface="Times New Roman"/>
              </a:rPr>
              <a:t> Industry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39" y="2461260"/>
            <a:ext cx="8884919" cy="448055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1" y="1886766"/>
            <a:ext cx="9525000" cy="388632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Emerging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Industries</a:t>
            </a:r>
            <a:endParaRPr lang="en-US" sz="3050" dirty="0">
              <a:latin typeface="Times New Roman"/>
              <a:cs typeface="Times New Roman"/>
            </a:endParaRPr>
          </a:p>
          <a:p>
            <a:pPr marL="829310" marR="3556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spc="-10" dirty="0">
                <a:latin typeface="Times New Roman"/>
                <a:cs typeface="Times New Roman"/>
              </a:rPr>
              <a:t>An emerging industry is a new industry in which standard operating procedures have yet to be developed.</a:t>
            </a:r>
          </a:p>
          <a:p>
            <a:pPr marL="829310" marR="3556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dirty="0">
                <a:latin typeface="Times New Roman"/>
                <a:cs typeface="Times New Roman"/>
              </a:rPr>
              <a:t>The firm that pioneers or takes the leadership of an emerging industry often captures a first-mover advantage.</a:t>
            </a: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Opportunity:</a:t>
            </a:r>
            <a:r>
              <a:rPr lang="en-US" sz="2200" spc="-60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First-mover</a:t>
            </a:r>
            <a:r>
              <a:rPr lang="en-US" sz="2200" spc="-4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advantage.</a:t>
            </a: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Example of an entrepreneurial firm exploiting these opportunities: Apple with its iTunes Music Store, Google and Yahoo were entrants in an emerging industry in search engines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87452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89157" y="194558"/>
            <a:ext cx="7543800" cy="157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95"/>
              </a:spcBef>
            </a:pPr>
            <a:r>
              <a:rPr dirty="0"/>
              <a:t>Industry </a:t>
            </a:r>
            <a:r>
              <a:rPr spc="5" dirty="0"/>
              <a:t>Types </a:t>
            </a:r>
            <a:r>
              <a:rPr spc="-5" dirty="0"/>
              <a:t>and </a:t>
            </a:r>
            <a:r>
              <a:rPr spc="5" dirty="0"/>
              <a:t>the </a:t>
            </a:r>
            <a:r>
              <a:rPr dirty="0"/>
              <a:t>Opportunities </a:t>
            </a:r>
            <a:r>
              <a:rPr spc="-975" dirty="0"/>
              <a:t> </a:t>
            </a:r>
            <a:r>
              <a:rPr spc="-5" dirty="0"/>
              <a:t>They</a:t>
            </a:r>
            <a:r>
              <a:rPr spc="35" dirty="0"/>
              <a:t> </a:t>
            </a:r>
            <a:r>
              <a:rPr dirty="0"/>
              <a:t>Offer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1" y="1886766"/>
            <a:ext cx="9525000" cy="436850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730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Fragmented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Industries</a:t>
            </a:r>
            <a:endParaRPr sz="30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7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Industries that </a:t>
            </a:r>
            <a:r>
              <a:rPr sz="2650" spc="-5" dirty="0">
                <a:latin typeface="Times New Roman"/>
                <a:cs typeface="Times New Roman"/>
              </a:rPr>
              <a:t>are </a:t>
            </a:r>
            <a:r>
              <a:rPr sz="2650" spc="-10" dirty="0">
                <a:latin typeface="Times New Roman"/>
                <a:cs typeface="Times New Roman"/>
              </a:rPr>
              <a:t>characterized </a:t>
            </a:r>
            <a:r>
              <a:rPr sz="2650" spc="-5" dirty="0">
                <a:latin typeface="Times New Roman"/>
                <a:cs typeface="Times New Roman"/>
              </a:rPr>
              <a:t>by a large </a:t>
            </a:r>
            <a:r>
              <a:rPr sz="2650" spc="-10" dirty="0">
                <a:latin typeface="Times New Roman"/>
                <a:cs typeface="Times New Roman"/>
              </a:rPr>
              <a:t>number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10" dirty="0">
                <a:latin typeface="Times New Roman"/>
                <a:cs typeface="Times New Roman"/>
              </a:rPr>
              <a:t>firms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approximately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equal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size.</a:t>
            </a:r>
            <a:endParaRPr lang="en-US" sz="2650" spc="-5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70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dirty="0">
                <a:latin typeface="Times New Roman"/>
                <a:cs typeface="Times New Roman"/>
              </a:rPr>
              <a:t>The opportunity in fragmented industries is to consolidate the industry and establish industry leadership as a result of doing so. A </a:t>
            </a:r>
            <a:r>
              <a:rPr lang="en-US" sz="2650" b="1" dirty="0">
                <a:latin typeface="Times New Roman"/>
                <a:cs typeface="Times New Roman"/>
              </a:rPr>
              <a:t>geographic roll-up strategy </a:t>
            </a:r>
            <a:r>
              <a:rPr lang="en-US" sz="2650" dirty="0">
                <a:latin typeface="Times New Roman"/>
                <a:cs typeface="Times New Roman"/>
              </a:rPr>
              <a:t>is one in which one firm starts acquiring similar firms</a:t>
            </a:r>
            <a:endParaRPr sz="265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42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dirty="0">
                <a:latin typeface="Times New Roman"/>
                <a:cs typeface="Times New Roman"/>
              </a:rPr>
              <a:t>Opportunity: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Consolidation.</a:t>
            </a:r>
            <a:endParaRPr lang="en-US" sz="2200" spc="-5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42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Example of an entrepreneurial firm exploiting these opportunities: Starbucks in coffee restaurants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87452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89157" y="194558"/>
            <a:ext cx="7543800" cy="157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95"/>
              </a:spcBef>
            </a:pPr>
            <a:r>
              <a:rPr dirty="0"/>
              <a:t>Industry </a:t>
            </a:r>
            <a:r>
              <a:rPr spc="5" dirty="0"/>
              <a:t>Types </a:t>
            </a:r>
            <a:r>
              <a:rPr spc="-5" dirty="0"/>
              <a:t>and </a:t>
            </a:r>
            <a:r>
              <a:rPr spc="5" dirty="0"/>
              <a:t>the </a:t>
            </a:r>
            <a:r>
              <a:rPr dirty="0"/>
              <a:t>Opportunities </a:t>
            </a:r>
            <a:r>
              <a:rPr spc="-975" dirty="0"/>
              <a:t> </a:t>
            </a:r>
            <a:r>
              <a:rPr spc="-5" dirty="0"/>
              <a:t>They</a:t>
            </a:r>
            <a:r>
              <a:rPr spc="35" dirty="0"/>
              <a:t> </a:t>
            </a:r>
            <a:r>
              <a:rPr dirty="0"/>
              <a:t>Offer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1190837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65" y="1886766"/>
            <a:ext cx="8851265" cy="3445174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Mature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Industries</a:t>
            </a:r>
            <a:endParaRPr sz="3050" dirty="0">
              <a:latin typeface="Times New Roman"/>
              <a:cs typeface="Times New Roman"/>
            </a:endParaRPr>
          </a:p>
          <a:p>
            <a:pPr marL="829310" marR="77724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spc="-10" dirty="0">
                <a:latin typeface="Times New Roman"/>
                <a:cs typeface="Times New Roman"/>
              </a:rPr>
              <a:t>A mature industry is an industry that is experiencing slow or no increase in demand, has numerous repeat (rather than new) customers, and has limited product innovation</a:t>
            </a:r>
            <a:r>
              <a:rPr sz="2650" spc="-5" dirty="0">
                <a:latin typeface="Times New Roman"/>
                <a:cs typeface="Times New Roman"/>
              </a:rPr>
              <a:t>.</a:t>
            </a:r>
            <a:endParaRPr sz="2650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sz="2200" spc="-5" dirty="0">
                <a:latin typeface="Times New Roman"/>
                <a:cs typeface="Times New Roman"/>
              </a:rPr>
              <a:t>Opportunities: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Process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innovation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" dirty="0">
                <a:latin typeface="Times New Roman"/>
                <a:cs typeface="Times New Roman"/>
              </a:rPr>
              <a:t> after-sale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service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innovation.</a:t>
            </a:r>
            <a:endParaRPr lang="en-US" sz="2200" spc="-5" dirty="0">
              <a:latin typeface="Times New Roman"/>
              <a:cs typeface="Times New Roman"/>
            </a:endParaRP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Example of an entrepreneurial firm exploiting these opportunities: Walmart, Tesla in Automobile Sales, Amazon in book sales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87452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89157" y="194558"/>
            <a:ext cx="7543800" cy="157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95"/>
              </a:spcBef>
            </a:pPr>
            <a:r>
              <a:rPr dirty="0"/>
              <a:t>Industry </a:t>
            </a:r>
            <a:r>
              <a:rPr spc="5" dirty="0"/>
              <a:t>Types </a:t>
            </a:r>
            <a:r>
              <a:rPr spc="-5" dirty="0"/>
              <a:t>and </a:t>
            </a:r>
            <a:r>
              <a:rPr spc="5" dirty="0"/>
              <a:t>the </a:t>
            </a:r>
            <a:r>
              <a:rPr dirty="0"/>
              <a:t>Opportunities </a:t>
            </a:r>
            <a:r>
              <a:rPr spc="-975" dirty="0"/>
              <a:t> </a:t>
            </a:r>
            <a:r>
              <a:rPr spc="-5" dirty="0"/>
              <a:t>They</a:t>
            </a:r>
            <a:r>
              <a:rPr spc="35" dirty="0"/>
              <a:t> </a:t>
            </a:r>
            <a:r>
              <a:rPr dirty="0"/>
              <a:t>Offer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65" y="1886766"/>
            <a:ext cx="8851265" cy="5299528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730"/>
              </a:spcBef>
              <a:buChar char="•"/>
              <a:tabLst>
                <a:tab pos="388620" algn="l"/>
                <a:tab pos="389255" algn="l"/>
              </a:tabLst>
            </a:pPr>
            <a:r>
              <a:rPr lang="en-US" sz="3050" spc="15" dirty="0">
                <a:latin typeface="Times New Roman"/>
                <a:cs typeface="Times New Roman"/>
              </a:rPr>
              <a:t>Declining</a:t>
            </a:r>
            <a:r>
              <a:rPr lang="en-US" sz="3050" spc="-50" dirty="0">
                <a:latin typeface="Times New Roman"/>
                <a:cs typeface="Times New Roman"/>
              </a:rPr>
              <a:t> </a:t>
            </a:r>
            <a:r>
              <a:rPr lang="en-US" sz="3050" spc="10" dirty="0">
                <a:latin typeface="Times New Roman"/>
                <a:cs typeface="Times New Roman"/>
              </a:rPr>
              <a:t>Industries</a:t>
            </a:r>
            <a:endParaRPr lang="en-US" sz="3050" dirty="0">
              <a:latin typeface="Times New Roman"/>
              <a:cs typeface="Times New Roman"/>
            </a:endParaRPr>
          </a:p>
          <a:p>
            <a:pPr marL="830580" lvl="1" indent="-316230">
              <a:lnSpc>
                <a:spcPct val="100000"/>
              </a:lnSpc>
              <a:spcBef>
                <a:spcPts val="655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spc="-10" dirty="0">
                <a:latin typeface="Times New Roman"/>
                <a:cs typeface="Times New Roman"/>
              </a:rPr>
              <a:t>A declining industry is an industry that is experiencing a reduction in demand, such as the  DVD, video rental, and retail photo finishing industry.</a:t>
            </a:r>
          </a:p>
          <a:p>
            <a:pPr marL="830580" lvl="1" indent="-316230">
              <a:lnSpc>
                <a:spcPct val="100000"/>
              </a:lnSpc>
              <a:spcBef>
                <a:spcPts val="655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dirty="0">
                <a:latin typeface="Times New Roman"/>
                <a:cs typeface="Times New Roman"/>
              </a:rPr>
              <a:t>Entrepreneurial firms employ three different strategies in declining industries: </a:t>
            </a:r>
          </a:p>
          <a:p>
            <a:pPr marL="1269365" marR="930910" lvl="2" indent="-252095">
              <a:lnSpc>
                <a:spcPct val="100000"/>
              </a:lnSpc>
              <a:spcBef>
                <a:spcPts val="53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spc="-5" dirty="0">
                <a:latin typeface="Times New Roman"/>
                <a:cs typeface="Times New Roman"/>
              </a:rPr>
              <a:t>Opportunities: Leadership, establishing a </a:t>
            </a:r>
            <a:r>
              <a:rPr lang="en-US" sz="2200" dirty="0">
                <a:latin typeface="Times New Roman"/>
                <a:cs typeface="Times New Roman"/>
              </a:rPr>
              <a:t>niche </a:t>
            </a:r>
            <a:r>
              <a:rPr lang="en-US" sz="2200" spc="-10" dirty="0">
                <a:latin typeface="Times New Roman"/>
                <a:cs typeface="Times New Roman"/>
              </a:rPr>
              <a:t>market, and </a:t>
            </a:r>
            <a:r>
              <a:rPr lang="en-US" sz="2200" spc="-53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pursuing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a</a:t>
            </a:r>
            <a:r>
              <a:rPr lang="en-US" sz="2200" spc="10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cost</a:t>
            </a: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reduction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strategy.</a:t>
            </a:r>
          </a:p>
          <a:p>
            <a:pPr marL="1269365" marR="930910" lvl="2" indent="-252095">
              <a:lnSpc>
                <a:spcPct val="100000"/>
              </a:lnSpc>
              <a:spcBef>
                <a:spcPts val="53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Example of an entrepreneurial firm exploiting these opportunities: JetBlue in airlines– finding a geographic niche and cost reduction.  Cirque du Soleil in circuses –creating a new niche which was a combination of circus, theater, music and </a:t>
            </a:r>
            <a:r>
              <a:rPr lang="en-US" sz="2200" dirty="0" smtClean="0">
                <a:latin typeface="Times New Roman"/>
                <a:cs typeface="Times New Roman"/>
              </a:rPr>
              <a:t>dance.</a:t>
            </a:r>
            <a:endParaRPr lang="en-US"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87452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89157" y="194558"/>
            <a:ext cx="7543800" cy="157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95"/>
              </a:spcBef>
            </a:pPr>
            <a:r>
              <a:rPr dirty="0"/>
              <a:t>Industry </a:t>
            </a:r>
            <a:r>
              <a:rPr spc="5" dirty="0"/>
              <a:t>Types </a:t>
            </a:r>
            <a:r>
              <a:rPr spc="-5" dirty="0"/>
              <a:t>and </a:t>
            </a:r>
            <a:r>
              <a:rPr spc="5" dirty="0"/>
              <a:t>the </a:t>
            </a:r>
            <a:r>
              <a:rPr dirty="0"/>
              <a:t>Opportunities </a:t>
            </a:r>
            <a:r>
              <a:rPr spc="-975" dirty="0"/>
              <a:t> </a:t>
            </a:r>
            <a:r>
              <a:rPr spc="-5" dirty="0"/>
              <a:t>They</a:t>
            </a:r>
            <a:r>
              <a:rPr spc="35" dirty="0"/>
              <a:t> </a:t>
            </a:r>
            <a:r>
              <a:rPr dirty="0"/>
              <a:t>Offer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38588409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864" y="1886766"/>
            <a:ext cx="8902245" cy="5774017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5" dirty="0">
                <a:latin typeface="Times New Roman"/>
                <a:cs typeface="Times New Roman"/>
              </a:rPr>
              <a:t>Global</a:t>
            </a:r>
            <a:r>
              <a:rPr sz="3050" spc="-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Industries</a:t>
            </a:r>
            <a:endParaRPr sz="30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Industries that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experiencing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significant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international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sales.</a:t>
            </a:r>
            <a:endParaRPr lang="en-US" sz="2650" spc="-5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lang="en-US" sz="2650" dirty="0">
                <a:latin typeface="Times New Roman"/>
                <a:cs typeface="Times New Roman"/>
              </a:rPr>
              <a:t>Many start-ups enter global industries and from day one try to appeal to international rather than just domestic markets. The two most common strategies pursued by firms in global industries:</a:t>
            </a: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spc="-5" dirty="0">
                <a:latin typeface="Times New Roman"/>
                <a:cs typeface="Times New Roman"/>
              </a:rPr>
              <a:t>Opportunities:</a:t>
            </a:r>
            <a:r>
              <a:rPr lang="en-US" sz="2200" spc="-6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Multidomestic</a:t>
            </a:r>
            <a:r>
              <a:rPr lang="en-US" sz="2200" spc="-30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and</a:t>
            </a:r>
            <a:r>
              <a:rPr lang="en-US" sz="2200" spc="-25" dirty="0">
                <a:latin typeface="Times New Roman"/>
                <a:cs typeface="Times New Roman"/>
              </a:rPr>
              <a:t> </a:t>
            </a:r>
            <a:r>
              <a:rPr lang="en-US" sz="2200" dirty="0">
                <a:latin typeface="Times New Roman"/>
                <a:cs typeface="Times New Roman"/>
              </a:rPr>
              <a:t>global</a:t>
            </a:r>
            <a:r>
              <a:rPr lang="en-US" sz="2200" spc="-15" dirty="0">
                <a:latin typeface="Times New Roman"/>
                <a:cs typeface="Times New Roman"/>
              </a:rPr>
              <a:t> </a:t>
            </a:r>
            <a:r>
              <a:rPr lang="en-US" sz="2200" spc="-5" dirty="0">
                <a:latin typeface="Times New Roman"/>
                <a:cs typeface="Times New Roman"/>
              </a:rPr>
              <a:t>strategies.</a:t>
            </a: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spc="-5" dirty="0">
                <a:latin typeface="Times New Roman"/>
                <a:cs typeface="Times New Roman"/>
              </a:rPr>
              <a:t>For example, food companies typically are limited to a multidomestic strategy because food preferences vary significantly from country to country. </a:t>
            </a:r>
            <a:r>
              <a:rPr lang="en-US" sz="2200" spc="-5" dirty="0" err="1">
                <a:latin typeface="Times New Roman"/>
                <a:cs typeface="Times New Roman"/>
              </a:rPr>
              <a:t>Eg.</a:t>
            </a:r>
            <a:r>
              <a:rPr lang="en-US" sz="2200" spc="-5" dirty="0">
                <a:latin typeface="Times New Roman"/>
                <a:cs typeface="Times New Roman"/>
              </a:rPr>
              <a:t> McDonald’s.</a:t>
            </a: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spc="-5" dirty="0">
                <a:latin typeface="Times New Roman"/>
                <a:cs typeface="Times New Roman"/>
              </a:rPr>
              <a:t> Firms that sell more universal products, such as athletic shoes, have been successful with global strategies. </a:t>
            </a:r>
          </a:p>
          <a:p>
            <a:pPr marL="1269365" lvl="2" indent="-252095">
              <a:lnSpc>
                <a:spcPct val="100000"/>
              </a:lnSpc>
              <a:spcBef>
                <a:spcPts val="445"/>
              </a:spcBef>
              <a:buChar char="•"/>
              <a:tabLst>
                <a:tab pos="1269365" algn="l"/>
                <a:tab pos="1270000" algn="l"/>
              </a:tabLst>
            </a:pPr>
            <a:r>
              <a:rPr lang="en-US" sz="2200" dirty="0" err="1">
                <a:latin typeface="Times New Roman"/>
                <a:cs typeface="Times New Roman"/>
              </a:rPr>
              <a:t>PharmaJet</a:t>
            </a:r>
            <a:r>
              <a:rPr lang="en-US" sz="2200" dirty="0">
                <a:latin typeface="Times New Roman"/>
                <a:cs typeface="Times New Roman"/>
              </a:rPr>
              <a:t> in needle-less injection systems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874520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89157" y="194558"/>
            <a:ext cx="7543800" cy="1574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95"/>
              </a:spcBef>
            </a:pPr>
            <a:r>
              <a:rPr dirty="0"/>
              <a:t>Industry </a:t>
            </a:r>
            <a:r>
              <a:rPr spc="5" dirty="0"/>
              <a:t>Types </a:t>
            </a:r>
            <a:r>
              <a:rPr spc="-5" dirty="0"/>
              <a:t>and </a:t>
            </a:r>
            <a:r>
              <a:rPr spc="5" dirty="0"/>
              <a:t>the </a:t>
            </a:r>
            <a:r>
              <a:rPr dirty="0"/>
              <a:t>Opportunities </a:t>
            </a:r>
            <a:r>
              <a:rPr spc="-975" dirty="0"/>
              <a:t> </a:t>
            </a:r>
            <a:r>
              <a:rPr spc="-5" dirty="0"/>
              <a:t>They</a:t>
            </a:r>
            <a:r>
              <a:rPr spc="35" dirty="0"/>
              <a:t> </a:t>
            </a:r>
            <a:r>
              <a:rPr dirty="0"/>
              <a:t>Offer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3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6978" y="580097"/>
            <a:ext cx="42043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Competitor</a:t>
            </a:r>
            <a:r>
              <a:rPr spc="-35" dirty="0"/>
              <a:t> </a:t>
            </a:r>
            <a:r>
              <a:rPr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719366"/>
            <a:ext cx="8161020" cy="32480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25" dirty="0">
                <a:latin typeface="Times New Roman"/>
                <a:cs typeface="Times New Roman"/>
              </a:rPr>
              <a:t>What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is</a:t>
            </a:r>
            <a:r>
              <a:rPr sz="3050" spc="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Competitor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Analysis?</a:t>
            </a:r>
            <a:endParaRPr sz="3050">
              <a:latin typeface="Times New Roman"/>
              <a:cs typeface="Times New Roman"/>
            </a:endParaRPr>
          </a:p>
          <a:p>
            <a:pPr marL="829310" marR="43180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competitor </a:t>
            </a:r>
            <a:r>
              <a:rPr sz="2650" spc="-5" dirty="0">
                <a:latin typeface="Times New Roman"/>
                <a:cs typeface="Times New Roman"/>
              </a:rPr>
              <a:t>analysis is a detailed </a:t>
            </a:r>
            <a:r>
              <a:rPr sz="2650" spc="-10" dirty="0">
                <a:latin typeface="Times New Roman"/>
                <a:cs typeface="Times New Roman"/>
              </a:rPr>
              <a:t>analysis </a:t>
            </a:r>
            <a:r>
              <a:rPr sz="2650" spc="-5" dirty="0">
                <a:latin typeface="Times New Roman"/>
                <a:cs typeface="Times New Roman"/>
              </a:rPr>
              <a:t>of a </a:t>
            </a:r>
            <a:r>
              <a:rPr sz="2650" spc="-10" dirty="0">
                <a:latin typeface="Times New Roman"/>
                <a:cs typeface="Times New Roman"/>
              </a:rPr>
              <a:t>firm’s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competition.</a:t>
            </a:r>
            <a:endParaRPr sz="2650">
              <a:latin typeface="Times New Roman"/>
              <a:cs typeface="Times New Roman"/>
            </a:endParaRPr>
          </a:p>
          <a:p>
            <a:pPr marL="829310" marR="37592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It helps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firm understand </a:t>
            </a:r>
            <a:r>
              <a:rPr sz="2650" spc="-5" dirty="0">
                <a:latin typeface="Times New Roman"/>
                <a:cs typeface="Times New Roman"/>
              </a:rPr>
              <a:t>the positions of </a:t>
            </a:r>
            <a:r>
              <a:rPr sz="2650" dirty="0">
                <a:latin typeface="Times New Roman"/>
                <a:cs typeface="Times New Roman"/>
              </a:rPr>
              <a:t>its </a:t>
            </a:r>
            <a:r>
              <a:rPr sz="2650" spc="-10" dirty="0">
                <a:latin typeface="Times New Roman"/>
                <a:cs typeface="Times New Roman"/>
              </a:rPr>
              <a:t>major 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competitors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the</a:t>
            </a:r>
            <a:r>
              <a:rPr sz="2650" spc="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opportunities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that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 </a:t>
            </a:r>
            <a:r>
              <a:rPr sz="2650" spc="-10" dirty="0">
                <a:latin typeface="Times New Roman"/>
                <a:cs typeface="Times New Roman"/>
              </a:rPr>
              <a:t>available.</a:t>
            </a:r>
            <a:endParaRPr sz="26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</a:t>
            </a:r>
            <a:r>
              <a:rPr sz="2650" spc="-5" dirty="0">
                <a:latin typeface="Times New Roman"/>
                <a:cs typeface="Times New Roman"/>
              </a:rPr>
              <a:t>competitive </a:t>
            </a:r>
            <a:r>
              <a:rPr sz="2650" spc="-10" dirty="0">
                <a:latin typeface="Times New Roman"/>
                <a:cs typeface="Times New Roman"/>
              </a:rPr>
              <a:t>analysis grid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a tool </a:t>
            </a:r>
            <a:r>
              <a:rPr sz="2650" spc="-10" dirty="0">
                <a:latin typeface="Times New Roman"/>
                <a:cs typeface="Times New Roman"/>
              </a:rPr>
              <a:t>for </a:t>
            </a:r>
            <a:r>
              <a:rPr sz="2650" spc="-5" dirty="0">
                <a:latin typeface="Times New Roman"/>
                <a:cs typeface="Times New Roman"/>
              </a:rPr>
              <a:t>organizing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information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firm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collects</a:t>
            </a:r>
            <a:r>
              <a:rPr sz="2650" spc="-5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about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its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competitors.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91780" y="580097"/>
            <a:ext cx="48736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latin typeface="Times New Roman"/>
                <a:cs typeface="Times New Roman"/>
              </a:rPr>
              <a:t>Identifying</a:t>
            </a:r>
            <a:r>
              <a:rPr sz="3950" spc="-5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Competitors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49378" y="1867990"/>
            <a:ext cx="654050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-25" dirty="0">
                <a:latin typeface="Times New Roman"/>
                <a:cs typeface="Times New Roman"/>
              </a:rPr>
              <a:t>Types </a:t>
            </a:r>
            <a:r>
              <a:rPr sz="3050" spc="10" dirty="0">
                <a:latin typeface="Times New Roman"/>
                <a:cs typeface="Times New Roman"/>
              </a:rPr>
              <a:t>of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Competitors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20" dirty="0">
                <a:latin typeface="Times New Roman"/>
                <a:cs typeface="Times New Roman"/>
              </a:rPr>
              <a:t>New</a:t>
            </a:r>
            <a:r>
              <a:rPr sz="3050" spc="-65" dirty="0">
                <a:latin typeface="Times New Roman"/>
                <a:cs typeface="Times New Roman"/>
              </a:rPr>
              <a:t> </a:t>
            </a:r>
            <a:r>
              <a:rPr sz="3050" spc="-30" dirty="0">
                <a:latin typeface="Times New Roman"/>
                <a:cs typeface="Times New Roman"/>
              </a:rPr>
              <a:t>Ventures</a:t>
            </a:r>
            <a:r>
              <a:rPr sz="3050" spc="-6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Face</a:t>
            </a:r>
            <a:endParaRPr sz="305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2796539"/>
            <a:ext cx="8924544" cy="245973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Sources of</a:t>
            </a:r>
            <a:r>
              <a:rPr spc="-10" dirty="0"/>
              <a:t> </a:t>
            </a:r>
            <a:r>
              <a:rPr dirty="0"/>
              <a:t>Competitive</a:t>
            </a:r>
            <a:r>
              <a:rPr spc="-15" dirty="0"/>
              <a:t> </a:t>
            </a:r>
            <a:r>
              <a:rPr dirty="0"/>
              <a:t>Intelligence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1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89670" cy="324802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Collecting</a:t>
            </a:r>
            <a:r>
              <a:rPr sz="3050" spc="-3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Competitive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Intelligence</a:t>
            </a:r>
            <a:endParaRPr sz="3050">
              <a:latin typeface="Times New Roman"/>
              <a:cs typeface="Times New Roman"/>
            </a:endParaRPr>
          </a:p>
          <a:p>
            <a:pPr marL="829310" marR="173355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To complete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competitive </a:t>
            </a:r>
            <a:r>
              <a:rPr sz="2650" spc="-5" dirty="0">
                <a:latin typeface="Times New Roman"/>
                <a:cs typeface="Times New Roman"/>
              </a:rPr>
              <a:t>analysis grid, a </a:t>
            </a:r>
            <a:r>
              <a:rPr sz="2650" spc="-10" dirty="0">
                <a:latin typeface="Times New Roman"/>
                <a:cs typeface="Times New Roman"/>
              </a:rPr>
              <a:t>firm </a:t>
            </a:r>
            <a:r>
              <a:rPr sz="2650" spc="-5" dirty="0">
                <a:latin typeface="Times New Roman"/>
                <a:cs typeface="Times New Roman"/>
              </a:rPr>
              <a:t>must </a:t>
            </a:r>
            <a:r>
              <a:rPr sz="2650" spc="-10" dirty="0">
                <a:latin typeface="Times New Roman"/>
                <a:cs typeface="Times New Roman"/>
              </a:rPr>
              <a:t>first </a:t>
            </a:r>
            <a:r>
              <a:rPr sz="2650" spc="-5" dirty="0">
                <a:latin typeface="Times New Roman"/>
                <a:cs typeface="Times New Roman"/>
              </a:rPr>
              <a:t> understand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15" dirty="0">
                <a:latin typeface="Times New Roman"/>
                <a:cs typeface="Times New Roman"/>
              </a:rPr>
              <a:t>the </a:t>
            </a:r>
            <a:r>
              <a:rPr sz="2650" spc="-5" dirty="0">
                <a:latin typeface="Times New Roman"/>
                <a:cs typeface="Times New Roman"/>
              </a:rPr>
              <a:t>strategies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behaviors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of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its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competitors.</a:t>
            </a:r>
            <a:endParaRPr sz="265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3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The information that </a:t>
            </a:r>
            <a:r>
              <a:rPr sz="2650" spc="-20" dirty="0">
                <a:latin typeface="Times New Roman"/>
                <a:cs typeface="Times New Roman"/>
              </a:rPr>
              <a:t>is </a:t>
            </a:r>
            <a:r>
              <a:rPr sz="2650" spc="-5" dirty="0">
                <a:latin typeface="Times New Roman"/>
                <a:cs typeface="Times New Roman"/>
              </a:rPr>
              <a:t>gathered by a </a:t>
            </a:r>
            <a:r>
              <a:rPr sz="2650" spc="-10" dirty="0">
                <a:latin typeface="Times New Roman"/>
                <a:cs typeface="Times New Roman"/>
              </a:rPr>
              <a:t>firm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0" dirty="0">
                <a:latin typeface="Times New Roman"/>
                <a:cs typeface="Times New Roman"/>
              </a:rPr>
              <a:t>learn </a:t>
            </a:r>
            <a:r>
              <a:rPr sz="2650" spc="-5" dirty="0">
                <a:latin typeface="Times New Roman"/>
                <a:cs typeface="Times New Roman"/>
              </a:rPr>
              <a:t>about </a:t>
            </a:r>
            <a:r>
              <a:rPr sz="2650" spc="-10" dirty="0">
                <a:latin typeface="Times New Roman"/>
                <a:cs typeface="Times New Roman"/>
              </a:rPr>
              <a:t>its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competitors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is referred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</a:t>
            </a:r>
            <a:r>
              <a:rPr sz="2650" spc="-15" dirty="0">
                <a:latin typeface="Times New Roman"/>
                <a:cs typeface="Times New Roman"/>
              </a:rPr>
              <a:t>as</a:t>
            </a:r>
            <a:r>
              <a:rPr sz="2650" spc="-5" dirty="0">
                <a:latin typeface="Times New Roman"/>
                <a:cs typeface="Times New Roman"/>
              </a:rPr>
              <a:t> competitive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intelligence.</a:t>
            </a:r>
            <a:endParaRPr sz="2650">
              <a:latin typeface="Times New Roman"/>
              <a:cs typeface="Times New Roman"/>
            </a:endParaRPr>
          </a:p>
          <a:p>
            <a:pPr marL="829310" marR="93980" lvl="1" indent="-314325">
              <a:lnSpc>
                <a:spcPts val="3170"/>
              </a:lnSpc>
              <a:spcBef>
                <a:spcPts val="625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</a:t>
            </a:r>
            <a:r>
              <a:rPr sz="2650" spc="-15" dirty="0">
                <a:latin typeface="Times New Roman"/>
                <a:cs typeface="Times New Roman"/>
              </a:rPr>
              <a:t>new </a:t>
            </a:r>
            <a:r>
              <a:rPr sz="2650" spc="-10" dirty="0">
                <a:latin typeface="Times New Roman"/>
                <a:cs typeface="Times New Roman"/>
              </a:rPr>
              <a:t>venture </a:t>
            </a:r>
            <a:r>
              <a:rPr sz="2650" spc="-5" dirty="0">
                <a:latin typeface="Times New Roman"/>
                <a:cs typeface="Times New Roman"/>
              </a:rPr>
              <a:t>should </a:t>
            </a:r>
            <a:r>
              <a:rPr sz="2650" spc="-10" dirty="0">
                <a:latin typeface="Times New Roman"/>
                <a:cs typeface="Times New Roman"/>
              </a:rPr>
              <a:t>take care </a:t>
            </a:r>
            <a:r>
              <a:rPr sz="2650" dirty="0">
                <a:latin typeface="Times New Roman"/>
                <a:cs typeface="Times New Roman"/>
              </a:rPr>
              <a:t>that </a:t>
            </a:r>
            <a:r>
              <a:rPr sz="2650" spc="-5" dirty="0">
                <a:latin typeface="Times New Roman"/>
                <a:cs typeface="Times New Roman"/>
              </a:rPr>
              <a:t>it collects competitive </a:t>
            </a:r>
            <a:r>
              <a:rPr sz="2650" spc="-65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intelligence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in a</a:t>
            </a:r>
            <a:r>
              <a:rPr sz="2650" spc="-10" dirty="0">
                <a:latin typeface="Times New Roman"/>
                <a:cs typeface="Times New Roman"/>
              </a:rPr>
              <a:t> professional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5" dirty="0">
                <a:latin typeface="Times New Roman"/>
                <a:cs typeface="Times New Roman"/>
              </a:rPr>
              <a:t>ethical</a:t>
            </a:r>
            <a:r>
              <a:rPr sz="2650" spc="-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manner.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Sources of</a:t>
            </a:r>
            <a:r>
              <a:rPr spc="-10" dirty="0"/>
              <a:t> </a:t>
            </a:r>
            <a:r>
              <a:rPr dirty="0"/>
              <a:t>Competitive</a:t>
            </a:r>
            <a:r>
              <a:rPr spc="-15" dirty="0"/>
              <a:t> </a:t>
            </a:r>
            <a:r>
              <a:rPr dirty="0"/>
              <a:t>Intelligence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2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7586" y="2539746"/>
            <a:ext cx="9063355" cy="4285615"/>
            <a:chOff x="497586" y="2539746"/>
            <a:chExt cx="9063355" cy="4285615"/>
          </a:xfrm>
        </p:grpSpPr>
        <p:sp>
          <p:nvSpPr>
            <p:cNvPr id="5" name="object 5"/>
            <p:cNvSpPr/>
            <p:nvPr/>
          </p:nvSpPr>
          <p:spPr>
            <a:xfrm>
              <a:off x="502920" y="2545080"/>
              <a:ext cx="9052560" cy="4274820"/>
            </a:xfrm>
            <a:custGeom>
              <a:avLst/>
              <a:gdLst/>
              <a:ahLst/>
              <a:cxnLst/>
              <a:rect l="l" t="t" r="r" b="b"/>
              <a:pathLst>
                <a:path w="9052560" h="4274820">
                  <a:moveTo>
                    <a:pt x="9052560" y="4274819"/>
                  </a:moveTo>
                  <a:lnTo>
                    <a:pt x="0" y="4274819"/>
                  </a:lnTo>
                  <a:lnTo>
                    <a:pt x="0" y="0"/>
                  </a:lnTo>
                  <a:lnTo>
                    <a:pt x="9052560" y="0"/>
                  </a:lnTo>
                  <a:lnTo>
                    <a:pt x="9052560" y="4274819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2920" y="2545080"/>
              <a:ext cx="9052560" cy="4274820"/>
            </a:xfrm>
            <a:custGeom>
              <a:avLst/>
              <a:gdLst/>
              <a:ahLst/>
              <a:cxnLst/>
              <a:rect l="l" t="t" r="r" b="b"/>
              <a:pathLst>
                <a:path w="9052560" h="4274820">
                  <a:moveTo>
                    <a:pt x="0" y="0"/>
                  </a:moveTo>
                  <a:lnTo>
                    <a:pt x="9052560" y="0"/>
                  </a:lnTo>
                  <a:lnTo>
                    <a:pt x="9052560" y="4274819"/>
                  </a:lnTo>
                  <a:lnTo>
                    <a:pt x="0" y="4274819"/>
                  </a:lnTo>
                  <a:lnTo>
                    <a:pt x="0" y="0"/>
                  </a:lnTo>
                  <a:close/>
                </a:path>
              </a:pathLst>
            </a:custGeom>
            <a:ln w="106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4559" y="1730677"/>
            <a:ext cx="8409940" cy="404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19">
              <a:lnSpc>
                <a:spcPct val="100000"/>
              </a:lnSpc>
              <a:spcBef>
                <a:spcPts val="130"/>
              </a:spcBef>
            </a:pPr>
            <a:r>
              <a:rPr sz="3050" spc="10" dirty="0">
                <a:latin typeface="Times New Roman"/>
                <a:cs typeface="Times New Roman"/>
              </a:rPr>
              <a:t>Ethical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ways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to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obtain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information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about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competitors</a:t>
            </a:r>
            <a:endParaRPr sz="3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Times New Roman"/>
              <a:cs typeface="Times New Roman"/>
            </a:endParaRPr>
          </a:p>
          <a:p>
            <a:pPr marL="194945" indent="-182880">
              <a:lnSpc>
                <a:spcPct val="100000"/>
              </a:lnSpc>
              <a:buFont typeface="Arial MT"/>
              <a:buChar char="•"/>
              <a:tabLst>
                <a:tab pos="195580" algn="l"/>
              </a:tabLst>
            </a:pPr>
            <a:r>
              <a:rPr sz="2650" spc="-10" dirty="0">
                <a:latin typeface="Times New Roman"/>
                <a:cs typeface="Times New Roman"/>
              </a:rPr>
              <a:t>Attend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conferences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and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trade</a:t>
            </a:r>
            <a:r>
              <a:rPr sz="2650" spc="-10" dirty="0">
                <a:latin typeface="Times New Roman"/>
                <a:cs typeface="Times New Roman"/>
              </a:rPr>
              <a:t> shows.</a:t>
            </a:r>
            <a:endParaRPr sz="2650">
              <a:latin typeface="Times New Roman"/>
              <a:cs typeface="Times New Roman"/>
            </a:endParaRPr>
          </a:p>
          <a:p>
            <a:pPr marL="213360" indent="-20129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13995" algn="l"/>
              </a:tabLst>
            </a:pPr>
            <a:r>
              <a:rPr sz="2650" spc="-10" dirty="0">
                <a:latin typeface="Times New Roman"/>
                <a:cs typeface="Times New Roman"/>
              </a:rPr>
              <a:t>Purchase</a:t>
            </a:r>
            <a:r>
              <a:rPr sz="2650" spc="-15" dirty="0">
                <a:latin typeface="Times New Roman"/>
                <a:cs typeface="Times New Roman"/>
              </a:rPr>
              <a:t> competitor’s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products.</a:t>
            </a:r>
            <a:endParaRPr sz="2650">
              <a:latin typeface="Times New Roman"/>
              <a:cs typeface="Times New Roman"/>
            </a:endParaRPr>
          </a:p>
          <a:p>
            <a:pPr marL="213360" indent="-20129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13995" algn="l"/>
              </a:tabLst>
            </a:pPr>
            <a:r>
              <a:rPr sz="2650" spc="-30" dirty="0">
                <a:latin typeface="Times New Roman"/>
                <a:cs typeface="Times New Roman"/>
              </a:rPr>
              <a:t>S</a:t>
            </a:r>
            <a:r>
              <a:rPr sz="2650" dirty="0">
                <a:latin typeface="Times New Roman"/>
                <a:cs typeface="Times New Roman"/>
              </a:rPr>
              <a:t>t</a:t>
            </a:r>
            <a:r>
              <a:rPr sz="2650" spc="-5" dirty="0">
                <a:latin typeface="Times New Roman"/>
                <a:cs typeface="Times New Roman"/>
              </a:rPr>
              <a:t>udy </a:t>
            </a:r>
            <a:r>
              <a:rPr sz="2650" spc="10" dirty="0">
                <a:latin typeface="Times New Roman"/>
                <a:cs typeface="Times New Roman"/>
              </a:rPr>
              <a:t>c</a:t>
            </a:r>
            <a:r>
              <a:rPr sz="2650" spc="-5" dirty="0">
                <a:latin typeface="Times New Roman"/>
                <a:cs typeface="Times New Roman"/>
              </a:rPr>
              <a:t>o</a:t>
            </a:r>
            <a:r>
              <a:rPr sz="2650" spc="-35" dirty="0">
                <a:latin typeface="Times New Roman"/>
                <a:cs typeface="Times New Roman"/>
              </a:rPr>
              <a:t>m</a:t>
            </a:r>
            <a:r>
              <a:rPr sz="2650" spc="-5" dirty="0">
                <a:latin typeface="Times New Roman"/>
                <a:cs typeface="Times New Roman"/>
              </a:rPr>
              <a:t>p</a:t>
            </a:r>
            <a:r>
              <a:rPr sz="2650" spc="10" dirty="0">
                <a:latin typeface="Times New Roman"/>
                <a:cs typeface="Times New Roman"/>
              </a:rPr>
              <a:t>e</a:t>
            </a:r>
            <a:r>
              <a:rPr sz="2650" dirty="0">
                <a:latin typeface="Times New Roman"/>
                <a:cs typeface="Times New Roman"/>
              </a:rPr>
              <a:t>t</a:t>
            </a:r>
            <a:r>
              <a:rPr sz="2650" spc="-30" dirty="0">
                <a:latin typeface="Times New Roman"/>
                <a:cs typeface="Times New Roman"/>
              </a:rPr>
              <a:t>i</a:t>
            </a:r>
            <a:r>
              <a:rPr sz="2650" dirty="0">
                <a:latin typeface="Times New Roman"/>
                <a:cs typeface="Times New Roman"/>
              </a:rPr>
              <a:t>t</a:t>
            </a:r>
            <a:r>
              <a:rPr sz="2650" spc="-5" dirty="0">
                <a:latin typeface="Times New Roman"/>
                <a:cs typeface="Times New Roman"/>
              </a:rPr>
              <a:t>o</a:t>
            </a:r>
            <a:r>
              <a:rPr sz="2650" spc="-15" dirty="0">
                <a:latin typeface="Times New Roman"/>
                <a:cs typeface="Times New Roman"/>
              </a:rPr>
              <a:t>r</a:t>
            </a:r>
            <a:r>
              <a:rPr sz="2650" spc="-5" dirty="0">
                <a:latin typeface="Times New Roman"/>
                <a:cs typeface="Times New Roman"/>
              </a:rPr>
              <a:t>s’</a:t>
            </a:r>
            <a:r>
              <a:rPr sz="2650" spc="-250" dirty="0">
                <a:latin typeface="Times New Roman"/>
                <a:cs typeface="Times New Roman"/>
              </a:rPr>
              <a:t> </a:t>
            </a:r>
            <a:r>
              <a:rPr sz="2650" spc="-235" dirty="0">
                <a:latin typeface="Times New Roman"/>
                <a:cs typeface="Times New Roman"/>
              </a:rPr>
              <a:t>W</a:t>
            </a:r>
            <a:r>
              <a:rPr sz="2650" spc="10" dirty="0">
                <a:latin typeface="Times New Roman"/>
                <a:cs typeface="Times New Roman"/>
              </a:rPr>
              <a:t>e</a:t>
            </a:r>
            <a:r>
              <a:rPr sz="2650" spc="-5" dirty="0">
                <a:latin typeface="Times New Roman"/>
                <a:cs typeface="Times New Roman"/>
              </a:rPr>
              <a:t>b s</a:t>
            </a:r>
            <a:r>
              <a:rPr sz="2650" spc="-30" dirty="0">
                <a:latin typeface="Times New Roman"/>
                <a:cs typeface="Times New Roman"/>
              </a:rPr>
              <a:t>i</a:t>
            </a:r>
            <a:r>
              <a:rPr sz="2650" dirty="0">
                <a:latin typeface="Times New Roman"/>
                <a:cs typeface="Times New Roman"/>
              </a:rPr>
              <a:t>t</a:t>
            </a:r>
            <a:r>
              <a:rPr sz="2650" spc="10" dirty="0">
                <a:latin typeface="Times New Roman"/>
                <a:cs typeface="Times New Roman"/>
              </a:rPr>
              <a:t>e</a:t>
            </a:r>
            <a:r>
              <a:rPr sz="2650" spc="-5" dirty="0">
                <a:latin typeface="Times New Roman"/>
                <a:cs typeface="Times New Roman"/>
              </a:rPr>
              <a:t>s.</a:t>
            </a:r>
            <a:endParaRPr sz="2650">
              <a:latin typeface="Times New Roman"/>
              <a:cs typeface="Times New Roman"/>
            </a:endParaRPr>
          </a:p>
          <a:p>
            <a:pPr marL="213360" indent="-20129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13995" algn="l"/>
              </a:tabLst>
            </a:pPr>
            <a:r>
              <a:rPr sz="2650" spc="-10" dirty="0">
                <a:latin typeface="Times New Roman"/>
                <a:cs typeface="Times New Roman"/>
              </a:rPr>
              <a:t>Set </a:t>
            </a:r>
            <a:r>
              <a:rPr sz="2650" spc="-5" dirty="0">
                <a:latin typeface="Times New Roman"/>
                <a:cs typeface="Times New Roman"/>
              </a:rPr>
              <a:t>up</a:t>
            </a:r>
            <a:r>
              <a:rPr sz="2650" spc="-10" dirty="0">
                <a:latin typeface="Times New Roman"/>
                <a:cs typeface="Times New Roman"/>
              </a:rPr>
              <a:t> Google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</a:t>
            </a:r>
            <a:r>
              <a:rPr sz="2650" spc="-110" dirty="0">
                <a:latin typeface="Times New Roman"/>
                <a:cs typeface="Times New Roman"/>
              </a:rPr>
              <a:t> </a:t>
            </a:r>
            <a:r>
              <a:rPr sz="2650" spc="-50" dirty="0">
                <a:latin typeface="Times New Roman"/>
                <a:cs typeface="Times New Roman"/>
              </a:rPr>
              <a:t>Yahoo!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e-mail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alerts.</a:t>
            </a:r>
            <a:endParaRPr sz="2650">
              <a:latin typeface="Times New Roman"/>
              <a:cs typeface="Times New Roman"/>
            </a:endParaRPr>
          </a:p>
          <a:p>
            <a:pPr marL="213360" indent="-20129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213995" algn="l"/>
              </a:tabLst>
            </a:pPr>
            <a:r>
              <a:rPr sz="2650" spc="-5" dirty="0">
                <a:latin typeface="Times New Roman"/>
                <a:cs typeface="Times New Roman"/>
              </a:rPr>
              <a:t>Read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industry-related</a:t>
            </a:r>
            <a:r>
              <a:rPr sz="2650" spc="-5" dirty="0">
                <a:latin typeface="Times New Roman"/>
                <a:cs typeface="Times New Roman"/>
              </a:rPr>
              <a:t> books,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magazines,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and</a:t>
            </a:r>
            <a:r>
              <a:rPr sz="2650" spc="-60" dirty="0">
                <a:latin typeface="Times New Roman"/>
                <a:cs typeface="Times New Roman"/>
              </a:rPr>
              <a:t> </a:t>
            </a:r>
            <a:r>
              <a:rPr sz="2650" spc="-80" dirty="0">
                <a:latin typeface="Times New Roman"/>
                <a:cs typeface="Times New Roman"/>
              </a:rPr>
              <a:t>Web</a:t>
            </a:r>
            <a:r>
              <a:rPr sz="2650" spc="-5" dirty="0">
                <a:latin typeface="Times New Roman"/>
                <a:cs typeface="Times New Roman"/>
              </a:rPr>
              <a:t> sites.</a:t>
            </a:r>
            <a:endParaRPr sz="2650">
              <a:latin typeface="Times New Roman"/>
              <a:cs typeface="Times New Roman"/>
            </a:endParaRPr>
          </a:p>
          <a:p>
            <a:pPr marL="180340" marR="450850" indent="-167640">
              <a:lnSpc>
                <a:spcPct val="110500"/>
              </a:lnSpc>
              <a:spcBef>
                <a:spcPts val="15"/>
              </a:spcBef>
              <a:buFont typeface="Arial MT"/>
              <a:buChar char="•"/>
              <a:tabLst>
                <a:tab pos="208279" algn="l"/>
              </a:tabLst>
            </a:pPr>
            <a:r>
              <a:rPr dirty="0"/>
              <a:t>	</a:t>
            </a:r>
            <a:r>
              <a:rPr sz="2650" spc="-55" dirty="0">
                <a:latin typeface="Times New Roman"/>
                <a:cs typeface="Times New Roman"/>
              </a:rPr>
              <a:t>Talk</a:t>
            </a:r>
            <a:r>
              <a:rPr sz="2650" spc="-5" dirty="0">
                <a:latin typeface="Times New Roman"/>
                <a:cs typeface="Times New Roman"/>
              </a:rPr>
              <a:t> to </a:t>
            </a:r>
            <a:r>
              <a:rPr sz="2650" spc="-10" dirty="0">
                <a:latin typeface="Times New Roman"/>
                <a:cs typeface="Times New Roman"/>
              </a:rPr>
              <a:t>customers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about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what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motivated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them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buy your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product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as</a:t>
            </a:r>
            <a:r>
              <a:rPr sz="2650" spc="-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opposed</a:t>
            </a:r>
            <a:r>
              <a:rPr sz="2650" spc="-5" dirty="0">
                <a:latin typeface="Times New Roman"/>
                <a:cs typeface="Times New Roman"/>
              </a:rPr>
              <a:t> to your</a:t>
            </a:r>
            <a:r>
              <a:rPr sz="2650" spc="-15" dirty="0">
                <a:latin typeface="Times New Roman"/>
                <a:cs typeface="Times New Roman"/>
              </a:rPr>
              <a:t> competitor’s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product.</a:t>
            </a:r>
            <a:endParaRPr sz="2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04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Sources of</a:t>
            </a:r>
            <a:r>
              <a:rPr spc="-10" dirty="0"/>
              <a:t> </a:t>
            </a:r>
            <a:r>
              <a:rPr dirty="0"/>
              <a:t>Competitive</a:t>
            </a:r>
            <a:r>
              <a:rPr spc="-15" dirty="0"/>
              <a:t> </a:t>
            </a:r>
            <a:r>
              <a:rPr dirty="0"/>
              <a:t>Intelligence</a:t>
            </a: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sz="2200" spc="-5" dirty="0"/>
              <a:t>3</a:t>
            </a:r>
            <a:r>
              <a:rPr sz="2200" spc="-35" dirty="0"/>
              <a:t> </a:t>
            </a:r>
            <a:r>
              <a:rPr sz="2200" spc="-5" dirty="0"/>
              <a:t>of</a:t>
            </a:r>
            <a:r>
              <a:rPr sz="2200" spc="-15" dirty="0"/>
              <a:t> </a:t>
            </a:r>
            <a:r>
              <a:rPr sz="2200" spc="-5" dirty="0"/>
              <a:t>3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2209800"/>
            <a:ext cx="5615939" cy="35204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64110" y="2971800"/>
            <a:ext cx="3429000" cy="247567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80340" marR="5080" indent="-167640">
              <a:lnSpc>
                <a:spcPts val="3170"/>
              </a:lnSpc>
              <a:spcBef>
                <a:spcPts val="204"/>
              </a:spcBef>
              <a:buFont typeface="Arial MT"/>
              <a:buChar char="•"/>
              <a:tabLst>
                <a:tab pos="213995" algn="l"/>
              </a:tabLst>
            </a:pPr>
            <a:r>
              <a:rPr dirty="0"/>
              <a:t>	</a:t>
            </a:r>
            <a:r>
              <a:rPr sz="2650" spc="-5" dirty="0">
                <a:latin typeface="Times New Roman"/>
                <a:cs typeface="Times New Roman"/>
              </a:rPr>
              <a:t>Many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companies</a:t>
            </a:r>
            <a:r>
              <a:rPr sz="2650" spc="-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attend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trade shows </a:t>
            </a:r>
            <a:r>
              <a:rPr sz="2650" spc="-5" dirty="0">
                <a:latin typeface="Times New Roman"/>
                <a:cs typeface="Times New Roman"/>
              </a:rPr>
              <a:t>to not only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display their products,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but </a:t>
            </a:r>
            <a:r>
              <a:rPr sz="2650" spc="-20" dirty="0">
                <a:latin typeface="Times New Roman"/>
                <a:cs typeface="Times New Roman"/>
              </a:rPr>
              <a:t>to </a:t>
            </a:r>
            <a:r>
              <a:rPr sz="2650" dirty="0">
                <a:latin typeface="Times New Roman"/>
                <a:cs typeface="Times New Roman"/>
              </a:rPr>
              <a:t>see </a:t>
            </a:r>
            <a:r>
              <a:rPr sz="2650" spc="-5" dirty="0">
                <a:latin typeface="Times New Roman"/>
                <a:cs typeface="Times New Roman"/>
              </a:rPr>
              <a:t>what their </a:t>
            </a:r>
            <a:r>
              <a:rPr sz="2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competitors</a:t>
            </a:r>
            <a:r>
              <a:rPr sz="2650" spc="-4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are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up</a:t>
            </a:r>
            <a:r>
              <a:rPr sz="2650" spc="-1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to.</a:t>
            </a:r>
            <a:endParaRPr sz="2650" dirty="0">
              <a:latin typeface="Times New Roman"/>
              <a:cs typeface="Times New Roman"/>
            </a:endParaRPr>
          </a:p>
          <a:p>
            <a:pPr marL="12065">
              <a:lnSpc>
                <a:spcPts val="3050"/>
              </a:lnSpc>
              <a:tabLst>
                <a:tab pos="208279" algn="l"/>
              </a:tabLst>
            </a:pPr>
            <a:endParaRPr sz="26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426" y="580097"/>
            <a:ext cx="82988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Completing</a:t>
            </a:r>
            <a:r>
              <a:rPr spc="-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dirty="0"/>
              <a:t>Competitive</a:t>
            </a:r>
            <a:r>
              <a:rPr spc="-20" dirty="0"/>
              <a:t> </a:t>
            </a:r>
            <a:r>
              <a:rPr dirty="0"/>
              <a:t>Analysis </a:t>
            </a:r>
            <a:r>
              <a:rPr spc="5" dirty="0"/>
              <a:t>Grid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865" y="1803066"/>
            <a:ext cx="8761730" cy="3201646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8620" indent="-376555">
              <a:lnSpc>
                <a:spcPct val="100000"/>
              </a:lnSpc>
              <a:spcBef>
                <a:spcPts val="885"/>
              </a:spcBef>
              <a:buChar char="•"/>
              <a:tabLst>
                <a:tab pos="388620" algn="l"/>
                <a:tab pos="389255" algn="l"/>
              </a:tabLst>
            </a:pPr>
            <a:r>
              <a:rPr sz="3050" spc="10" dirty="0">
                <a:latin typeface="Times New Roman"/>
                <a:cs typeface="Times New Roman"/>
              </a:rPr>
              <a:t>Competitive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Analysis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Grid</a:t>
            </a:r>
            <a:endParaRPr sz="3050" dirty="0">
              <a:latin typeface="Times New Roman"/>
              <a:cs typeface="Times New Roman"/>
            </a:endParaRPr>
          </a:p>
          <a:p>
            <a:pPr marL="829310" marR="100965" lvl="1" indent="-314325">
              <a:lnSpc>
                <a:spcPts val="3170"/>
              </a:lnSpc>
              <a:spcBef>
                <a:spcPts val="75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</a:t>
            </a:r>
            <a:r>
              <a:rPr sz="2650" spc="-5" dirty="0">
                <a:latin typeface="Times New Roman"/>
                <a:cs typeface="Times New Roman"/>
              </a:rPr>
              <a:t>tool </a:t>
            </a:r>
            <a:r>
              <a:rPr sz="2650" dirty="0">
                <a:latin typeface="Times New Roman"/>
                <a:cs typeface="Times New Roman"/>
              </a:rPr>
              <a:t>for </a:t>
            </a:r>
            <a:r>
              <a:rPr sz="2650" spc="-10" dirty="0">
                <a:latin typeface="Times New Roman"/>
                <a:cs typeface="Times New Roman"/>
              </a:rPr>
              <a:t>organizing </a:t>
            </a:r>
            <a:r>
              <a:rPr sz="2650" spc="-5" dirty="0">
                <a:latin typeface="Times New Roman"/>
                <a:cs typeface="Times New Roman"/>
              </a:rPr>
              <a:t>the </a:t>
            </a:r>
            <a:r>
              <a:rPr sz="2650" spc="-10" dirty="0">
                <a:latin typeface="Times New Roman"/>
                <a:cs typeface="Times New Roman"/>
              </a:rPr>
              <a:t>information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firm collects </a:t>
            </a:r>
            <a:r>
              <a:rPr sz="2650" spc="-5" dirty="0">
                <a:latin typeface="Times New Roman"/>
                <a:cs typeface="Times New Roman"/>
              </a:rPr>
              <a:t>about </a:t>
            </a:r>
            <a:r>
              <a:rPr sz="2650" spc="-65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its competitors</a:t>
            </a:r>
            <a:endParaRPr sz="2650" dirty="0">
              <a:latin typeface="Times New Roman"/>
              <a:cs typeface="Times New Roman"/>
            </a:endParaRPr>
          </a:p>
          <a:p>
            <a:pPr marL="829310" marR="5080" lvl="1" indent="-314325">
              <a:lnSpc>
                <a:spcPts val="3170"/>
              </a:lnSpc>
              <a:spcBef>
                <a:spcPts val="620"/>
              </a:spcBef>
              <a:buChar char="–"/>
              <a:tabLst>
                <a:tab pos="830580" algn="l"/>
                <a:tab pos="831215" algn="l"/>
              </a:tabLst>
            </a:pPr>
            <a:r>
              <a:rPr sz="2650" spc="-10" dirty="0">
                <a:latin typeface="Times New Roman"/>
                <a:cs typeface="Times New Roman"/>
              </a:rPr>
              <a:t>A </a:t>
            </a:r>
            <a:r>
              <a:rPr sz="2650" spc="-5" dirty="0">
                <a:latin typeface="Times New Roman"/>
                <a:cs typeface="Times New Roman"/>
              </a:rPr>
              <a:t>competitive </a:t>
            </a:r>
            <a:r>
              <a:rPr sz="2650" spc="-10" dirty="0">
                <a:latin typeface="Times New Roman"/>
                <a:cs typeface="Times New Roman"/>
              </a:rPr>
              <a:t>analysis grid </a:t>
            </a:r>
            <a:r>
              <a:rPr sz="2650" spc="-5" dirty="0">
                <a:latin typeface="Times New Roman"/>
                <a:cs typeface="Times New Roman"/>
              </a:rPr>
              <a:t>can </a:t>
            </a:r>
            <a:r>
              <a:rPr sz="2650" spc="-10" dirty="0">
                <a:latin typeface="Times New Roman"/>
                <a:cs typeface="Times New Roman"/>
              </a:rPr>
              <a:t>help </a:t>
            </a:r>
            <a:r>
              <a:rPr sz="2650" spc="-5" dirty="0">
                <a:latin typeface="Times New Roman"/>
                <a:cs typeface="Times New Roman"/>
              </a:rPr>
              <a:t>a </a:t>
            </a:r>
            <a:r>
              <a:rPr sz="2650" spc="-10" dirty="0">
                <a:latin typeface="Times New Roman"/>
                <a:cs typeface="Times New Roman"/>
              </a:rPr>
              <a:t>firm </a:t>
            </a:r>
            <a:r>
              <a:rPr sz="2650" dirty="0">
                <a:latin typeface="Times New Roman"/>
                <a:cs typeface="Times New Roman"/>
              </a:rPr>
              <a:t>see </a:t>
            </a:r>
            <a:r>
              <a:rPr sz="2650" spc="-10" dirty="0">
                <a:latin typeface="Times New Roman"/>
                <a:cs typeface="Times New Roman"/>
              </a:rPr>
              <a:t>how </a:t>
            </a:r>
            <a:r>
              <a:rPr sz="2650" spc="-5" dirty="0">
                <a:latin typeface="Times New Roman"/>
                <a:cs typeface="Times New Roman"/>
              </a:rPr>
              <a:t>it</a:t>
            </a:r>
            <a:r>
              <a:rPr lang="en-US" sz="2650" spc="-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sta</a:t>
            </a:r>
            <a:r>
              <a:rPr lang="en-US" sz="2650" spc="-5" dirty="0">
                <a:latin typeface="Times New Roman"/>
                <a:cs typeface="Times New Roman"/>
              </a:rPr>
              <a:t>ck</a:t>
            </a:r>
            <a:r>
              <a:rPr sz="2650" spc="-5" dirty="0">
                <a:latin typeface="Times New Roman"/>
                <a:cs typeface="Times New Roman"/>
              </a:rPr>
              <a:t>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up against</a:t>
            </a:r>
            <a:r>
              <a:rPr sz="2650" spc="-25" dirty="0">
                <a:latin typeface="Times New Roman"/>
                <a:cs typeface="Times New Roman"/>
              </a:rPr>
              <a:t> </a:t>
            </a:r>
            <a:r>
              <a:rPr sz="2650" dirty="0">
                <a:latin typeface="Times New Roman"/>
                <a:cs typeface="Times New Roman"/>
              </a:rPr>
              <a:t>its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competitors,</a:t>
            </a:r>
            <a:r>
              <a:rPr sz="2650" spc="-30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provide</a:t>
            </a:r>
            <a:r>
              <a:rPr sz="2650" spc="-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ideas</a:t>
            </a:r>
            <a:r>
              <a:rPr sz="2650" spc="-35" dirty="0">
                <a:latin typeface="Times New Roman"/>
                <a:cs typeface="Times New Roman"/>
              </a:rPr>
              <a:t> </a:t>
            </a:r>
            <a:r>
              <a:rPr sz="2650" spc="-10" dirty="0">
                <a:latin typeface="Times New Roman"/>
                <a:cs typeface="Times New Roman"/>
              </a:rPr>
              <a:t>for</a:t>
            </a:r>
            <a:r>
              <a:rPr sz="2650" spc="1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markets </a:t>
            </a:r>
            <a:r>
              <a:rPr sz="2650" spc="-645" dirty="0">
                <a:latin typeface="Times New Roman"/>
                <a:cs typeface="Times New Roman"/>
              </a:rPr>
              <a:t> </a:t>
            </a:r>
            <a:r>
              <a:rPr sz="2650" spc="-5" dirty="0">
                <a:latin typeface="Times New Roman"/>
                <a:cs typeface="Times New Roman"/>
              </a:rPr>
              <a:t>to pursue, </a:t>
            </a:r>
            <a:r>
              <a:rPr sz="2650" dirty="0">
                <a:latin typeface="Times New Roman"/>
                <a:cs typeface="Times New Roman"/>
              </a:rPr>
              <a:t>and </a:t>
            </a:r>
            <a:r>
              <a:rPr sz="2650" spc="-10" dirty="0">
                <a:latin typeface="Times New Roman"/>
                <a:cs typeface="Times New Roman"/>
              </a:rPr>
              <a:t>identify </a:t>
            </a:r>
            <a:r>
              <a:rPr sz="2650" dirty="0">
                <a:latin typeface="Times New Roman"/>
                <a:cs typeface="Times New Roman"/>
              </a:rPr>
              <a:t>its </a:t>
            </a:r>
            <a:r>
              <a:rPr sz="2650" spc="-5" dirty="0">
                <a:latin typeface="Times New Roman"/>
                <a:cs typeface="Times New Roman"/>
              </a:rPr>
              <a:t>primary </a:t>
            </a:r>
            <a:r>
              <a:rPr sz="2650" spc="-10" dirty="0">
                <a:latin typeface="Times New Roman"/>
                <a:cs typeface="Times New Roman"/>
              </a:rPr>
              <a:t>sources </a:t>
            </a:r>
            <a:r>
              <a:rPr sz="2650" spc="-5" dirty="0">
                <a:latin typeface="Times New Roman"/>
                <a:cs typeface="Times New Roman"/>
              </a:rPr>
              <a:t>of </a:t>
            </a:r>
            <a:r>
              <a:rPr sz="2650" spc="-10" dirty="0">
                <a:latin typeface="Times New Roman"/>
                <a:cs typeface="Times New Roman"/>
              </a:rPr>
              <a:t>competitive </a:t>
            </a:r>
            <a:r>
              <a:rPr sz="2650" spc="-5" dirty="0">
                <a:latin typeface="Times New Roman"/>
                <a:cs typeface="Times New Roman"/>
              </a:rPr>
              <a:t> advantage.</a:t>
            </a:r>
            <a:endParaRPr sz="26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55419"/>
            <a:ext cx="10058400" cy="0"/>
          </a:xfrm>
          <a:custGeom>
            <a:avLst/>
            <a:gdLst/>
            <a:ahLst/>
            <a:cxnLst/>
            <a:rect l="l" t="t" r="r" b="b"/>
            <a:pathLst>
              <a:path w="10058400">
                <a:moveTo>
                  <a:pt x="0" y="0"/>
                </a:moveTo>
                <a:lnTo>
                  <a:pt x="10058400" y="0"/>
                </a:lnTo>
              </a:path>
            </a:pathLst>
          </a:custGeom>
          <a:ln w="41148">
            <a:solidFill>
              <a:srgbClr val="99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0" y="110820"/>
            <a:ext cx="10083800" cy="12325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Competitive</a:t>
            </a:r>
            <a:r>
              <a:rPr spc="-15" dirty="0"/>
              <a:t> </a:t>
            </a:r>
            <a:r>
              <a:rPr dirty="0" smtClean="0"/>
              <a:t>Analysis</a:t>
            </a:r>
            <a:r>
              <a:rPr spc="5" dirty="0" smtClean="0"/>
              <a:t> </a:t>
            </a:r>
            <a:r>
              <a:rPr spc="-5" dirty="0" smtClean="0"/>
              <a:t>Grid</a:t>
            </a:r>
            <a:r>
              <a:rPr spc="5" dirty="0" smtClean="0"/>
              <a:t> </a:t>
            </a:r>
            <a:endParaRPr spc="-5" dirty="0" smtClean="0"/>
          </a:p>
          <a:p>
            <a:pPr algn="ctr">
              <a:lnSpc>
                <a:spcPct val="100000"/>
              </a:lnSpc>
              <a:spcBef>
                <a:spcPts val="10"/>
              </a:spcBef>
              <a:tabLst>
                <a:tab pos="4315460" algn="l"/>
                <a:tab pos="10057765" algn="l"/>
              </a:tabLst>
            </a:pPr>
            <a:r>
              <a:rPr u="heavy" dirty="0" smtClean="0">
                <a:uFill>
                  <a:solidFill>
                    <a:srgbClr val="993300"/>
                  </a:solidFill>
                </a:uFill>
              </a:rPr>
              <a:t> 		</a:t>
            </a:r>
            <a:endParaRPr u="heavy" dirty="0">
              <a:uFill>
                <a:solidFill>
                  <a:srgbClr val="993300"/>
                </a:solidFill>
              </a:u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645C46-9E86-851E-E5B7-1C56DFA26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676400"/>
            <a:ext cx="9753600" cy="525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3093</Words>
  <Application>Microsoft Office PowerPoint</Application>
  <PresentationFormat>Custom</PresentationFormat>
  <Paragraphs>341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 MT</vt:lpstr>
      <vt:lpstr>Calibri</vt:lpstr>
      <vt:lpstr>Times New Roman</vt:lpstr>
      <vt:lpstr>Office Theme</vt:lpstr>
      <vt:lpstr>Chapter 5</vt:lpstr>
      <vt:lpstr>Chapter Objectives 1 of 2</vt:lpstr>
      <vt:lpstr>Chapter Objectives 2 of 2</vt:lpstr>
      <vt:lpstr>What is Industry Analysis?</vt:lpstr>
      <vt:lpstr>Why is Industry Analysis Important?</vt:lpstr>
      <vt:lpstr>Three Key Questions</vt:lpstr>
      <vt:lpstr>How Industry and Firm-Level Factors   Affect Performance </vt:lpstr>
      <vt:lpstr>Techniques Available to Assess Industry   Attractiveness </vt:lpstr>
      <vt:lpstr>Studying Industry Trends</vt:lpstr>
      <vt:lpstr>The Five Competitive Forces Model 1 of 3</vt:lpstr>
      <vt:lpstr>The Five Competitive Forces Model 2 of 3</vt:lpstr>
      <vt:lpstr>The Five Competitive Forces Model 3 of 3</vt:lpstr>
      <vt:lpstr>Threat of Substitutes 1 of 3</vt:lpstr>
      <vt:lpstr>Threat of Substitutes 2 of 3</vt:lpstr>
      <vt:lpstr>Threat of Substitutes 3 of 3</vt:lpstr>
      <vt:lpstr>Threat of New Entrants 1 of 6</vt:lpstr>
      <vt:lpstr>Threat of New Entrants</vt:lpstr>
      <vt:lpstr>Threat of New Entrants</vt:lpstr>
      <vt:lpstr>Threat of New Entrants 4 of 6</vt:lpstr>
      <vt:lpstr>Threat of New Entrants</vt:lpstr>
      <vt:lpstr>Threat of New Entrants</vt:lpstr>
      <vt:lpstr>Rivalry Among Existing Firms 1 of 3</vt:lpstr>
      <vt:lpstr>Rivalry Among Existing Firms</vt:lpstr>
      <vt:lpstr>Rivalry Among Existing Firms</vt:lpstr>
      <vt:lpstr>Bargaining Power of Suppliers 1 of 3</vt:lpstr>
      <vt:lpstr>Bargaining Power of Suppliers</vt:lpstr>
      <vt:lpstr>Bargaining Power of Suppliers</vt:lpstr>
      <vt:lpstr>Bargaining Power of Buyers 1 of 3</vt:lpstr>
      <vt:lpstr>Bargaining Power of Buyers</vt:lpstr>
      <vt:lpstr>Bargaining Power of Buyers</vt:lpstr>
      <vt:lpstr>The Value of the Five Forces Model</vt:lpstr>
      <vt:lpstr>First Application of the Five Forces Model 1 of 2</vt:lpstr>
      <vt:lpstr>First Application of the Five Forces Model</vt:lpstr>
      <vt:lpstr>Second Application of the Five Forces Model 1 of 2</vt:lpstr>
      <vt:lpstr>Second Application of the Five Forced Model</vt:lpstr>
      <vt:lpstr>Industry Types and the Opportunities  They Offer 1 of 3</vt:lpstr>
      <vt:lpstr>Industry Types and the Opportunities  They Offer 1 of 3</vt:lpstr>
      <vt:lpstr>Industry Types and the Opportunities  They Offer 2 of 3</vt:lpstr>
      <vt:lpstr>Industry Types and the Opportunities  They Offer 2 of 3</vt:lpstr>
      <vt:lpstr>Industry Types and the Opportunities  They Offer 3 of 3</vt:lpstr>
      <vt:lpstr>Competitor Analysis</vt:lpstr>
      <vt:lpstr>PowerPoint Presentation</vt:lpstr>
      <vt:lpstr>Sources of Competitive Intelligence 1 of 3</vt:lpstr>
      <vt:lpstr>Sources of Competitive Intelligence 2 of 3</vt:lpstr>
      <vt:lpstr>Sources of Competitive Intelligence 3 of 3</vt:lpstr>
      <vt:lpstr>Completing a Competitive Analysis Grid</vt:lpstr>
      <vt:lpstr>Competitive Analysis Grid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EBM_07.ppt [Compatibility Mode]</dc:title>
  <dc:creator>AliShahid</dc:creator>
  <cp:lastModifiedBy>Ramsha Khalid</cp:lastModifiedBy>
  <cp:revision>35</cp:revision>
  <dcterms:created xsi:type="dcterms:W3CDTF">2023-01-17T09:39:30Z</dcterms:created>
  <dcterms:modified xsi:type="dcterms:W3CDTF">2024-03-18T17:34:35Z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2022-03-24T00:00:00Z</vt:filetime>
  </property>
  <property fmtid="{D5CDD505-2E9C-101B-9397-08002B2CF9AE}" pid="3" name="LastSaved">
    <vt:filetime>2023-01-17T00:00:00Z</vt:filetime>
  </property>
</Properties>
</file>