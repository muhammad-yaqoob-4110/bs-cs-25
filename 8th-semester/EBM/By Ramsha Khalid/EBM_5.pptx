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83" r:id="rId6"/>
    <p:sldId id="263" r:id="rId7"/>
    <p:sldId id="282" r:id="rId8"/>
    <p:sldId id="260" r:id="rId9"/>
    <p:sldId id="261" r:id="rId10"/>
    <p:sldId id="284" r:id="rId11"/>
    <p:sldId id="262" r:id="rId12"/>
    <p:sldId id="265" r:id="rId13"/>
    <p:sldId id="266" r:id="rId14"/>
    <p:sldId id="285" r:id="rId15"/>
    <p:sldId id="267" r:id="rId16"/>
    <p:sldId id="286" r:id="rId17"/>
    <p:sldId id="268" r:id="rId18"/>
    <p:sldId id="269" r:id="rId19"/>
    <p:sldId id="270" r:id="rId20"/>
    <p:sldId id="271" r:id="rId21"/>
    <p:sldId id="272" r:id="rId22"/>
    <p:sldId id="273" r:id="rId23"/>
    <p:sldId id="274" r:id="rId24"/>
    <p:sldId id="275" r:id="rId25"/>
    <p:sldId id="276" r:id="rId26"/>
    <p:sldId id="277" r:id="rId27"/>
    <p:sldId id="287" r:id="rId28"/>
    <p:sldId id="278" r:id="rId29"/>
    <p:sldId id="279" r:id="rId30"/>
    <p:sldId id="280" r:id="rId31"/>
    <p:sldId id="281" r:id="rId32"/>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61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621055" y="580097"/>
            <a:ext cx="6816289" cy="62928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2/28/2023</a:t>
            </a:fld>
            <a:endParaRPr lang="en-US"/>
          </a:p>
        </p:txBody>
      </p:sp>
      <p:sp>
        <p:nvSpPr>
          <p:cNvPr id="6" name="Holder 6"/>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6-1</a:t>
            </a:r>
            <a:fld id="{81D60167-4931-47E6-BA6A-407CBD079E47}" type="slidenum">
              <a:rPr spc="15" dirty="0"/>
              <a:t>‹#›</a:t>
            </a:fld>
            <a:endParaRPr spc="1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2/28/2023</a:t>
            </a:fld>
            <a:endParaRPr lang="en-US"/>
          </a:p>
        </p:txBody>
      </p:sp>
      <p:sp>
        <p:nvSpPr>
          <p:cNvPr id="6" name="Holder 6"/>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6-1</a:t>
            </a:r>
            <a:fld id="{81D60167-4931-47E6-BA6A-407CBD079E47}" type="slidenum">
              <a:rPr spc="15" dirty="0"/>
              <a:t>‹#›</a:t>
            </a:fld>
            <a:endParaRPr spc="1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2/28/2023</a:t>
            </a:fld>
            <a:endParaRPr lang="en-US"/>
          </a:p>
        </p:txBody>
      </p:sp>
      <p:sp>
        <p:nvSpPr>
          <p:cNvPr id="7" name="Holder 7"/>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6-1</a:t>
            </a:r>
            <a:fld id="{81D60167-4931-47E6-BA6A-407CBD079E47}" type="slidenum">
              <a:rPr spc="15" dirty="0"/>
              <a:t>‹#›</a:t>
            </a:fld>
            <a:endParaRPr spc="1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2/28/2023</a:t>
            </a:fld>
            <a:endParaRPr lang="en-US"/>
          </a:p>
        </p:txBody>
      </p:sp>
      <p:sp>
        <p:nvSpPr>
          <p:cNvPr id="5" name="Holder 5"/>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6-1</a:t>
            </a:r>
            <a:fld id="{81D60167-4931-47E6-BA6A-407CBD079E47}" type="slidenum">
              <a:rPr spc="15" dirty="0"/>
              <a:t>‹#›</a:t>
            </a:fld>
            <a:endParaRPr spc="1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14300"/>
            <a:ext cx="10058400" cy="7543800"/>
          </a:xfrm>
          <a:prstGeom prst="rect">
            <a:avLst/>
          </a:prstGeom>
        </p:spPr>
      </p:pic>
      <p:pic>
        <p:nvPicPr>
          <p:cNvPr id="17" name="bg object 17"/>
          <p:cNvPicPr/>
          <p:nvPr/>
        </p:nvPicPr>
        <p:blipFill>
          <a:blip r:embed="rId3" cstate="print"/>
          <a:stretch>
            <a:fillRect/>
          </a:stretch>
        </p:blipFill>
        <p:spPr>
          <a:xfrm>
            <a:off x="922020" y="1036320"/>
            <a:ext cx="8453628" cy="2642615"/>
          </a:xfrm>
          <a:prstGeom prst="rect">
            <a:avLst/>
          </a:prstGeom>
        </p:spPr>
      </p:pic>
      <p:sp>
        <p:nvSpPr>
          <p:cNvPr id="18" name="bg object 18"/>
          <p:cNvSpPr/>
          <p:nvPr/>
        </p:nvSpPr>
        <p:spPr>
          <a:xfrm>
            <a:off x="917447" y="1031747"/>
            <a:ext cx="8464550" cy="2653665"/>
          </a:xfrm>
          <a:custGeom>
            <a:avLst/>
            <a:gdLst/>
            <a:ahLst/>
            <a:cxnLst/>
            <a:rect l="l" t="t" r="r" b="b"/>
            <a:pathLst>
              <a:path w="8464550" h="2653665">
                <a:moveTo>
                  <a:pt x="0" y="0"/>
                </a:moveTo>
                <a:lnTo>
                  <a:pt x="8464296" y="0"/>
                </a:lnTo>
                <a:lnTo>
                  <a:pt x="8464296" y="2653284"/>
                </a:lnTo>
                <a:lnTo>
                  <a:pt x="0" y="2653284"/>
                </a:lnTo>
                <a:lnTo>
                  <a:pt x="0" y="0"/>
                </a:lnTo>
                <a:close/>
              </a:path>
            </a:pathLst>
          </a:custGeom>
          <a:ln w="10668">
            <a:solidFill>
              <a:srgbClr val="FFFFFF"/>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2/28/2023</a:t>
            </a:fld>
            <a:endParaRPr lang="en-US"/>
          </a:p>
        </p:txBody>
      </p:sp>
      <p:sp>
        <p:nvSpPr>
          <p:cNvPr id="4" name="Holder 4"/>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6-1</a:t>
            </a:r>
            <a:fld id="{81D60167-4931-47E6-BA6A-407CBD079E47}" type="slidenum">
              <a:rPr spc="15" dirty="0"/>
              <a:t>‹#›</a:t>
            </a:fld>
            <a:endParaRPr spc="1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14300"/>
            <a:ext cx="10058400" cy="7543800"/>
          </a:xfrm>
          <a:prstGeom prst="rect">
            <a:avLst/>
          </a:prstGeom>
        </p:spPr>
      </p:pic>
      <p:sp>
        <p:nvSpPr>
          <p:cNvPr id="2" name="Holder 2"/>
          <p:cNvSpPr>
            <a:spLocks noGrp="1"/>
          </p:cNvSpPr>
          <p:nvPr>
            <p:ph type="title"/>
          </p:nvPr>
        </p:nvSpPr>
        <p:spPr>
          <a:xfrm>
            <a:off x="1906813" y="412376"/>
            <a:ext cx="6244772" cy="971550"/>
          </a:xfrm>
          <a:prstGeom prst="rect">
            <a:avLst/>
          </a:prstGeom>
        </p:spPr>
        <p:txBody>
          <a:bodyPr wrap="square" lIns="0" tIns="0" rIns="0" bIns="0">
            <a:spAutoFit/>
          </a:bodyPr>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832866" y="2288286"/>
            <a:ext cx="8147050" cy="462089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072377" y="7191899"/>
            <a:ext cx="1513205" cy="212725"/>
          </a:xfrm>
          <a:prstGeom prst="rect">
            <a:avLst/>
          </a:prstGeom>
        </p:spPr>
        <p:txBody>
          <a:bodyPr wrap="square" lIns="0" tIns="0" rIns="0" bIns="0">
            <a:spAutoFit/>
          </a:bodyPr>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2/28/2023</a:t>
            </a:fld>
            <a:endParaRPr lang="en-US"/>
          </a:p>
        </p:txBody>
      </p:sp>
      <p:sp>
        <p:nvSpPr>
          <p:cNvPr id="6" name="Holder 6"/>
          <p:cNvSpPr>
            <a:spLocks noGrp="1"/>
          </p:cNvSpPr>
          <p:nvPr>
            <p:ph type="sldNum" sz="quarter" idx="7"/>
          </p:nvPr>
        </p:nvSpPr>
        <p:spPr>
          <a:xfrm>
            <a:off x="9050515" y="7036013"/>
            <a:ext cx="442595" cy="243840"/>
          </a:xfrm>
          <a:prstGeom prst="rect">
            <a:avLst/>
          </a:prstGeom>
        </p:spPr>
        <p:txBody>
          <a:bodyPr wrap="square" lIns="0" tIns="0" rIns="0" bIns="0">
            <a:spAutoFit/>
          </a:bodyPr>
          <a:lstStyle>
            <a:lvl1pPr>
              <a:defRPr sz="1500" b="0" i="0">
                <a:solidFill>
                  <a:schemeClr val="tx1"/>
                </a:solidFill>
                <a:latin typeface="Arial MT"/>
                <a:cs typeface="Arial MT"/>
              </a:defRPr>
            </a:lvl1pPr>
          </a:lstStyle>
          <a:p>
            <a:pPr marL="12700">
              <a:lnSpc>
                <a:spcPts val="1789"/>
              </a:lnSpc>
            </a:pPr>
            <a:r>
              <a:rPr spc="15" dirty="0"/>
              <a:t>6-1</a:t>
            </a:r>
            <a:fld id="{81D60167-4931-47E6-BA6A-407CBD079E47}" type="slidenum">
              <a:rPr spc="15" dirty="0"/>
              <a:t>‹#›</a:t>
            </a:fld>
            <a:endParaRPr spc="1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38327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3" name="object 3"/>
          <p:cNvSpPr txBox="1">
            <a:spLocks noGrp="1"/>
          </p:cNvSpPr>
          <p:nvPr>
            <p:ph type="title"/>
          </p:nvPr>
        </p:nvSpPr>
        <p:spPr>
          <a:xfrm>
            <a:off x="3747089" y="1889295"/>
            <a:ext cx="2647315" cy="830580"/>
          </a:xfrm>
          <a:prstGeom prst="rect">
            <a:avLst/>
          </a:prstGeom>
        </p:spPr>
        <p:txBody>
          <a:bodyPr vert="horz" wrap="square" lIns="0" tIns="16510" rIns="0" bIns="0" rtlCol="0">
            <a:spAutoFit/>
          </a:bodyPr>
          <a:lstStyle/>
          <a:p>
            <a:pPr marL="12700">
              <a:lnSpc>
                <a:spcPct val="100000"/>
              </a:lnSpc>
              <a:spcBef>
                <a:spcPts val="130"/>
              </a:spcBef>
            </a:pPr>
            <a:r>
              <a:rPr sz="5250" spc="10" dirty="0"/>
              <a:t>Chapter</a:t>
            </a:r>
            <a:r>
              <a:rPr sz="5250" spc="-105" dirty="0"/>
              <a:t> </a:t>
            </a:r>
            <a:r>
              <a:rPr sz="5250" spc="15" dirty="0"/>
              <a:t>6</a:t>
            </a:r>
            <a:endParaRPr sz="5250"/>
          </a:p>
        </p:txBody>
      </p:sp>
      <p:sp>
        <p:nvSpPr>
          <p:cNvPr id="4" name="object 4"/>
          <p:cNvSpPr txBox="1"/>
          <p:nvPr/>
        </p:nvSpPr>
        <p:spPr>
          <a:xfrm>
            <a:off x="3248671" y="3739313"/>
            <a:ext cx="3897629" cy="3048000"/>
          </a:xfrm>
          <a:prstGeom prst="rect">
            <a:avLst/>
          </a:prstGeom>
        </p:spPr>
        <p:txBody>
          <a:bodyPr vert="horz" wrap="square" lIns="0" tIns="12065" rIns="0" bIns="0" rtlCol="0">
            <a:spAutoFit/>
          </a:bodyPr>
          <a:lstStyle/>
          <a:p>
            <a:pPr marL="12700" marR="5080" indent="-3810" algn="ctr">
              <a:lnSpc>
                <a:spcPct val="100299"/>
              </a:lnSpc>
              <a:spcBef>
                <a:spcPts val="95"/>
              </a:spcBef>
            </a:pPr>
            <a:r>
              <a:rPr sz="3950" b="1" dirty="0">
                <a:latin typeface="Times New Roman"/>
                <a:cs typeface="Times New Roman"/>
              </a:rPr>
              <a:t>Developing </a:t>
            </a:r>
            <a:r>
              <a:rPr sz="3950" b="1" spc="5" dirty="0">
                <a:latin typeface="Times New Roman"/>
                <a:cs typeface="Times New Roman"/>
              </a:rPr>
              <a:t>an </a:t>
            </a:r>
            <a:r>
              <a:rPr sz="3950" b="1" spc="10" dirty="0">
                <a:latin typeface="Times New Roman"/>
                <a:cs typeface="Times New Roman"/>
              </a:rPr>
              <a:t> </a:t>
            </a:r>
            <a:r>
              <a:rPr sz="3950" b="1" dirty="0">
                <a:latin typeface="Times New Roman"/>
                <a:cs typeface="Times New Roman"/>
              </a:rPr>
              <a:t>Effective</a:t>
            </a:r>
            <a:r>
              <a:rPr sz="3950" b="1" spc="-45" dirty="0">
                <a:latin typeface="Times New Roman"/>
                <a:cs typeface="Times New Roman"/>
              </a:rPr>
              <a:t> </a:t>
            </a:r>
            <a:r>
              <a:rPr sz="3950" b="1" dirty="0">
                <a:latin typeface="Times New Roman"/>
                <a:cs typeface="Times New Roman"/>
              </a:rPr>
              <a:t>Business </a:t>
            </a:r>
            <a:r>
              <a:rPr sz="3950" b="1" spc="-969" dirty="0">
                <a:latin typeface="Times New Roman"/>
                <a:cs typeface="Times New Roman"/>
              </a:rPr>
              <a:t> </a:t>
            </a:r>
            <a:r>
              <a:rPr sz="3950" b="1" dirty="0">
                <a:latin typeface="Times New Roman"/>
                <a:cs typeface="Times New Roman"/>
              </a:rPr>
              <a:t>Model</a:t>
            </a:r>
            <a:endParaRPr sz="3950">
              <a:latin typeface="Times New Roman"/>
              <a:cs typeface="Times New Roman"/>
            </a:endParaRPr>
          </a:p>
          <a:p>
            <a:pPr marL="667385">
              <a:lnSpc>
                <a:spcPct val="100000"/>
              </a:lnSpc>
              <a:spcBef>
                <a:spcPts val="1610"/>
              </a:spcBef>
            </a:pPr>
            <a:r>
              <a:rPr sz="2650" spc="-5" dirty="0">
                <a:latin typeface="Times New Roman"/>
                <a:cs typeface="Times New Roman"/>
              </a:rPr>
              <a:t>Bruce</a:t>
            </a:r>
            <a:r>
              <a:rPr sz="2650" spc="-35" dirty="0">
                <a:latin typeface="Times New Roman"/>
                <a:cs typeface="Times New Roman"/>
              </a:rPr>
              <a:t> </a:t>
            </a:r>
            <a:r>
              <a:rPr sz="2650" spc="-15" dirty="0">
                <a:latin typeface="Times New Roman"/>
                <a:cs typeface="Times New Roman"/>
              </a:rPr>
              <a:t>R.</a:t>
            </a:r>
            <a:r>
              <a:rPr sz="2650" spc="-20" dirty="0">
                <a:latin typeface="Times New Roman"/>
                <a:cs typeface="Times New Roman"/>
              </a:rPr>
              <a:t> </a:t>
            </a:r>
            <a:r>
              <a:rPr sz="2650" spc="-10" dirty="0">
                <a:latin typeface="Times New Roman"/>
                <a:cs typeface="Times New Roman"/>
              </a:rPr>
              <a:t>Barringer</a:t>
            </a:r>
            <a:endParaRPr sz="2650">
              <a:latin typeface="Times New Roman"/>
              <a:cs typeface="Times New Roman"/>
            </a:endParaRPr>
          </a:p>
          <a:p>
            <a:pPr marL="797560">
              <a:lnSpc>
                <a:spcPct val="100000"/>
              </a:lnSpc>
              <a:spcBef>
                <a:spcPts val="1570"/>
              </a:spcBef>
            </a:pPr>
            <a:r>
              <a:rPr sz="2650" spc="-5" dirty="0">
                <a:latin typeface="Times New Roman"/>
                <a:cs typeface="Times New Roman"/>
              </a:rPr>
              <a:t>R.</a:t>
            </a:r>
            <a:r>
              <a:rPr sz="2650" spc="-25" dirty="0">
                <a:latin typeface="Times New Roman"/>
                <a:cs typeface="Times New Roman"/>
              </a:rPr>
              <a:t> </a:t>
            </a:r>
            <a:r>
              <a:rPr sz="2650" spc="-5" dirty="0">
                <a:latin typeface="Times New Roman"/>
                <a:cs typeface="Times New Roman"/>
              </a:rPr>
              <a:t>Duane</a:t>
            </a:r>
            <a:r>
              <a:rPr sz="2650" spc="-35" dirty="0">
                <a:latin typeface="Times New Roman"/>
                <a:cs typeface="Times New Roman"/>
              </a:rPr>
              <a:t> </a:t>
            </a:r>
            <a:r>
              <a:rPr sz="2650" spc="-10" dirty="0">
                <a:latin typeface="Times New Roman"/>
                <a:cs typeface="Times New Roman"/>
              </a:rPr>
              <a:t>Ireland</a:t>
            </a:r>
            <a:endParaRPr sz="265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dirty="0"/>
              <a:t>Chapter</a:t>
            </a:r>
            <a:r>
              <a:rPr spc="-15" dirty="0"/>
              <a:t> </a:t>
            </a:r>
            <a:r>
              <a:rPr spc="-5" dirty="0"/>
              <a:t>Objectives</a:t>
            </a:r>
          </a:p>
          <a:p>
            <a:pPr algn="ctr">
              <a:lnSpc>
                <a:spcPct val="100000"/>
              </a:lnSpc>
              <a:spcBef>
                <a:spcPts val="55"/>
              </a:spcBef>
            </a:pPr>
            <a:r>
              <a:rPr sz="2200" spc="-5" dirty="0"/>
              <a:t>1</a:t>
            </a:r>
            <a:r>
              <a:rPr sz="2200" spc="-35" dirty="0"/>
              <a:t> </a:t>
            </a:r>
            <a:r>
              <a:rPr sz="2200" spc="-5" dirty="0"/>
              <a:t>of</a:t>
            </a:r>
            <a:r>
              <a:rPr sz="2200" spc="-15" dirty="0"/>
              <a:t> </a:t>
            </a:r>
            <a:r>
              <a:rPr sz="2200" spc="-5" dirty="0"/>
              <a:t>2</a:t>
            </a:r>
            <a:endParaRPr sz="2200"/>
          </a:p>
        </p:txBody>
      </p:sp>
      <p:sp>
        <p:nvSpPr>
          <p:cNvPr id="3" name="object 3"/>
          <p:cNvSpPr txBox="1"/>
          <p:nvPr/>
        </p:nvSpPr>
        <p:spPr>
          <a:xfrm>
            <a:off x="590865" y="1806142"/>
            <a:ext cx="7924800" cy="3779520"/>
          </a:xfrm>
          <a:prstGeom prst="rect">
            <a:avLst/>
          </a:prstGeom>
        </p:spPr>
        <p:txBody>
          <a:bodyPr vert="horz" wrap="square" lIns="0" tIns="109220" rIns="0" bIns="0" rtlCol="0">
            <a:spAutoFit/>
          </a:bodyPr>
          <a:lstStyle/>
          <a:p>
            <a:pPr marL="681990" indent="-669925">
              <a:lnSpc>
                <a:spcPct val="100000"/>
              </a:lnSpc>
              <a:spcBef>
                <a:spcPts val="860"/>
              </a:spcBef>
              <a:buAutoNum type="arabicPeriod"/>
              <a:tabLst>
                <a:tab pos="681990" algn="l"/>
                <a:tab pos="682625" algn="l"/>
              </a:tabLst>
            </a:pPr>
            <a:r>
              <a:rPr sz="3050" spc="10" dirty="0">
                <a:latin typeface="Times New Roman"/>
                <a:cs typeface="Times New Roman"/>
              </a:rPr>
              <a:t>Describe</a:t>
            </a:r>
            <a:r>
              <a:rPr sz="3050" spc="-10" dirty="0">
                <a:latin typeface="Times New Roman"/>
                <a:cs typeface="Times New Roman"/>
              </a:rPr>
              <a:t> </a:t>
            </a:r>
            <a:r>
              <a:rPr sz="3050" spc="15" dirty="0">
                <a:latin typeface="Times New Roman"/>
                <a:cs typeface="Times New Roman"/>
              </a:rPr>
              <a:t>a</a:t>
            </a:r>
            <a:r>
              <a:rPr sz="3050" spc="-10" dirty="0">
                <a:latin typeface="Times New Roman"/>
                <a:cs typeface="Times New Roman"/>
              </a:rPr>
              <a:t> </a:t>
            </a:r>
            <a:r>
              <a:rPr sz="3050" spc="10" dirty="0">
                <a:latin typeface="Times New Roman"/>
                <a:cs typeface="Times New Roman"/>
              </a:rPr>
              <a:t>business</a:t>
            </a:r>
            <a:r>
              <a:rPr sz="3050" spc="-60" dirty="0">
                <a:latin typeface="Times New Roman"/>
                <a:cs typeface="Times New Roman"/>
              </a:rPr>
              <a:t> </a:t>
            </a:r>
            <a:r>
              <a:rPr sz="3050" spc="15" dirty="0">
                <a:latin typeface="Times New Roman"/>
                <a:cs typeface="Times New Roman"/>
              </a:rPr>
              <a:t>model.</a:t>
            </a:r>
            <a:endParaRPr sz="3050">
              <a:latin typeface="Times New Roman"/>
              <a:cs typeface="Times New Roman"/>
            </a:endParaRPr>
          </a:p>
          <a:p>
            <a:pPr marL="681990" indent="-669925">
              <a:lnSpc>
                <a:spcPct val="100000"/>
              </a:lnSpc>
              <a:spcBef>
                <a:spcPts val="765"/>
              </a:spcBef>
              <a:buAutoNum type="arabicPeriod"/>
              <a:tabLst>
                <a:tab pos="681990" algn="l"/>
                <a:tab pos="682625" algn="l"/>
              </a:tabLst>
            </a:pPr>
            <a:r>
              <a:rPr sz="3050" spc="10" dirty="0">
                <a:latin typeface="Times New Roman"/>
                <a:cs typeface="Times New Roman"/>
              </a:rPr>
              <a:t>Explain</a:t>
            </a:r>
            <a:r>
              <a:rPr sz="3050" dirty="0">
                <a:latin typeface="Times New Roman"/>
                <a:cs typeface="Times New Roman"/>
              </a:rPr>
              <a:t> </a:t>
            </a:r>
            <a:r>
              <a:rPr sz="3050" spc="10" dirty="0">
                <a:latin typeface="Times New Roman"/>
                <a:cs typeface="Times New Roman"/>
              </a:rPr>
              <a:t>business</a:t>
            </a:r>
            <a:r>
              <a:rPr sz="3050" spc="-55" dirty="0">
                <a:latin typeface="Times New Roman"/>
                <a:cs typeface="Times New Roman"/>
              </a:rPr>
              <a:t> </a:t>
            </a:r>
            <a:r>
              <a:rPr sz="3050" spc="20" dirty="0">
                <a:latin typeface="Times New Roman"/>
                <a:cs typeface="Times New Roman"/>
              </a:rPr>
              <a:t>model</a:t>
            </a:r>
            <a:r>
              <a:rPr sz="3050" spc="-20" dirty="0">
                <a:latin typeface="Times New Roman"/>
                <a:cs typeface="Times New Roman"/>
              </a:rPr>
              <a:t> </a:t>
            </a:r>
            <a:r>
              <a:rPr sz="3050" spc="10" dirty="0">
                <a:latin typeface="Times New Roman"/>
                <a:cs typeface="Times New Roman"/>
              </a:rPr>
              <a:t>innovation.</a:t>
            </a:r>
            <a:endParaRPr sz="3050">
              <a:latin typeface="Times New Roman"/>
              <a:cs typeface="Times New Roman"/>
            </a:endParaRPr>
          </a:p>
          <a:p>
            <a:pPr marL="682625" marR="567690" indent="-670560">
              <a:lnSpc>
                <a:spcPct val="101000"/>
              </a:lnSpc>
              <a:spcBef>
                <a:spcPts val="745"/>
              </a:spcBef>
              <a:buAutoNum type="arabicPeriod"/>
              <a:tabLst>
                <a:tab pos="681990" algn="l"/>
                <a:tab pos="682625" algn="l"/>
              </a:tabLst>
            </a:pPr>
            <a:r>
              <a:rPr sz="3050" spc="15" dirty="0">
                <a:latin typeface="Times New Roman"/>
                <a:cs typeface="Times New Roman"/>
              </a:rPr>
              <a:t>Discuss</a:t>
            </a:r>
            <a:r>
              <a:rPr sz="3050" spc="-30" dirty="0">
                <a:latin typeface="Times New Roman"/>
                <a:cs typeface="Times New Roman"/>
              </a:rPr>
              <a:t> </a:t>
            </a:r>
            <a:r>
              <a:rPr sz="3050" spc="5" dirty="0">
                <a:latin typeface="Times New Roman"/>
                <a:cs typeface="Times New Roman"/>
              </a:rPr>
              <a:t>the</a:t>
            </a:r>
            <a:r>
              <a:rPr sz="3050" spc="-15" dirty="0">
                <a:latin typeface="Times New Roman"/>
                <a:cs typeface="Times New Roman"/>
              </a:rPr>
              <a:t> </a:t>
            </a:r>
            <a:r>
              <a:rPr sz="3050" spc="15" dirty="0">
                <a:latin typeface="Times New Roman"/>
                <a:cs typeface="Times New Roman"/>
              </a:rPr>
              <a:t>importance</a:t>
            </a:r>
            <a:r>
              <a:rPr sz="3050" spc="-10" dirty="0">
                <a:latin typeface="Times New Roman"/>
                <a:cs typeface="Times New Roman"/>
              </a:rPr>
              <a:t> </a:t>
            </a:r>
            <a:r>
              <a:rPr sz="3050" spc="10" dirty="0">
                <a:latin typeface="Times New Roman"/>
                <a:cs typeface="Times New Roman"/>
              </a:rPr>
              <a:t>of</a:t>
            </a:r>
            <a:r>
              <a:rPr sz="3050" spc="-45" dirty="0">
                <a:latin typeface="Times New Roman"/>
                <a:cs typeface="Times New Roman"/>
              </a:rPr>
              <a:t> </a:t>
            </a:r>
            <a:r>
              <a:rPr sz="3050" spc="15" dirty="0">
                <a:latin typeface="Times New Roman"/>
                <a:cs typeface="Times New Roman"/>
              </a:rPr>
              <a:t>having</a:t>
            </a:r>
            <a:r>
              <a:rPr sz="3050" spc="-60" dirty="0">
                <a:latin typeface="Times New Roman"/>
                <a:cs typeface="Times New Roman"/>
              </a:rPr>
              <a:t> </a:t>
            </a:r>
            <a:r>
              <a:rPr sz="3050" spc="15" dirty="0">
                <a:latin typeface="Times New Roman"/>
                <a:cs typeface="Times New Roman"/>
              </a:rPr>
              <a:t>a </a:t>
            </a:r>
            <a:r>
              <a:rPr sz="3050" spc="10" dirty="0">
                <a:latin typeface="Times New Roman"/>
                <a:cs typeface="Times New Roman"/>
              </a:rPr>
              <a:t>clearly </a:t>
            </a:r>
            <a:r>
              <a:rPr sz="3050" spc="-745" dirty="0">
                <a:latin typeface="Times New Roman"/>
                <a:cs typeface="Times New Roman"/>
              </a:rPr>
              <a:t> </a:t>
            </a:r>
            <a:r>
              <a:rPr sz="3050" spc="10" dirty="0">
                <a:latin typeface="Times New Roman"/>
                <a:cs typeface="Times New Roman"/>
              </a:rPr>
              <a:t>articulated</a:t>
            </a:r>
            <a:r>
              <a:rPr sz="3050" spc="-30" dirty="0">
                <a:latin typeface="Times New Roman"/>
                <a:cs typeface="Times New Roman"/>
              </a:rPr>
              <a:t> </a:t>
            </a:r>
            <a:r>
              <a:rPr sz="3050" spc="10" dirty="0">
                <a:latin typeface="Times New Roman"/>
                <a:cs typeface="Times New Roman"/>
              </a:rPr>
              <a:t>business</a:t>
            </a:r>
            <a:r>
              <a:rPr sz="3050" spc="-55" dirty="0">
                <a:latin typeface="Times New Roman"/>
                <a:cs typeface="Times New Roman"/>
              </a:rPr>
              <a:t> </a:t>
            </a:r>
            <a:r>
              <a:rPr sz="3050" spc="10" dirty="0">
                <a:latin typeface="Times New Roman"/>
                <a:cs typeface="Times New Roman"/>
              </a:rPr>
              <a:t>model.</a:t>
            </a:r>
            <a:endParaRPr sz="3050">
              <a:latin typeface="Times New Roman"/>
              <a:cs typeface="Times New Roman"/>
            </a:endParaRPr>
          </a:p>
          <a:p>
            <a:pPr marL="681990" indent="-669925">
              <a:lnSpc>
                <a:spcPct val="100000"/>
              </a:lnSpc>
              <a:spcBef>
                <a:spcPts val="780"/>
              </a:spcBef>
              <a:buAutoNum type="arabicPeriod"/>
              <a:tabLst>
                <a:tab pos="681990" algn="l"/>
                <a:tab pos="682625" algn="l"/>
              </a:tabLst>
            </a:pPr>
            <a:r>
              <a:rPr sz="3050" spc="15" dirty="0">
                <a:latin typeface="Times New Roman"/>
                <a:cs typeface="Times New Roman"/>
              </a:rPr>
              <a:t>Discuss</a:t>
            </a:r>
            <a:r>
              <a:rPr sz="3050" spc="-25" dirty="0">
                <a:latin typeface="Times New Roman"/>
                <a:cs typeface="Times New Roman"/>
              </a:rPr>
              <a:t> </a:t>
            </a:r>
            <a:r>
              <a:rPr sz="3050" spc="5" dirty="0">
                <a:latin typeface="Times New Roman"/>
                <a:cs typeface="Times New Roman"/>
              </a:rPr>
              <a:t>the</a:t>
            </a:r>
            <a:r>
              <a:rPr sz="3050" spc="-5" dirty="0">
                <a:latin typeface="Times New Roman"/>
                <a:cs typeface="Times New Roman"/>
              </a:rPr>
              <a:t> </a:t>
            </a:r>
            <a:r>
              <a:rPr sz="3050" spc="15" dirty="0">
                <a:latin typeface="Times New Roman"/>
                <a:cs typeface="Times New Roman"/>
              </a:rPr>
              <a:t>concept</a:t>
            </a:r>
            <a:r>
              <a:rPr sz="3050" spc="-55" dirty="0">
                <a:latin typeface="Times New Roman"/>
                <a:cs typeface="Times New Roman"/>
              </a:rPr>
              <a:t> </a:t>
            </a:r>
            <a:r>
              <a:rPr sz="3050" spc="10" dirty="0">
                <a:latin typeface="Times New Roman"/>
                <a:cs typeface="Times New Roman"/>
              </a:rPr>
              <a:t>of</a:t>
            </a:r>
            <a:r>
              <a:rPr sz="3050" spc="-5" dirty="0">
                <a:latin typeface="Times New Roman"/>
                <a:cs typeface="Times New Roman"/>
              </a:rPr>
              <a:t> </a:t>
            </a:r>
            <a:r>
              <a:rPr sz="3050" spc="15" dirty="0">
                <a:latin typeface="Times New Roman"/>
                <a:cs typeface="Times New Roman"/>
              </a:rPr>
              <a:t>the</a:t>
            </a:r>
            <a:r>
              <a:rPr sz="3050" spc="-10" dirty="0">
                <a:latin typeface="Times New Roman"/>
                <a:cs typeface="Times New Roman"/>
              </a:rPr>
              <a:t> </a:t>
            </a:r>
            <a:r>
              <a:rPr sz="3050" spc="15" dirty="0">
                <a:latin typeface="Times New Roman"/>
                <a:cs typeface="Times New Roman"/>
              </a:rPr>
              <a:t>value</a:t>
            </a:r>
            <a:r>
              <a:rPr sz="3050" spc="-35" dirty="0">
                <a:latin typeface="Times New Roman"/>
                <a:cs typeface="Times New Roman"/>
              </a:rPr>
              <a:t> </a:t>
            </a:r>
            <a:r>
              <a:rPr sz="3050" spc="5" dirty="0">
                <a:latin typeface="Times New Roman"/>
                <a:cs typeface="Times New Roman"/>
              </a:rPr>
              <a:t>chain.</a:t>
            </a:r>
            <a:endParaRPr sz="3050">
              <a:latin typeface="Times New Roman"/>
              <a:cs typeface="Times New Roman"/>
            </a:endParaRPr>
          </a:p>
          <a:p>
            <a:pPr marL="682625" marR="5080" indent="-670560">
              <a:lnSpc>
                <a:spcPct val="101000"/>
              </a:lnSpc>
              <a:spcBef>
                <a:spcPts val="730"/>
              </a:spcBef>
              <a:buAutoNum type="arabicPeriod"/>
              <a:tabLst>
                <a:tab pos="681990" algn="l"/>
                <a:tab pos="682625" algn="l"/>
              </a:tabLst>
            </a:pPr>
            <a:r>
              <a:rPr sz="3050" spc="10" dirty="0">
                <a:latin typeface="Times New Roman"/>
                <a:cs typeface="Times New Roman"/>
              </a:rPr>
              <a:t>Identify</a:t>
            </a:r>
            <a:r>
              <a:rPr sz="3050" spc="-25" dirty="0">
                <a:latin typeface="Times New Roman"/>
                <a:cs typeface="Times New Roman"/>
              </a:rPr>
              <a:t> </a:t>
            </a:r>
            <a:r>
              <a:rPr sz="3050" spc="15" dirty="0">
                <a:latin typeface="Times New Roman"/>
                <a:cs typeface="Times New Roman"/>
              </a:rPr>
              <a:t>a</a:t>
            </a:r>
            <a:r>
              <a:rPr sz="3050" dirty="0">
                <a:latin typeface="Times New Roman"/>
                <a:cs typeface="Times New Roman"/>
              </a:rPr>
              <a:t> </a:t>
            </a:r>
            <a:r>
              <a:rPr sz="3050" spc="15" dirty="0">
                <a:latin typeface="Times New Roman"/>
                <a:cs typeface="Times New Roman"/>
              </a:rPr>
              <a:t>business</a:t>
            </a:r>
            <a:r>
              <a:rPr sz="3050" spc="-55" dirty="0">
                <a:latin typeface="Times New Roman"/>
                <a:cs typeface="Times New Roman"/>
              </a:rPr>
              <a:t> </a:t>
            </a:r>
            <a:r>
              <a:rPr sz="3050" spc="15" dirty="0">
                <a:latin typeface="Times New Roman"/>
                <a:cs typeface="Times New Roman"/>
              </a:rPr>
              <a:t>model’s</a:t>
            </a:r>
            <a:r>
              <a:rPr sz="3050" spc="-15" dirty="0">
                <a:latin typeface="Times New Roman"/>
                <a:cs typeface="Times New Roman"/>
              </a:rPr>
              <a:t> </a:t>
            </a:r>
            <a:r>
              <a:rPr sz="3050" spc="15" dirty="0">
                <a:latin typeface="Times New Roman"/>
                <a:cs typeface="Times New Roman"/>
              </a:rPr>
              <a:t>two</a:t>
            </a:r>
            <a:r>
              <a:rPr sz="3050" spc="-25" dirty="0">
                <a:latin typeface="Times New Roman"/>
                <a:cs typeface="Times New Roman"/>
              </a:rPr>
              <a:t> </a:t>
            </a:r>
            <a:r>
              <a:rPr sz="3050" spc="10" dirty="0">
                <a:latin typeface="Times New Roman"/>
                <a:cs typeface="Times New Roman"/>
              </a:rPr>
              <a:t>potential</a:t>
            </a:r>
            <a:r>
              <a:rPr sz="3050" spc="-45" dirty="0">
                <a:latin typeface="Times New Roman"/>
                <a:cs typeface="Times New Roman"/>
              </a:rPr>
              <a:t> </a:t>
            </a:r>
            <a:r>
              <a:rPr sz="3050" spc="10" dirty="0">
                <a:latin typeface="Times New Roman"/>
                <a:cs typeface="Times New Roman"/>
              </a:rPr>
              <a:t>fatal </a:t>
            </a:r>
            <a:r>
              <a:rPr sz="3050" spc="-745" dirty="0">
                <a:latin typeface="Times New Roman"/>
                <a:cs typeface="Times New Roman"/>
              </a:rPr>
              <a:t> </a:t>
            </a:r>
            <a:r>
              <a:rPr sz="3050" spc="10" dirty="0">
                <a:latin typeface="Times New Roman"/>
                <a:cs typeface="Times New Roman"/>
              </a:rPr>
              <a:t>flaws.</a:t>
            </a:r>
            <a:endParaRPr sz="305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dirty="0"/>
              <a:t>Chapter</a:t>
            </a:r>
            <a:r>
              <a:rPr spc="-15" dirty="0"/>
              <a:t> </a:t>
            </a:r>
            <a:r>
              <a:rPr spc="-5" dirty="0"/>
              <a:t>Objectives</a:t>
            </a:r>
          </a:p>
          <a:p>
            <a:pPr algn="ctr">
              <a:lnSpc>
                <a:spcPct val="100000"/>
              </a:lnSpc>
              <a:spcBef>
                <a:spcPts val="55"/>
              </a:spcBef>
            </a:pPr>
            <a:r>
              <a:rPr sz="2200" spc="-5" dirty="0"/>
              <a:t>2</a:t>
            </a:r>
            <a:r>
              <a:rPr sz="2200" spc="-35" dirty="0"/>
              <a:t> </a:t>
            </a:r>
            <a:r>
              <a:rPr sz="2200" spc="-5" dirty="0"/>
              <a:t>of</a:t>
            </a:r>
            <a:r>
              <a:rPr sz="2200" spc="-15" dirty="0"/>
              <a:t> </a:t>
            </a:r>
            <a:r>
              <a:rPr sz="2200" spc="-5" dirty="0"/>
              <a:t>2</a:t>
            </a:r>
            <a:endParaRPr sz="2200"/>
          </a:p>
        </p:txBody>
      </p:sp>
      <p:sp>
        <p:nvSpPr>
          <p:cNvPr id="3" name="object 3"/>
          <p:cNvSpPr txBox="1"/>
          <p:nvPr/>
        </p:nvSpPr>
        <p:spPr>
          <a:xfrm>
            <a:off x="590865" y="1806142"/>
            <a:ext cx="8830310" cy="3779520"/>
          </a:xfrm>
          <a:prstGeom prst="rect">
            <a:avLst/>
          </a:prstGeom>
        </p:spPr>
        <p:txBody>
          <a:bodyPr vert="horz" wrap="square" lIns="0" tIns="109220" rIns="0" bIns="0" rtlCol="0">
            <a:spAutoFit/>
          </a:bodyPr>
          <a:lstStyle/>
          <a:p>
            <a:pPr marL="681990" indent="-669925">
              <a:lnSpc>
                <a:spcPct val="100000"/>
              </a:lnSpc>
              <a:spcBef>
                <a:spcPts val="860"/>
              </a:spcBef>
              <a:buAutoNum type="arabicPeriod" startAt="6"/>
              <a:tabLst>
                <a:tab pos="681990" algn="l"/>
                <a:tab pos="682625" algn="l"/>
              </a:tabLst>
            </a:pPr>
            <a:r>
              <a:rPr sz="3050" spc="10" dirty="0">
                <a:latin typeface="Times New Roman"/>
                <a:cs typeface="Times New Roman"/>
              </a:rPr>
              <a:t>Identify</a:t>
            </a:r>
            <a:r>
              <a:rPr sz="3050" spc="-20" dirty="0">
                <a:latin typeface="Times New Roman"/>
                <a:cs typeface="Times New Roman"/>
              </a:rPr>
              <a:t> </a:t>
            </a:r>
            <a:r>
              <a:rPr sz="3050" spc="15" dirty="0">
                <a:latin typeface="Times New Roman"/>
                <a:cs typeface="Times New Roman"/>
              </a:rPr>
              <a:t>a</a:t>
            </a:r>
            <a:r>
              <a:rPr sz="3050" spc="5" dirty="0">
                <a:latin typeface="Times New Roman"/>
                <a:cs typeface="Times New Roman"/>
              </a:rPr>
              <a:t> </a:t>
            </a:r>
            <a:r>
              <a:rPr sz="3050" spc="15" dirty="0">
                <a:latin typeface="Times New Roman"/>
                <a:cs typeface="Times New Roman"/>
              </a:rPr>
              <a:t>business</a:t>
            </a:r>
            <a:r>
              <a:rPr sz="3050" spc="-50" dirty="0">
                <a:latin typeface="Times New Roman"/>
                <a:cs typeface="Times New Roman"/>
              </a:rPr>
              <a:t> </a:t>
            </a:r>
            <a:r>
              <a:rPr sz="3050" spc="15" dirty="0">
                <a:latin typeface="Times New Roman"/>
                <a:cs typeface="Times New Roman"/>
              </a:rPr>
              <a:t>model’s</a:t>
            </a:r>
            <a:r>
              <a:rPr sz="3050" spc="-10" dirty="0">
                <a:latin typeface="Times New Roman"/>
                <a:cs typeface="Times New Roman"/>
              </a:rPr>
              <a:t> </a:t>
            </a:r>
            <a:r>
              <a:rPr sz="3050" spc="15" dirty="0">
                <a:latin typeface="Times New Roman"/>
                <a:cs typeface="Times New Roman"/>
              </a:rPr>
              <a:t>four</a:t>
            </a:r>
            <a:r>
              <a:rPr sz="3050" spc="-25" dirty="0">
                <a:latin typeface="Times New Roman"/>
                <a:cs typeface="Times New Roman"/>
              </a:rPr>
              <a:t> </a:t>
            </a:r>
            <a:r>
              <a:rPr sz="3050" spc="10" dirty="0">
                <a:latin typeface="Times New Roman"/>
                <a:cs typeface="Times New Roman"/>
              </a:rPr>
              <a:t>major</a:t>
            </a:r>
            <a:r>
              <a:rPr sz="3050" dirty="0">
                <a:latin typeface="Times New Roman"/>
                <a:cs typeface="Times New Roman"/>
              </a:rPr>
              <a:t> </a:t>
            </a:r>
            <a:r>
              <a:rPr sz="3050" spc="10" dirty="0">
                <a:latin typeface="Times New Roman"/>
                <a:cs typeface="Times New Roman"/>
              </a:rPr>
              <a:t>components.</a:t>
            </a:r>
            <a:endParaRPr sz="3050">
              <a:latin typeface="Times New Roman"/>
              <a:cs typeface="Times New Roman"/>
            </a:endParaRPr>
          </a:p>
          <a:p>
            <a:pPr marL="682625" marR="354330" indent="-670560">
              <a:lnSpc>
                <a:spcPct val="101000"/>
              </a:lnSpc>
              <a:spcBef>
                <a:spcPts val="730"/>
              </a:spcBef>
              <a:buAutoNum type="arabicPeriod" startAt="6"/>
              <a:tabLst>
                <a:tab pos="681990" algn="l"/>
                <a:tab pos="682625" algn="l"/>
              </a:tabLst>
            </a:pPr>
            <a:r>
              <a:rPr sz="3050" spc="10" dirty="0">
                <a:latin typeface="Times New Roman"/>
                <a:cs typeface="Times New Roman"/>
              </a:rPr>
              <a:t>Explain</a:t>
            </a:r>
            <a:r>
              <a:rPr sz="3050" spc="5" dirty="0">
                <a:latin typeface="Times New Roman"/>
                <a:cs typeface="Times New Roman"/>
              </a:rPr>
              <a:t> the</a:t>
            </a:r>
            <a:r>
              <a:rPr sz="3050" spc="-5" dirty="0">
                <a:latin typeface="Times New Roman"/>
                <a:cs typeface="Times New Roman"/>
              </a:rPr>
              <a:t> </a:t>
            </a:r>
            <a:r>
              <a:rPr sz="3050" spc="15" dirty="0">
                <a:latin typeface="Times New Roman"/>
                <a:cs typeface="Times New Roman"/>
              </a:rPr>
              <a:t>meaning</a:t>
            </a:r>
            <a:r>
              <a:rPr sz="3050" spc="-55" dirty="0">
                <a:latin typeface="Times New Roman"/>
                <a:cs typeface="Times New Roman"/>
              </a:rPr>
              <a:t> </a:t>
            </a:r>
            <a:r>
              <a:rPr sz="3050" spc="25" dirty="0">
                <a:latin typeface="Times New Roman"/>
                <a:cs typeface="Times New Roman"/>
              </a:rPr>
              <a:t>of</a:t>
            </a:r>
            <a:r>
              <a:rPr sz="3050" spc="-5" dirty="0">
                <a:latin typeface="Times New Roman"/>
                <a:cs typeface="Times New Roman"/>
              </a:rPr>
              <a:t> </a:t>
            </a:r>
            <a:r>
              <a:rPr sz="3050" spc="15" dirty="0">
                <a:latin typeface="Times New Roman"/>
                <a:cs typeface="Times New Roman"/>
              </a:rPr>
              <a:t>the</a:t>
            </a:r>
            <a:r>
              <a:rPr sz="3050" spc="-5" dirty="0">
                <a:latin typeface="Times New Roman"/>
                <a:cs typeface="Times New Roman"/>
              </a:rPr>
              <a:t> </a:t>
            </a:r>
            <a:r>
              <a:rPr sz="3050" spc="10" dirty="0">
                <a:latin typeface="Times New Roman"/>
                <a:cs typeface="Times New Roman"/>
              </a:rPr>
              <a:t>term</a:t>
            </a:r>
            <a:r>
              <a:rPr sz="3050" spc="-20" dirty="0">
                <a:latin typeface="Times New Roman"/>
                <a:cs typeface="Times New Roman"/>
              </a:rPr>
              <a:t> </a:t>
            </a:r>
            <a:r>
              <a:rPr sz="3050" spc="10" dirty="0">
                <a:latin typeface="Times New Roman"/>
                <a:cs typeface="Times New Roman"/>
              </a:rPr>
              <a:t>business</a:t>
            </a:r>
            <a:r>
              <a:rPr sz="3050" spc="-20" dirty="0">
                <a:latin typeface="Times New Roman"/>
                <a:cs typeface="Times New Roman"/>
              </a:rPr>
              <a:t> </a:t>
            </a:r>
            <a:r>
              <a:rPr sz="3050" spc="15" dirty="0">
                <a:latin typeface="Times New Roman"/>
                <a:cs typeface="Times New Roman"/>
              </a:rPr>
              <a:t>concept </a:t>
            </a:r>
            <a:r>
              <a:rPr sz="3050" spc="-745" dirty="0">
                <a:latin typeface="Times New Roman"/>
                <a:cs typeface="Times New Roman"/>
              </a:rPr>
              <a:t> </a:t>
            </a:r>
            <a:r>
              <a:rPr sz="3050" spc="15" dirty="0">
                <a:latin typeface="Times New Roman"/>
                <a:cs typeface="Times New Roman"/>
              </a:rPr>
              <a:t>blind</a:t>
            </a:r>
            <a:r>
              <a:rPr sz="3050" spc="-30" dirty="0">
                <a:latin typeface="Times New Roman"/>
                <a:cs typeface="Times New Roman"/>
              </a:rPr>
              <a:t> </a:t>
            </a:r>
            <a:r>
              <a:rPr sz="3050" spc="10" dirty="0">
                <a:latin typeface="Times New Roman"/>
                <a:cs typeface="Times New Roman"/>
              </a:rPr>
              <a:t>spot.</a:t>
            </a:r>
            <a:endParaRPr sz="3050">
              <a:latin typeface="Times New Roman"/>
              <a:cs typeface="Times New Roman"/>
            </a:endParaRPr>
          </a:p>
          <a:p>
            <a:pPr marL="682625" marR="404495" indent="-670560">
              <a:lnSpc>
                <a:spcPct val="101000"/>
              </a:lnSpc>
              <a:spcBef>
                <a:spcPts val="740"/>
              </a:spcBef>
              <a:buAutoNum type="arabicPeriod" startAt="6"/>
              <a:tabLst>
                <a:tab pos="681990" algn="l"/>
                <a:tab pos="682625" algn="l"/>
              </a:tabLst>
            </a:pPr>
            <a:r>
              <a:rPr sz="3050" spc="15" dirty="0">
                <a:latin typeface="Times New Roman"/>
                <a:cs typeface="Times New Roman"/>
              </a:rPr>
              <a:t>Define</a:t>
            </a:r>
            <a:r>
              <a:rPr sz="3050" spc="-10" dirty="0">
                <a:latin typeface="Times New Roman"/>
                <a:cs typeface="Times New Roman"/>
              </a:rPr>
              <a:t> </a:t>
            </a:r>
            <a:r>
              <a:rPr sz="3050" spc="15" dirty="0">
                <a:latin typeface="Times New Roman"/>
                <a:cs typeface="Times New Roman"/>
              </a:rPr>
              <a:t>the</a:t>
            </a:r>
            <a:r>
              <a:rPr sz="3050" spc="-40" dirty="0">
                <a:latin typeface="Times New Roman"/>
                <a:cs typeface="Times New Roman"/>
              </a:rPr>
              <a:t> </a:t>
            </a:r>
            <a:r>
              <a:rPr sz="3050" spc="15" dirty="0">
                <a:latin typeface="Times New Roman"/>
                <a:cs typeface="Times New Roman"/>
              </a:rPr>
              <a:t>term</a:t>
            </a:r>
            <a:r>
              <a:rPr sz="3050" spc="-25" dirty="0">
                <a:latin typeface="Times New Roman"/>
                <a:cs typeface="Times New Roman"/>
              </a:rPr>
              <a:t> </a:t>
            </a:r>
            <a:r>
              <a:rPr sz="3050" spc="15" dirty="0">
                <a:latin typeface="Times New Roman"/>
                <a:cs typeface="Times New Roman"/>
              </a:rPr>
              <a:t>core</a:t>
            </a:r>
            <a:r>
              <a:rPr sz="3050" spc="-5" dirty="0">
                <a:latin typeface="Times New Roman"/>
                <a:cs typeface="Times New Roman"/>
              </a:rPr>
              <a:t> </a:t>
            </a:r>
            <a:r>
              <a:rPr sz="3050" spc="10" dirty="0">
                <a:latin typeface="Times New Roman"/>
                <a:cs typeface="Times New Roman"/>
              </a:rPr>
              <a:t>competency</a:t>
            </a:r>
            <a:r>
              <a:rPr sz="3050" spc="-30" dirty="0">
                <a:latin typeface="Times New Roman"/>
                <a:cs typeface="Times New Roman"/>
              </a:rPr>
              <a:t> </a:t>
            </a:r>
            <a:r>
              <a:rPr sz="3050" spc="20" dirty="0">
                <a:latin typeface="Times New Roman"/>
                <a:cs typeface="Times New Roman"/>
              </a:rPr>
              <a:t>and</a:t>
            </a:r>
            <a:r>
              <a:rPr sz="3050" spc="-30" dirty="0">
                <a:latin typeface="Times New Roman"/>
                <a:cs typeface="Times New Roman"/>
              </a:rPr>
              <a:t> </a:t>
            </a:r>
            <a:r>
              <a:rPr sz="3050" spc="10" dirty="0">
                <a:latin typeface="Times New Roman"/>
                <a:cs typeface="Times New Roman"/>
              </a:rPr>
              <a:t>describe</a:t>
            </a:r>
            <a:r>
              <a:rPr sz="3050" spc="-40" dirty="0">
                <a:latin typeface="Times New Roman"/>
                <a:cs typeface="Times New Roman"/>
              </a:rPr>
              <a:t> </a:t>
            </a:r>
            <a:r>
              <a:rPr sz="3050" spc="10" dirty="0">
                <a:latin typeface="Times New Roman"/>
                <a:cs typeface="Times New Roman"/>
              </a:rPr>
              <a:t>its </a:t>
            </a:r>
            <a:r>
              <a:rPr sz="3050" spc="-745" dirty="0">
                <a:latin typeface="Times New Roman"/>
                <a:cs typeface="Times New Roman"/>
              </a:rPr>
              <a:t> </a:t>
            </a:r>
            <a:r>
              <a:rPr sz="3050" spc="10" dirty="0">
                <a:latin typeface="Times New Roman"/>
                <a:cs typeface="Times New Roman"/>
              </a:rPr>
              <a:t>importance.</a:t>
            </a:r>
            <a:endParaRPr sz="3050">
              <a:latin typeface="Times New Roman"/>
              <a:cs typeface="Times New Roman"/>
            </a:endParaRPr>
          </a:p>
          <a:p>
            <a:pPr marL="681990" indent="-669925">
              <a:lnSpc>
                <a:spcPct val="100000"/>
              </a:lnSpc>
              <a:spcBef>
                <a:spcPts val="780"/>
              </a:spcBef>
              <a:buAutoNum type="arabicPeriod" startAt="6"/>
              <a:tabLst>
                <a:tab pos="681990" algn="l"/>
                <a:tab pos="682625" algn="l"/>
              </a:tabLst>
            </a:pPr>
            <a:r>
              <a:rPr sz="3050" spc="10" dirty="0">
                <a:latin typeface="Times New Roman"/>
                <a:cs typeface="Times New Roman"/>
              </a:rPr>
              <a:t>Explain</a:t>
            </a:r>
            <a:r>
              <a:rPr sz="3050" dirty="0">
                <a:latin typeface="Times New Roman"/>
                <a:cs typeface="Times New Roman"/>
              </a:rPr>
              <a:t> </a:t>
            </a:r>
            <a:r>
              <a:rPr sz="3050" spc="5" dirty="0">
                <a:latin typeface="Times New Roman"/>
                <a:cs typeface="Times New Roman"/>
              </a:rPr>
              <a:t>the</a:t>
            </a:r>
            <a:r>
              <a:rPr sz="3050" spc="-5" dirty="0">
                <a:latin typeface="Times New Roman"/>
                <a:cs typeface="Times New Roman"/>
              </a:rPr>
              <a:t> </a:t>
            </a:r>
            <a:r>
              <a:rPr sz="3050" spc="15" dirty="0">
                <a:latin typeface="Times New Roman"/>
                <a:cs typeface="Times New Roman"/>
              </a:rPr>
              <a:t>concept</a:t>
            </a:r>
            <a:r>
              <a:rPr sz="3050" spc="-55" dirty="0">
                <a:latin typeface="Times New Roman"/>
                <a:cs typeface="Times New Roman"/>
              </a:rPr>
              <a:t> </a:t>
            </a:r>
            <a:r>
              <a:rPr sz="3050" spc="10" dirty="0">
                <a:latin typeface="Times New Roman"/>
                <a:cs typeface="Times New Roman"/>
              </a:rPr>
              <a:t>of</a:t>
            </a:r>
            <a:r>
              <a:rPr sz="3050" spc="-5" dirty="0">
                <a:latin typeface="Times New Roman"/>
                <a:cs typeface="Times New Roman"/>
              </a:rPr>
              <a:t> </a:t>
            </a:r>
            <a:r>
              <a:rPr sz="3050" spc="20" dirty="0">
                <a:latin typeface="Times New Roman"/>
                <a:cs typeface="Times New Roman"/>
              </a:rPr>
              <a:t>supply</a:t>
            </a:r>
            <a:r>
              <a:rPr sz="3050" spc="-30" dirty="0">
                <a:latin typeface="Times New Roman"/>
                <a:cs typeface="Times New Roman"/>
              </a:rPr>
              <a:t> </a:t>
            </a:r>
            <a:r>
              <a:rPr sz="3050" spc="5" dirty="0">
                <a:latin typeface="Times New Roman"/>
                <a:cs typeface="Times New Roman"/>
              </a:rPr>
              <a:t>chain</a:t>
            </a:r>
            <a:r>
              <a:rPr sz="3050" spc="-25" dirty="0">
                <a:latin typeface="Times New Roman"/>
                <a:cs typeface="Times New Roman"/>
              </a:rPr>
              <a:t> </a:t>
            </a:r>
            <a:r>
              <a:rPr sz="3050" spc="15" dirty="0">
                <a:latin typeface="Times New Roman"/>
                <a:cs typeface="Times New Roman"/>
              </a:rPr>
              <a:t>management.</a:t>
            </a:r>
            <a:endParaRPr sz="3050">
              <a:latin typeface="Times New Roman"/>
              <a:cs typeface="Times New Roman"/>
            </a:endParaRPr>
          </a:p>
          <a:p>
            <a:pPr marL="681990" indent="-669925">
              <a:lnSpc>
                <a:spcPct val="100000"/>
              </a:lnSpc>
              <a:spcBef>
                <a:spcPts val="770"/>
              </a:spcBef>
              <a:buAutoNum type="arabicPeriod" startAt="6"/>
              <a:tabLst>
                <a:tab pos="681990" algn="l"/>
                <a:tab pos="682625" algn="l"/>
              </a:tabLst>
            </a:pPr>
            <a:r>
              <a:rPr sz="3050" spc="10" dirty="0">
                <a:latin typeface="Times New Roman"/>
                <a:cs typeface="Times New Roman"/>
              </a:rPr>
              <a:t>Explain</a:t>
            </a:r>
            <a:r>
              <a:rPr sz="3050" dirty="0">
                <a:latin typeface="Times New Roman"/>
                <a:cs typeface="Times New Roman"/>
              </a:rPr>
              <a:t> </a:t>
            </a:r>
            <a:r>
              <a:rPr sz="3050" spc="5" dirty="0">
                <a:latin typeface="Times New Roman"/>
                <a:cs typeface="Times New Roman"/>
              </a:rPr>
              <a:t>the</a:t>
            </a:r>
            <a:r>
              <a:rPr sz="3050" spc="-5" dirty="0">
                <a:latin typeface="Times New Roman"/>
                <a:cs typeface="Times New Roman"/>
              </a:rPr>
              <a:t> </a:t>
            </a:r>
            <a:r>
              <a:rPr sz="3050" spc="15" dirty="0">
                <a:latin typeface="Times New Roman"/>
                <a:cs typeface="Times New Roman"/>
              </a:rPr>
              <a:t>concept</a:t>
            </a:r>
            <a:r>
              <a:rPr sz="3050" spc="-50" dirty="0">
                <a:latin typeface="Times New Roman"/>
                <a:cs typeface="Times New Roman"/>
              </a:rPr>
              <a:t> </a:t>
            </a:r>
            <a:r>
              <a:rPr sz="3050" spc="10" dirty="0">
                <a:latin typeface="Times New Roman"/>
                <a:cs typeface="Times New Roman"/>
              </a:rPr>
              <a:t>of</a:t>
            </a:r>
            <a:r>
              <a:rPr sz="3050" spc="-5" dirty="0">
                <a:latin typeface="Times New Roman"/>
                <a:cs typeface="Times New Roman"/>
              </a:rPr>
              <a:t> </a:t>
            </a:r>
            <a:r>
              <a:rPr sz="3050" spc="10" dirty="0">
                <a:latin typeface="Times New Roman"/>
                <a:cs typeface="Times New Roman"/>
              </a:rPr>
              <a:t>fulfillment</a:t>
            </a:r>
            <a:r>
              <a:rPr sz="3050" spc="-20" dirty="0">
                <a:latin typeface="Times New Roman"/>
                <a:cs typeface="Times New Roman"/>
              </a:rPr>
              <a:t> </a:t>
            </a:r>
            <a:r>
              <a:rPr sz="3050" spc="10" dirty="0">
                <a:latin typeface="Times New Roman"/>
                <a:cs typeface="Times New Roman"/>
              </a:rPr>
              <a:t>and</a:t>
            </a:r>
            <a:r>
              <a:rPr sz="3050" spc="5" dirty="0">
                <a:latin typeface="Times New Roman"/>
                <a:cs typeface="Times New Roman"/>
              </a:rPr>
              <a:t> </a:t>
            </a:r>
            <a:r>
              <a:rPr sz="3050" spc="15" dirty="0">
                <a:latin typeface="Times New Roman"/>
                <a:cs typeface="Times New Roman"/>
              </a:rPr>
              <a:t>support.</a:t>
            </a:r>
            <a:endParaRPr sz="305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7946" y="580097"/>
            <a:ext cx="5499735" cy="629285"/>
          </a:xfrm>
          <a:prstGeom prst="rect">
            <a:avLst/>
          </a:prstGeom>
        </p:spPr>
        <p:txBody>
          <a:bodyPr vert="horz" wrap="square" lIns="0" tIns="13970" rIns="0" bIns="0" rtlCol="0">
            <a:spAutoFit/>
          </a:bodyPr>
          <a:lstStyle/>
          <a:p>
            <a:pPr marL="12700">
              <a:lnSpc>
                <a:spcPct val="100000"/>
              </a:lnSpc>
              <a:spcBef>
                <a:spcPts val="110"/>
              </a:spcBef>
            </a:pPr>
            <a:r>
              <a:rPr spc="-5" dirty="0"/>
              <a:t>What</a:t>
            </a:r>
            <a:r>
              <a:rPr spc="35" dirty="0"/>
              <a:t> </a:t>
            </a:r>
            <a:r>
              <a:rPr spc="-15" dirty="0"/>
              <a:t>is</a:t>
            </a:r>
            <a:r>
              <a:rPr spc="-5" dirty="0"/>
              <a:t> </a:t>
            </a:r>
            <a:r>
              <a:rPr dirty="0"/>
              <a:t>a</a:t>
            </a:r>
            <a:r>
              <a:rPr spc="15" dirty="0"/>
              <a:t> </a:t>
            </a:r>
            <a:r>
              <a:rPr spc="-5" dirty="0"/>
              <a:t>Business </a:t>
            </a:r>
            <a:r>
              <a:rPr dirty="0"/>
              <a:t>Model?</a:t>
            </a:r>
          </a:p>
        </p:txBody>
      </p:sp>
      <p:sp>
        <p:nvSpPr>
          <p:cNvPr id="3" name="object 3"/>
          <p:cNvSpPr txBox="1"/>
          <p:nvPr/>
        </p:nvSpPr>
        <p:spPr>
          <a:xfrm>
            <a:off x="590865" y="1719366"/>
            <a:ext cx="8849995" cy="5017770"/>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20" dirty="0">
                <a:latin typeface="Times New Roman"/>
                <a:cs typeface="Times New Roman"/>
              </a:rPr>
              <a:t>Model</a:t>
            </a:r>
            <a:endParaRPr sz="3050">
              <a:latin typeface="Times New Roman"/>
              <a:cs typeface="Times New Roman"/>
            </a:endParaRPr>
          </a:p>
          <a:p>
            <a:pPr marL="829310" marR="1062990" lvl="1" indent="-314325">
              <a:lnSpc>
                <a:spcPts val="3170"/>
              </a:lnSpc>
              <a:spcBef>
                <a:spcPts val="750"/>
              </a:spcBef>
              <a:buChar char="–"/>
              <a:tabLst>
                <a:tab pos="830580" algn="l"/>
                <a:tab pos="831215" algn="l"/>
              </a:tabLst>
            </a:pPr>
            <a:r>
              <a:rPr sz="2650" spc="-10" dirty="0">
                <a:latin typeface="Times New Roman"/>
                <a:cs typeface="Times New Roman"/>
              </a:rPr>
              <a:t>A model</a:t>
            </a:r>
            <a:r>
              <a:rPr sz="2650" spc="-25" dirty="0">
                <a:latin typeface="Times New Roman"/>
                <a:cs typeface="Times New Roman"/>
              </a:rPr>
              <a:t> </a:t>
            </a:r>
            <a:r>
              <a:rPr sz="2650" spc="-5" dirty="0">
                <a:latin typeface="Times New Roman"/>
                <a:cs typeface="Times New Roman"/>
              </a:rPr>
              <a:t>is</a:t>
            </a:r>
            <a:r>
              <a:rPr sz="2650"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dirty="0">
                <a:latin typeface="Times New Roman"/>
                <a:cs typeface="Times New Roman"/>
              </a:rPr>
              <a:t>plan</a:t>
            </a:r>
            <a:r>
              <a:rPr sz="2650" spc="-25" dirty="0">
                <a:latin typeface="Times New Roman"/>
                <a:cs typeface="Times New Roman"/>
              </a:rPr>
              <a:t> </a:t>
            </a:r>
            <a:r>
              <a:rPr sz="2650" spc="-5" dirty="0">
                <a:latin typeface="Times New Roman"/>
                <a:cs typeface="Times New Roman"/>
              </a:rPr>
              <a:t>or</a:t>
            </a:r>
            <a:r>
              <a:rPr sz="2650" spc="15" dirty="0">
                <a:latin typeface="Times New Roman"/>
                <a:cs typeface="Times New Roman"/>
              </a:rPr>
              <a:t> </a:t>
            </a:r>
            <a:r>
              <a:rPr sz="2650" spc="-10" dirty="0">
                <a:latin typeface="Times New Roman"/>
                <a:cs typeface="Times New Roman"/>
              </a:rPr>
              <a:t>diagram</a:t>
            </a:r>
            <a:r>
              <a:rPr sz="2650" spc="-20" dirty="0">
                <a:latin typeface="Times New Roman"/>
                <a:cs typeface="Times New Roman"/>
              </a:rPr>
              <a:t> </a:t>
            </a:r>
            <a:r>
              <a:rPr sz="2650" spc="-10" dirty="0">
                <a:latin typeface="Times New Roman"/>
                <a:cs typeface="Times New Roman"/>
              </a:rPr>
              <a:t>that’s</a:t>
            </a:r>
            <a:r>
              <a:rPr sz="2650" spc="-30" dirty="0">
                <a:latin typeface="Times New Roman"/>
                <a:cs typeface="Times New Roman"/>
              </a:rPr>
              <a:t> </a:t>
            </a:r>
            <a:r>
              <a:rPr sz="2650" spc="-5" dirty="0">
                <a:latin typeface="Times New Roman"/>
                <a:cs typeface="Times New Roman"/>
              </a:rPr>
              <a:t>used</a:t>
            </a:r>
            <a:r>
              <a:rPr sz="2650" dirty="0">
                <a:latin typeface="Times New Roman"/>
                <a:cs typeface="Times New Roman"/>
              </a:rPr>
              <a:t> </a:t>
            </a:r>
            <a:r>
              <a:rPr sz="2650" spc="-5" dirty="0">
                <a:latin typeface="Times New Roman"/>
                <a:cs typeface="Times New Roman"/>
              </a:rPr>
              <a:t>to</a:t>
            </a:r>
            <a:r>
              <a:rPr sz="2650" spc="-30" dirty="0">
                <a:latin typeface="Times New Roman"/>
                <a:cs typeface="Times New Roman"/>
              </a:rPr>
              <a:t> </a:t>
            </a:r>
            <a:r>
              <a:rPr sz="2650" spc="-5" dirty="0">
                <a:latin typeface="Times New Roman"/>
                <a:cs typeface="Times New Roman"/>
              </a:rPr>
              <a:t>make</a:t>
            </a:r>
            <a:r>
              <a:rPr sz="2650" spc="-10" dirty="0">
                <a:latin typeface="Times New Roman"/>
                <a:cs typeface="Times New Roman"/>
              </a:rPr>
              <a:t> </a:t>
            </a:r>
            <a:r>
              <a:rPr sz="2650" spc="-5" dirty="0">
                <a:latin typeface="Times New Roman"/>
                <a:cs typeface="Times New Roman"/>
              </a:rPr>
              <a:t>or </a:t>
            </a:r>
            <a:r>
              <a:rPr sz="2650" spc="-650" dirty="0">
                <a:latin typeface="Times New Roman"/>
                <a:cs typeface="Times New Roman"/>
              </a:rPr>
              <a:t> </a:t>
            </a:r>
            <a:r>
              <a:rPr sz="2650" spc="-5" dirty="0">
                <a:latin typeface="Times New Roman"/>
                <a:cs typeface="Times New Roman"/>
              </a:rPr>
              <a:t>describe</a:t>
            </a:r>
            <a:r>
              <a:rPr sz="2650" spc="-20" dirty="0">
                <a:latin typeface="Times New Roman"/>
                <a:cs typeface="Times New Roman"/>
              </a:rPr>
              <a:t> </a:t>
            </a:r>
            <a:r>
              <a:rPr sz="2650" spc="-5" dirty="0">
                <a:latin typeface="Times New Roman"/>
                <a:cs typeface="Times New Roman"/>
              </a:rPr>
              <a:t>something.</a:t>
            </a:r>
            <a:endParaRPr sz="2650">
              <a:latin typeface="Times New Roman"/>
              <a:cs typeface="Times New Roman"/>
            </a:endParaRPr>
          </a:p>
          <a:p>
            <a:pPr marL="388620" indent="-376555">
              <a:lnSpc>
                <a:spcPct val="100000"/>
              </a:lnSpc>
              <a:spcBef>
                <a:spcPts val="645"/>
              </a:spcBef>
              <a:buChar char="•"/>
              <a:tabLst>
                <a:tab pos="388620" algn="l"/>
                <a:tab pos="389255" algn="l"/>
              </a:tabLst>
            </a:pPr>
            <a:r>
              <a:rPr sz="3050" spc="10" dirty="0">
                <a:latin typeface="Times New Roman"/>
                <a:cs typeface="Times New Roman"/>
              </a:rPr>
              <a:t>Business</a:t>
            </a:r>
            <a:r>
              <a:rPr sz="3050" spc="-50" dirty="0">
                <a:latin typeface="Times New Roman"/>
                <a:cs typeface="Times New Roman"/>
              </a:rPr>
              <a:t> </a:t>
            </a:r>
            <a:r>
              <a:rPr sz="3050" spc="20" dirty="0">
                <a:latin typeface="Times New Roman"/>
                <a:cs typeface="Times New Roman"/>
              </a:rPr>
              <a:t>Model</a:t>
            </a:r>
            <a:endParaRPr sz="3050">
              <a:latin typeface="Times New Roman"/>
              <a:cs typeface="Times New Roman"/>
            </a:endParaRPr>
          </a:p>
          <a:p>
            <a:pPr marL="829310" marR="5080" lvl="1" indent="-314325">
              <a:lnSpc>
                <a:spcPts val="3170"/>
              </a:lnSpc>
              <a:spcBef>
                <a:spcPts val="770"/>
              </a:spcBef>
              <a:buChar char="–"/>
              <a:tabLst>
                <a:tab pos="830580" algn="l"/>
                <a:tab pos="831215" algn="l"/>
              </a:tabLst>
            </a:pPr>
            <a:r>
              <a:rPr sz="2650" spc="-10" dirty="0">
                <a:latin typeface="Times New Roman"/>
                <a:cs typeface="Times New Roman"/>
              </a:rPr>
              <a:t>A firm’s</a:t>
            </a:r>
            <a:r>
              <a:rPr sz="2650" dirty="0">
                <a:latin typeface="Times New Roman"/>
                <a:cs typeface="Times New Roman"/>
              </a:rPr>
              <a:t> </a:t>
            </a:r>
            <a:r>
              <a:rPr sz="2650" spc="-5" dirty="0">
                <a:latin typeface="Times New Roman"/>
                <a:cs typeface="Times New Roman"/>
              </a:rPr>
              <a:t>business </a:t>
            </a:r>
            <a:r>
              <a:rPr sz="2650" spc="-10" dirty="0">
                <a:latin typeface="Times New Roman"/>
                <a:cs typeface="Times New Roman"/>
              </a:rPr>
              <a:t>model</a:t>
            </a:r>
            <a:r>
              <a:rPr sz="2650" spc="-20" dirty="0">
                <a:latin typeface="Times New Roman"/>
                <a:cs typeface="Times New Roman"/>
              </a:rPr>
              <a:t> is</a:t>
            </a:r>
            <a:r>
              <a:rPr sz="2650" spc="-5" dirty="0">
                <a:latin typeface="Times New Roman"/>
                <a:cs typeface="Times New Roman"/>
              </a:rPr>
              <a:t> </a:t>
            </a:r>
            <a:r>
              <a:rPr sz="2650" dirty="0">
                <a:latin typeface="Times New Roman"/>
                <a:cs typeface="Times New Roman"/>
              </a:rPr>
              <a:t>its </a:t>
            </a:r>
            <a:r>
              <a:rPr sz="2650" spc="-10" dirty="0">
                <a:latin typeface="Times New Roman"/>
                <a:cs typeface="Times New Roman"/>
              </a:rPr>
              <a:t>plan</a:t>
            </a:r>
            <a:r>
              <a:rPr sz="2650" spc="-5" dirty="0">
                <a:latin typeface="Times New Roman"/>
                <a:cs typeface="Times New Roman"/>
              </a:rPr>
              <a:t> or</a:t>
            </a:r>
            <a:r>
              <a:rPr sz="2650" spc="-10" dirty="0">
                <a:latin typeface="Times New Roman"/>
                <a:cs typeface="Times New Roman"/>
              </a:rPr>
              <a:t> diagram</a:t>
            </a:r>
            <a:r>
              <a:rPr sz="2650" spc="-25" dirty="0">
                <a:latin typeface="Times New Roman"/>
                <a:cs typeface="Times New Roman"/>
              </a:rPr>
              <a:t> </a:t>
            </a:r>
            <a:r>
              <a:rPr sz="2650" spc="-10" dirty="0">
                <a:latin typeface="Times New Roman"/>
                <a:cs typeface="Times New Roman"/>
              </a:rPr>
              <a:t>for</a:t>
            </a:r>
            <a:r>
              <a:rPr sz="2650" spc="20" dirty="0">
                <a:latin typeface="Times New Roman"/>
                <a:cs typeface="Times New Roman"/>
              </a:rPr>
              <a:t> </a:t>
            </a:r>
            <a:r>
              <a:rPr sz="2650" spc="-10" dirty="0">
                <a:latin typeface="Times New Roman"/>
                <a:cs typeface="Times New Roman"/>
              </a:rPr>
              <a:t>how </a:t>
            </a:r>
            <a:r>
              <a:rPr sz="2650" spc="-5" dirty="0">
                <a:latin typeface="Times New Roman"/>
                <a:cs typeface="Times New Roman"/>
              </a:rPr>
              <a:t>it </a:t>
            </a:r>
            <a:r>
              <a:rPr sz="2650" dirty="0">
                <a:latin typeface="Times New Roman"/>
                <a:cs typeface="Times New Roman"/>
              </a:rPr>
              <a:t> </a:t>
            </a:r>
            <a:r>
              <a:rPr sz="2650" spc="-5" dirty="0">
                <a:latin typeface="Times New Roman"/>
                <a:cs typeface="Times New Roman"/>
              </a:rPr>
              <a:t>competes, uses </a:t>
            </a:r>
            <a:r>
              <a:rPr sz="2650" spc="-10" dirty="0">
                <a:latin typeface="Times New Roman"/>
                <a:cs typeface="Times New Roman"/>
              </a:rPr>
              <a:t>its </a:t>
            </a:r>
            <a:r>
              <a:rPr sz="2650" spc="-5" dirty="0">
                <a:latin typeface="Times New Roman"/>
                <a:cs typeface="Times New Roman"/>
              </a:rPr>
              <a:t>resources, structures </a:t>
            </a:r>
            <a:r>
              <a:rPr sz="2650" spc="-10" dirty="0">
                <a:latin typeface="Times New Roman"/>
                <a:cs typeface="Times New Roman"/>
              </a:rPr>
              <a:t>its relationships, </a:t>
            </a:r>
            <a:r>
              <a:rPr sz="2650" spc="-5" dirty="0">
                <a:latin typeface="Times New Roman"/>
                <a:cs typeface="Times New Roman"/>
              </a:rPr>
              <a:t> interfaces</a:t>
            </a:r>
            <a:r>
              <a:rPr sz="2650" spc="-40" dirty="0">
                <a:latin typeface="Times New Roman"/>
                <a:cs typeface="Times New Roman"/>
              </a:rPr>
              <a:t> </a:t>
            </a:r>
            <a:r>
              <a:rPr sz="2650" spc="-5" dirty="0">
                <a:latin typeface="Times New Roman"/>
                <a:cs typeface="Times New Roman"/>
              </a:rPr>
              <a:t>with</a:t>
            </a:r>
            <a:r>
              <a:rPr sz="2650" spc="-35" dirty="0">
                <a:latin typeface="Times New Roman"/>
                <a:cs typeface="Times New Roman"/>
              </a:rPr>
              <a:t> </a:t>
            </a:r>
            <a:r>
              <a:rPr sz="2650" spc="-5" dirty="0">
                <a:latin typeface="Times New Roman"/>
                <a:cs typeface="Times New Roman"/>
              </a:rPr>
              <a:t>customers,</a:t>
            </a:r>
            <a:r>
              <a:rPr sz="2650" spc="-10" dirty="0">
                <a:latin typeface="Times New Roman"/>
                <a:cs typeface="Times New Roman"/>
              </a:rPr>
              <a:t> and </a:t>
            </a:r>
            <a:r>
              <a:rPr sz="2650" spc="-5" dirty="0">
                <a:latin typeface="Times New Roman"/>
                <a:cs typeface="Times New Roman"/>
              </a:rPr>
              <a:t>creates</a:t>
            </a:r>
            <a:r>
              <a:rPr sz="2650" spc="-35" dirty="0">
                <a:latin typeface="Times New Roman"/>
                <a:cs typeface="Times New Roman"/>
              </a:rPr>
              <a:t> </a:t>
            </a:r>
            <a:r>
              <a:rPr sz="2650" spc="-5" dirty="0">
                <a:latin typeface="Times New Roman"/>
                <a:cs typeface="Times New Roman"/>
              </a:rPr>
              <a:t>value</a:t>
            </a:r>
            <a:r>
              <a:rPr sz="2650" spc="-45" dirty="0">
                <a:latin typeface="Times New Roman"/>
                <a:cs typeface="Times New Roman"/>
              </a:rPr>
              <a:t> </a:t>
            </a:r>
            <a:r>
              <a:rPr sz="2650" spc="-5" dirty="0">
                <a:latin typeface="Times New Roman"/>
                <a:cs typeface="Times New Roman"/>
              </a:rPr>
              <a:t>to</a:t>
            </a:r>
            <a:r>
              <a:rPr sz="2650" spc="-10" dirty="0">
                <a:latin typeface="Times New Roman"/>
                <a:cs typeface="Times New Roman"/>
              </a:rPr>
              <a:t> </a:t>
            </a:r>
            <a:r>
              <a:rPr sz="2650" spc="-5" dirty="0">
                <a:latin typeface="Times New Roman"/>
                <a:cs typeface="Times New Roman"/>
              </a:rPr>
              <a:t>sustain</a:t>
            </a:r>
            <a:r>
              <a:rPr sz="2650" spc="-10" dirty="0">
                <a:latin typeface="Times New Roman"/>
                <a:cs typeface="Times New Roman"/>
              </a:rPr>
              <a:t> itself </a:t>
            </a:r>
            <a:r>
              <a:rPr sz="2650" spc="-650" dirty="0">
                <a:latin typeface="Times New Roman"/>
                <a:cs typeface="Times New Roman"/>
              </a:rPr>
              <a:t> </a:t>
            </a:r>
            <a:r>
              <a:rPr sz="2650" spc="-5" dirty="0">
                <a:latin typeface="Times New Roman"/>
                <a:cs typeface="Times New Roman"/>
              </a:rPr>
              <a:t>on</a:t>
            </a:r>
            <a:r>
              <a:rPr sz="2650" spc="-10" dirty="0">
                <a:latin typeface="Times New Roman"/>
                <a:cs typeface="Times New Roman"/>
              </a:rPr>
              <a:t> </a:t>
            </a:r>
            <a:r>
              <a:rPr sz="2650" spc="-5" dirty="0">
                <a:latin typeface="Times New Roman"/>
                <a:cs typeface="Times New Roman"/>
              </a:rPr>
              <a:t>the</a:t>
            </a:r>
            <a:r>
              <a:rPr sz="2650" spc="-15" dirty="0">
                <a:latin typeface="Times New Roman"/>
                <a:cs typeface="Times New Roman"/>
              </a:rPr>
              <a:t> </a:t>
            </a:r>
            <a:r>
              <a:rPr sz="2650" spc="-10" dirty="0">
                <a:latin typeface="Times New Roman"/>
                <a:cs typeface="Times New Roman"/>
              </a:rPr>
              <a:t>basis</a:t>
            </a:r>
            <a:r>
              <a:rPr sz="2650" spc="-5" dirty="0">
                <a:latin typeface="Times New Roman"/>
                <a:cs typeface="Times New Roman"/>
              </a:rPr>
              <a:t> of</a:t>
            </a:r>
            <a:r>
              <a:rPr sz="2650" spc="-15" dirty="0">
                <a:latin typeface="Times New Roman"/>
                <a:cs typeface="Times New Roman"/>
              </a:rPr>
              <a:t> </a:t>
            </a:r>
            <a:r>
              <a:rPr sz="2650" spc="-5" dirty="0">
                <a:latin typeface="Times New Roman"/>
                <a:cs typeface="Times New Roman"/>
              </a:rPr>
              <a:t>the</a:t>
            </a:r>
            <a:r>
              <a:rPr sz="2650" spc="-15" dirty="0">
                <a:latin typeface="Times New Roman"/>
                <a:cs typeface="Times New Roman"/>
              </a:rPr>
              <a:t> </a:t>
            </a:r>
            <a:r>
              <a:rPr sz="2650" spc="-10" dirty="0">
                <a:latin typeface="Times New Roman"/>
                <a:cs typeface="Times New Roman"/>
              </a:rPr>
              <a:t>profits</a:t>
            </a:r>
            <a:r>
              <a:rPr sz="2650" spc="-5" dirty="0">
                <a:latin typeface="Times New Roman"/>
                <a:cs typeface="Times New Roman"/>
              </a:rPr>
              <a:t> it</a:t>
            </a:r>
            <a:r>
              <a:rPr sz="2650" spc="-25" dirty="0">
                <a:latin typeface="Times New Roman"/>
                <a:cs typeface="Times New Roman"/>
              </a:rPr>
              <a:t> </a:t>
            </a:r>
            <a:r>
              <a:rPr sz="2650" spc="-5" dirty="0">
                <a:latin typeface="Times New Roman"/>
                <a:cs typeface="Times New Roman"/>
              </a:rPr>
              <a:t>generates.</a:t>
            </a:r>
            <a:endParaRPr sz="2650">
              <a:latin typeface="Times New Roman"/>
              <a:cs typeface="Times New Roman"/>
            </a:endParaRPr>
          </a:p>
          <a:p>
            <a:pPr marL="829310" marR="1029335" lvl="1" indent="-314325">
              <a:lnSpc>
                <a:spcPts val="3170"/>
              </a:lnSpc>
              <a:spcBef>
                <a:spcPts val="605"/>
              </a:spcBef>
              <a:buChar char="–"/>
              <a:tabLst>
                <a:tab pos="830580" algn="l"/>
                <a:tab pos="831215" algn="l"/>
              </a:tabLst>
            </a:pPr>
            <a:r>
              <a:rPr sz="2650" spc="-10" dirty="0">
                <a:latin typeface="Times New Roman"/>
                <a:cs typeface="Times New Roman"/>
              </a:rPr>
              <a:t>The term </a:t>
            </a:r>
            <a:r>
              <a:rPr sz="2650" spc="-5" dirty="0">
                <a:latin typeface="Times New Roman"/>
                <a:cs typeface="Times New Roman"/>
              </a:rPr>
              <a:t>“business </a:t>
            </a:r>
            <a:r>
              <a:rPr sz="2650" spc="-10" dirty="0">
                <a:latin typeface="Times New Roman"/>
                <a:cs typeface="Times New Roman"/>
              </a:rPr>
              <a:t>model” </a:t>
            </a:r>
            <a:r>
              <a:rPr sz="2650" spc="-20" dirty="0">
                <a:latin typeface="Times New Roman"/>
                <a:cs typeface="Times New Roman"/>
              </a:rPr>
              <a:t>is </a:t>
            </a:r>
            <a:r>
              <a:rPr sz="2650" spc="-5" dirty="0">
                <a:latin typeface="Times New Roman"/>
                <a:cs typeface="Times New Roman"/>
              </a:rPr>
              <a:t>used </a:t>
            </a:r>
            <a:r>
              <a:rPr sz="2650" spc="-20" dirty="0">
                <a:latin typeface="Times New Roman"/>
                <a:cs typeface="Times New Roman"/>
              </a:rPr>
              <a:t>to </a:t>
            </a:r>
            <a:r>
              <a:rPr sz="2650" spc="-5" dirty="0">
                <a:latin typeface="Times New Roman"/>
                <a:cs typeface="Times New Roman"/>
              </a:rPr>
              <a:t>include </a:t>
            </a:r>
            <a:r>
              <a:rPr sz="2650" spc="-10" dirty="0">
                <a:latin typeface="Times New Roman"/>
                <a:cs typeface="Times New Roman"/>
              </a:rPr>
              <a:t>all </a:t>
            </a:r>
            <a:r>
              <a:rPr sz="2650" spc="-15" dirty="0">
                <a:latin typeface="Times New Roman"/>
                <a:cs typeface="Times New Roman"/>
              </a:rPr>
              <a:t>the </a:t>
            </a:r>
            <a:r>
              <a:rPr sz="2650" spc="-650" dirty="0">
                <a:latin typeface="Times New Roman"/>
                <a:cs typeface="Times New Roman"/>
              </a:rPr>
              <a:t> </a:t>
            </a:r>
            <a:r>
              <a:rPr sz="2650" spc="-10" dirty="0">
                <a:latin typeface="Times New Roman"/>
                <a:cs typeface="Times New Roman"/>
              </a:rPr>
              <a:t>activities</a:t>
            </a:r>
            <a:r>
              <a:rPr sz="2650" spc="-30" dirty="0">
                <a:latin typeface="Times New Roman"/>
                <a:cs typeface="Times New Roman"/>
              </a:rPr>
              <a:t> </a:t>
            </a:r>
            <a:r>
              <a:rPr sz="2650" spc="-10" dirty="0">
                <a:latin typeface="Times New Roman"/>
                <a:cs typeface="Times New Roman"/>
              </a:rPr>
              <a:t>that</a:t>
            </a:r>
            <a:r>
              <a:rPr sz="2650" spc="5" dirty="0">
                <a:latin typeface="Times New Roman"/>
                <a:cs typeface="Times New Roman"/>
              </a:rPr>
              <a:t> </a:t>
            </a:r>
            <a:r>
              <a:rPr sz="2650" spc="-10" dirty="0">
                <a:latin typeface="Times New Roman"/>
                <a:cs typeface="Times New Roman"/>
              </a:rPr>
              <a:t>define</a:t>
            </a:r>
            <a:r>
              <a:rPr sz="2650" spc="-15" dirty="0">
                <a:latin typeface="Times New Roman"/>
                <a:cs typeface="Times New Roman"/>
              </a:rPr>
              <a:t> </a:t>
            </a:r>
            <a:r>
              <a:rPr sz="2650" spc="-10" dirty="0">
                <a:latin typeface="Times New Roman"/>
                <a:cs typeface="Times New Roman"/>
              </a:rPr>
              <a:t>how</a:t>
            </a:r>
            <a:r>
              <a:rPr sz="2650" spc="-5" dirty="0">
                <a:latin typeface="Times New Roman"/>
                <a:cs typeface="Times New Roman"/>
              </a:rPr>
              <a:t> a</a:t>
            </a:r>
            <a:r>
              <a:rPr sz="2650" spc="-10" dirty="0">
                <a:latin typeface="Times New Roman"/>
                <a:cs typeface="Times New Roman"/>
              </a:rPr>
              <a:t> </a:t>
            </a:r>
            <a:r>
              <a:rPr sz="2650" spc="-5" dirty="0">
                <a:latin typeface="Times New Roman"/>
                <a:cs typeface="Times New Roman"/>
              </a:rPr>
              <a:t>firm</a:t>
            </a:r>
            <a:r>
              <a:rPr sz="2650" spc="-25" dirty="0">
                <a:latin typeface="Times New Roman"/>
                <a:cs typeface="Times New Roman"/>
              </a:rPr>
              <a:t> </a:t>
            </a:r>
            <a:r>
              <a:rPr sz="2650" spc="-10" dirty="0">
                <a:latin typeface="Times New Roman"/>
                <a:cs typeface="Times New Roman"/>
              </a:rPr>
              <a:t>competes</a:t>
            </a:r>
            <a:r>
              <a:rPr sz="2650" dirty="0">
                <a:latin typeface="Times New Roman"/>
                <a:cs typeface="Times New Roman"/>
              </a:rPr>
              <a:t> </a:t>
            </a:r>
            <a:r>
              <a:rPr sz="2650" spc="-20" dirty="0">
                <a:latin typeface="Times New Roman"/>
                <a:cs typeface="Times New Roman"/>
              </a:rPr>
              <a:t>in</a:t>
            </a:r>
            <a:r>
              <a:rPr sz="2650" dirty="0">
                <a:latin typeface="Times New Roman"/>
                <a:cs typeface="Times New Roman"/>
              </a:rPr>
              <a:t> </a:t>
            </a:r>
            <a:r>
              <a:rPr sz="2650" spc="-5" dirty="0">
                <a:latin typeface="Times New Roman"/>
                <a:cs typeface="Times New Roman"/>
              </a:rPr>
              <a:t>the </a:t>
            </a:r>
            <a:r>
              <a:rPr sz="2650" dirty="0">
                <a:latin typeface="Times New Roman"/>
                <a:cs typeface="Times New Roman"/>
              </a:rPr>
              <a:t> </a:t>
            </a:r>
            <a:r>
              <a:rPr sz="2650" spc="-10" dirty="0">
                <a:latin typeface="Times New Roman"/>
                <a:cs typeface="Times New Roman"/>
              </a:rPr>
              <a:t>marketplace.</a:t>
            </a:r>
            <a:endParaRPr sz="265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6813" y="579538"/>
            <a:ext cx="6244772" cy="875881"/>
          </a:xfrm>
          <a:prstGeom prst="rect">
            <a:avLst/>
          </a:prstGeom>
        </p:spPr>
        <p:txBody>
          <a:bodyPr vert="horz" wrap="square" lIns="0" tIns="13970" rIns="0" bIns="0" rtlCol="0">
            <a:spAutoFit/>
          </a:bodyPr>
          <a:lstStyle/>
          <a:p>
            <a:pPr algn="ctr">
              <a:lnSpc>
                <a:spcPct val="100000"/>
              </a:lnSpc>
              <a:spcBef>
                <a:spcPts val="110"/>
              </a:spcBef>
            </a:pPr>
            <a:r>
              <a:rPr lang="en-US" sz="3400" dirty="0"/>
              <a:t>Beyond Its Own Boundaries</a:t>
            </a:r>
            <a:br>
              <a:rPr lang="en-US" dirty="0"/>
            </a:br>
            <a:endParaRPr sz="2200" dirty="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5" name="object 5"/>
          <p:cNvSpPr txBox="1"/>
          <p:nvPr/>
        </p:nvSpPr>
        <p:spPr>
          <a:xfrm>
            <a:off x="761999" y="1905000"/>
            <a:ext cx="8534400" cy="4789259"/>
          </a:xfrm>
          <a:prstGeom prst="rect">
            <a:avLst/>
          </a:prstGeom>
        </p:spPr>
        <p:txBody>
          <a:bodyPr vert="horz" wrap="square" lIns="0" tIns="26034" rIns="0" bIns="0" rtlCol="0">
            <a:spAutoFit/>
          </a:bodyPr>
          <a:lstStyle/>
          <a:p>
            <a:pPr marL="180340" marR="5080" indent="-167640">
              <a:lnSpc>
                <a:spcPts val="3170"/>
              </a:lnSpc>
              <a:spcBef>
                <a:spcPts val="204"/>
              </a:spcBef>
              <a:buFont typeface="Arial MT"/>
              <a:buChar char="•"/>
              <a:tabLst>
                <a:tab pos="213995" algn="l"/>
              </a:tabLst>
            </a:pPr>
            <a:r>
              <a:rPr lang="en-US" dirty="0"/>
              <a:t>	</a:t>
            </a:r>
            <a:r>
              <a:rPr lang="en-US" sz="2650" spc="-40" dirty="0">
                <a:latin typeface="Times New Roman"/>
                <a:cs typeface="Times New Roman"/>
              </a:rPr>
              <a:t>It’s </a:t>
            </a:r>
            <a:r>
              <a:rPr lang="en-US" sz="2650" spc="-10" dirty="0">
                <a:latin typeface="Times New Roman"/>
                <a:cs typeface="Times New Roman"/>
              </a:rPr>
              <a:t>important </a:t>
            </a:r>
            <a:r>
              <a:rPr lang="en-US" sz="2650" spc="-5" dirty="0">
                <a:latin typeface="Times New Roman"/>
                <a:cs typeface="Times New Roman"/>
              </a:rPr>
              <a:t>to understand </a:t>
            </a:r>
            <a:r>
              <a:rPr lang="en-US" sz="2650" spc="-10" dirty="0">
                <a:latin typeface="Times New Roman"/>
                <a:cs typeface="Times New Roman"/>
              </a:rPr>
              <a:t>that </a:t>
            </a:r>
            <a:r>
              <a:rPr lang="en-US" sz="2650" spc="-5" dirty="0">
                <a:latin typeface="Times New Roman"/>
                <a:cs typeface="Times New Roman"/>
              </a:rPr>
              <a:t>a </a:t>
            </a:r>
            <a:r>
              <a:rPr lang="en-US" sz="2650" spc="-30" dirty="0">
                <a:latin typeface="Times New Roman"/>
                <a:cs typeface="Times New Roman"/>
              </a:rPr>
              <a:t>firm’s </a:t>
            </a:r>
            <a:r>
              <a:rPr lang="en-US" sz="2650" spc="-5" dirty="0">
                <a:latin typeface="Times New Roman"/>
                <a:cs typeface="Times New Roman"/>
              </a:rPr>
              <a:t>business model takes it beyond</a:t>
            </a:r>
            <a:r>
              <a:rPr lang="en-US" sz="2650" spc="-35" dirty="0">
                <a:latin typeface="Times New Roman"/>
                <a:cs typeface="Times New Roman"/>
              </a:rPr>
              <a:t> </a:t>
            </a:r>
            <a:r>
              <a:rPr lang="en-US" sz="2650" dirty="0">
                <a:latin typeface="Times New Roman"/>
                <a:cs typeface="Times New Roman"/>
              </a:rPr>
              <a:t>its</a:t>
            </a:r>
            <a:r>
              <a:rPr lang="en-US" sz="2650" spc="-5" dirty="0">
                <a:latin typeface="Times New Roman"/>
                <a:cs typeface="Times New Roman"/>
              </a:rPr>
              <a:t> </a:t>
            </a:r>
            <a:r>
              <a:rPr lang="en-US" sz="2650" spc="-10" dirty="0">
                <a:latin typeface="Times New Roman"/>
                <a:cs typeface="Times New Roman"/>
              </a:rPr>
              <a:t>own boundaries.</a:t>
            </a:r>
            <a:endParaRPr lang="en-US" sz="2650" dirty="0">
              <a:latin typeface="Times New Roman"/>
              <a:cs typeface="Times New Roman"/>
            </a:endParaRPr>
          </a:p>
          <a:p>
            <a:pPr marL="194945" indent="-182880">
              <a:lnSpc>
                <a:spcPts val="3055"/>
              </a:lnSpc>
              <a:buFont typeface="Arial MT"/>
              <a:buChar char="•"/>
              <a:tabLst>
                <a:tab pos="195580" algn="l"/>
              </a:tabLst>
            </a:pPr>
            <a:r>
              <a:rPr lang="en-US" sz="2650" spc="-5" dirty="0">
                <a:latin typeface="Times New Roman"/>
                <a:cs typeface="Times New Roman"/>
              </a:rPr>
              <a:t>Almost</a:t>
            </a:r>
            <a:r>
              <a:rPr lang="en-US" sz="2650" spc="-40" dirty="0">
                <a:latin typeface="Times New Roman"/>
                <a:cs typeface="Times New Roman"/>
              </a:rPr>
              <a:t> </a:t>
            </a:r>
            <a:r>
              <a:rPr lang="en-US" sz="2650" spc="-10" dirty="0">
                <a:latin typeface="Times New Roman"/>
                <a:cs typeface="Times New Roman"/>
              </a:rPr>
              <a:t>all</a:t>
            </a:r>
            <a:r>
              <a:rPr lang="en-US" sz="2650" spc="-15" dirty="0">
                <a:latin typeface="Times New Roman"/>
                <a:cs typeface="Times New Roman"/>
              </a:rPr>
              <a:t> firms</a:t>
            </a:r>
            <a:r>
              <a:rPr lang="en-US" sz="2650" spc="10" dirty="0">
                <a:latin typeface="Times New Roman"/>
                <a:cs typeface="Times New Roman"/>
              </a:rPr>
              <a:t> </a:t>
            </a:r>
            <a:r>
              <a:rPr lang="en-US" sz="2650" spc="-5" dirty="0">
                <a:latin typeface="Times New Roman"/>
                <a:cs typeface="Times New Roman"/>
              </a:rPr>
              <a:t>partner</a:t>
            </a:r>
            <a:r>
              <a:rPr lang="en-US" sz="2650" spc="-50" dirty="0">
                <a:latin typeface="Times New Roman"/>
                <a:cs typeface="Times New Roman"/>
              </a:rPr>
              <a:t> </a:t>
            </a:r>
            <a:r>
              <a:rPr lang="en-US" sz="2650" spc="-5" dirty="0">
                <a:latin typeface="Times New Roman"/>
                <a:cs typeface="Times New Roman"/>
              </a:rPr>
              <a:t>with</a:t>
            </a:r>
            <a:r>
              <a:rPr lang="en-US" sz="2650" dirty="0">
                <a:latin typeface="Times New Roman"/>
                <a:cs typeface="Times New Roman"/>
              </a:rPr>
              <a:t> </a:t>
            </a:r>
            <a:r>
              <a:rPr lang="en-US" sz="2650" spc="-10" dirty="0">
                <a:latin typeface="Times New Roman"/>
                <a:cs typeface="Times New Roman"/>
              </a:rPr>
              <a:t>others </a:t>
            </a:r>
            <a:r>
              <a:rPr lang="en-US" sz="2650" spc="-5" dirty="0">
                <a:latin typeface="Times New Roman"/>
                <a:cs typeface="Times New Roman"/>
              </a:rPr>
              <a:t>to </a:t>
            </a:r>
            <a:r>
              <a:rPr lang="en-US" sz="2650" spc="-10" dirty="0">
                <a:latin typeface="Times New Roman"/>
                <a:cs typeface="Times New Roman"/>
              </a:rPr>
              <a:t>make </a:t>
            </a:r>
            <a:r>
              <a:rPr lang="en-US" sz="2650" spc="-5" dirty="0">
                <a:latin typeface="Times New Roman"/>
                <a:cs typeface="Times New Roman"/>
              </a:rPr>
              <a:t>their </a:t>
            </a:r>
            <a:r>
              <a:rPr lang="en-US" sz="2650" spc="-10" dirty="0">
                <a:latin typeface="Times New Roman"/>
                <a:cs typeface="Times New Roman"/>
              </a:rPr>
              <a:t>business models work. In Dell’s case, it needs the cooperation of its suppliers, customers, and many others to make its business model possible.</a:t>
            </a:r>
          </a:p>
          <a:p>
            <a:pPr marL="194945" indent="-182880">
              <a:lnSpc>
                <a:spcPts val="3055"/>
              </a:lnSpc>
              <a:buFont typeface="Arial MT"/>
              <a:buChar char="•"/>
              <a:tabLst>
                <a:tab pos="195580" algn="l"/>
              </a:tabLst>
            </a:pPr>
            <a:endParaRPr lang="en-US" sz="2650" spc="-10" dirty="0">
              <a:latin typeface="Times New Roman"/>
              <a:cs typeface="Times New Roman"/>
            </a:endParaRPr>
          </a:p>
          <a:p>
            <a:pPr marL="194945" indent="-182880">
              <a:lnSpc>
                <a:spcPts val="3055"/>
              </a:lnSpc>
              <a:buFont typeface="Arial MT"/>
              <a:buChar char="•"/>
              <a:tabLst>
                <a:tab pos="195580" algn="l"/>
              </a:tabLst>
            </a:pPr>
            <a:r>
              <a:rPr lang="en-US" sz="2650" dirty="0">
                <a:latin typeface="Times New Roman"/>
                <a:cs typeface="Times New Roman"/>
              </a:rPr>
              <a:t>Company’s business model involves its network of partners along with its products. It encompasses the capabilities of multiple individuals and entities, all of which must be willing and motivated to play along.</a:t>
            </a:r>
          </a:p>
          <a:p>
            <a:pPr marL="194945" indent="-182880">
              <a:lnSpc>
                <a:spcPts val="3055"/>
              </a:lnSpc>
              <a:buFont typeface="Arial MT"/>
              <a:buChar char="•"/>
              <a:tabLst>
                <a:tab pos="195580" algn="l"/>
              </a:tabLst>
            </a:pPr>
            <a:r>
              <a:rPr lang="en-US" sz="2200" dirty="0">
                <a:latin typeface="Times New Roman"/>
                <a:cs typeface="Times New Roman"/>
              </a:rPr>
              <a:t>An example is Apple and in particular the Apple App Store.</a:t>
            </a:r>
          </a:p>
        </p:txBody>
      </p:sp>
    </p:spTree>
    <p:extLst>
      <p:ext uri="{BB962C8B-B14F-4D97-AF65-F5344CB8AC3E}">
        <p14:creationId xmlns:p14="http://schemas.microsoft.com/office/powerpoint/2010/main" val="3901361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4098" y="580097"/>
            <a:ext cx="5989955" cy="629285"/>
          </a:xfrm>
          <a:prstGeom prst="rect">
            <a:avLst/>
          </a:prstGeom>
        </p:spPr>
        <p:txBody>
          <a:bodyPr vert="horz" wrap="square" lIns="0" tIns="13970" rIns="0" bIns="0" rtlCol="0">
            <a:spAutoFit/>
          </a:bodyPr>
          <a:lstStyle/>
          <a:p>
            <a:pPr marL="12700">
              <a:lnSpc>
                <a:spcPct val="100000"/>
              </a:lnSpc>
              <a:spcBef>
                <a:spcPts val="110"/>
              </a:spcBef>
            </a:pPr>
            <a:r>
              <a:rPr dirty="0"/>
              <a:t>Diversity</a:t>
            </a:r>
            <a:r>
              <a:rPr spc="-15" dirty="0"/>
              <a:t> </a:t>
            </a:r>
            <a:r>
              <a:rPr dirty="0"/>
              <a:t>of</a:t>
            </a:r>
            <a:r>
              <a:rPr spc="-20" dirty="0"/>
              <a:t> </a:t>
            </a:r>
            <a:r>
              <a:rPr dirty="0"/>
              <a:t>Business</a:t>
            </a:r>
            <a:r>
              <a:rPr spc="-10" dirty="0"/>
              <a:t> </a:t>
            </a:r>
            <a:r>
              <a:rPr dirty="0"/>
              <a:t>Models</a:t>
            </a:r>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499458" y="3405614"/>
            <a:ext cx="4026535" cy="1097915"/>
          </a:xfrm>
          <a:prstGeom prst="rect">
            <a:avLst/>
          </a:prstGeom>
        </p:spPr>
        <p:txBody>
          <a:bodyPr vert="horz" wrap="square" lIns="0" tIns="11430" rIns="0" bIns="0" rtlCol="0">
            <a:spAutoFit/>
          </a:bodyPr>
          <a:lstStyle/>
          <a:p>
            <a:pPr marL="490855" marR="5080" indent="-478790">
              <a:lnSpc>
                <a:spcPct val="100600"/>
              </a:lnSpc>
              <a:spcBef>
                <a:spcPts val="90"/>
              </a:spcBef>
            </a:pPr>
            <a:r>
              <a:rPr sz="3500" dirty="0">
                <a:latin typeface="Times New Roman"/>
                <a:cs typeface="Times New Roman"/>
              </a:rPr>
              <a:t>Diversity </a:t>
            </a:r>
            <a:r>
              <a:rPr sz="3500" spc="5" dirty="0">
                <a:latin typeface="Times New Roman"/>
                <a:cs typeface="Times New Roman"/>
              </a:rPr>
              <a:t>or </a:t>
            </a:r>
            <a:r>
              <a:rPr sz="3500" spc="-50" dirty="0">
                <a:latin typeface="Times New Roman"/>
                <a:cs typeface="Times New Roman"/>
              </a:rPr>
              <a:t>Variety </a:t>
            </a:r>
            <a:r>
              <a:rPr sz="3500" spc="5" dirty="0">
                <a:latin typeface="Times New Roman"/>
                <a:cs typeface="Times New Roman"/>
              </a:rPr>
              <a:t>in </a:t>
            </a:r>
            <a:r>
              <a:rPr sz="3500" spc="-865" dirty="0">
                <a:latin typeface="Times New Roman"/>
                <a:cs typeface="Times New Roman"/>
              </a:rPr>
              <a:t> </a:t>
            </a:r>
            <a:r>
              <a:rPr sz="3500" spc="5" dirty="0">
                <a:latin typeface="Times New Roman"/>
                <a:cs typeface="Times New Roman"/>
              </a:rPr>
              <a:t>Business</a:t>
            </a:r>
            <a:r>
              <a:rPr sz="3500" spc="25" dirty="0">
                <a:latin typeface="Times New Roman"/>
                <a:cs typeface="Times New Roman"/>
              </a:rPr>
              <a:t> </a:t>
            </a:r>
            <a:r>
              <a:rPr sz="3500" spc="5" dirty="0">
                <a:latin typeface="Times New Roman"/>
                <a:cs typeface="Times New Roman"/>
              </a:rPr>
              <a:t>Models</a:t>
            </a:r>
            <a:endParaRPr sz="3500">
              <a:latin typeface="Times New Roman"/>
              <a:cs typeface="Times New Roman"/>
            </a:endParaRPr>
          </a:p>
        </p:txBody>
      </p:sp>
      <p:sp>
        <p:nvSpPr>
          <p:cNvPr id="5" name="object 5"/>
          <p:cNvSpPr txBox="1"/>
          <p:nvPr/>
        </p:nvSpPr>
        <p:spPr>
          <a:xfrm>
            <a:off x="4693920" y="1874520"/>
            <a:ext cx="4777740" cy="4610100"/>
          </a:xfrm>
          <a:prstGeom prst="rect">
            <a:avLst/>
          </a:prstGeom>
          <a:solidFill>
            <a:srgbClr val="FFFFCC"/>
          </a:solidFill>
          <a:ln w="10667">
            <a:solidFill>
              <a:srgbClr val="000000"/>
            </a:solidFill>
          </a:ln>
        </p:spPr>
        <p:txBody>
          <a:bodyPr vert="horz" wrap="square" lIns="0" tIns="89535" rIns="0" bIns="0" rtlCol="0">
            <a:spAutoFit/>
          </a:bodyPr>
          <a:lstStyle/>
          <a:p>
            <a:pPr marL="435609" marR="356870" indent="-167640">
              <a:lnSpc>
                <a:spcPct val="110600"/>
              </a:lnSpc>
              <a:spcBef>
                <a:spcPts val="705"/>
              </a:spcBef>
              <a:buFont typeface="Arial MT"/>
              <a:buChar char="•"/>
              <a:tabLst>
                <a:tab pos="463550" algn="l"/>
              </a:tabLst>
            </a:pPr>
            <a:r>
              <a:rPr dirty="0"/>
              <a:t>	</a:t>
            </a:r>
            <a:r>
              <a:rPr sz="2650" spc="-10" dirty="0">
                <a:latin typeface="Times New Roman"/>
                <a:cs typeface="Times New Roman"/>
              </a:rPr>
              <a:t>There</a:t>
            </a:r>
            <a:r>
              <a:rPr sz="2650" spc="-20" dirty="0">
                <a:latin typeface="Times New Roman"/>
                <a:cs typeface="Times New Roman"/>
              </a:rPr>
              <a:t> is</a:t>
            </a:r>
            <a:r>
              <a:rPr sz="2650" spc="25" dirty="0">
                <a:latin typeface="Times New Roman"/>
                <a:cs typeface="Times New Roman"/>
              </a:rPr>
              <a:t> </a:t>
            </a:r>
            <a:r>
              <a:rPr sz="2650" spc="-5" dirty="0">
                <a:latin typeface="Times New Roman"/>
                <a:cs typeface="Times New Roman"/>
              </a:rPr>
              <a:t>no</a:t>
            </a:r>
            <a:r>
              <a:rPr sz="2650" spc="-10" dirty="0">
                <a:latin typeface="Times New Roman"/>
                <a:cs typeface="Times New Roman"/>
              </a:rPr>
              <a:t> standard</a:t>
            </a:r>
            <a:r>
              <a:rPr sz="2650" spc="-30" dirty="0">
                <a:latin typeface="Times New Roman"/>
                <a:cs typeface="Times New Roman"/>
              </a:rPr>
              <a:t> </a:t>
            </a:r>
            <a:r>
              <a:rPr sz="2650" spc="-5" dirty="0">
                <a:latin typeface="Times New Roman"/>
                <a:cs typeface="Times New Roman"/>
              </a:rPr>
              <a:t>business </a:t>
            </a:r>
            <a:r>
              <a:rPr sz="2650" spc="-645" dirty="0">
                <a:latin typeface="Times New Roman"/>
                <a:cs typeface="Times New Roman"/>
              </a:rPr>
              <a:t> </a:t>
            </a:r>
            <a:r>
              <a:rPr sz="2650" spc="-10" dirty="0">
                <a:latin typeface="Times New Roman"/>
                <a:cs typeface="Times New Roman"/>
              </a:rPr>
              <a:t>model for</a:t>
            </a:r>
            <a:r>
              <a:rPr sz="2650" spc="-20" dirty="0">
                <a:latin typeface="Times New Roman"/>
                <a:cs typeface="Times New Roman"/>
              </a:rPr>
              <a:t> </a:t>
            </a:r>
            <a:r>
              <a:rPr sz="2650" dirty="0">
                <a:latin typeface="Times New Roman"/>
                <a:cs typeface="Times New Roman"/>
              </a:rPr>
              <a:t>an</a:t>
            </a:r>
            <a:r>
              <a:rPr sz="2650" spc="-40" dirty="0">
                <a:latin typeface="Times New Roman"/>
                <a:cs typeface="Times New Roman"/>
              </a:rPr>
              <a:t> </a:t>
            </a:r>
            <a:r>
              <a:rPr sz="2650" spc="-5" dirty="0">
                <a:latin typeface="Times New Roman"/>
                <a:cs typeface="Times New Roman"/>
              </a:rPr>
              <a:t>industry</a:t>
            </a:r>
            <a:r>
              <a:rPr sz="2650" spc="-10" dirty="0">
                <a:latin typeface="Times New Roman"/>
                <a:cs typeface="Times New Roman"/>
              </a:rPr>
              <a:t> </a:t>
            </a:r>
            <a:r>
              <a:rPr sz="2650" spc="-5" dirty="0">
                <a:latin typeface="Times New Roman"/>
                <a:cs typeface="Times New Roman"/>
              </a:rPr>
              <a:t>or</a:t>
            </a:r>
            <a:r>
              <a:rPr sz="2650" spc="-25" dirty="0">
                <a:latin typeface="Times New Roman"/>
                <a:cs typeface="Times New Roman"/>
              </a:rPr>
              <a:t> </a:t>
            </a:r>
            <a:r>
              <a:rPr sz="2650" dirty="0">
                <a:latin typeface="Times New Roman"/>
                <a:cs typeface="Times New Roman"/>
              </a:rPr>
              <a:t>for</a:t>
            </a:r>
            <a:endParaRPr sz="2650">
              <a:latin typeface="Times New Roman"/>
              <a:cs typeface="Times New Roman"/>
            </a:endParaRPr>
          </a:p>
          <a:p>
            <a:pPr marL="435609" marR="994410">
              <a:lnSpc>
                <a:spcPct val="110500"/>
              </a:lnSpc>
              <a:spcBef>
                <a:spcPts val="15"/>
              </a:spcBef>
            </a:pPr>
            <a:r>
              <a:rPr sz="2650" spc="-5" dirty="0">
                <a:latin typeface="Times New Roman"/>
                <a:cs typeface="Times New Roman"/>
              </a:rPr>
              <a:t>a</a:t>
            </a:r>
            <a:r>
              <a:rPr sz="2650" spc="-30" dirty="0">
                <a:latin typeface="Times New Roman"/>
                <a:cs typeface="Times New Roman"/>
              </a:rPr>
              <a:t> </a:t>
            </a:r>
            <a:r>
              <a:rPr sz="2650" spc="-15" dirty="0">
                <a:latin typeface="Times New Roman"/>
                <a:cs typeface="Times New Roman"/>
              </a:rPr>
              <a:t>target</a:t>
            </a:r>
            <a:r>
              <a:rPr sz="2650" spc="-10" dirty="0">
                <a:latin typeface="Times New Roman"/>
                <a:cs typeface="Times New Roman"/>
              </a:rPr>
              <a:t> market</a:t>
            </a:r>
            <a:r>
              <a:rPr sz="2650" spc="-40" dirty="0">
                <a:latin typeface="Times New Roman"/>
                <a:cs typeface="Times New Roman"/>
              </a:rPr>
              <a:t> </a:t>
            </a:r>
            <a:r>
              <a:rPr sz="2650" spc="-10" dirty="0">
                <a:latin typeface="Times New Roman"/>
                <a:cs typeface="Times New Roman"/>
              </a:rPr>
              <a:t>within</a:t>
            </a:r>
            <a:r>
              <a:rPr sz="2650" spc="-15" dirty="0">
                <a:latin typeface="Times New Roman"/>
                <a:cs typeface="Times New Roman"/>
              </a:rPr>
              <a:t> an </a:t>
            </a:r>
            <a:r>
              <a:rPr sz="2650" spc="-650" dirty="0">
                <a:latin typeface="Times New Roman"/>
                <a:cs typeface="Times New Roman"/>
              </a:rPr>
              <a:t> </a:t>
            </a:r>
            <a:r>
              <a:rPr sz="2650" spc="-25" dirty="0">
                <a:latin typeface="Times New Roman"/>
                <a:cs typeface="Times New Roman"/>
              </a:rPr>
              <a:t>industry.</a:t>
            </a:r>
            <a:endParaRPr sz="2650">
              <a:latin typeface="Times New Roman"/>
              <a:cs typeface="Times New Roman"/>
            </a:endParaRPr>
          </a:p>
          <a:p>
            <a:pPr marL="435609" marR="331470" indent="-167640">
              <a:lnSpc>
                <a:spcPts val="3529"/>
              </a:lnSpc>
              <a:spcBef>
                <a:spcPts val="165"/>
              </a:spcBef>
              <a:buFont typeface="Arial MT"/>
              <a:buChar char="•"/>
              <a:tabLst>
                <a:tab pos="469900" algn="l"/>
              </a:tabLst>
            </a:pPr>
            <a:r>
              <a:rPr dirty="0"/>
              <a:t>	</a:t>
            </a:r>
            <a:r>
              <a:rPr sz="2650" spc="-20" dirty="0">
                <a:latin typeface="Times New Roman"/>
                <a:cs typeface="Times New Roman"/>
              </a:rPr>
              <a:t>However, </a:t>
            </a:r>
            <a:r>
              <a:rPr sz="2650" spc="-10" dirty="0">
                <a:latin typeface="Times New Roman"/>
                <a:cs typeface="Times New Roman"/>
              </a:rPr>
              <a:t>over</a:t>
            </a:r>
            <a:r>
              <a:rPr sz="2650" spc="-30" dirty="0">
                <a:latin typeface="Times New Roman"/>
                <a:cs typeface="Times New Roman"/>
              </a:rPr>
              <a:t> </a:t>
            </a:r>
            <a:r>
              <a:rPr sz="2650" spc="-5" dirty="0">
                <a:latin typeface="Times New Roman"/>
                <a:cs typeface="Times New Roman"/>
              </a:rPr>
              <a:t>time,</a:t>
            </a:r>
            <a:r>
              <a:rPr sz="2650" spc="-45" dirty="0">
                <a:latin typeface="Times New Roman"/>
                <a:cs typeface="Times New Roman"/>
              </a:rPr>
              <a:t> </a:t>
            </a:r>
            <a:r>
              <a:rPr sz="2650" spc="-5" dirty="0">
                <a:latin typeface="Times New Roman"/>
                <a:cs typeface="Times New Roman"/>
              </a:rPr>
              <a:t>the</a:t>
            </a:r>
            <a:r>
              <a:rPr sz="2650" spc="-30" dirty="0">
                <a:latin typeface="Times New Roman"/>
                <a:cs typeface="Times New Roman"/>
              </a:rPr>
              <a:t> </a:t>
            </a:r>
            <a:r>
              <a:rPr sz="2650" spc="-5" dirty="0">
                <a:latin typeface="Times New Roman"/>
                <a:cs typeface="Times New Roman"/>
              </a:rPr>
              <a:t>most </a:t>
            </a:r>
            <a:r>
              <a:rPr sz="2650" spc="-650" dirty="0">
                <a:latin typeface="Times New Roman"/>
                <a:cs typeface="Times New Roman"/>
              </a:rPr>
              <a:t> </a:t>
            </a:r>
            <a:r>
              <a:rPr sz="2650" spc="-5" dirty="0">
                <a:latin typeface="Times New Roman"/>
                <a:cs typeface="Times New Roman"/>
              </a:rPr>
              <a:t>successful</a:t>
            </a:r>
            <a:r>
              <a:rPr sz="2650" spc="-30" dirty="0">
                <a:latin typeface="Times New Roman"/>
                <a:cs typeface="Times New Roman"/>
              </a:rPr>
              <a:t> </a:t>
            </a:r>
            <a:r>
              <a:rPr sz="2650" spc="-10" dirty="0">
                <a:latin typeface="Times New Roman"/>
                <a:cs typeface="Times New Roman"/>
              </a:rPr>
              <a:t>business models</a:t>
            </a:r>
            <a:endParaRPr sz="2650">
              <a:latin typeface="Times New Roman"/>
              <a:cs typeface="Times New Roman"/>
            </a:endParaRPr>
          </a:p>
          <a:p>
            <a:pPr marL="435609">
              <a:lnSpc>
                <a:spcPct val="100000"/>
              </a:lnSpc>
              <a:spcBef>
                <a:spcPts val="155"/>
              </a:spcBef>
            </a:pPr>
            <a:r>
              <a:rPr sz="2650" spc="-5" dirty="0">
                <a:latin typeface="Times New Roman"/>
                <a:cs typeface="Times New Roman"/>
              </a:rPr>
              <a:t>in</a:t>
            </a:r>
            <a:r>
              <a:rPr sz="2650" spc="-15" dirty="0">
                <a:latin typeface="Times New Roman"/>
                <a:cs typeface="Times New Roman"/>
              </a:rPr>
              <a:t> an</a:t>
            </a:r>
            <a:r>
              <a:rPr sz="2650" spc="-10" dirty="0">
                <a:latin typeface="Times New Roman"/>
                <a:cs typeface="Times New Roman"/>
              </a:rPr>
              <a:t> </a:t>
            </a:r>
            <a:r>
              <a:rPr sz="2650" spc="-5" dirty="0">
                <a:latin typeface="Times New Roman"/>
                <a:cs typeface="Times New Roman"/>
              </a:rPr>
              <a:t>industry</a:t>
            </a:r>
            <a:r>
              <a:rPr sz="2650" spc="-10" dirty="0">
                <a:latin typeface="Times New Roman"/>
                <a:cs typeface="Times New Roman"/>
              </a:rPr>
              <a:t> predominate.</a:t>
            </a:r>
            <a:endParaRPr sz="2650">
              <a:latin typeface="Times New Roman"/>
              <a:cs typeface="Times New Roman"/>
            </a:endParaRPr>
          </a:p>
          <a:p>
            <a:pPr marL="435609" marR="166370" indent="-167640">
              <a:lnSpc>
                <a:spcPts val="3529"/>
              </a:lnSpc>
              <a:spcBef>
                <a:spcPts val="165"/>
              </a:spcBef>
              <a:buFont typeface="Arial MT"/>
              <a:buChar char="•"/>
              <a:tabLst>
                <a:tab pos="463550" algn="l"/>
              </a:tabLst>
            </a:pPr>
            <a:r>
              <a:rPr dirty="0"/>
              <a:t>	</a:t>
            </a:r>
            <a:r>
              <a:rPr sz="2650" spc="-10" dirty="0">
                <a:latin typeface="Times New Roman"/>
                <a:cs typeface="Times New Roman"/>
              </a:rPr>
              <a:t>There </a:t>
            </a:r>
            <a:r>
              <a:rPr sz="2650" spc="-15" dirty="0">
                <a:latin typeface="Times New Roman"/>
                <a:cs typeface="Times New Roman"/>
              </a:rPr>
              <a:t>are </a:t>
            </a:r>
            <a:r>
              <a:rPr sz="2650" spc="-10" dirty="0">
                <a:latin typeface="Times New Roman"/>
                <a:cs typeface="Times New Roman"/>
              </a:rPr>
              <a:t>always </a:t>
            </a:r>
            <a:r>
              <a:rPr sz="2650" spc="-5" dirty="0">
                <a:latin typeface="Times New Roman"/>
                <a:cs typeface="Times New Roman"/>
              </a:rPr>
              <a:t>opportunities </a:t>
            </a:r>
            <a:r>
              <a:rPr sz="2650" spc="-650" dirty="0">
                <a:latin typeface="Times New Roman"/>
                <a:cs typeface="Times New Roman"/>
              </a:rPr>
              <a:t> </a:t>
            </a:r>
            <a:r>
              <a:rPr sz="2650" spc="-10" dirty="0">
                <a:latin typeface="Times New Roman"/>
                <a:cs typeface="Times New Roman"/>
              </a:rPr>
              <a:t>for</a:t>
            </a:r>
            <a:r>
              <a:rPr sz="2650" spc="5" dirty="0">
                <a:latin typeface="Times New Roman"/>
                <a:cs typeface="Times New Roman"/>
              </a:rPr>
              <a:t> </a:t>
            </a:r>
            <a:r>
              <a:rPr sz="2650" spc="-10" dirty="0">
                <a:latin typeface="Times New Roman"/>
                <a:cs typeface="Times New Roman"/>
              </a:rPr>
              <a:t>business</a:t>
            </a:r>
            <a:r>
              <a:rPr sz="2650" spc="-15" dirty="0">
                <a:latin typeface="Times New Roman"/>
                <a:cs typeface="Times New Roman"/>
              </a:rPr>
              <a:t> </a:t>
            </a:r>
            <a:r>
              <a:rPr sz="2650" spc="-10" dirty="0">
                <a:latin typeface="Times New Roman"/>
                <a:cs typeface="Times New Roman"/>
              </a:rPr>
              <a:t>model</a:t>
            </a:r>
            <a:r>
              <a:rPr sz="2650" spc="-35" dirty="0">
                <a:latin typeface="Times New Roman"/>
                <a:cs typeface="Times New Roman"/>
              </a:rPr>
              <a:t> </a:t>
            </a:r>
            <a:r>
              <a:rPr sz="2650" spc="-5" dirty="0">
                <a:latin typeface="Times New Roman"/>
                <a:cs typeface="Times New Roman"/>
              </a:rPr>
              <a:t>innovation.</a:t>
            </a:r>
            <a:endParaRPr sz="265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C327-BED3-AB0B-2722-5D7AA124386E}"/>
              </a:ext>
            </a:extLst>
          </p:cNvPr>
          <p:cNvSpPr>
            <a:spLocks noGrp="1"/>
          </p:cNvSpPr>
          <p:nvPr>
            <p:ph type="title"/>
          </p:nvPr>
        </p:nvSpPr>
        <p:spPr>
          <a:xfrm>
            <a:off x="1906813" y="412376"/>
            <a:ext cx="6244772" cy="607859"/>
          </a:xfrm>
        </p:spPr>
        <p:txBody>
          <a:bodyPr/>
          <a:lstStyle/>
          <a:p>
            <a:r>
              <a:rPr lang="en-US" dirty="0"/>
              <a:t>Business Model Innovation</a:t>
            </a:r>
          </a:p>
        </p:txBody>
      </p:sp>
      <p:sp>
        <p:nvSpPr>
          <p:cNvPr id="3" name="Text Placeholder 2">
            <a:extLst>
              <a:ext uri="{FF2B5EF4-FFF2-40B4-BE49-F238E27FC236}">
                <a16:creationId xmlns:a16="http://schemas.microsoft.com/office/drawing/2014/main" id="{48CC3281-B282-DA81-CB95-7908FADB9D18}"/>
              </a:ext>
            </a:extLst>
          </p:cNvPr>
          <p:cNvSpPr>
            <a:spLocks noGrp="1"/>
          </p:cNvSpPr>
          <p:nvPr>
            <p:ph type="body" idx="1"/>
          </p:nvPr>
        </p:nvSpPr>
        <p:spPr>
          <a:xfrm>
            <a:off x="685800" y="1275200"/>
            <a:ext cx="8147050" cy="2339102"/>
          </a:xfrm>
        </p:spPr>
        <p:txBody>
          <a:bodyPr/>
          <a:lstStyle/>
          <a:p>
            <a:pPr algn="l"/>
            <a:r>
              <a:rPr lang="en-US" sz="3200" dirty="0">
                <a:latin typeface="Times New Roman" panose="02020603050405020304" pitchFamily="18" charset="0"/>
                <a:cs typeface="Times New Roman" panose="02020603050405020304" pitchFamily="18" charset="0"/>
              </a:rPr>
              <a:t>Business model innovation refers to a business model that revolutionizes how a product is produced, sold, or supported after the sale.</a:t>
            </a:r>
          </a:p>
          <a:p>
            <a:pPr algn="l"/>
            <a:endParaRPr lang="en-US" sz="2800" dirty="0">
              <a:latin typeface="Times New Roman" panose="02020603050405020304" pitchFamily="18" charset="0"/>
              <a:cs typeface="Times New Roman" panose="02020603050405020304" pitchFamily="18" charset="0"/>
            </a:endParaRPr>
          </a:p>
          <a:p>
            <a:pPr algn="l"/>
            <a:endParaRPr lang="en-US" sz="2800" dirty="0">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E7215A15-0FFF-B972-378B-F72A820C57D7}"/>
              </a:ext>
            </a:extLst>
          </p:cNvPr>
          <p:cNvPicPr/>
          <p:nvPr/>
        </p:nvPicPr>
        <p:blipFill>
          <a:blip r:embed="rId2" cstate="print"/>
          <a:stretch>
            <a:fillRect/>
          </a:stretch>
        </p:blipFill>
        <p:spPr>
          <a:xfrm>
            <a:off x="685800" y="3168023"/>
            <a:ext cx="3810000" cy="3065390"/>
          </a:xfrm>
          <a:prstGeom prst="rect">
            <a:avLst/>
          </a:prstGeom>
        </p:spPr>
      </p:pic>
      <p:sp>
        <p:nvSpPr>
          <p:cNvPr id="6" name="object 5">
            <a:extLst>
              <a:ext uri="{FF2B5EF4-FFF2-40B4-BE49-F238E27FC236}">
                <a16:creationId xmlns:a16="http://schemas.microsoft.com/office/drawing/2014/main" id="{11493EC2-B7EE-39D5-FAB9-5615E1710D6C}"/>
              </a:ext>
            </a:extLst>
          </p:cNvPr>
          <p:cNvSpPr txBox="1"/>
          <p:nvPr/>
        </p:nvSpPr>
        <p:spPr>
          <a:xfrm>
            <a:off x="5020732" y="3097850"/>
            <a:ext cx="3802379" cy="3790461"/>
          </a:xfrm>
          <a:prstGeom prst="rect">
            <a:avLst/>
          </a:prstGeom>
        </p:spPr>
        <p:txBody>
          <a:bodyPr vert="horz" wrap="square" lIns="0" tIns="12065" rIns="0" bIns="0" rtlCol="0">
            <a:spAutoFit/>
          </a:bodyPr>
          <a:lstStyle/>
          <a:p>
            <a:pPr marL="12700" marR="5080" algn="ctr">
              <a:lnSpc>
                <a:spcPct val="101000"/>
              </a:lnSpc>
              <a:spcBef>
                <a:spcPts val="95"/>
              </a:spcBef>
            </a:pPr>
            <a:r>
              <a:rPr sz="3050" spc="10" dirty="0">
                <a:latin typeface="Times New Roman"/>
                <a:cs typeface="Times New Roman"/>
              </a:rPr>
              <a:t>Netflix</a:t>
            </a:r>
            <a:r>
              <a:rPr sz="3050" spc="-10" dirty="0">
                <a:latin typeface="Times New Roman"/>
                <a:cs typeface="Times New Roman"/>
              </a:rPr>
              <a:t> </a:t>
            </a:r>
            <a:r>
              <a:rPr lang="en-US" sz="3050" spc="-10" dirty="0">
                <a:latin typeface="Times New Roman"/>
                <a:cs typeface="Times New Roman"/>
              </a:rPr>
              <a:t>in movie rentals</a:t>
            </a:r>
            <a:r>
              <a:rPr lang="en-US" sz="3050" spc="-5" dirty="0">
                <a:latin typeface="Times New Roman"/>
                <a:cs typeface="Times New Roman"/>
              </a:rPr>
              <a:t>, </a:t>
            </a:r>
          </a:p>
          <a:p>
            <a:pPr marL="12700" marR="5080" algn="ctr">
              <a:lnSpc>
                <a:spcPct val="101000"/>
              </a:lnSpc>
              <a:spcBef>
                <a:spcPts val="95"/>
              </a:spcBef>
            </a:pPr>
            <a:r>
              <a:rPr lang="en-US" sz="3050" spc="-5" dirty="0" err="1">
                <a:latin typeface="Times New Roman"/>
                <a:cs typeface="Times New Roman"/>
              </a:rPr>
              <a:t>Amazon.com’s</a:t>
            </a:r>
            <a:r>
              <a:rPr lang="en-US" sz="3050" spc="-5" dirty="0">
                <a:latin typeface="Times New Roman"/>
                <a:cs typeface="Times New Roman"/>
              </a:rPr>
              <a:t> Kindle in digital books and Apple’s iTunes in the way music is purchased are familiar examples of successful business model innovations.</a:t>
            </a:r>
            <a:endParaRPr sz="3050" dirty="0">
              <a:latin typeface="Times New Roman"/>
              <a:cs typeface="Times New Roman"/>
            </a:endParaRPr>
          </a:p>
        </p:txBody>
      </p:sp>
    </p:spTree>
    <p:extLst>
      <p:ext uri="{BB962C8B-B14F-4D97-AF65-F5344CB8AC3E}">
        <p14:creationId xmlns:p14="http://schemas.microsoft.com/office/powerpoint/2010/main" val="526042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lang="en-US" spc="-5" dirty="0"/>
              <a:t>Dell’s</a:t>
            </a:r>
            <a:r>
              <a:rPr lang="en-US" spc="-15" dirty="0"/>
              <a:t> </a:t>
            </a:r>
            <a:r>
              <a:rPr dirty="0"/>
              <a:t>Business</a:t>
            </a:r>
            <a:r>
              <a:rPr spc="-15" dirty="0"/>
              <a:t> </a:t>
            </a:r>
            <a:r>
              <a:rPr dirty="0"/>
              <a:t>Model</a:t>
            </a:r>
          </a:p>
          <a:p>
            <a:pPr algn="ctr">
              <a:lnSpc>
                <a:spcPct val="100000"/>
              </a:lnSpc>
              <a:spcBef>
                <a:spcPts val="55"/>
              </a:spcBef>
            </a:pPr>
            <a:endParaRPr sz="2200" dirty="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5280660" y="2209800"/>
            <a:ext cx="4079747" cy="4526280"/>
          </a:xfrm>
          <a:prstGeom prst="rect">
            <a:avLst/>
          </a:prstGeom>
        </p:spPr>
      </p:pic>
      <p:sp>
        <p:nvSpPr>
          <p:cNvPr id="5" name="object 5"/>
          <p:cNvSpPr txBox="1"/>
          <p:nvPr/>
        </p:nvSpPr>
        <p:spPr>
          <a:xfrm>
            <a:off x="253366" y="1676400"/>
            <a:ext cx="4524375" cy="5825440"/>
          </a:xfrm>
          <a:prstGeom prst="rect">
            <a:avLst/>
          </a:prstGeom>
        </p:spPr>
        <p:txBody>
          <a:bodyPr vert="horz" wrap="square" lIns="0" tIns="26034" rIns="0" bIns="0" rtlCol="0">
            <a:spAutoFit/>
          </a:bodyPr>
          <a:lstStyle/>
          <a:p>
            <a:pPr marL="180340" marR="5080" indent="-167640">
              <a:lnSpc>
                <a:spcPts val="3170"/>
              </a:lnSpc>
              <a:spcBef>
                <a:spcPts val="204"/>
              </a:spcBef>
              <a:buFont typeface="Arial MT"/>
              <a:buChar char="•"/>
              <a:tabLst>
                <a:tab pos="213995" algn="l"/>
              </a:tabLst>
            </a:pPr>
            <a:r>
              <a:rPr lang="en-US" sz="2650" spc="-5" dirty="0">
                <a:latin typeface="Times New Roman"/>
                <a:cs typeface="Times New Roman"/>
              </a:rPr>
              <a:t>To achieve long-term success though, all business models need to be modified across time. </a:t>
            </a:r>
          </a:p>
          <a:p>
            <a:pPr marL="180340" marR="5080" indent="-167640">
              <a:lnSpc>
                <a:spcPts val="3170"/>
              </a:lnSpc>
              <a:spcBef>
                <a:spcPts val="204"/>
              </a:spcBef>
              <a:buFont typeface="Arial MT"/>
              <a:buChar char="•"/>
              <a:tabLst>
                <a:tab pos="213995" algn="l"/>
              </a:tabLst>
            </a:pPr>
            <a:r>
              <a:rPr lang="en-US" sz="2650" spc="-5" dirty="0">
                <a:latin typeface="Times New Roman"/>
                <a:cs typeface="Times New Roman"/>
              </a:rPr>
              <a:t>Competitors can eventually learn how to duplicate the benefits a particular firm is able to create through its business model.</a:t>
            </a:r>
          </a:p>
          <a:p>
            <a:pPr marL="12700" marR="5080">
              <a:lnSpc>
                <a:spcPts val="3170"/>
              </a:lnSpc>
              <a:spcBef>
                <a:spcPts val="204"/>
              </a:spcBef>
              <a:tabLst>
                <a:tab pos="213995" algn="l"/>
              </a:tabLst>
            </a:pPr>
            <a:r>
              <a:rPr lang="en-US" sz="2650" spc="-10" dirty="0">
                <a:latin typeface="Times New Roman"/>
                <a:cs typeface="Times New Roman"/>
              </a:rPr>
              <a:t>Competitors such as Hewlett Packard had learned how to successfully duplicate the benefits of Dell Inc.’s “build-to-order” (BTO) business model. </a:t>
            </a:r>
          </a:p>
        </p:txBody>
      </p:sp>
    </p:spTree>
    <p:extLst>
      <p:ext uri="{BB962C8B-B14F-4D97-AF65-F5344CB8AC3E}">
        <p14:creationId xmlns:p14="http://schemas.microsoft.com/office/powerpoint/2010/main" val="1337023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4386" y="244899"/>
            <a:ext cx="4606290" cy="629285"/>
          </a:xfrm>
          <a:prstGeom prst="rect">
            <a:avLst/>
          </a:prstGeom>
        </p:spPr>
        <p:txBody>
          <a:bodyPr vert="horz" wrap="square" lIns="0" tIns="13970" rIns="0" bIns="0" rtlCol="0">
            <a:spAutoFit/>
          </a:bodyPr>
          <a:lstStyle/>
          <a:p>
            <a:pPr marL="12700">
              <a:lnSpc>
                <a:spcPct val="100000"/>
              </a:lnSpc>
              <a:spcBef>
                <a:spcPts val="110"/>
              </a:spcBef>
            </a:pPr>
            <a:r>
              <a:rPr spc="-5" dirty="0"/>
              <a:t>Dell’s</a:t>
            </a:r>
            <a:r>
              <a:rPr spc="-20" dirty="0"/>
              <a:t> </a:t>
            </a:r>
            <a:r>
              <a:rPr dirty="0"/>
              <a:t>Business</a:t>
            </a:r>
            <a:r>
              <a:rPr spc="-15" dirty="0"/>
              <a:t> </a:t>
            </a:r>
            <a:r>
              <a:rPr dirty="0"/>
              <a:t>Model</a:t>
            </a:r>
          </a:p>
        </p:txBody>
      </p:sp>
      <p:sp>
        <p:nvSpPr>
          <p:cNvPr id="3" name="object 3"/>
          <p:cNvSpPr/>
          <p:nvPr/>
        </p:nvSpPr>
        <p:spPr>
          <a:xfrm>
            <a:off x="0" y="128778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70930" y="855973"/>
            <a:ext cx="8749665" cy="1056058"/>
          </a:xfrm>
          <a:prstGeom prst="rect">
            <a:avLst/>
          </a:prstGeom>
        </p:spPr>
        <p:txBody>
          <a:bodyPr vert="horz" wrap="square" lIns="0" tIns="12065" rIns="0" bIns="0" rtlCol="0">
            <a:spAutoFit/>
          </a:bodyPr>
          <a:lstStyle/>
          <a:p>
            <a:pPr marL="164465" algn="ctr">
              <a:lnSpc>
                <a:spcPct val="100000"/>
              </a:lnSpc>
              <a:spcBef>
                <a:spcPts val="95"/>
              </a:spcBef>
            </a:pPr>
            <a:endParaRPr sz="2200" dirty="0">
              <a:latin typeface="Times New Roman"/>
              <a:cs typeface="Times New Roman"/>
            </a:endParaRPr>
          </a:p>
          <a:p>
            <a:pPr>
              <a:lnSpc>
                <a:spcPct val="100000"/>
              </a:lnSpc>
              <a:spcBef>
                <a:spcPts val="50"/>
              </a:spcBef>
            </a:pPr>
            <a:endParaRPr sz="1850" dirty="0">
              <a:latin typeface="Times New Roman"/>
              <a:cs typeface="Times New Roman"/>
            </a:endParaRPr>
          </a:p>
          <a:p>
            <a:pPr marL="12700">
              <a:lnSpc>
                <a:spcPct val="100000"/>
              </a:lnSpc>
            </a:pPr>
            <a:r>
              <a:rPr sz="2650" spc="-20" dirty="0">
                <a:latin typeface="Times New Roman"/>
                <a:cs typeface="Times New Roman"/>
              </a:rPr>
              <a:t>D</a:t>
            </a:r>
            <a:r>
              <a:rPr sz="2650" spc="10" dirty="0">
                <a:latin typeface="Times New Roman"/>
                <a:cs typeface="Times New Roman"/>
              </a:rPr>
              <a:t>e</a:t>
            </a:r>
            <a:r>
              <a:rPr sz="2650" dirty="0">
                <a:latin typeface="Times New Roman"/>
                <a:cs typeface="Times New Roman"/>
              </a:rPr>
              <a:t>l</a:t>
            </a:r>
            <a:r>
              <a:rPr sz="2650" spc="-30" dirty="0">
                <a:latin typeface="Times New Roman"/>
                <a:cs typeface="Times New Roman"/>
              </a:rPr>
              <a:t>l</a:t>
            </a:r>
            <a:r>
              <a:rPr sz="2650" spc="-145" dirty="0">
                <a:latin typeface="Times New Roman"/>
                <a:cs typeface="Times New Roman"/>
              </a:rPr>
              <a:t>’</a:t>
            </a:r>
            <a:r>
              <a:rPr sz="2650" spc="-5" dirty="0">
                <a:latin typeface="Times New Roman"/>
                <a:cs typeface="Times New Roman"/>
              </a:rPr>
              <a:t>s</a:t>
            </a:r>
            <a:r>
              <a:rPr sz="2650" spc="-160" dirty="0">
                <a:latin typeface="Times New Roman"/>
                <a:cs typeface="Times New Roman"/>
              </a:rPr>
              <a:t> </a:t>
            </a:r>
            <a:r>
              <a:rPr sz="2650" spc="-20" dirty="0">
                <a:latin typeface="Times New Roman"/>
                <a:cs typeface="Times New Roman"/>
              </a:rPr>
              <a:t>A</a:t>
            </a:r>
            <a:r>
              <a:rPr sz="2650" spc="-5" dirty="0">
                <a:latin typeface="Times New Roman"/>
                <a:cs typeface="Times New Roman"/>
              </a:rPr>
              <a:t>pp</a:t>
            </a:r>
            <a:r>
              <a:rPr sz="2650" spc="10" dirty="0">
                <a:latin typeface="Times New Roman"/>
                <a:cs typeface="Times New Roman"/>
              </a:rPr>
              <a:t>r</a:t>
            </a:r>
            <a:r>
              <a:rPr sz="2650" spc="-5" dirty="0">
                <a:latin typeface="Times New Roman"/>
                <a:cs typeface="Times New Roman"/>
              </a:rPr>
              <a:t>o</a:t>
            </a:r>
            <a:r>
              <a:rPr sz="2650" spc="-20" dirty="0">
                <a:latin typeface="Times New Roman"/>
                <a:cs typeface="Times New Roman"/>
              </a:rPr>
              <a:t>a</a:t>
            </a:r>
            <a:r>
              <a:rPr sz="2650" spc="10" dirty="0">
                <a:latin typeface="Times New Roman"/>
                <a:cs typeface="Times New Roman"/>
              </a:rPr>
              <a:t>c</a:t>
            </a:r>
            <a:r>
              <a:rPr sz="2650" spc="-5" dirty="0">
                <a:latin typeface="Times New Roman"/>
                <a:cs typeface="Times New Roman"/>
              </a:rPr>
              <a:t>h </a:t>
            </a:r>
            <a:r>
              <a:rPr sz="2650" spc="-30" dirty="0">
                <a:latin typeface="Times New Roman"/>
                <a:cs typeface="Times New Roman"/>
              </a:rPr>
              <a:t>t</a:t>
            </a:r>
            <a:r>
              <a:rPr sz="2650" spc="-5" dirty="0">
                <a:latin typeface="Times New Roman"/>
                <a:cs typeface="Times New Roman"/>
              </a:rPr>
              <a:t>o </a:t>
            </a:r>
            <a:r>
              <a:rPr sz="2650" spc="-30" dirty="0">
                <a:latin typeface="Times New Roman"/>
                <a:cs typeface="Times New Roman"/>
              </a:rPr>
              <a:t>S</a:t>
            </a:r>
            <a:r>
              <a:rPr sz="2650" spc="10" dirty="0">
                <a:latin typeface="Times New Roman"/>
                <a:cs typeface="Times New Roman"/>
              </a:rPr>
              <a:t>e</a:t>
            </a:r>
            <a:r>
              <a:rPr sz="2650" dirty="0">
                <a:latin typeface="Times New Roman"/>
                <a:cs typeface="Times New Roman"/>
              </a:rPr>
              <a:t>l</a:t>
            </a:r>
            <a:r>
              <a:rPr sz="2650" spc="-30" dirty="0">
                <a:latin typeface="Times New Roman"/>
                <a:cs typeface="Times New Roman"/>
              </a:rPr>
              <a:t>l</a:t>
            </a:r>
            <a:r>
              <a:rPr sz="2650" dirty="0">
                <a:latin typeface="Times New Roman"/>
                <a:cs typeface="Times New Roman"/>
              </a:rPr>
              <a:t>i</a:t>
            </a:r>
            <a:r>
              <a:rPr sz="2650" spc="-5" dirty="0">
                <a:latin typeface="Times New Roman"/>
                <a:cs typeface="Times New Roman"/>
              </a:rPr>
              <a:t>ng </a:t>
            </a:r>
            <a:r>
              <a:rPr sz="2650" spc="-30" dirty="0">
                <a:latin typeface="Times New Roman"/>
                <a:cs typeface="Times New Roman"/>
              </a:rPr>
              <a:t>P</a:t>
            </a:r>
            <a:r>
              <a:rPr sz="2650" spc="-5" dirty="0">
                <a:latin typeface="Times New Roman"/>
                <a:cs typeface="Times New Roman"/>
              </a:rPr>
              <a:t>Cs</a:t>
            </a:r>
            <a:r>
              <a:rPr sz="2650" spc="25" dirty="0">
                <a:latin typeface="Times New Roman"/>
                <a:cs typeface="Times New Roman"/>
              </a:rPr>
              <a:t> </a:t>
            </a:r>
            <a:r>
              <a:rPr sz="2650" spc="-5" dirty="0">
                <a:latin typeface="Times New Roman"/>
                <a:cs typeface="Times New Roman"/>
              </a:rPr>
              <a:t>v</a:t>
            </a:r>
            <a:r>
              <a:rPr sz="2650" spc="-20" dirty="0">
                <a:latin typeface="Times New Roman"/>
                <a:cs typeface="Times New Roman"/>
              </a:rPr>
              <a:t>e</a:t>
            </a:r>
            <a:r>
              <a:rPr sz="2650" spc="-15" dirty="0">
                <a:latin typeface="Times New Roman"/>
                <a:cs typeface="Times New Roman"/>
              </a:rPr>
              <a:t>r</a:t>
            </a:r>
            <a:r>
              <a:rPr sz="2650" spc="-5" dirty="0">
                <a:latin typeface="Times New Roman"/>
                <a:cs typeface="Times New Roman"/>
              </a:rPr>
              <a:t>sus</a:t>
            </a:r>
            <a:r>
              <a:rPr sz="2650" spc="-55" dirty="0">
                <a:latin typeface="Times New Roman"/>
                <a:cs typeface="Times New Roman"/>
              </a:rPr>
              <a:t> </a:t>
            </a:r>
            <a:r>
              <a:rPr sz="2650" spc="-120" dirty="0">
                <a:latin typeface="Times New Roman"/>
                <a:cs typeface="Times New Roman"/>
              </a:rPr>
              <a:t>T</a:t>
            </a:r>
            <a:r>
              <a:rPr sz="2650" spc="10" dirty="0">
                <a:latin typeface="Times New Roman"/>
                <a:cs typeface="Times New Roman"/>
              </a:rPr>
              <a:t>r</a:t>
            </a:r>
            <a:r>
              <a:rPr sz="2650" spc="-20" dirty="0">
                <a:latin typeface="Times New Roman"/>
                <a:cs typeface="Times New Roman"/>
              </a:rPr>
              <a:t>a</a:t>
            </a:r>
            <a:r>
              <a:rPr sz="2650" spc="-5" dirty="0">
                <a:latin typeface="Times New Roman"/>
                <a:cs typeface="Times New Roman"/>
              </a:rPr>
              <a:t>d</a:t>
            </a:r>
            <a:r>
              <a:rPr sz="2650" dirty="0">
                <a:latin typeface="Times New Roman"/>
                <a:cs typeface="Times New Roman"/>
              </a:rPr>
              <a:t>it</a:t>
            </a:r>
            <a:r>
              <a:rPr sz="2650" spc="-30" dirty="0">
                <a:latin typeface="Times New Roman"/>
                <a:cs typeface="Times New Roman"/>
              </a:rPr>
              <a:t>i</a:t>
            </a:r>
            <a:r>
              <a:rPr sz="2650" spc="-5" dirty="0">
                <a:latin typeface="Times New Roman"/>
                <a:cs typeface="Times New Roman"/>
              </a:rPr>
              <a:t>on</a:t>
            </a:r>
            <a:r>
              <a:rPr sz="2650" spc="10" dirty="0">
                <a:latin typeface="Times New Roman"/>
                <a:cs typeface="Times New Roman"/>
              </a:rPr>
              <a:t>a</a:t>
            </a:r>
            <a:r>
              <a:rPr sz="2650" spc="-5" dirty="0">
                <a:latin typeface="Times New Roman"/>
                <a:cs typeface="Times New Roman"/>
              </a:rPr>
              <a:t>l</a:t>
            </a:r>
            <a:r>
              <a:rPr sz="2650" spc="-25" dirty="0">
                <a:latin typeface="Times New Roman"/>
                <a:cs typeface="Times New Roman"/>
              </a:rPr>
              <a:t> </a:t>
            </a:r>
            <a:r>
              <a:rPr sz="2650" spc="-10" dirty="0">
                <a:latin typeface="Times New Roman"/>
                <a:cs typeface="Times New Roman"/>
              </a:rPr>
              <a:t>M</a:t>
            </a:r>
            <a:r>
              <a:rPr sz="2650" spc="10" dirty="0">
                <a:latin typeface="Times New Roman"/>
                <a:cs typeface="Times New Roman"/>
              </a:rPr>
              <a:t>a</a:t>
            </a:r>
            <a:r>
              <a:rPr sz="2650" spc="-5" dirty="0">
                <a:latin typeface="Times New Roman"/>
                <a:cs typeface="Times New Roman"/>
              </a:rPr>
              <a:t>nu</a:t>
            </a:r>
            <a:r>
              <a:rPr sz="2650" spc="-15" dirty="0">
                <a:latin typeface="Times New Roman"/>
                <a:cs typeface="Times New Roman"/>
              </a:rPr>
              <a:t>f</a:t>
            </a:r>
            <a:r>
              <a:rPr sz="2650" spc="10" dirty="0">
                <a:latin typeface="Times New Roman"/>
                <a:cs typeface="Times New Roman"/>
              </a:rPr>
              <a:t>a</a:t>
            </a:r>
            <a:r>
              <a:rPr sz="2650" spc="-20" dirty="0">
                <a:latin typeface="Times New Roman"/>
                <a:cs typeface="Times New Roman"/>
              </a:rPr>
              <a:t>c</a:t>
            </a:r>
            <a:r>
              <a:rPr sz="2650" dirty="0">
                <a:latin typeface="Times New Roman"/>
                <a:cs typeface="Times New Roman"/>
              </a:rPr>
              <a:t>t</a:t>
            </a:r>
            <a:r>
              <a:rPr sz="2650" spc="-5" dirty="0">
                <a:latin typeface="Times New Roman"/>
                <a:cs typeface="Times New Roman"/>
              </a:rPr>
              <a:t>u</a:t>
            </a:r>
            <a:r>
              <a:rPr sz="2650" spc="-15" dirty="0">
                <a:latin typeface="Times New Roman"/>
                <a:cs typeface="Times New Roman"/>
              </a:rPr>
              <a:t>r</a:t>
            </a:r>
            <a:r>
              <a:rPr sz="2650" spc="10" dirty="0">
                <a:latin typeface="Times New Roman"/>
                <a:cs typeface="Times New Roman"/>
              </a:rPr>
              <a:t>e</a:t>
            </a:r>
            <a:r>
              <a:rPr sz="2650" spc="-15" dirty="0">
                <a:latin typeface="Times New Roman"/>
                <a:cs typeface="Times New Roman"/>
              </a:rPr>
              <a:t>r</a:t>
            </a:r>
            <a:r>
              <a:rPr sz="2650" spc="-5" dirty="0">
                <a:latin typeface="Times New Roman"/>
                <a:cs typeface="Times New Roman"/>
              </a:rPr>
              <a:t>s</a:t>
            </a:r>
            <a:endParaRPr sz="2650" dirty="0">
              <a:latin typeface="Times New Roman"/>
              <a:cs typeface="Times New Roman"/>
            </a:endParaRPr>
          </a:p>
        </p:txBody>
      </p:sp>
      <p:pic>
        <p:nvPicPr>
          <p:cNvPr id="5" name="object 5"/>
          <p:cNvPicPr/>
          <p:nvPr/>
        </p:nvPicPr>
        <p:blipFill>
          <a:blip r:embed="rId2" cstate="print"/>
          <a:stretch>
            <a:fillRect/>
          </a:stretch>
        </p:blipFill>
        <p:spPr>
          <a:xfrm>
            <a:off x="2430779" y="2125980"/>
            <a:ext cx="5699759" cy="5170932"/>
          </a:xfrm>
          <a:prstGeom prst="rect">
            <a:avLst/>
          </a:prstGeom>
        </p:spPr>
      </p:pic>
    </p:spTree>
    <p:extLst>
      <p:ext uri="{BB962C8B-B14F-4D97-AF65-F5344CB8AC3E}">
        <p14:creationId xmlns:p14="http://schemas.microsoft.com/office/powerpoint/2010/main" val="3433233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C327-BED3-AB0B-2722-5D7AA124386E}"/>
              </a:ext>
            </a:extLst>
          </p:cNvPr>
          <p:cNvSpPr>
            <a:spLocks noGrp="1"/>
          </p:cNvSpPr>
          <p:nvPr>
            <p:ph type="title"/>
          </p:nvPr>
        </p:nvSpPr>
        <p:spPr>
          <a:xfrm>
            <a:off x="1906813" y="412376"/>
            <a:ext cx="6244772" cy="607859"/>
          </a:xfrm>
        </p:spPr>
        <p:txBody>
          <a:bodyPr/>
          <a:lstStyle/>
          <a:p>
            <a:endParaRPr lang="en-US" dirty="0"/>
          </a:p>
        </p:txBody>
      </p:sp>
      <p:sp>
        <p:nvSpPr>
          <p:cNvPr id="3" name="Text Placeholder 2">
            <a:extLst>
              <a:ext uri="{FF2B5EF4-FFF2-40B4-BE49-F238E27FC236}">
                <a16:creationId xmlns:a16="http://schemas.microsoft.com/office/drawing/2014/main" id="{48CC3281-B282-DA81-CB95-7908FADB9D18}"/>
              </a:ext>
            </a:extLst>
          </p:cNvPr>
          <p:cNvSpPr>
            <a:spLocks noGrp="1"/>
          </p:cNvSpPr>
          <p:nvPr>
            <p:ph type="body" idx="1"/>
          </p:nvPr>
        </p:nvSpPr>
        <p:spPr>
          <a:xfrm>
            <a:off x="533399" y="1676400"/>
            <a:ext cx="8991600" cy="4154984"/>
          </a:xfrm>
        </p:spPr>
        <p:txBody>
          <a:bodyPr/>
          <a:lstStyle/>
          <a:p>
            <a:pPr algn="l"/>
            <a:r>
              <a:rPr lang="en-US" sz="2700" dirty="0">
                <a:latin typeface="Times New Roman" panose="02020603050405020304" pitchFamily="18" charset="0"/>
                <a:cs typeface="Times New Roman" panose="02020603050405020304" pitchFamily="18" charset="0"/>
              </a:rPr>
              <a:t>Firms are continually introducing business model innovations to find ways to add value in unique ways and revolutionize how products and services are sold in their industries.</a:t>
            </a:r>
          </a:p>
          <a:p>
            <a:pPr algn="l"/>
            <a:endParaRPr lang="en-US" sz="2700" dirty="0">
              <a:latin typeface="Times New Roman" panose="02020603050405020304" pitchFamily="18" charset="0"/>
              <a:cs typeface="Times New Roman" panose="02020603050405020304" pitchFamily="18" charset="0"/>
            </a:endParaRPr>
          </a:p>
          <a:p>
            <a:pPr algn="l"/>
            <a:r>
              <a:rPr lang="en-US" sz="2700" dirty="0">
                <a:latin typeface="Times New Roman" panose="02020603050405020304" pitchFamily="18" charset="0"/>
                <a:cs typeface="Times New Roman" panose="02020603050405020304" pitchFamily="18" charset="0"/>
              </a:rPr>
              <a:t>A firm’s business model is developed after the feasibility analysis stage of launching a new venture. The business model stage addresses how to surround it with a core strategy, a partnership model, a customer interface, distinctive resources, and an approach to creating value that represents a viable business.</a:t>
            </a:r>
          </a:p>
        </p:txBody>
      </p:sp>
    </p:spTree>
    <p:extLst>
      <p:ext uri="{BB962C8B-B14F-4D97-AF65-F5344CB8AC3E}">
        <p14:creationId xmlns:p14="http://schemas.microsoft.com/office/powerpoint/2010/main" val="1618203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6061" y="580097"/>
            <a:ext cx="7317740" cy="629285"/>
          </a:xfrm>
          <a:prstGeom prst="rect">
            <a:avLst/>
          </a:prstGeom>
        </p:spPr>
        <p:txBody>
          <a:bodyPr vert="horz" wrap="square" lIns="0" tIns="13970" rIns="0" bIns="0" rtlCol="0">
            <a:spAutoFit/>
          </a:bodyPr>
          <a:lstStyle/>
          <a:p>
            <a:pPr marL="12700">
              <a:lnSpc>
                <a:spcPct val="100000"/>
              </a:lnSpc>
              <a:spcBef>
                <a:spcPts val="110"/>
              </a:spcBef>
            </a:pPr>
            <a:r>
              <a:rPr dirty="0"/>
              <a:t>The</a:t>
            </a:r>
            <a:r>
              <a:rPr spc="20" dirty="0"/>
              <a:t> </a:t>
            </a:r>
            <a:r>
              <a:rPr dirty="0"/>
              <a:t>Importance</a:t>
            </a:r>
            <a:r>
              <a:rPr spc="-15" dirty="0"/>
              <a:t> </a:t>
            </a:r>
            <a:r>
              <a:rPr dirty="0"/>
              <a:t>of</a:t>
            </a:r>
            <a:r>
              <a:rPr spc="-15" dirty="0"/>
              <a:t> </a:t>
            </a:r>
            <a:r>
              <a:rPr dirty="0"/>
              <a:t>Business</a:t>
            </a:r>
            <a:r>
              <a:rPr spc="5" dirty="0"/>
              <a:t> </a:t>
            </a:r>
            <a:r>
              <a:rPr dirty="0"/>
              <a:t>Models</a:t>
            </a:r>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grpSp>
        <p:nvGrpSpPr>
          <p:cNvPr id="4" name="object 4"/>
          <p:cNvGrpSpPr/>
          <p:nvPr/>
        </p:nvGrpSpPr>
        <p:grpSpPr>
          <a:xfrm>
            <a:off x="413766" y="2623566"/>
            <a:ext cx="9230995" cy="4285615"/>
            <a:chOff x="413766" y="2623566"/>
            <a:chExt cx="9230995" cy="4285615"/>
          </a:xfrm>
        </p:grpSpPr>
        <p:sp>
          <p:nvSpPr>
            <p:cNvPr id="5" name="object 5"/>
            <p:cNvSpPr/>
            <p:nvPr/>
          </p:nvSpPr>
          <p:spPr>
            <a:xfrm>
              <a:off x="419100" y="2628900"/>
              <a:ext cx="9220200" cy="4274820"/>
            </a:xfrm>
            <a:custGeom>
              <a:avLst/>
              <a:gdLst/>
              <a:ahLst/>
              <a:cxnLst/>
              <a:rect l="l" t="t" r="r" b="b"/>
              <a:pathLst>
                <a:path w="9220200" h="4274820">
                  <a:moveTo>
                    <a:pt x="9220200" y="4274819"/>
                  </a:moveTo>
                  <a:lnTo>
                    <a:pt x="0" y="4274819"/>
                  </a:lnTo>
                  <a:lnTo>
                    <a:pt x="0" y="0"/>
                  </a:lnTo>
                  <a:lnTo>
                    <a:pt x="9220200" y="0"/>
                  </a:lnTo>
                  <a:lnTo>
                    <a:pt x="9220200" y="4274819"/>
                  </a:lnTo>
                  <a:close/>
                </a:path>
              </a:pathLst>
            </a:custGeom>
            <a:solidFill>
              <a:srgbClr val="FFFFCC"/>
            </a:solidFill>
          </p:spPr>
          <p:txBody>
            <a:bodyPr wrap="square" lIns="0" tIns="0" rIns="0" bIns="0" rtlCol="0"/>
            <a:lstStyle/>
            <a:p>
              <a:endParaRPr/>
            </a:p>
          </p:txBody>
        </p:sp>
        <p:sp>
          <p:nvSpPr>
            <p:cNvPr id="6" name="object 6"/>
            <p:cNvSpPr/>
            <p:nvPr/>
          </p:nvSpPr>
          <p:spPr>
            <a:xfrm>
              <a:off x="419100" y="2628900"/>
              <a:ext cx="9220200" cy="4274820"/>
            </a:xfrm>
            <a:custGeom>
              <a:avLst/>
              <a:gdLst/>
              <a:ahLst/>
              <a:cxnLst/>
              <a:rect l="l" t="t" r="r" b="b"/>
              <a:pathLst>
                <a:path w="9220200" h="4274820">
                  <a:moveTo>
                    <a:pt x="0" y="0"/>
                  </a:moveTo>
                  <a:lnTo>
                    <a:pt x="9220200" y="0"/>
                  </a:lnTo>
                  <a:lnTo>
                    <a:pt x="9220200" y="4274819"/>
                  </a:lnTo>
                  <a:lnTo>
                    <a:pt x="0" y="4274819"/>
                  </a:lnTo>
                  <a:lnTo>
                    <a:pt x="0" y="0"/>
                  </a:lnTo>
                  <a:close/>
                </a:path>
              </a:pathLst>
            </a:custGeom>
            <a:ln w="10668">
              <a:solidFill>
                <a:srgbClr val="000000"/>
              </a:solidFill>
            </a:ln>
          </p:spPr>
          <p:txBody>
            <a:bodyPr wrap="square" lIns="0" tIns="0" rIns="0" bIns="0" rtlCol="0"/>
            <a:lstStyle/>
            <a:p>
              <a:endParaRPr/>
            </a:p>
          </p:txBody>
        </p:sp>
      </p:grpSp>
      <p:sp>
        <p:nvSpPr>
          <p:cNvPr id="7" name="object 7"/>
          <p:cNvSpPr txBox="1"/>
          <p:nvPr/>
        </p:nvSpPr>
        <p:spPr>
          <a:xfrm>
            <a:off x="590739" y="1648476"/>
            <a:ext cx="8973820" cy="5162310"/>
          </a:xfrm>
          <a:prstGeom prst="rect">
            <a:avLst/>
          </a:prstGeom>
        </p:spPr>
        <p:txBody>
          <a:bodyPr vert="horz" wrap="square" lIns="0" tIns="26034" rIns="0" bIns="0" rtlCol="0">
            <a:spAutoFit/>
          </a:bodyPr>
          <a:lstStyle/>
          <a:p>
            <a:pPr marL="2395855" marR="798830" indent="-1772920">
              <a:lnSpc>
                <a:spcPts val="3170"/>
              </a:lnSpc>
              <a:spcBef>
                <a:spcPts val="204"/>
              </a:spcBef>
            </a:pPr>
            <a:r>
              <a:rPr sz="2650" spc="-5" dirty="0">
                <a:latin typeface="Times New Roman"/>
                <a:cs typeface="Times New Roman"/>
              </a:rPr>
              <a:t>Having</a:t>
            </a:r>
            <a:r>
              <a:rPr sz="2650" spc="-20" dirty="0">
                <a:latin typeface="Times New Roman"/>
                <a:cs typeface="Times New Roman"/>
              </a:rPr>
              <a:t> </a:t>
            </a:r>
            <a:r>
              <a:rPr sz="2650" spc="-5" dirty="0">
                <a:latin typeface="Times New Roman"/>
                <a:cs typeface="Times New Roman"/>
              </a:rPr>
              <a:t>a</a:t>
            </a:r>
            <a:r>
              <a:rPr sz="2650" spc="20" dirty="0">
                <a:latin typeface="Times New Roman"/>
                <a:cs typeface="Times New Roman"/>
              </a:rPr>
              <a:t> </a:t>
            </a:r>
            <a:r>
              <a:rPr sz="2650" spc="-10" dirty="0">
                <a:latin typeface="Times New Roman"/>
                <a:cs typeface="Times New Roman"/>
              </a:rPr>
              <a:t>clearly</a:t>
            </a:r>
            <a:r>
              <a:rPr sz="2650" spc="-20" dirty="0">
                <a:latin typeface="Times New Roman"/>
                <a:cs typeface="Times New Roman"/>
              </a:rPr>
              <a:t> </a:t>
            </a:r>
            <a:r>
              <a:rPr sz="2650" spc="-10" dirty="0">
                <a:latin typeface="Times New Roman"/>
                <a:cs typeface="Times New Roman"/>
              </a:rPr>
              <a:t>articulated</a:t>
            </a:r>
            <a:r>
              <a:rPr sz="2650" spc="-15" dirty="0">
                <a:latin typeface="Times New Roman"/>
                <a:cs typeface="Times New Roman"/>
              </a:rPr>
              <a:t> </a:t>
            </a:r>
            <a:r>
              <a:rPr sz="2650" spc="-10" dirty="0">
                <a:latin typeface="Times New Roman"/>
                <a:cs typeface="Times New Roman"/>
              </a:rPr>
              <a:t>business</a:t>
            </a:r>
            <a:r>
              <a:rPr sz="2650" spc="5" dirty="0">
                <a:latin typeface="Times New Roman"/>
                <a:cs typeface="Times New Roman"/>
              </a:rPr>
              <a:t> </a:t>
            </a:r>
            <a:r>
              <a:rPr sz="2650" spc="-10" dirty="0">
                <a:latin typeface="Times New Roman"/>
                <a:cs typeface="Times New Roman"/>
              </a:rPr>
              <a:t>model</a:t>
            </a:r>
            <a:r>
              <a:rPr sz="2650" spc="-15" dirty="0">
                <a:latin typeface="Times New Roman"/>
                <a:cs typeface="Times New Roman"/>
              </a:rPr>
              <a:t> </a:t>
            </a:r>
            <a:r>
              <a:rPr sz="2650" spc="-5" dirty="0">
                <a:latin typeface="Times New Roman"/>
                <a:cs typeface="Times New Roman"/>
              </a:rPr>
              <a:t>is</a:t>
            </a:r>
            <a:r>
              <a:rPr sz="2650" spc="10" dirty="0">
                <a:latin typeface="Times New Roman"/>
                <a:cs typeface="Times New Roman"/>
              </a:rPr>
              <a:t> </a:t>
            </a:r>
            <a:r>
              <a:rPr sz="2650" spc="-10" dirty="0">
                <a:latin typeface="Times New Roman"/>
                <a:cs typeface="Times New Roman"/>
              </a:rPr>
              <a:t>important </a:t>
            </a:r>
            <a:r>
              <a:rPr sz="2650" spc="-650" dirty="0">
                <a:latin typeface="Times New Roman"/>
                <a:cs typeface="Times New Roman"/>
              </a:rPr>
              <a:t> </a:t>
            </a:r>
            <a:r>
              <a:rPr sz="2650" spc="-5" dirty="0">
                <a:latin typeface="Times New Roman"/>
                <a:cs typeface="Times New Roman"/>
              </a:rPr>
              <a:t>because</a:t>
            </a:r>
            <a:r>
              <a:rPr sz="2650" spc="-40" dirty="0">
                <a:latin typeface="Times New Roman"/>
                <a:cs typeface="Times New Roman"/>
              </a:rPr>
              <a:t> </a:t>
            </a:r>
            <a:r>
              <a:rPr sz="2650" spc="-5" dirty="0">
                <a:latin typeface="Times New Roman"/>
                <a:cs typeface="Times New Roman"/>
              </a:rPr>
              <a:t>it</a:t>
            </a:r>
            <a:r>
              <a:rPr sz="2650" spc="-25" dirty="0">
                <a:latin typeface="Times New Roman"/>
                <a:cs typeface="Times New Roman"/>
              </a:rPr>
              <a:t> </a:t>
            </a:r>
            <a:r>
              <a:rPr sz="2650" spc="-5" dirty="0">
                <a:latin typeface="Times New Roman"/>
                <a:cs typeface="Times New Roman"/>
              </a:rPr>
              <a:t>does </a:t>
            </a:r>
            <a:r>
              <a:rPr sz="2650" spc="-15" dirty="0">
                <a:latin typeface="Times New Roman"/>
                <a:cs typeface="Times New Roman"/>
              </a:rPr>
              <a:t>the </a:t>
            </a:r>
            <a:r>
              <a:rPr sz="2650" spc="-10" dirty="0">
                <a:latin typeface="Times New Roman"/>
                <a:cs typeface="Times New Roman"/>
              </a:rPr>
              <a:t>following:</a:t>
            </a:r>
            <a:endParaRPr sz="2650" dirty="0">
              <a:latin typeface="Times New Roman"/>
              <a:cs typeface="Times New Roman"/>
            </a:endParaRPr>
          </a:p>
          <a:p>
            <a:pPr marL="180340" marR="5080" indent="-167640">
              <a:lnSpc>
                <a:spcPct val="110800"/>
              </a:lnSpc>
              <a:spcBef>
                <a:spcPts val="1875"/>
              </a:spcBef>
              <a:buFont typeface="Arial MT"/>
              <a:buChar char="•"/>
              <a:tabLst>
                <a:tab pos="213995" algn="l"/>
              </a:tabLst>
            </a:pPr>
            <a:r>
              <a:rPr dirty="0"/>
              <a:t>	</a:t>
            </a:r>
            <a:r>
              <a:rPr sz="2650" spc="-5" dirty="0">
                <a:latin typeface="Times New Roman"/>
                <a:cs typeface="Times New Roman"/>
              </a:rPr>
              <a:t>Serves</a:t>
            </a:r>
            <a:r>
              <a:rPr sz="2650" dirty="0">
                <a:latin typeface="Times New Roman"/>
                <a:cs typeface="Times New Roman"/>
              </a:rPr>
              <a:t> </a:t>
            </a:r>
            <a:r>
              <a:rPr sz="2650" spc="-15" dirty="0">
                <a:latin typeface="Times New Roman"/>
                <a:cs typeface="Times New Roman"/>
              </a:rPr>
              <a:t>as</a:t>
            </a:r>
            <a:r>
              <a:rPr sz="2650" dirty="0">
                <a:latin typeface="Times New Roman"/>
                <a:cs typeface="Times New Roman"/>
              </a:rPr>
              <a:t> an</a:t>
            </a:r>
            <a:r>
              <a:rPr sz="2650" spc="-20" dirty="0">
                <a:latin typeface="Times New Roman"/>
                <a:cs typeface="Times New Roman"/>
              </a:rPr>
              <a:t> </a:t>
            </a:r>
            <a:r>
              <a:rPr sz="2650" spc="-5" dirty="0">
                <a:latin typeface="Times New Roman"/>
                <a:cs typeface="Times New Roman"/>
              </a:rPr>
              <a:t>ongoing</a:t>
            </a:r>
            <a:r>
              <a:rPr sz="2650" dirty="0">
                <a:latin typeface="Times New Roman"/>
                <a:cs typeface="Times New Roman"/>
              </a:rPr>
              <a:t> </a:t>
            </a:r>
            <a:r>
              <a:rPr sz="2650" spc="-10" dirty="0">
                <a:latin typeface="Times New Roman"/>
                <a:cs typeface="Times New Roman"/>
              </a:rPr>
              <a:t>extension</a:t>
            </a:r>
            <a:r>
              <a:rPr sz="2650" spc="5" dirty="0">
                <a:latin typeface="Times New Roman"/>
                <a:cs typeface="Times New Roman"/>
              </a:rPr>
              <a:t> </a:t>
            </a:r>
            <a:r>
              <a:rPr sz="2650" spc="-5" dirty="0">
                <a:latin typeface="Times New Roman"/>
                <a:cs typeface="Times New Roman"/>
              </a:rPr>
              <a:t>of</a:t>
            </a:r>
            <a:r>
              <a:rPr sz="2650" spc="-10" dirty="0">
                <a:latin typeface="Times New Roman"/>
                <a:cs typeface="Times New Roman"/>
              </a:rPr>
              <a:t> feasibility</a:t>
            </a:r>
            <a:r>
              <a:rPr sz="2650" spc="-25" dirty="0">
                <a:latin typeface="Times New Roman"/>
                <a:cs typeface="Times New Roman"/>
              </a:rPr>
              <a:t> </a:t>
            </a:r>
            <a:r>
              <a:rPr sz="2650" spc="-5" dirty="0">
                <a:latin typeface="Times New Roman"/>
                <a:cs typeface="Times New Roman"/>
              </a:rPr>
              <a:t>analysis.</a:t>
            </a:r>
            <a:r>
              <a:rPr sz="2650" spc="-185" dirty="0">
                <a:latin typeface="Times New Roman"/>
                <a:cs typeface="Times New Roman"/>
              </a:rPr>
              <a:t> </a:t>
            </a:r>
            <a:r>
              <a:rPr sz="2650" spc="-10" dirty="0">
                <a:latin typeface="Times New Roman"/>
                <a:cs typeface="Times New Roman"/>
              </a:rPr>
              <a:t>A</a:t>
            </a:r>
            <a:r>
              <a:rPr sz="2650" spc="-140" dirty="0">
                <a:latin typeface="Times New Roman"/>
                <a:cs typeface="Times New Roman"/>
              </a:rPr>
              <a:t> </a:t>
            </a:r>
            <a:r>
              <a:rPr sz="2650" spc="-10" dirty="0">
                <a:latin typeface="Times New Roman"/>
                <a:cs typeface="Times New Roman"/>
              </a:rPr>
              <a:t>business </a:t>
            </a:r>
            <a:r>
              <a:rPr sz="2650" spc="-645" dirty="0">
                <a:latin typeface="Times New Roman"/>
                <a:cs typeface="Times New Roman"/>
              </a:rPr>
              <a:t> </a:t>
            </a:r>
            <a:r>
              <a:rPr sz="2650" spc="-10" dirty="0">
                <a:latin typeface="Times New Roman"/>
                <a:cs typeface="Times New Roman"/>
              </a:rPr>
              <a:t>model </a:t>
            </a:r>
            <a:r>
              <a:rPr sz="2650" spc="-5" dirty="0">
                <a:latin typeface="Times New Roman"/>
                <a:cs typeface="Times New Roman"/>
              </a:rPr>
              <a:t>continually </a:t>
            </a:r>
            <a:r>
              <a:rPr sz="2650" spc="-10" dirty="0">
                <a:latin typeface="Times New Roman"/>
                <a:cs typeface="Times New Roman"/>
              </a:rPr>
              <a:t>asks </a:t>
            </a:r>
            <a:r>
              <a:rPr sz="2650" spc="-5" dirty="0">
                <a:latin typeface="Times New Roman"/>
                <a:cs typeface="Times New Roman"/>
              </a:rPr>
              <a:t>the question, “Does this business </a:t>
            </a:r>
            <a:r>
              <a:rPr sz="2650" spc="-10" dirty="0">
                <a:latin typeface="Times New Roman"/>
                <a:cs typeface="Times New Roman"/>
              </a:rPr>
              <a:t>make </a:t>
            </a:r>
            <a:r>
              <a:rPr sz="2650" spc="-5" dirty="0">
                <a:latin typeface="Times New Roman"/>
                <a:cs typeface="Times New Roman"/>
              </a:rPr>
              <a:t> sense?”</a:t>
            </a:r>
            <a:endParaRPr sz="2650" dirty="0">
              <a:latin typeface="Times New Roman"/>
              <a:cs typeface="Times New Roman"/>
            </a:endParaRPr>
          </a:p>
          <a:p>
            <a:pPr marL="180340" marR="957580" indent="-167640">
              <a:lnSpc>
                <a:spcPts val="3520"/>
              </a:lnSpc>
              <a:spcBef>
                <a:spcPts val="170"/>
              </a:spcBef>
              <a:buFont typeface="Arial MT"/>
              <a:buChar char="•"/>
              <a:tabLst>
                <a:tab pos="213995" algn="l"/>
              </a:tabLst>
            </a:pPr>
            <a:r>
              <a:rPr dirty="0"/>
              <a:t>	</a:t>
            </a:r>
            <a:r>
              <a:rPr sz="2650" spc="-5" dirty="0">
                <a:latin typeface="Times New Roman"/>
                <a:cs typeface="Times New Roman"/>
              </a:rPr>
              <a:t>Focuses</a:t>
            </a:r>
            <a:r>
              <a:rPr sz="2650" spc="-35" dirty="0">
                <a:latin typeface="Times New Roman"/>
                <a:cs typeface="Times New Roman"/>
              </a:rPr>
              <a:t> </a:t>
            </a:r>
            <a:r>
              <a:rPr sz="2650" spc="-5" dirty="0">
                <a:latin typeface="Times New Roman"/>
                <a:cs typeface="Times New Roman"/>
              </a:rPr>
              <a:t>attention</a:t>
            </a:r>
            <a:r>
              <a:rPr sz="2650" spc="-30" dirty="0">
                <a:latin typeface="Times New Roman"/>
                <a:cs typeface="Times New Roman"/>
              </a:rPr>
              <a:t> </a:t>
            </a:r>
            <a:r>
              <a:rPr sz="2650" spc="-5" dirty="0">
                <a:latin typeface="Times New Roman"/>
                <a:cs typeface="Times New Roman"/>
              </a:rPr>
              <a:t>on </a:t>
            </a:r>
            <a:r>
              <a:rPr sz="2650" spc="-10" dirty="0">
                <a:latin typeface="Times New Roman"/>
                <a:cs typeface="Times New Roman"/>
              </a:rPr>
              <a:t>how</a:t>
            </a:r>
            <a:r>
              <a:rPr sz="2650" spc="15" dirty="0">
                <a:latin typeface="Times New Roman"/>
                <a:cs typeface="Times New Roman"/>
              </a:rPr>
              <a:t> </a:t>
            </a:r>
            <a:r>
              <a:rPr sz="2650" spc="-10" dirty="0">
                <a:latin typeface="Times New Roman"/>
                <a:cs typeface="Times New Roman"/>
              </a:rPr>
              <a:t>all</a:t>
            </a:r>
            <a:r>
              <a:rPr sz="2650" spc="-30" dirty="0">
                <a:latin typeface="Times New Roman"/>
                <a:cs typeface="Times New Roman"/>
              </a:rPr>
              <a:t> </a:t>
            </a:r>
            <a:r>
              <a:rPr sz="2650" spc="-5" dirty="0">
                <a:latin typeface="Times New Roman"/>
                <a:cs typeface="Times New Roman"/>
              </a:rPr>
              <a:t>the</a:t>
            </a:r>
            <a:r>
              <a:rPr sz="2650" spc="-15" dirty="0">
                <a:latin typeface="Times New Roman"/>
                <a:cs typeface="Times New Roman"/>
              </a:rPr>
              <a:t> </a:t>
            </a:r>
            <a:r>
              <a:rPr sz="2650" spc="-5" dirty="0">
                <a:latin typeface="Times New Roman"/>
                <a:cs typeface="Times New Roman"/>
              </a:rPr>
              <a:t>elements</a:t>
            </a:r>
            <a:r>
              <a:rPr sz="2650" spc="-30" dirty="0">
                <a:latin typeface="Times New Roman"/>
                <a:cs typeface="Times New Roman"/>
              </a:rPr>
              <a:t> </a:t>
            </a:r>
            <a:r>
              <a:rPr sz="2650" spc="-5" dirty="0">
                <a:latin typeface="Times New Roman"/>
                <a:cs typeface="Times New Roman"/>
              </a:rPr>
              <a:t>of</a:t>
            </a:r>
            <a:r>
              <a:rPr sz="2650" spc="-15" dirty="0">
                <a:latin typeface="Times New Roman"/>
                <a:cs typeface="Times New Roman"/>
              </a:rPr>
              <a:t> </a:t>
            </a:r>
            <a:r>
              <a:rPr sz="2650" spc="-5" dirty="0">
                <a:latin typeface="Times New Roman"/>
                <a:cs typeface="Times New Roman"/>
              </a:rPr>
              <a:t>a</a:t>
            </a:r>
            <a:r>
              <a:rPr sz="2650" spc="-20" dirty="0">
                <a:latin typeface="Times New Roman"/>
                <a:cs typeface="Times New Roman"/>
              </a:rPr>
              <a:t> </a:t>
            </a:r>
            <a:r>
              <a:rPr sz="2650" spc="-5" dirty="0">
                <a:latin typeface="Times New Roman"/>
                <a:cs typeface="Times New Roman"/>
              </a:rPr>
              <a:t>business</a:t>
            </a:r>
            <a:r>
              <a:rPr sz="2650" spc="-30" dirty="0">
                <a:latin typeface="Times New Roman"/>
                <a:cs typeface="Times New Roman"/>
              </a:rPr>
              <a:t> </a:t>
            </a:r>
            <a:r>
              <a:rPr sz="2650" spc="-10" dirty="0">
                <a:latin typeface="Times New Roman"/>
                <a:cs typeface="Times New Roman"/>
              </a:rPr>
              <a:t>fit</a:t>
            </a:r>
            <a:r>
              <a:rPr lang="en-US" sz="2650" spc="-10" dirty="0">
                <a:latin typeface="Times New Roman"/>
                <a:cs typeface="Times New Roman"/>
              </a:rPr>
              <a:t> </a:t>
            </a:r>
            <a:r>
              <a:rPr sz="2650" spc="-5" dirty="0">
                <a:latin typeface="Times New Roman"/>
                <a:cs typeface="Times New Roman"/>
              </a:rPr>
              <a:t>together</a:t>
            </a:r>
            <a:r>
              <a:rPr sz="2650" spc="-45" dirty="0">
                <a:latin typeface="Times New Roman"/>
                <a:cs typeface="Times New Roman"/>
              </a:rPr>
              <a:t> </a:t>
            </a:r>
            <a:r>
              <a:rPr sz="2650" dirty="0">
                <a:latin typeface="Times New Roman"/>
                <a:cs typeface="Times New Roman"/>
              </a:rPr>
              <a:t>and</a:t>
            </a:r>
            <a:r>
              <a:rPr sz="2650" spc="-30" dirty="0">
                <a:latin typeface="Times New Roman"/>
                <a:cs typeface="Times New Roman"/>
              </a:rPr>
              <a:t> </a:t>
            </a:r>
            <a:r>
              <a:rPr sz="2650" spc="-5" dirty="0">
                <a:latin typeface="Times New Roman"/>
                <a:cs typeface="Times New Roman"/>
              </a:rPr>
              <a:t>constitute</a:t>
            </a:r>
            <a:r>
              <a:rPr sz="2650" spc="-15"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10" dirty="0">
                <a:latin typeface="Times New Roman"/>
                <a:cs typeface="Times New Roman"/>
              </a:rPr>
              <a:t>working</a:t>
            </a:r>
            <a:r>
              <a:rPr sz="2650" spc="-5" dirty="0">
                <a:latin typeface="Times New Roman"/>
                <a:cs typeface="Times New Roman"/>
              </a:rPr>
              <a:t> </a:t>
            </a:r>
            <a:r>
              <a:rPr sz="2650" spc="-10" dirty="0">
                <a:latin typeface="Times New Roman"/>
                <a:cs typeface="Times New Roman"/>
              </a:rPr>
              <a:t>whole.</a:t>
            </a:r>
            <a:endParaRPr sz="2650" dirty="0">
              <a:latin typeface="Times New Roman"/>
              <a:cs typeface="Times New Roman"/>
            </a:endParaRPr>
          </a:p>
          <a:p>
            <a:pPr marL="180340" marR="666750" indent="-167640">
              <a:lnSpc>
                <a:spcPts val="3520"/>
              </a:lnSpc>
              <a:spcBef>
                <a:spcPts val="5"/>
              </a:spcBef>
              <a:buFont typeface="Arial MT"/>
              <a:buChar char="•"/>
              <a:tabLst>
                <a:tab pos="213995" algn="l"/>
              </a:tabLst>
            </a:pPr>
            <a:r>
              <a:rPr dirty="0"/>
              <a:t>	</a:t>
            </a:r>
            <a:r>
              <a:rPr sz="2650" spc="-5" dirty="0">
                <a:latin typeface="Times New Roman"/>
                <a:cs typeface="Times New Roman"/>
              </a:rPr>
              <a:t>Describes </a:t>
            </a:r>
            <a:r>
              <a:rPr sz="2650" spc="-10" dirty="0">
                <a:latin typeface="Times New Roman"/>
                <a:cs typeface="Times New Roman"/>
              </a:rPr>
              <a:t>why </a:t>
            </a:r>
            <a:r>
              <a:rPr sz="2650" spc="-5" dirty="0">
                <a:latin typeface="Times New Roman"/>
                <a:cs typeface="Times New Roman"/>
              </a:rPr>
              <a:t>the </a:t>
            </a:r>
            <a:r>
              <a:rPr sz="2650" spc="-10" dirty="0">
                <a:latin typeface="Times New Roman"/>
                <a:cs typeface="Times New Roman"/>
              </a:rPr>
              <a:t>network </a:t>
            </a:r>
            <a:r>
              <a:rPr sz="2650" spc="-5" dirty="0">
                <a:latin typeface="Times New Roman"/>
                <a:cs typeface="Times New Roman"/>
              </a:rPr>
              <a:t>of </a:t>
            </a:r>
            <a:r>
              <a:rPr sz="2650" spc="-10" dirty="0">
                <a:latin typeface="Times New Roman"/>
                <a:cs typeface="Times New Roman"/>
              </a:rPr>
              <a:t>participants </a:t>
            </a:r>
            <a:r>
              <a:rPr sz="2650" spc="-5" dirty="0">
                <a:latin typeface="Times New Roman"/>
                <a:cs typeface="Times New Roman"/>
              </a:rPr>
              <a:t>needed </a:t>
            </a:r>
            <a:r>
              <a:rPr sz="2650" spc="-20" dirty="0">
                <a:latin typeface="Times New Roman"/>
                <a:cs typeface="Times New Roman"/>
              </a:rPr>
              <a:t>to </a:t>
            </a:r>
            <a:r>
              <a:rPr sz="2650" spc="-5" dirty="0">
                <a:latin typeface="Times New Roman"/>
                <a:cs typeface="Times New Roman"/>
              </a:rPr>
              <a:t>make a </a:t>
            </a:r>
            <a:r>
              <a:rPr sz="2650" spc="-650" dirty="0">
                <a:latin typeface="Times New Roman"/>
                <a:cs typeface="Times New Roman"/>
              </a:rPr>
              <a:t> </a:t>
            </a:r>
            <a:r>
              <a:rPr sz="2650" spc="-10" dirty="0">
                <a:latin typeface="Times New Roman"/>
                <a:cs typeface="Times New Roman"/>
              </a:rPr>
              <a:t>business</a:t>
            </a:r>
            <a:r>
              <a:rPr sz="2650" spc="-5" dirty="0">
                <a:latin typeface="Times New Roman"/>
                <a:cs typeface="Times New Roman"/>
              </a:rPr>
              <a:t> </a:t>
            </a:r>
            <a:r>
              <a:rPr sz="2650" spc="-10" dirty="0">
                <a:latin typeface="Times New Roman"/>
                <a:cs typeface="Times New Roman"/>
              </a:rPr>
              <a:t>idea</a:t>
            </a:r>
            <a:r>
              <a:rPr sz="2650" spc="-15" dirty="0">
                <a:latin typeface="Times New Roman"/>
                <a:cs typeface="Times New Roman"/>
              </a:rPr>
              <a:t> </a:t>
            </a:r>
            <a:r>
              <a:rPr sz="2650" spc="-5" dirty="0">
                <a:latin typeface="Times New Roman"/>
                <a:cs typeface="Times New Roman"/>
              </a:rPr>
              <a:t>viable</a:t>
            </a:r>
            <a:r>
              <a:rPr sz="2650" spc="-15" dirty="0">
                <a:latin typeface="Times New Roman"/>
                <a:cs typeface="Times New Roman"/>
              </a:rPr>
              <a:t> </a:t>
            </a:r>
            <a:r>
              <a:rPr lang="en-US" sz="2650" spc="-5" dirty="0">
                <a:latin typeface="Times New Roman"/>
                <a:cs typeface="Times New Roman"/>
              </a:rPr>
              <a:t>is</a:t>
            </a:r>
            <a:r>
              <a:rPr sz="2650" spc="-15" dirty="0">
                <a:latin typeface="Times New Roman"/>
                <a:cs typeface="Times New Roman"/>
              </a:rPr>
              <a:t> </a:t>
            </a:r>
            <a:r>
              <a:rPr sz="2650" spc="-10" dirty="0">
                <a:latin typeface="Times New Roman"/>
                <a:cs typeface="Times New Roman"/>
              </a:rPr>
              <a:t>willing</a:t>
            </a:r>
            <a:r>
              <a:rPr sz="2650" dirty="0">
                <a:latin typeface="Times New Roman"/>
                <a:cs typeface="Times New Roman"/>
              </a:rPr>
              <a:t> </a:t>
            </a:r>
            <a:r>
              <a:rPr sz="2650" spc="-20" dirty="0">
                <a:latin typeface="Times New Roman"/>
                <a:cs typeface="Times New Roman"/>
              </a:rPr>
              <a:t>to</a:t>
            </a:r>
            <a:r>
              <a:rPr sz="2650" spc="-5" dirty="0">
                <a:latin typeface="Times New Roman"/>
                <a:cs typeface="Times New Roman"/>
              </a:rPr>
              <a:t> work </a:t>
            </a:r>
            <a:r>
              <a:rPr sz="2650" spc="-25" dirty="0">
                <a:latin typeface="Times New Roman"/>
                <a:cs typeface="Times New Roman"/>
              </a:rPr>
              <a:t>together.</a:t>
            </a:r>
            <a:endParaRPr sz="2650" dirty="0">
              <a:latin typeface="Times New Roman"/>
              <a:cs typeface="Times New Roman"/>
            </a:endParaRPr>
          </a:p>
          <a:p>
            <a:pPr marL="194945" indent="-182880">
              <a:lnSpc>
                <a:spcPct val="100000"/>
              </a:lnSpc>
              <a:spcBef>
                <a:spcPts val="155"/>
              </a:spcBef>
              <a:buFont typeface="Arial MT"/>
              <a:buChar char="•"/>
              <a:tabLst>
                <a:tab pos="195580" algn="l"/>
              </a:tabLst>
            </a:pPr>
            <a:r>
              <a:rPr sz="2650" spc="-10" dirty="0">
                <a:latin typeface="Times New Roman"/>
                <a:cs typeface="Times New Roman"/>
              </a:rPr>
              <a:t>Articulates</a:t>
            </a:r>
            <a:r>
              <a:rPr sz="2650" spc="-25" dirty="0">
                <a:latin typeface="Times New Roman"/>
                <a:cs typeface="Times New Roman"/>
              </a:rPr>
              <a:t> </a:t>
            </a:r>
            <a:r>
              <a:rPr sz="2650" spc="-5" dirty="0">
                <a:latin typeface="Times New Roman"/>
                <a:cs typeface="Times New Roman"/>
              </a:rPr>
              <a:t>a</a:t>
            </a:r>
            <a:r>
              <a:rPr sz="2650" spc="-10" dirty="0">
                <a:latin typeface="Times New Roman"/>
                <a:cs typeface="Times New Roman"/>
              </a:rPr>
              <a:t> </a:t>
            </a:r>
            <a:r>
              <a:rPr sz="2650" spc="-20" dirty="0">
                <a:latin typeface="Times New Roman"/>
                <a:cs typeface="Times New Roman"/>
              </a:rPr>
              <a:t>company’s </a:t>
            </a:r>
            <a:r>
              <a:rPr sz="2650" spc="-5" dirty="0">
                <a:latin typeface="Times New Roman"/>
                <a:cs typeface="Times New Roman"/>
              </a:rPr>
              <a:t>core</a:t>
            </a:r>
            <a:r>
              <a:rPr sz="2650" spc="-10" dirty="0">
                <a:latin typeface="Times New Roman"/>
                <a:cs typeface="Times New Roman"/>
              </a:rPr>
              <a:t> </a:t>
            </a:r>
            <a:r>
              <a:rPr sz="2650" spc="-5" dirty="0">
                <a:latin typeface="Times New Roman"/>
                <a:cs typeface="Times New Roman"/>
              </a:rPr>
              <a:t>logic</a:t>
            </a:r>
            <a:r>
              <a:rPr sz="2650" spc="-10" dirty="0">
                <a:latin typeface="Times New Roman"/>
                <a:cs typeface="Times New Roman"/>
              </a:rPr>
              <a:t> </a:t>
            </a:r>
            <a:r>
              <a:rPr sz="2650" spc="-5" dirty="0">
                <a:latin typeface="Times New Roman"/>
                <a:cs typeface="Times New Roman"/>
              </a:rPr>
              <a:t>to</a:t>
            </a:r>
            <a:r>
              <a:rPr sz="2650" spc="-20" dirty="0">
                <a:latin typeface="Times New Roman"/>
                <a:cs typeface="Times New Roman"/>
              </a:rPr>
              <a:t> </a:t>
            </a:r>
            <a:r>
              <a:rPr sz="2650" spc="-10" dirty="0">
                <a:latin typeface="Times New Roman"/>
                <a:cs typeface="Times New Roman"/>
              </a:rPr>
              <a:t>all</a:t>
            </a:r>
            <a:r>
              <a:rPr sz="2650" spc="5" dirty="0">
                <a:latin typeface="Times New Roman"/>
                <a:cs typeface="Times New Roman"/>
              </a:rPr>
              <a:t> </a:t>
            </a:r>
            <a:r>
              <a:rPr sz="2650" spc="-10" dirty="0">
                <a:latin typeface="Times New Roman"/>
                <a:cs typeface="Times New Roman"/>
              </a:rPr>
              <a:t>stakeholders,</a:t>
            </a:r>
            <a:r>
              <a:rPr sz="2650" spc="-25" dirty="0">
                <a:latin typeface="Times New Roman"/>
                <a:cs typeface="Times New Roman"/>
              </a:rPr>
              <a:t> </a:t>
            </a:r>
            <a:r>
              <a:rPr sz="2650" spc="-5" dirty="0">
                <a:latin typeface="Times New Roman"/>
                <a:cs typeface="Times New Roman"/>
              </a:rPr>
              <a:t>including</a:t>
            </a:r>
            <a:endParaRPr sz="2650" dirty="0">
              <a:latin typeface="Times New Roman"/>
              <a:cs typeface="Times New Roman"/>
            </a:endParaRPr>
          </a:p>
          <a:p>
            <a:pPr marL="180340">
              <a:lnSpc>
                <a:spcPct val="100000"/>
              </a:lnSpc>
              <a:spcBef>
                <a:spcPts val="350"/>
              </a:spcBef>
            </a:pPr>
            <a:r>
              <a:rPr sz="2650" spc="-10" dirty="0">
                <a:latin typeface="Times New Roman"/>
                <a:cs typeface="Times New Roman"/>
              </a:rPr>
              <a:t>all</a:t>
            </a:r>
            <a:r>
              <a:rPr sz="2650" spc="-40" dirty="0">
                <a:latin typeface="Times New Roman"/>
                <a:cs typeface="Times New Roman"/>
              </a:rPr>
              <a:t> </a:t>
            </a:r>
            <a:r>
              <a:rPr sz="2650" spc="-5" dirty="0">
                <a:latin typeface="Times New Roman"/>
                <a:cs typeface="Times New Roman"/>
              </a:rPr>
              <a:t>employees.</a:t>
            </a:r>
            <a:endParaRPr sz="2650" dirty="0">
              <a:latin typeface="Times New Roman"/>
              <a:cs typeface="Times New Roman"/>
            </a:endParaRPr>
          </a:p>
        </p:txBody>
      </p:sp>
    </p:spTree>
    <p:extLst>
      <p:ext uri="{BB962C8B-B14F-4D97-AF65-F5344CB8AC3E}">
        <p14:creationId xmlns:p14="http://schemas.microsoft.com/office/powerpoint/2010/main" val="905590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35" algn="ctr">
              <a:lnSpc>
                <a:spcPct val="100000"/>
              </a:lnSpc>
              <a:spcBef>
                <a:spcPts val="110"/>
              </a:spcBef>
            </a:pPr>
            <a:r>
              <a:rPr dirty="0"/>
              <a:t>How</a:t>
            </a:r>
            <a:r>
              <a:rPr spc="-25" dirty="0"/>
              <a:t> </a:t>
            </a:r>
            <a:r>
              <a:rPr dirty="0"/>
              <a:t>Business</a:t>
            </a:r>
            <a:r>
              <a:rPr spc="-5" dirty="0"/>
              <a:t> </a:t>
            </a:r>
            <a:r>
              <a:rPr dirty="0"/>
              <a:t>Models</a:t>
            </a:r>
            <a:r>
              <a:rPr spc="-10" dirty="0"/>
              <a:t> </a:t>
            </a:r>
            <a:r>
              <a:rPr spc="5" dirty="0"/>
              <a:t>Emerge</a:t>
            </a:r>
          </a:p>
          <a:p>
            <a:pPr marL="635" algn="ctr">
              <a:lnSpc>
                <a:spcPct val="100000"/>
              </a:lnSpc>
              <a:spcBef>
                <a:spcPts val="55"/>
              </a:spcBef>
            </a:pPr>
            <a:endParaRPr sz="2200" dirty="0"/>
          </a:p>
        </p:txBody>
      </p:sp>
      <p:sp>
        <p:nvSpPr>
          <p:cNvPr id="3" name="object 3"/>
          <p:cNvSpPr txBox="1"/>
          <p:nvPr/>
        </p:nvSpPr>
        <p:spPr>
          <a:xfrm>
            <a:off x="590865" y="1803066"/>
            <a:ext cx="8782685" cy="4857750"/>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25" dirty="0">
                <a:latin typeface="Times New Roman"/>
                <a:cs typeface="Times New Roman"/>
              </a:rPr>
              <a:t>The</a:t>
            </a:r>
            <a:r>
              <a:rPr sz="3050" spc="-25" dirty="0">
                <a:latin typeface="Times New Roman"/>
                <a:cs typeface="Times New Roman"/>
              </a:rPr>
              <a:t> </a:t>
            </a:r>
            <a:r>
              <a:rPr sz="3050" spc="10" dirty="0">
                <a:latin typeface="Times New Roman"/>
                <a:cs typeface="Times New Roman"/>
              </a:rPr>
              <a:t>Value</a:t>
            </a:r>
            <a:r>
              <a:rPr sz="3050" spc="-25" dirty="0">
                <a:latin typeface="Times New Roman"/>
                <a:cs typeface="Times New Roman"/>
              </a:rPr>
              <a:t> </a:t>
            </a:r>
            <a:r>
              <a:rPr sz="3050" spc="5" dirty="0">
                <a:latin typeface="Times New Roman"/>
                <a:cs typeface="Times New Roman"/>
              </a:rPr>
              <a:t>Chain</a:t>
            </a:r>
            <a:endParaRPr sz="3050" dirty="0">
              <a:latin typeface="Times New Roman"/>
              <a:cs typeface="Times New Roman"/>
            </a:endParaRPr>
          </a:p>
          <a:p>
            <a:pPr marL="829310" marR="300355" lvl="1" indent="-314325">
              <a:lnSpc>
                <a:spcPts val="3170"/>
              </a:lnSpc>
              <a:spcBef>
                <a:spcPts val="750"/>
              </a:spcBef>
              <a:buChar char="–"/>
              <a:tabLst>
                <a:tab pos="830580" algn="l"/>
                <a:tab pos="831215" algn="l"/>
              </a:tabLst>
            </a:pPr>
            <a:r>
              <a:rPr sz="2650" spc="-10" dirty="0">
                <a:latin typeface="Times New Roman"/>
                <a:cs typeface="Times New Roman"/>
              </a:rPr>
              <a:t>The value </a:t>
            </a:r>
            <a:r>
              <a:rPr sz="2650" spc="-5" dirty="0">
                <a:latin typeface="Times New Roman"/>
                <a:cs typeface="Times New Roman"/>
              </a:rPr>
              <a:t>chain is </a:t>
            </a:r>
            <a:r>
              <a:rPr sz="2650" spc="-15" dirty="0">
                <a:latin typeface="Times New Roman"/>
                <a:cs typeface="Times New Roman"/>
              </a:rPr>
              <a:t>the </a:t>
            </a:r>
            <a:r>
              <a:rPr sz="2650" spc="-10" dirty="0">
                <a:latin typeface="Times New Roman"/>
                <a:cs typeface="Times New Roman"/>
              </a:rPr>
              <a:t>string </a:t>
            </a:r>
            <a:r>
              <a:rPr sz="2650" spc="-5" dirty="0">
                <a:latin typeface="Times New Roman"/>
                <a:cs typeface="Times New Roman"/>
              </a:rPr>
              <a:t>of activities </a:t>
            </a:r>
            <a:r>
              <a:rPr sz="2650" dirty="0">
                <a:latin typeface="Times New Roman"/>
                <a:cs typeface="Times New Roman"/>
              </a:rPr>
              <a:t>that </a:t>
            </a:r>
            <a:r>
              <a:rPr sz="2650" spc="-10" dirty="0">
                <a:latin typeface="Times New Roman"/>
                <a:cs typeface="Times New Roman"/>
              </a:rPr>
              <a:t>moves </a:t>
            </a:r>
            <a:r>
              <a:rPr sz="2650" spc="-5" dirty="0">
                <a:latin typeface="Times New Roman"/>
                <a:cs typeface="Times New Roman"/>
              </a:rPr>
              <a:t>a </a:t>
            </a:r>
            <a:r>
              <a:rPr sz="2650" dirty="0">
                <a:latin typeface="Times New Roman"/>
                <a:cs typeface="Times New Roman"/>
              </a:rPr>
              <a:t> </a:t>
            </a:r>
            <a:r>
              <a:rPr sz="2650" spc="-5" dirty="0">
                <a:latin typeface="Times New Roman"/>
                <a:cs typeface="Times New Roman"/>
              </a:rPr>
              <a:t>product </a:t>
            </a:r>
            <a:r>
              <a:rPr sz="2650" spc="-10" dirty="0">
                <a:latin typeface="Times New Roman"/>
                <a:cs typeface="Times New Roman"/>
              </a:rPr>
              <a:t>from </a:t>
            </a:r>
            <a:r>
              <a:rPr sz="2650" spc="-15" dirty="0">
                <a:latin typeface="Times New Roman"/>
                <a:cs typeface="Times New Roman"/>
              </a:rPr>
              <a:t>the </a:t>
            </a:r>
            <a:r>
              <a:rPr sz="2650" spc="-5" dirty="0">
                <a:latin typeface="Times New Roman"/>
                <a:cs typeface="Times New Roman"/>
              </a:rPr>
              <a:t>raw </a:t>
            </a:r>
            <a:r>
              <a:rPr sz="2650" spc="-10" dirty="0">
                <a:latin typeface="Times New Roman"/>
                <a:cs typeface="Times New Roman"/>
              </a:rPr>
              <a:t>material </a:t>
            </a:r>
            <a:r>
              <a:rPr sz="2650" spc="-5" dirty="0">
                <a:latin typeface="Times New Roman"/>
                <a:cs typeface="Times New Roman"/>
              </a:rPr>
              <a:t>stage, </a:t>
            </a:r>
            <a:r>
              <a:rPr sz="2650" spc="-10" dirty="0">
                <a:latin typeface="Times New Roman"/>
                <a:cs typeface="Times New Roman"/>
              </a:rPr>
              <a:t>through </a:t>
            </a:r>
            <a:r>
              <a:rPr sz="2650" spc="-5" dirty="0">
                <a:latin typeface="Times New Roman"/>
                <a:cs typeface="Times New Roman"/>
              </a:rPr>
              <a:t> </a:t>
            </a:r>
            <a:r>
              <a:rPr sz="2650" spc="-10" dirty="0">
                <a:latin typeface="Times New Roman"/>
                <a:cs typeface="Times New Roman"/>
              </a:rPr>
              <a:t>manufacturing</a:t>
            </a:r>
            <a:r>
              <a:rPr sz="2650" spc="-35" dirty="0">
                <a:latin typeface="Times New Roman"/>
                <a:cs typeface="Times New Roman"/>
              </a:rPr>
              <a:t> </a:t>
            </a:r>
            <a:r>
              <a:rPr sz="2650" dirty="0">
                <a:latin typeface="Times New Roman"/>
                <a:cs typeface="Times New Roman"/>
              </a:rPr>
              <a:t>and</a:t>
            </a:r>
            <a:r>
              <a:rPr sz="2650" spc="-35" dirty="0">
                <a:latin typeface="Times New Roman"/>
                <a:cs typeface="Times New Roman"/>
              </a:rPr>
              <a:t> </a:t>
            </a:r>
            <a:r>
              <a:rPr sz="2650" spc="-5" dirty="0">
                <a:latin typeface="Times New Roman"/>
                <a:cs typeface="Times New Roman"/>
              </a:rPr>
              <a:t>distribution, </a:t>
            </a:r>
            <a:r>
              <a:rPr sz="2650" spc="-10" dirty="0">
                <a:latin typeface="Times New Roman"/>
                <a:cs typeface="Times New Roman"/>
              </a:rPr>
              <a:t>and </a:t>
            </a:r>
            <a:r>
              <a:rPr sz="2650" spc="-5" dirty="0">
                <a:latin typeface="Times New Roman"/>
                <a:cs typeface="Times New Roman"/>
              </a:rPr>
              <a:t>ultimately</a:t>
            </a:r>
            <a:r>
              <a:rPr sz="2650" spc="-60" dirty="0">
                <a:latin typeface="Times New Roman"/>
                <a:cs typeface="Times New Roman"/>
              </a:rPr>
              <a:t> </a:t>
            </a:r>
            <a:r>
              <a:rPr sz="2650" spc="-5" dirty="0">
                <a:latin typeface="Times New Roman"/>
                <a:cs typeface="Times New Roman"/>
              </a:rPr>
              <a:t>to</a:t>
            </a:r>
            <a:r>
              <a:rPr sz="2650" spc="-10" dirty="0">
                <a:latin typeface="Times New Roman"/>
                <a:cs typeface="Times New Roman"/>
              </a:rPr>
              <a:t> </a:t>
            </a:r>
            <a:r>
              <a:rPr sz="2650" spc="-5" dirty="0">
                <a:latin typeface="Times New Roman"/>
                <a:cs typeface="Times New Roman"/>
              </a:rPr>
              <a:t>the</a:t>
            </a:r>
            <a:r>
              <a:rPr sz="2650" spc="-20" dirty="0">
                <a:latin typeface="Times New Roman"/>
                <a:cs typeface="Times New Roman"/>
              </a:rPr>
              <a:t> </a:t>
            </a:r>
            <a:r>
              <a:rPr sz="2650" dirty="0">
                <a:latin typeface="Times New Roman"/>
                <a:cs typeface="Times New Roman"/>
              </a:rPr>
              <a:t>end </a:t>
            </a:r>
            <a:r>
              <a:rPr sz="2650" spc="-645" dirty="0">
                <a:latin typeface="Times New Roman"/>
                <a:cs typeface="Times New Roman"/>
              </a:rPr>
              <a:t> </a:t>
            </a:r>
            <a:r>
              <a:rPr sz="2650" spc="-5" dirty="0">
                <a:latin typeface="Times New Roman"/>
                <a:cs typeface="Times New Roman"/>
              </a:rPr>
              <a:t>user.</a:t>
            </a:r>
            <a:endParaRPr sz="2650" dirty="0">
              <a:latin typeface="Times New Roman"/>
              <a:cs typeface="Times New Roman"/>
            </a:endParaRPr>
          </a:p>
          <a:p>
            <a:pPr marL="829310" marR="369570" lvl="1" indent="-314325">
              <a:lnSpc>
                <a:spcPts val="3170"/>
              </a:lnSpc>
              <a:spcBef>
                <a:spcPts val="630"/>
              </a:spcBef>
              <a:buChar char="–"/>
              <a:tabLst>
                <a:tab pos="830580" algn="l"/>
                <a:tab pos="831215" algn="l"/>
              </a:tabLst>
            </a:pPr>
            <a:r>
              <a:rPr sz="2650" spc="-20" dirty="0">
                <a:latin typeface="Times New Roman"/>
                <a:cs typeface="Times New Roman"/>
              </a:rPr>
              <a:t>By </a:t>
            </a:r>
            <a:r>
              <a:rPr sz="2650" spc="-5" dirty="0">
                <a:latin typeface="Times New Roman"/>
                <a:cs typeface="Times New Roman"/>
              </a:rPr>
              <a:t>studying a </a:t>
            </a:r>
            <a:r>
              <a:rPr sz="2650" spc="-10" dirty="0">
                <a:latin typeface="Times New Roman"/>
                <a:cs typeface="Times New Roman"/>
              </a:rPr>
              <a:t>product’s </a:t>
            </a:r>
            <a:r>
              <a:rPr sz="2650" spc="-5" dirty="0">
                <a:latin typeface="Times New Roman"/>
                <a:cs typeface="Times New Roman"/>
              </a:rPr>
              <a:t>or service’s </a:t>
            </a:r>
            <a:r>
              <a:rPr sz="2650" spc="-10" dirty="0">
                <a:latin typeface="Times New Roman"/>
                <a:cs typeface="Times New Roman"/>
              </a:rPr>
              <a:t>value </a:t>
            </a:r>
            <a:r>
              <a:rPr sz="2650" spc="-5" dirty="0">
                <a:latin typeface="Times New Roman"/>
                <a:cs typeface="Times New Roman"/>
              </a:rPr>
              <a:t>chain, </a:t>
            </a:r>
            <a:r>
              <a:rPr sz="2650" dirty="0">
                <a:latin typeface="Times New Roman"/>
                <a:cs typeface="Times New Roman"/>
              </a:rPr>
              <a:t>an </a:t>
            </a:r>
            <a:r>
              <a:rPr sz="2650" spc="5" dirty="0">
                <a:latin typeface="Times New Roman"/>
                <a:cs typeface="Times New Roman"/>
              </a:rPr>
              <a:t> </a:t>
            </a:r>
            <a:r>
              <a:rPr sz="2650" spc="-5" dirty="0">
                <a:latin typeface="Times New Roman"/>
                <a:cs typeface="Times New Roman"/>
              </a:rPr>
              <a:t>organization can </a:t>
            </a:r>
            <a:r>
              <a:rPr sz="2650" spc="-10" dirty="0">
                <a:latin typeface="Times New Roman"/>
                <a:cs typeface="Times New Roman"/>
              </a:rPr>
              <a:t>identify </a:t>
            </a:r>
            <a:r>
              <a:rPr sz="2650" spc="-5" dirty="0">
                <a:latin typeface="Times New Roman"/>
                <a:cs typeface="Times New Roman"/>
              </a:rPr>
              <a:t>ways </a:t>
            </a:r>
            <a:r>
              <a:rPr sz="2650" spc="-20" dirty="0">
                <a:latin typeface="Times New Roman"/>
                <a:cs typeface="Times New Roman"/>
              </a:rPr>
              <a:t>to </a:t>
            </a:r>
            <a:r>
              <a:rPr sz="2650" spc="-5" dirty="0">
                <a:latin typeface="Times New Roman"/>
                <a:cs typeface="Times New Roman"/>
              </a:rPr>
              <a:t>create </a:t>
            </a:r>
            <a:r>
              <a:rPr sz="2650" spc="-10" dirty="0">
                <a:latin typeface="Times New Roman"/>
                <a:cs typeface="Times New Roman"/>
              </a:rPr>
              <a:t>additional value </a:t>
            </a:r>
            <a:r>
              <a:rPr sz="2650" spc="-650" dirty="0">
                <a:latin typeface="Times New Roman"/>
                <a:cs typeface="Times New Roman"/>
              </a:rPr>
              <a:t> </a:t>
            </a:r>
            <a:r>
              <a:rPr sz="2650" dirty="0">
                <a:latin typeface="Times New Roman"/>
                <a:cs typeface="Times New Roman"/>
              </a:rPr>
              <a:t>and</a:t>
            </a:r>
            <a:r>
              <a:rPr sz="2650" spc="-35" dirty="0">
                <a:latin typeface="Times New Roman"/>
                <a:cs typeface="Times New Roman"/>
              </a:rPr>
              <a:t> </a:t>
            </a:r>
            <a:r>
              <a:rPr sz="2650" spc="-5" dirty="0">
                <a:latin typeface="Times New Roman"/>
                <a:cs typeface="Times New Roman"/>
              </a:rPr>
              <a:t>assess </a:t>
            </a:r>
            <a:r>
              <a:rPr sz="2650" spc="-10" dirty="0">
                <a:latin typeface="Times New Roman"/>
                <a:cs typeface="Times New Roman"/>
              </a:rPr>
              <a:t>whether</a:t>
            </a:r>
            <a:r>
              <a:rPr sz="2650" spc="-15" dirty="0">
                <a:latin typeface="Times New Roman"/>
                <a:cs typeface="Times New Roman"/>
              </a:rPr>
              <a:t> </a:t>
            </a:r>
            <a:r>
              <a:rPr sz="2650" spc="-5" dirty="0">
                <a:latin typeface="Times New Roman"/>
                <a:cs typeface="Times New Roman"/>
              </a:rPr>
              <a:t>it</a:t>
            </a:r>
            <a:r>
              <a:rPr sz="2650" spc="-25" dirty="0">
                <a:latin typeface="Times New Roman"/>
                <a:cs typeface="Times New Roman"/>
              </a:rPr>
              <a:t> </a:t>
            </a:r>
            <a:r>
              <a:rPr sz="2650" dirty="0">
                <a:latin typeface="Times New Roman"/>
                <a:cs typeface="Times New Roman"/>
              </a:rPr>
              <a:t>has</a:t>
            </a:r>
            <a:r>
              <a:rPr sz="2650" spc="-5" dirty="0">
                <a:latin typeface="Times New Roman"/>
                <a:cs typeface="Times New Roman"/>
              </a:rPr>
              <a:t> </a:t>
            </a:r>
            <a:r>
              <a:rPr sz="2650" spc="-15" dirty="0">
                <a:latin typeface="Times New Roman"/>
                <a:cs typeface="Times New Roman"/>
              </a:rPr>
              <a:t>the</a:t>
            </a:r>
            <a:r>
              <a:rPr sz="2650" spc="-20" dirty="0">
                <a:latin typeface="Times New Roman"/>
                <a:cs typeface="Times New Roman"/>
              </a:rPr>
              <a:t> </a:t>
            </a:r>
            <a:r>
              <a:rPr sz="2650" spc="-5" dirty="0">
                <a:latin typeface="Times New Roman"/>
                <a:cs typeface="Times New Roman"/>
              </a:rPr>
              <a:t>means</a:t>
            </a:r>
            <a:r>
              <a:rPr sz="2650" spc="-30" dirty="0">
                <a:latin typeface="Times New Roman"/>
                <a:cs typeface="Times New Roman"/>
              </a:rPr>
              <a:t> </a:t>
            </a:r>
            <a:r>
              <a:rPr sz="2650" spc="-5" dirty="0">
                <a:latin typeface="Times New Roman"/>
                <a:cs typeface="Times New Roman"/>
              </a:rPr>
              <a:t>to do so.</a:t>
            </a:r>
            <a:endParaRPr lang="en-US" sz="2650" spc="-5" dirty="0">
              <a:latin typeface="Times New Roman"/>
              <a:cs typeface="Times New Roman"/>
            </a:endParaRPr>
          </a:p>
          <a:p>
            <a:pPr marL="829310" marR="5080" lvl="1" indent="-314325">
              <a:lnSpc>
                <a:spcPts val="3170"/>
              </a:lnSpc>
              <a:spcBef>
                <a:spcPts val="620"/>
              </a:spcBef>
              <a:buChar char="–"/>
              <a:tabLst>
                <a:tab pos="830580" algn="l"/>
                <a:tab pos="831215" algn="l"/>
              </a:tabLst>
            </a:pPr>
            <a:r>
              <a:rPr lang="en-US" sz="2650" spc="-10" dirty="0">
                <a:latin typeface="Times New Roman"/>
                <a:cs typeface="Times New Roman"/>
              </a:rPr>
              <a:t>Value </a:t>
            </a:r>
            <a:r>
              <a:rPr lang="en-US" sz="2650" spc="-5" dirty="0">
                <a:latin typeface="Times New Roman"/>
                <a:cs typeface="Times New Roman"/>
              </a:rPr>
              <a:t>chain analysis is </a:t>
            </a:r>
            <a:r>
              <a:rPr lang="en-US" sz="2650" spc="-10" dirty="0">
                <a:latin typeface="Times New Roman"/>
                <a:cs typeface="Times New Roman"/>
              </a:rPr>
              <a:t>also helpful </a:t>
            </a:r>
            <a:r>
              <a:rPr lang="en-US" sz="2650" spc="-5" dirty="0">
                <a:latin typeface="Times New Roman"/>
                <a:cs typeface="Times New Roman"/>
              </a:rPr>
              <a:t>in identifying </a:t>
            </a:r>
            <a:r>
              <a:rPr lang="en-US" sz="2650" dirty="0">
                <a:latin typeface="Times New Roman"/>
                <a:cs typeface="Times New Roman"/>
              </a:rPr>
              <a:t> </a:t>
            </a:r>
            <a:r>
              <a:rPr lang="en-US" sz="2650" spc="-5" dirty="0">
                <a:latin typeface="Times New Roman"/>
                <a:cs typeface="Times New Roman"/>
              </a:rPr>
              <a:t>opportunities</a:t>
            </a:r>
            <a:r>
              <a:rPr lang="en-US" sz="2650" spc="-30" dirty="0">
                <a:latin typeface="Times New Roman"/>
                <a:cs typeface="Times New Roman"/>
              </a:rPr>
              <a:t> </a:t>
            </a:r>
            <a:r>
              <a:rPr lang="en-US" sz="2650" spc="-10" dirty="0">
                <a:latin typeface="Times New Roman"/>
                <a:cs typeface="Times New Roman"/>
              </a:rPr>
              <a:t>for</a:t>
            </a:r>
            <a:r>
              <a:rPr lang="en-US" sz="2650" spc="20" dirty="0">
                <a:latin typeface="Times New Roman"/>
                <a:cs typeface="Times New Roman"/>
              </a:rPr>
              <a:t> </a:t>
            </a:r>
            <a:r>
              <a:rPr lang="en-US" sz="2650" spc="-15" dirty="0">
                <a:latin typeface="Times New Roman"/>
                <a:cs typeface="Times New Roman"/>
              </a:rPr>
              <a:t>new</a:t>
            </a:r>
            <a:r>
              <a:rPr lang="en-US" sz="2650" spc="-5" dirty="0">
                <a:latin typeface="Times New Roman"/>
                <a:cs typeface="Times New Roman"/>
              </a:rPr>
              <a:t> businesses</a:t>
            </a:r>
            <a:r>
              <a:rPr lang="en-US" sz="2650" spc="-25" dirty="0">
                <a:latin typeface="Times New Roman"/>
                <a:cs typeface="Times New Roman"/>
              </a:rPr>
              <a:t> </a:t>
            </a:r>
            <a:r>
              <a:rPr lang="en-US" sz="2650" spc="-10" dirty="0">
                <a:latin typeface="Times New Roman"/>
                <a:cs typeface="Times New Roman"/>
              </a:rPr>
              <a:t>and</a:t>
            </a:r>
            <a:r>
              <a:rPr lang="en-US" sz="2650" dirty="0">
                <a:latin typeface="Times New Roman"/>
                <a:cs typeface="Times New Roman"/>
              </a:rPr>
              <a:t> </a:t>
            </a:r>
            <a:r>
              <a:rPr lang="en-US" sz="2650" spc="-5" dirty="0">
                <a:latin typeface="Times New Roman"/>
                <a:cs typeface="Times New Roman"/>
              </a:rPr>
              <a:t>in</a:t>
            </a:r>
            <a:r>
              <a:rPr lang="en-US" sz="2650" dirty="0">
                <a:latin typeface="Times New Roman"/>
                <a:cs typeface="Times New Roman"/>
              </a:rPr>
              <a:t> </a:t>
            </a:r>
            <a:r>
              <a:rPr lang="en-US" sz="2650" spc="-10" dirty="0">
                <a:latin typeface="Times New Roman"/>
                <a:cs typeface="Times New Roman"/>
              </a:rPr>
              <a:t>understanding</a:t>
            </a:r>
            <a:r>
              <a:rPr lang="en-US" sz="2650" dirty="0">
                <a:latin typeface="Times New Roman"/>
                <a:cs typeface="Times New Roman"/>
              </a:rPr>
              <a:t> </a:t>
            </a:r>
            <a:r>
              <a:rPr lang="en-US" sz="2650" spc="-10" dirty="0">
                <a:latin typeface="Times New Roman"/>
                <a:cs typeface="Times New Roman"/>
              </a:rPr>
              <a:t>how </a:t>
            </a:r>
            <a:r>
              <a:rPr lang="en-US" sz="2650" spc="-650" dirty="0">
                <a:latin typeface="Times New Roman"/>
                <a:cs typeface="Times New Roman"/>
              </a:rPr>
              <a:t> </a:t>
            </a:r>
            <a:r>
              <a:rPr lang="en-US" sz="2650" spc="-10" dirty="0">
                <a:latin typeface="Times New Roman"/>
                <a:cs typeface="Times New Roman"/>
              </a:rPr>
              <a:t>business models</a:t>
            </a:r>
            <a:r>
              <a:rPr lang="en-US" sz="2650" spc="-5" dirty="0">
                <a:latin typeface="Times New Roman"/>
                <a:cs typeface="Times New Roman"/>
              </a:rPr>
              <a:t> </a:t>
            </a:r>
            <a:r>
              <a:rPr lang="en-US" sz="2650" spc="-10" dirty="0">
                <a:latin typeface="Times New Roman"/>
                <a:cs typeface="Times New Roman"/>
              </a:rPr>
              <a:t>emerge.</a:t>
            </a:r>
            <a:endParaRPr lang="en-US" sz="265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3335">
              <a:lnSpc>
                <a:spcPct val="100000"/>
              </a:lnSpc>
              <a:spcBef>
                <a:spcPts val="110"/>
              </a:spcBef>
            </a:pPr>
            <a:r>
              <a:rPr dirty="0"/>
              <a:t>How</a:t>
            </a:r>
            <a:r>
              <a:rPr spc="-25" dirty="0"/>
              <a:t> </a:t>
            </a:r>
            <a:r>
              <a:rPr dirty="0"/>
              <a:t>Business</a:t>
            </a:r>
            <a:r>
              <a:rPr spc="-5" dirty="0"/>
              <a:t> </a:t>
            </a:r>
            <a:r>
              <a:rPr dirty="0"/>
              <a:t>Models</a:t>
            </a:r>
            <a:r>
              <a:rPr spc="-10" dirty="0"/>
              <a:t> </a:t>
            </a:r>
            <a:r>
              <a:rPr spc="5" dirty="0"/>
              <a:t>Emerge</a:t>
            </a:r>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3452827" y="851715"/>
            <a:ext cx="2646045" cy="1243965"/>
          </a:xfrm>
          <a:prstGeom prst="rect">
            <a:avLst/>
          </a:prstGeom>
        </p:spPr>
        <p:txBody>
          <a:bodyPr vert="horz" wrap="square" lIns="0" tIns="184150" rIns="0" bIns="0" rtlCol="0">
            <a:spAutoFit/>
          </a:bodyPr>
          <a:lstStyle/>
          <a:p>
            <a:pPr marL="1248410">
              <a:lnSpc>
                <a:spcPct val="100000"/>
              </a:lnSpc>
              <a:spcBef>
                <a:spcPts val="1450"/>
              </a:spcBef>
            </a:pPr>
            <a:endParaRPr sz="2200" dirty="0">
              <a:latin typeface="Times New Roman"/>
              <a:cs typeface="Times New Roman"/>
            </a:endParaRPr>
          </a:p>
          <a:p>
            <a:pPr marL="12700">
              <a:lnSpc>
                <a:spcPct val="100000"/>
              </a:lnSpc>
              <a:spcBef>
                <a:spcPts val="1930"/>
              </a:spcBef>
            </a:pPr>
            <a:r>
              <a:rPr sz="3050" spc="15" dirty="0">
                <a:latin typeface="Times New Roman"/>
                <a:cs typeface="Times New Roman"/>
              </a:rPr>
              <a:t>The</a:t>
            </a:r>
            <a:r>
              <a:rPr sz="3050" spc="-110" dirty="0">
                <a:latin typeface="Times New Roman"/>
                <a:cs typeface="Times New Roman"/>
              </a:rPr>
              <a:t> </a:t>
            </a:r>
            <a:r>
              <a:rPr sz="3050" spc="-50" dirty="0">
                <a:latin typeface="Times New Roman"/>
                <a:cs typeface="Times New Roman"/>
              </a:rPr>
              <a:t>Value</a:t>
            </a:r>
            <a:r>
              <a:rPr sz="3050" spc="-80" dirty="0">
                <a:latin typeface="Times New Roman"/>
                <a:cs typeface="Times New Roman"/>
              </a:rPr>
              <a:t> </a:t>
            </a:r>
            <a:r>
              <a:rPr sz="3050" spc="15" dirty="0">
                <a:latin typeface="Times New Roman"/>
                <a:cs typeface="Times New Roman"/>
              </a:rPr>
              <a:t>Chain</a:t>
            </a:r>
            <a:endParaRPr sz="3050" dirty="0">
              <a:latin typeface="Times New Roman"/>
              <a:cs typeface="Times New Roman"/>
            </a:endParaRPr>
          </a:p>
        </p:txBody>
      </p:sp>
      <p:pic>
        <p:nvPicPr>
          <p:cNvPr id="5" name="object 5"/>
          <p:cNvPicPr/>
          <p:nvPr/>
        </p:nvPicPr>
        <p:blipFill>
          <a:blip r:embed="rId2" cstate="print"/>
          <a:stretch>
            <a:fillRect/>
          </a:stretch>
        </p:blipFill>
        <p:spPr>
          <a:xfrm>
            <a:off x="922019" y="2209800"/>
            <a:ext cx="8427719" cy="4882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89D5-F122-980B-8D89-5665508B973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0E9D205-7CE4-0158-AA88-AF501170051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7EE1FBB-C3E5-4EB9-D3BB-7F0B31813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045" y="2133600"/>
            <a:ext cx="8954955" cy="3886200"/>
          </a:xfrm>
          <a:prstGeom prst="rect">
            <a:avLst/>
          </a:prstGeom>
        </p:spPr>
      </p:pic>
    </p:spTree>
    <p:extLst>
      <p:ext uri="{BB962C8B-B14F-4D97-AF65-F5344CB8AC3E}">
        <p14:creationId xmlns:p14="http://schemas.microsoft.com/office/powerpoint/2010/main" val="3409705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35" algn="ctr">
              <a:lnSpc>
                <a:spcPct val="100000"/>
              </a:lnSpc>
              <a:spcBef>
                <a:spcPts val="110"/>
              </a:spcBef>
            </a:pPr>
            <a:r>
              <a:rPr dirty="0"/>
              <a:t>How</a:t>
            </a:r>
            <a:r>
              <a:rPr spc="-25" dirty="0"/>
              <a:t> </a:t>
            </a:r>
            <a:r>
              <a:rPr dirty="0"/>
              <a:t>Business</a:t>
            </a:r>
            <a:r>
              <a:rPr spc="-5" dirty="0"/>
              <a:t> </a:t>
            </a:r>
            <a:r>
              <a:rPr dirty="0"/>
              <a:t>Models</a:t>
            </a:r>
            <a:r>
              <a:rPr spc="-10" dirty="0"/>
              <a:t> </a:t>
            </a:r>
            <a:r>
              <a:rPr spc="5" dirty="0"/>
              <a:t>Emerge</a:t>
            </a:r>
          </a:p>
          <a:p>
            <a:pPr marL="635" algn="ctr">
              <a:lnSpc>
                <a:spcPct val="100000"/>
              </a:lnSpc>
              <a:spcBef>
                <a:spcPts val="55"/>
              </a:spcBef>
            </a:pPr>
            <a:endParaRPr sz="2200" dirty="0"/>
          </a:p>
        </p:txBody>
      </p:sp>
      <p:sp>
        <p:nvSpPr>
          <p:cNvPr id="3" name="object 3"/>
          <p:cNvSpPr txBox="1"/>
          <p:nvPr/>
        </p:nvSpPr>
        <p:spPr>
          <a:xfrm>
            <a:off x="590865" y="1803066"/>
            <a:ext cx="8873490" cy="3907790"/>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25" dirty="0">
                <a:latin typeface="Times New Roman"/>
                <a:cs typeface="Times New Roman"/>
              </a:rPr>
              <a:t>The</a:t>
            </a:r>
            <a:r>
              <a:rPr sz="3050" spc="-10" dirty="0">
                <a:latin typeface="Times New Roman"/>
                <a:cs typeface="Times New Roman"/>
              </a:rPr>
              <a:t> </a:t>
            </a:r>
            <a:r>
              <a:rPr sz="3050" spc="10" dirty="0">
                <a:latin typeface="Times New Roman"/>
                <a:cs typeface="Times New Roman"/>
              </a:rPr>
              <a:t>Value</a:t>
            </a:r>
            <a:r>
              <a:rPr sz="3050" spc="-10" dirty="0">
                <a:latin typeface="Times New Roman"/>
                <a:cs typeface="Times New Roman"/>
              </a:rPr>
              <a:t> </a:t>
            </a:r>
            <a:r>
              <a:rPr sz="3050" spc="5" dirty="0">
                <a:latin typeface="Times New Roman"/>
                <a:cs typeface="Times New Roman"/>
              </a:rPr>
              <a:t>Chain</a:t>
            </a:r>
            <a:r>
              <a:rPr sz="3050" dirty="0">
                <a:latin typeface="Times New Roman"/>
                <a:cs typeface="Times New Roman"/>
              </a:rPr>
              <a:t> </a:t>
            </a:r>
            <a:r>
              <a:rPr sz="3050" spc="10" dirty="0">
                <a:latin typeface="Times New Roman"/>
                <a:cs typeface="Times New Roman"/>
              </a:rPr>
              <a:t>(continued)</a:t>
            </a:r>
            <a:endParaRPr sz="3050">
              <a:latin typeface="Times New Roman"/>
              <a:cs typeface="Times New Roman"/>
            </a:endParaRPr>
          </a:p>
          <a:p>
            <a:pPr marL="829310" marR="5080" lvl="1" indent="-314325">
              <a:lnSpc>
                <a:spcPts val="3170"/>
              </a:lnSpc>
              <a:spcBef>
                <a:spcPts val="750"/>
              </a:spcBef>
              <a:buChar char="–"/>
              <a:tabLst>
                <a:tab pos="830580" algn="l"/>
                <a:tab pos="831215" algn="l"/>
              </a:tabLst>
            </a:pPr>
            <a:r>
              <a:rPr sz="2650" spc="-10" dirty="0">
                <a:latin typeface="Times New Roman"/>
                <a:cs typeface="Times New Roman"/>
              </a:rPr>
              <a:t>Entrepreneurs </a:t>
            </a:r>
            <a:r>
              <a:rPr sz="2650" spc="-5" dirty="0">
                <a:latin typeface="Times New Roman"/>
                <a:cs typeface="Times New Roman"/>
              </a:rPr>
              <a:t>look </a:t>
            </a:r>
            <a:r>
              <a:rPr sz="2650" spc="-15" dirty="0">
                <a:latin typeface="Times New Roman"/>
                <a:cs typeface="Times New Roman"/>
              </a:rPr>
              <a:t>at the </a:t>
            </a:r>
            <a:r>
              <a:rPr sz="2650" spc="-5" dirty="0">
                <a:latin typeface="Times New Roman"/>
                <a:cs typeface="Times New Roman"/>
              </a:rPr>
              <a:t>value chain of a product or a </a:t>
            </a:r>
            <a:r>
              <a:rPr sz="2650" dirty="0">
                <a:latin typeface="Times New Roman"/>
                <a:cs typeface="Times New Roman"/>
              </a:rPr>
              <a:t> </a:t>
            </a:r>
            <a:r>
              <a:rPr sz="2650" spc="-5" dirty="0">
                <a:latin typeface="Times New Roman"/>
                <a:cs typeface="Times New Roman"/>
              </a:rPr>
              <a:t>service </a:t>
            </a:r>
            <a:r>
              <a:rPr sz="2650" spc="-20" dirty="0">
                <a:latin typeface="Times New Roman"/>
                <a:cs typeface="Times New Roman"/>
              </a:rPr>
              <a:t>to </a:t>
            </a:r>
            <a:r>
              <a:rPr sz="2650" spc="-5" dirty="0">
                <a:latin typeface="Times New Roman"/>
                <a:cs typeface="Times New Roman"/>
              </a:rPr>
              <a:t>pinpoint </a:t>
            </a:r>
            <a:r>
              <a:rPr sz="2650" spc="-10" dirty="0">
                <a:latin typeface="Times New Roman"/>
                <a:cs typeface="Times New Roman"/>
              </a:rPr>
              <a:t>where </a:t>
            </a:r>
            <a:r>
              <a:rPr sz="2650" spc="-15" dirty="0">
                <a:latin typeface="Times New Roman"/>
                <a:cs typeface="Times New Roman"/>
              </a:rPr>
              <a:t>the </a:t>
            </a:r>
            <a:r>
              <a:rPr sz="2650" spc="-10" dirty="0">
                <a:latin typeface="Times New Roman"/>
                <a:cs typeface="Times New Roman"/>
              </a:rPr>
              <a:t>value </a:t>
            </a:r>
            <a:r>
              <a:rPr sz="2650" spc="-5" dirty="0">
                <a:latin typeface="Times New Roman"/>
                <a:cs typeface="Times New Roman"/>
              </a:rPr>
              <a:t>chain can be </a:t>
            </a:r>
            <a:r>
              <a:rPr sz="2650" spc="-10" dirty="0">
                <a:latin typeface="Times New Roman"/>
                <a:cs typeface="Times New Roman"/>
              </a:rPr>
              <a:t>made more </a:t>
            </a:r>
            <a:r>
              <a:rPr sz="2650" spc="-650" dirty="0">
                <a:latin typeface="Times New Roman"/>
                <a:cs typeface="Times New Roman"/>
              </a:rPr>
              <a:t> </a:t>
            </a:r>
            <a:r>
              <a:rPr sz="2650" spc="-10" dirty="0">
                <a:latin typeface="Times New Roman"/>
                <a:cs typeface="Times New Roman"/>
              </a:rPr>
              <a:t>effective</a:t>
            </a:r>
            <a:r>
              <a:rPr sz="2650" spc="-15" dirty="0">
                <a:latin typeface="Times New Roman"/>
                <a:cs typeface="Times New Roman"/>
              </a:rPr>
              <a:t> </a:t>
            </a:r>
            <a:r>
              <a:rPr sz="2650" spc="-5" dirty="0">
                <a:latin typeface="Times New Roman"/>
                <a:cs typeface="Times New Roman"/>
              </a:rPr>
              <a:t>or</a:t>
            </a:r>
            <a:r>
              <a:rPr sz="2650" spc="-10" dirty="0">
                <a:latin typeface="Times New Roman"/>
                <a:cs typeface="Times New Roman"/>
              </a:rPr>
              <a:t> </a:t>
            </a:r>
            <a:r>
              <a:rPr sz="2650" spc="-5" dirty="0">
                <a:latin typeface="Times New Roman"/>
                <a:cs typeface="Times New Roman"/>
              </a:rPr>
              <a:t>to</a:t>
            </a:r>
            <a:r>
              <a:rPr sz="2650" dirty="0">
                <a:latin typeface="Times New Roman"/>
                <a:cs typeface="Times New Roman"/>
              </a:rPr>
              <a:t> </a:t>
            </a:r>
            <a:r>
              <a:rPr sz="2650" spc="-5" dirty="0">
                <a:latin typeface="Times New Roman"/>
                <a:cs typeface="Times New Roman"/>
              </a:rPr>
              <a:t>spot</a:t>
            </a:r>
            <a:r>
              <a:rPr sz="2650" spc="-20" dirty="0">
                <a:latin typeface="Times New Roman"/>
                <a:cs typeface="Times New Roman"/>
              </a:rPr>
              <a:t> </a:t>
            </a:r>
            <a:r>
              <a:rPr sz="2650" spc="-10" dirty="0">
                <a:latin typeface="Times New Roman"/>
                <a:cs typeface="Times New Roman"/>
              </a:rPr>
              <a:t>where</a:t>
            </a:r>
            <a:r>
              <a:rPr sz="2650" spc="10" dirty="0">
                <a:latin typeface="Times New Roman"/>
                <a:cs typeface="Times New Roman"/>
              </a:rPr>
              <a:t> </a:t>
            </a:r>
            <a:r>
              <a:rPr sz="2650" spc="-10" dirty="0">
                <a:latin typeface="Times New Roman"/>
                <a:cs typeface="Times New Roman"/>
              </a:rPr>
              <a:t>additional</a:t>
            </a:r>
            <a:r>
              <a:rPr sz="2650" spc="-20" dirty="0">
                <a:latin typeface="Times New Roman"/>
                <a:cs typeface="Times New Roman"/>
              </a:rPr>
              <a:t> </a:t>
            </a:r>
            <a:r>
              <a:rPr sz="2650" spc="-10" dirty="0">
                <a:latin typeface="Times New Roman"/>
                <a:cs typeface="Times New Roman"/>
              </a:rPr>
              <a:t>“value” </a:t>
            </a:r>
            <a:r>
              <a:rPr sz="2650" spc="-5" dirty="0">
                <a:latin typeface="Times New Roman"/>
                <a:cs typeface="Times New Roman"/>
              </a:rPr>
              <a:t>can</a:t>
            </a:r>
            <a:r>
              <a:rPr sz="2650" spc="-25" dirty="0">
                <a:latin typeface="Times New Roman"/>
                <a:cs typeface="Times New Roman"/>
              </a:rPr>
              <a:t> </a:t>
            </a:r>
            <a:r>
              <a:rPr sz="2650" spc="-5" dirty="0">
                <a:latin typeface="Times New Roman"/>
                <a:cs typeface="Times New Roman"/>
              </a:rPr>
              <a:t>be</a:t>
            </a:r>
            <a:r>
              <a:rPr sz="2650" spc="-15" dirty="0">
                <a:latin typeface="Times New Roman"/>
                <a:cs typeface="Times New Roman"/>
              </a:rPr>
              <a:t> </a:t>
            </a:r>
            <a:r>
              <a:rPr sz="2650" spc="-5" dirty="0">
                <a:latin typeface="Times New Roman"/>
                <a:cs typeface="Times New Roman"/>
              </a:rPr>
              <a:t>added.</a:t>
            </a:r>
            <a:endParaRPr sz="2650">
              <a:latin typeface="Times New Roman"/>
              <a:cs typeface="Times New Roman"/>
            </a:endParaRPr>
          </a:p>
          <a:p>
            <a:pPr marL="830580" lvl="1" indent="-316230">
              <a:lnSpc>
                <a:spcPct val="100000"/>
              </a:lnSpc>
              <a:spcBef>
                <a:spcPts val="520"/>
              </a:spcBef>
              <a:buChar char="–"/>
              <a:tabLst>
                <a:tab pos="830580" algn="l"/>
                <a:tab pos="831215" algn="l"/>
              </a:tabLst>
            </a:pPr>
            <a:r>
              <a:rPr sz="2650" spc="-15" dirty="0">
                <a:latin typeface="Times New Roman"/>
                <a:cs typeface="Times New Roman"/>
              </a:rPr>
              <a:t>This </a:t>
            </a:r>
            <a:r>
              <a:rPr sz="2650" spc="-5" dirty="0">
                <a:latin typeface="Times New Roman"/>
                <a:cs typeface="Times New Roman"/>
              </a:rPr>
              <a:t>type</a:t>
            </a:r>
            <a:r>
              <a:rPr sz="2650" spc="-20" dirty="0">
                <a:latin typeface="Times New Roman"/>
                <a:cs typeface="Times New Roman"/>
              </a:rPr>
              <a:t> </a:t>
            </a:r>
            <a:r>
              <a:rPr sz="2650" spc="-5" dirty="0">
                <a:latin typeface="Times New Roman"/>
                <a:cs typeface="Times New Roman"/>
              </a:rPr>
              <a:t>of</a:t>
            </a:r>
            <a:r>
              <a:rPr sz="2650" spc="-20" dirty="0">
                <a:latin typeface="Times New Roman"/>
                <a:cs typeface="Times New Roman"/>
              </a:rPr>
              <a:t> </a:t>
            </a:r>
            <a:r>
              <a:rPr sz="2650" spc="-5" dirty="0">
                <a:latin typeface="Times New Roman"/>
                <a:cs typeface="Times New Roman"/>
              </a:rPr>
              <a:t>analysis</a:t>
            </a:r>
            <a:r>
              <a:rPr sz="2650" spc="-40" dirty="0">
                <a:latin typeface="Times New Roman"/>
                <a:cs typeface="Times New Roman"/>
              </a:rPr>
              <a:t> </a:t>
            </a:r>
            <a:r>
              <a:rPr sz="2650" spc="-10" dirty="0">
                <a:latin typeface="Times New Roman"/>
                <a:cs typeface="Times New Roman"/>
              </a:rPr>
              <a:t>may </a:t>
            </a:r>
            <a:r>
              <a:rPr sz="2650" spc="-5" dirty="0">
                <a:latin typeface="Times New Roman"/>
                <a:cs typeface="Times New Roman"/>
              </a:rPr>
              <a:t>focus</a:t>
            </a:r>
            <a:r>
              <a:rPr sz="2650" spc="-10" dirty="0">
                <a:latin typeface="Times New Roman"/>
                <a:cs typeface="Times New Roman"/>
              </a:rPr>
              <a:t> </a:t>
            </a:r>
            <a:r>
              <a:rPr sz="2650" spc="-5" dirty="0">
                <a:latin typeface="Times New Roman"/>
                <a:cs typeface="Times New Roman"/>
              </a:rPr>
              <a:t>on:</a:t>
            </a:r>
            <a:endParaRPr sz="2650">
              <a:latin typeface="Times New Roman"/>
              <a:cs typeface="Times New Roman"/>
            </a:endParaRPr>
          </a:p>
          <a:p>
            <a:pPr marL="1269365" lvl="2" indent="-252095">
              <a:lnSpc>
                <a:spcPct val="100000"/>
              </a:lnSpc>
              <a:spcBef>
                <a:spcPts val="545"/>
              </a:spcBef>
              <a:buChar char="•"/>
              <a:tabLst>
                <a:tab pos="1269365" algn="l"/>
                <a:tab pos="1270000" algn="l"/>
              </a:tabLst>
            </a:pP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single</a:t>
            </a:r>
            <a:r>
              <a:rPr sz="2200" spc="-35" dirty="0">
                <a:latin typeface="Times New Roman"/>
                <a:cs typeface="Times New Roman"/>
              </a:rPr>
              <a:t> </a:t>
            </a:r>
            <a:r>
              <a:rPr sz="2200" spc="-10" dirty="0">
                <a:latin typeface="Times New Roman"/>
                <a:cs typeface="Times New Roman"/>
              </a:rPr>
              <a:t>primary</a:t>
            </a:r>
            <a:r>
              <a:rPr sz="2200" spc="20" dirty="0">
                <a:latin typeface="Times New Roman"/>
                <a:cs typeface="Times New Roman"/>
              </a:rPr>
              <a:t> </a:t>
            </a:r>
            <a:r>
              <a:rPr sz="2200" spc="-5" dirty="0">
                <a:latin typeface="Times New Roman"/>
                <a:cs typeface="Times New Roman"/>
              </a:rPr>
              <a:t>activity</a:t>
            </a:r>
            <a:r>
              <a:rPr sz="2200" spc="-30" dirty="0">
                <a:latin typeface="Times New Roman"/>
                <a:cs typeface="Times New Roman"/>
              </a:rPr>
              <a:t> </a:t>
            </a:r>
            <a:r>
              <a:rPr sz="2200" spc="-5" dirty="0">
                <a:latin typeface="Times New Roman"/>
                <a:cs typeface="Times New Roman"/>
              </a:rPr>
              <a:t>such</a:t>
            </a:r>
            <a:r>
              <a:rPr sz="2200" spc="20" dirty="0">
                <a:latin typeface="Times New Roman"/>
                <a:cs typeface="Times New Roman"/>
              </a:rPr>
              <a:t> </a:t>
            </a:r>
            <a:r>
              <a:rPr sz="2200" spc="-10" dirty="0">
                <a:latin typeface="Times New Roman"/>
                <a:cs typeface="Times New Roman"/>
              </a:rPr>
              <a:t>as</a:t>
            </a:r>
            <a:r>
              <a:rPr sz="2200" dirty="0">
                <a:latin typeface="Times New Roman"/>
                <a:cs typeface="Times New Roman"/>
              </a:rPr>
              <a:t> </a:t>
            </a:r>
            <a:r>
              <a:rPr sz="2200" spc="-5" dirty="0">
                <a:latin typeface="Times New Roman"/>
                <a:cs typeface="Times New Roman"/>
              </a:rPr>
              <a:t>marketing</a:t>
            </a:r>
            <a:r>
              <a:rPr sz="2200" spc="-10" dirty="0">
                <a:latin typeface="Times New Roman"/>
                <a:cs typeface="Times New Roman"/>
              </a:rPr>
              <a:t> and</a:t>
            </a:r>
            <a:r>
              <a:rPr sz="2200" spc="20" dirty="0">
                <a:latin typeface="Times New Roman"/>
                <a:cs typeface="Times New Roman"/>
              </a:rPr>
              <a:t> </a:t>
            </a:r>
            <a:r>
              <a:rPr sz="2200" spc="-5" dirty="0">
                <a:latin typeface="Times New Roman"/>
                <a:cs typeface="Times New Roman"/>
              </a:rPr>
              <a:t>sales.</a:t>
            </a:r>
            <a:endParaRPr sz="2200">
              <a:latin typeface="Times New Roman"/>
              <a:cs typeface="Times New Roman"/>
            </a:endParaRPr>
          </a:p>
          <a:p>
            <a:pPr marL="1269365" marR="487045" lvl="2" indent="-252095">
              <a:lnSpc>
                <a:spcPct val="100000"/>
              </a:lnSpc>
              <a:spcBef>
                <a:spcPts val="525"/>
              </a:spcBef>
              <a:buChar char="•"/>
              <a:tabLst>
                <a:tab pos="1269365" algn="l"/>
                <a:tab pos="1270000" algn="l"/>
              </a:tabLst>
            </a:pPr>
            <a:r>
              <a:rPr sz="2200" dirty="0">
                <a:latin typeface="Times New Roman"/>
                <a:cs typeface="Times New Roman"/>
              </a:rPr>
              <a:t>The </a:t>
            </a:r>
            <a:r>
              <a:rPr sz="2200" spc="-5" dirty="0">
                <a:latin typeface="Times New Roman"/>
                <a:cs typeface="Times New Roman"/>
              </a:rPr>
              <a:t>interface between </a:t>
            </a:r>
            <a:r>
              <a:rPr sz="2200" dirty="0">
                <a:latin typeface="Times New Roman"/>
                <a:cs typeface="Times New Roman"/>
              </a:rPr>
              <a:t>one </a:t>
            </a:r>
            <a:r>
              <a:rPr sz="2200" spc="-5" dirty="0">
                <a:latin typeface="Times New Roman"/>
                <a:cs typeface="Times New Roman"/>
              </a:rPr>
              <a:t>stage </a:t>
            </a:r>
            <a:r>
              <a:rPr sz="2200" spc="5" dirty="0">
                <a:latin typeface="Times New Roman"/>
                <a:cs typeface="Times New Roman"/>
              </a:rPr>
              <a:t>of </a:t>
            </a:r>
            <a:r>
              <a:rPr sz="2200" spc="-5" dirty="0">
                <a:latin typeface="Times New Roman"/>
                <a:cs typeface="Times New Roman"/>
              </a:rPr>
              <a:t>the </a:t>
            </a:r>
            <a:r>
              <a:rPr sz="2200" dirty="0">
                <a:latin typeface="Times New Roman"/>
                <a:cs typeface="Times New Roman"/>
              </a:rPr>
              <a:t>value </a:t>
            </a:r>
            <a:r>
              <a:rPr sz="2200" spc="-10" dirty="0">
                <a:latin typeface="Times New Roman"/>
                <a:cs typeface="Times New Roman"/>
              </a:rPr>
              <a:t>chain </a:t>
            </a:r>
            <a:r>
              <a:rPr sz="2200" dirty="0">
                <a:latin typeface="Times New Roman"/>
                <a:cs typeface="Times New Roman"/>
              </a:rPr>
              <a:t>and another, </a:t>
            </a:r>
            <a:r>
              <a:rPr sz="2200" spc="-535" dirty="0">
                <a:latin typeface="Times New Roman"/>
                <a:cs typeface="Times New Roman"/>
              </a:rPr>
              <a:t> </a:t>
            </a:r>
            <a:r>
              <a:rPr sz="2200" spc="-5" dirty="0">
                <a:latin typeface="Times New Roman"/>
                <a:cs typeface="Times New Roman"/>
              </a:rPr>
              <a:t>such</a:t>
            </a:r>
            <a:r>
              <a:rPr sz="2200" spc="20" dirty="0">
                <a:latin typeface="Times New Roman"/>
                <a:cs typeface="Times New Roman"/>
              </a:rPr>
              <a:t> </a:t>
            </a:r>
            <a:r>
              <a:rPr sz="2200" spc="-10" dirty="0">
                <a:latin typeface="Times New Roman"/>
                <a:cs typeface="Times New Roman"/>
              </a:rPr>
              <a:t>as</a:t>
            </a:r>
            <a:r>
              <a:rPr sz="2200" spc="5"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interface between</a:t>
            </a:r>
            <a:r>
              <a:rPr sz="2200" spc="20" dirty="0">
                <a:latin typeface="Times New Roman"/>
                <a:cs typeface="Times New Roman"/>
              </a:rPr>
              <a:t> </a:t>
            </a:r>
            <a:r>
              <a:rPr sz="2200" spc="-5" dirty="0">
                <a:latin typeface="Times New Roman"/>
                <a:cs typeface="Times New Roman"/>
              </a:rPr>
              <a:t>operations</a:t>
            </a:r>
            <a:r>
              <a:rPr sz="2200" spc="-20" dirty="0">
                <a:latin typeface="Times New Roman"/>
                <a:cs typeface="Times New Roman"/>
              </a:rPr>
              <a:t> </a:t>
            </a:r>
            <a:r>
              <a:rPr sz="2200" spc="-10" dirty="0">
                <a:latin typeface="Times New Roman"/>
                <a:cs typeface="Times New Roman"/>
              </a:rPr>
              <a:t>and</a:t>
            </a:r>
            <a:r>
              <a:rPr sz="2200" spc="-5" dirty="0">
                <a:latin typeface="Times New Roman"/>
                <a:cs typeface="Times New Roman"/>
              </a:rPr>
              <a:t> </a:t>
            </a:r>
            <a:r>
              <a:rPr sz="2200" dirty="0">
                <a:latin typeface="Times New Roman"/>
                <a:cs typeface="Times New Roman"/>
              </a:rPr>
              <a:t>outgoing</a:t>
            </a:r>
            <a:r>
              <a:rPr sz="2200" spc="-20" dirty="0">
                <a:latin typeface="Times New Roman"/>
                <a:cs typeface="Times New Roman"/>
              </a:rPr>
              <a:t> </a:t>
            </a:r>
            <a:r>
              <a:rPr sz="2200" spc="-5" dirty="0">
                <a:latin typeface="Times New Roman"/>
                <a:cs typeface="Times New Roman"/>
              </a:rPr>
              <a:t>logistics.</a:t>
            </a:r>
            <a:endParaRPr sz="2200">
              <a:latin typeface="Times New Roman"/>
              <a:cs typeface="Times New Roman"/>
            </a:endParaRPr>
          </a:p>
          <a:p>
            <a:pPr marL="1269365" lvl="2" indent="-252095">
              <a:lnSpc>
                <a:spcPct val="100000"/>
              </a:lnSpc>
              <a:spcBef>
                <a:spcPts val="530"/>
              </a:spcBef>
              <a:buChar char="•"/>
              <a:tabLst>
                <a:tab pos="1269365" algn="l"/>
                <a:tab pos="1270000" algn="l"/>
              </a:tabLst>
            </a:pPr>
            <a:r>
              <a:rPr sz="2200" dirty="0">
                <a:latin typeface="Times New Roman"/>
                <a:cs typeface="Times New Roman"/>
              </a:rPr>
              <a:t>One</a:t>
            </a:r>
            <a:r>
              <a:rPr sz="2200" spc="15" dirty="0">
                <a:latin typeface="Times New Roman"/>
                <a:cs typeface="Times New Roman"/>
              </a:rPr>
              <a:t> </a:t>
            </a:r>
            <a:r>
              <a:rPr sz="2200" spc="-5" dirty="0">
                <a:latin typeface="Times New Roman"/>
                <a:cs typeface="Times New Roman"/>
              </a:rPr>
              <a:t>of</a:t>
            </a:r>
            <a:r>
              <a:rPr sz="220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support</a:t>
            </a:r>
            <a:r>
              <a:rPr sz="2200" spc="-15" dirty="0">
                <a:latin typeface="Times New Roman"/>
                <a:cs typeface="Times New Roman"/>
              </a:rPr>
              <a:t> </a:t>
            </a:r>
            <a:r>
              <a:rPr sz="2200" spc="-5" dirty="0">
                <a:latin typeface="Times New Roman"/>
                <a:cs typeface="Times New Roman"/>
              </a:rPr>
              <a:t>activities,</a:t>
            </a:r>
            <a:r>
              <a:rPr sz="2200" spc="-15" dirty="0">
                <a:latin typeface="Times New Roman"/>
                <a:cs typeface="Times New Roman"/>
              </a:rPr>
              <a:t> </a:t>
            </a:r>
            <a:r>
              <a:rPr sz="2200" spc="-10" dirty="0">
                <a:latin typeface="Times New Roman"/>
                <a:cs typeface="Times New Roman"/>
              </a:rPr>
              <a:t>such</a:t>
            </a:r>
            <a:r>
              <a:rPr sz="2200" dirty="0">
                <a:latin typeface="Times New Roman"/>
                <a:cs typeface="Times New Roman"/>
              </a:rPr>
              <a:t> as</a:t>
            </a:r>
            <a:r>
              <a:rPr sz="2200" spc="10" dirty="0">
                <a:latin typeface="Times New Roman"/>
                <a:cs typeface="Times New Roman"/>
              </a:rPr>
              <a:t> </a:t>
            </a:r>
            <a:r>
              <a:rPr sz="2200" spc="-10" dirty="0">
                <a:latin typeface="Times New Roman"/>
                <a:cs typeface="Times New Roman"/>
              </a:rPr>
              <a:t>human</a:t>
            </a:r>
            <a:r>
              <a:rPr sz="2200" spc="30" dirty="0">
                <a:latin typeface="Times New Roman"/>
                <a:cs typeface="Times New Roman"/>
              </a:rPr>
              <a:t> </a:t>
            </a:r>
            <a:r>
              <a:rPr sz="2200" spc="-5" dirty="0">
                <a:latin typeface="Times New Roman"/>
                <a:cs typeface="Times New Roman"/>
              </a:rPr>
              <a:t>resource </a:t>
            </a:r>
            <a:r>
              <a:rPr sz="2200" spc="-10" dirty="0">
                <a:latin typeface="Times New Roman"/>
                <a:cs typeface="Times New Roman"/>
              </a:rPr>
              <a:t>management.</a:t>
            </a:r>
            <a:endParaRPr sz="220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635" algn="ctr">
              <a:lnSpc>
                <a:spcPct val="100000"/>
              </a:lnSpc>
              <a:spcBef>
                <a:spcPts val="110"/>
              </a:spcBef>
            </a:pPr>
            <a:r>
              <a:rPr dirty="0"/>
              <a:t>How</a:t>
            </a:r>
            <a:r>
              <a:rPr spc="-25" dirty="0"/>
              <a:t> </a:t>
            </a:r>
            <a:r>
              <a:rPr dirty="0"/>
              <a:t>Business</a:t>
            </a:r>
            <a:r>
              <a:rPr spc="-5" dirty="0"/>
              <a:t> </a:t>
            </a:r>
            <a:r>
              <a:rPr dirty="0"/>
              <a:t>Models</a:t>
            </a:r>
            <a:r>
              <a:rPr spc="-10" dirty="0"/>
              <a:t> </a:t>
            </a:r>
            <a:r>
              <a:rPr spc="5" dirty="0"/>
              <a:t>Emerge</a:t>
            </a:r>
          </a:p>
          <a:p>
            <a:pPr marL="635" algn="ctr">
              <a:lnSpc>
                <a:spcPct val="100000"/>
              </a:lnSpc>
              <a:spcBef>
                <a:spcPts val="55"/>
              </a:spcBef>
            </a:pPr>
            <a:endParaRPr sz="2200" dirty="0"/>
          </a:p>
        </p:txBody>
      </p:sp>
      <p:sp>
        <p:nvSpPr>
          <p:cNvPr id="3" name="object 3"/>
          <p:cNvSpPr txBox="1"/>
          <p:nvPr/>
        </p:nvSpPr>
        <p:spPr>
          <a:xfrm>
            <a:off x="590865" y="1803066"/>
            <a:ext cx="8873490" cy="3829382"/>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25" dirty="0">
                <a:latin typeface="Times New Roman"/>
                <a:cs typeface="Times New Roman"/>
              </a:rPr>
              <a:t>The</a:t>
            </a:r>
            <a:r>
              <a:rPr sz="3050" spc="-10" dirty="0">
                <a:latin typeface="Times New Roman"/>
                <a:cs typeface="Times New Roman"/>
              </a:rPr>
              <a:t> </a:t>
            </a:r>
            <a:r>
              <a:rPr sz="3050" spc="10" dirty="0">
                <a:latin typeface="Times New Roman"/>
                <a:cs typeface="Times New Roman"/>
              </a:rPr>
              <a:t>Value</a:t>
            </a:r>
            <a:r>
              <a:rPr sz="3050" spc="-10" dirty="0">
                <a:latin typeface="Times New Roman"/>
                <a:cs typeface="Times New Roman"/>
              </a:rPr>
              <a:t> </a:t>
            </a:r>
            <a:r>
              <a:rPr sz="3050" spc="5" dirty="0">
                <a:latin typeface="Times New Roman"/>
                <a:cs typeface="Times New Roman"/>
              </a:rPr>
              <a:t>Chain</a:t>
            </a:r>
            <a:r>
              <a:rPr sz="3050" dirty="0">
                <a:latin typeface="Times New Roman"/>
                <a:cs typeface="Times New Roman"/>
              </a:rPr>
              <a:t> </a:t>
            </a:r>
            <a:r>
              <a:rPr sz="3050" spc="10" dirty="0">
                <a:latin typeface="Times New Roman"/>
                <a:cs typeface="Times New Roman"/>
              </a:rPr>
              <a:t>(continued)</a:t>
            </a:r>
            <a:endParaRPr sz="3050" dirty="0">
              <a:latin typeface="Times New Roman"/>
              <a:cs typeface="Times New Roman"/>
            </a:endParaRPr>
          </a:p>
          <a:p>
            <a:pPr marL="829310" marR="5080" lvl="1" indent="-314325">
              <a:lnSpc>
                <a:spcPts val="3170"/>
              </a:lnSpc>
              <a:spcBef>
                <a:spcPts val="750"/>
              </a:spcBef>
              <a:buChar char="–"/>
              <a:tabLst>
                <a:tab pos="830580" algn="l"/>
                <a:tab pos="831215" algn="l"/>
              </a:tabLst>
            </a:pPr>
            <a:r>
              <a:rPr lang="en-US" sz="2650" spc="-10" dirty="0">
                <a:latin typeface="Times New Roman"/>
                <a:cs typeface="Times New Roman"/>
              </a:rPr>
              <a:t>If a product’s value chain can be strengthened in any one of these areas, it may represent an opportunity for the formation of a new firm to perform that activity.</a:t>
            </a:r>
          </a:p>
          <a:p>
            <a:pPr marL="514985" marR="5080" lvl="1">
              <a:lnSpc>
                <a:spcPts val="3170"/>
              </a:lnSpc>
              <a:spcBef>
                <a:spcPts val="750"/>
              </a:spcBef>
              <a:tabLst>
                <a:tab pos="830580" algn="l"/>
                <a:tab pos="831215" algn="l"/>
              </a:tabLst>
            </a:pPr>
            <a:endParaRPr lang="en-US" sz="2650" spc="-10" dirty="0">
              <a:latin typeface="Times New Roman"/>
              <a:cs typeface="Times New Roman"/>
            </a:endParaRPr>
          </a:p>
          <a:p>
            <a:pPr marL="829310" marR="5080" lvl="1" indent="-314325">
              <a:lnSpc>
                <a:spcPts val="3170"/>
              </a:lnSpc>
              <a:spcBef>
                <a:spcPts val="750"/>
              </a:spcBef>
              <a:buChar char="–"/>
              <a:tabLst>
                <a:tab pos="830580" algn="l"/>
                <a:tab pos="831215" algn="l"/>
              </a:tabLst>
            </a:pPr>
            <a:r>
              <a:rPr lang="en-US" sz="2400" dirty="0">
                <a:latin typeface="Times New Roman"/>
                <a:cs typeface="Times New Roman"/>
              </a:rPr>
              <a:t>Example:    FedEx,          Outbound logistics,                                                          </a:t>
            </a:r>
          </a:p>
          <a:p>
            <a:pPr marL="514985" marR="5080" lvl="1">
              <a:lnSpc>
                <a:spcPts val="3170"/>
              </a:lnSpc>
              <a:spcBef>
                <a:spcPts val="750"/>
              </a:spcBef>
              <a:tabLst>
                <a:tab pos="830580" algn="l"/>
                <a:tab pos="831215" algn="l"/>
              </a:tabLst>
            </a:pPr>
            <a:r>
              <a:rPr lang="en-US" sz="2400" dirty="0">
                <a:latin typeface="Times New Roman"/>
                <a:cs typeface="Times New Roman"/>
              </a:rPr>
              <a:t>To provide new ways to warehouse and move goods effectively to the end user.</a:t>
            </a:r>
            <a:endParaRPr sz="240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extLst>
      <p:ext uri="{BB962C8B-B14F-4D97-AF65-F5344CB8AC3E}">
        <p14:creationId xmlns:p14="http://schemas.microsoft.com/office/powerpoint/2010/main" val="3500950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0535" y="580097"/>
            <a:ext cx="8338820" cy="629285"/>
          </a:xfrm>
          <a:prstGeom prst="rect">
            <a:avLst/>
          </a:prstGeom>
        </p:spPr>
        <p:txBody>
          <a:bodyPr vert="horz" wrap="square" lIns="0" tIns="13970" rIns="0" bIns="0" rtlCol="0">
            <a:spAutoFit/>
          </a:bodyPr>
          <a:lstStyle/>
          <a:p>
            <a:pPr marL="12700">
              <a:lnSpc>
                <a:spcPct val="100000"/>
              </a:lnSpc>
              <a:spcBef>
                <a:spcPts val="110"/>
              </a:spcBef>
            </a:pPr>
            <a:r>
              <a:rPr dirty="0"/>
              <a:t>Potential</a:t>
            </a:r>
            <a:r>
              <a:rPr spc="5" dirty="0"/>
              <a:t> </a:t>
            </a:r>
            <a:r>
              <a:rPr dirty="0"/>
              <a:t>Fatal</a:t>
            </a:r>
            <a:r>
              <a:rPr spc="-30" dirty="0"/>
              <a:t> </a:t>
            </a:r>
            <a:r>
              <a:rPr dirty="0"/>
              <a:t>Flaws </a:t>
            </a:r>
            <a:r>
              <a:rPr spc="5" dirty="0"/>
              <a:t>in</a:t>
            </a:r>
            <a:r>
              <a:rPr dirty="0"/>
              <a:t> </a:t>
            </a:r>
            <a:r>
              <a:rPr spc="-5" dirty="0"/>
              <a:t>Business</a:t>
            </a:r>
            <a:r>
              <a:rPr spc="40" dirty="0"/>
              <a:t> </a:t>
            </a:r>
            <a:r>
              <a:rPr dirty="0"/>
              <a:t>Models</a:t>
            </a:r>
          </a:p>
        </p:txBody>
      </p:sp>
      <p:sp>
        <p:nvSpPr>
          <p:cNvPr id="3" name="object 3"/>
          <p:cNvSpPr txBox="1"/>
          <p:nvPr/>
        </p:nvSpPr>
        <p:spPr>
          <a:xfrm>
            <a:off x="590865" y="1803066"/>
            <a:ext cx="8790940" cy="3457998"/>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0" dirty="0">
                <a:latin typeface="Times New Roman"/>
                <a:cs typeface="Times New Roman"/>
              </a:rPr>
              <a:t>Fatal</a:t>
            </a:r>
            <a:r>
              <a:rPr sz="3050" spc="-20" dirty="0">
                <a:latin typeface="Times New Roman"/>
                <a:cs typeface="Times New Roman"/>
              </a:rPr>
              <a:t> </a:t>
            </a:r>
            <a:r>
              <a:rPr sz="3050" spc="10" dirty="0">
                <a:latin typeface="Times New Roman"/>
                <a:cs typeface="Times New Roman"/>
              </a:rPr>
              <a:t>Flaws</a:t>
            </a:r>
            <a:endParaRPr lang="en-US" sz="3050" spc="10" dirty="0">
              <a:latin typeface="Times New Roman"/>
              <a:cs typeface="Times New Roman"/>
            </a:endParaRPr>
          </a:p>
          <a:p>
            <a:pPr marL="12065">
              <a:lnSpc>
                <a:spcPct val="100000"/>
              </a:lnSpc>
              <a:spcBef>
                <a:spcPts val="885"/>
              </a:spcBef>
              <a:tabLst>
                <a:tab pos="388620" algn="l"/>
                <a:tab pos="389255" algn="l"/>
              </a:tabLst>
            </a:pPr>
            <a:endParaRPr sz="3050" dirty="0">
              <a:latin typeface="Times New Roman"/>
              <a:cs typeface="Times New Roman"/>
            </a:endParaRPr>
          </a:p>
          <a:p>
            <a:pPr marL="829310" marR="5080" lvl="1" indent="-314325">
              <a:lnSpc>
                <a:spcPts val="3170"/>
              </a:lnSpc>
              <a:spcBef>
                <a:spcPts val="750"/>
              </a:spcBef>
              <a:buChar char="–"/>
              <a:tabLst>
                <a:tab pos="830580" algn="l"/>
                <a:tab pos="831215" algn="l"/>
              </a:tabLst>
            </a:pPr>
            <a:r>
              <a:rPr sz="2650" spc="-15" dirty="0">
                <a:latin typeface="Times New Roman"/>
                <a:cs typeface="Times New Roman"/>
              </a:rPr>
              <a:t>Two </a:t>
            </a:r>
            <a:r>
              <a:rPr sz="2650" spc="-5" dirty="0">
                <a:latin typeface="Times New Roman"/>
                <a:cs typeface="Times New Roman"/>
              </a:rPr>
              <a:t>fatal flaws can </a:t>
            </a:r>
            <a:r>
              <a:rPr sz="2650" spc="-10" dirty="0">
                <a:latin typeface="Times New Roman"/>
                <a:cs typeface="Times New Roman"/>
              </a:rPr>
              <a:t>render </a:t>
            </a:r>
            <a:r>
              <a:rPr sz="2650" spc="-5" dirty="0">
                <a:latin typeface="Times New Roman"/>
                <a:cs typeface="Times New Roman"/>
              </a:rPr>
              <a:t>a </a:t>
            </a:r>
            <a:r>
              <a:rPr sz="2650" spc="-10" dirty="0">
                <a:latin typeface="Times New Roman"/>
                <a:cs typeface="Times New Roman"/>
              </a:rPr>
              <a:t>business model </a:t>
            </a:r>
            <a:r>
              <a:rPr sz="2650" spc="-5" dirty="0">
                <a:latin typeface="Times New Roman"/>
                <a:cs typeface="Times New Roman"/>
              </a:rPr>
              <a:t>unsupportable </a:t>
            </a:r>
            <a:r>
              <a:rPr sz="2650" spc="-650" dirty="0">
                <a:latin typeface="Times New Roman"/>
                <a:cs typeface="Times New Roman"/>
              </a:rPr>
              <a:t> </a:t>
            </a:r>
            <a:r>
              <a:rPr sz="2650" spc="-10" dirty="0">
                <a:latin typeface="Times New Roman"/>
                <a:cs typeface="Times New Roman"/>
              </a:rPr>
              <a:t>from</a:t>
            </a:r>
            <a:r>
              <a:rPr sz="2650" spc="-5" dirty="0">
                <a:latin typeface="Times New Roman"/>
                <a:cs typeface="Times New Roman"/>
              </a:rPr>
              <a:t> the</a:t>
            </a:r>
            <a:r>
              <a:rPr sz="2650" spc="-15" dirty="0">
                <a:latin typeface="Times New Roman"/>
                <a:cs typeface="Times New Roman"/>
              </a:rPr>
              <a:t> </a:t>
            </a:r>
            <a:r>
              <a:rPr sz="2650" spc="-5" dirty="0">
                <a:latin typeface="Times New Roman"/>
                <a:cs typeface="Times New Roman"/>
              </a:rPr>
              <a:t>beginning:</a:t>
            </a:r>
            <a:endParaRPr lang="en-US" sz="2650" spc="-5" dirty="0">
              <a:latin typeface="Times New Roman"/>
              <a:cs typeface="Times New Roman"/>
            </a:endParaRPr>
          </a:p>
          <a:p>
            <a:pPr marL="514985" marR="5080" lvl="1">
              <a:lnSpc>
                <a:spcPts val="3170"/>
              </a:lnSpc>
              <a:spcBef>
                <a:spcPts val="750"/>
              </a:spcBef>
              <a:tabLst>
                <a:tab pos="830580" algn="l"/>
                <a:tab pos="831215" algn="l"/>
              </a:tabLst>
            </a:pPr>
            <a:endParaRPr sz="2650" dirty="0">
              <a:latin typeface="Times New Roman"/>
              <a:cs typeface="Times New Roman"/>
            </a:endParaRPr>
          </a:p>
          <a:p>
            <a:pPr marL="1474470" lvl="2" indent="-457200">
              <a:lnSpc>
                <a:spcPct val="100000"/>
              </a:lnSpc>
              <a:spcBef>
                <a:spcPts val="440"/>
              </a:spcBef>
              <a:buFont typeface="+mj-lt"/>
              <a:buAutoNum type="arabicPeriod"/>
              <a:tabLst>
                <a:tab pos="1269365" algn="l"/>
                <a:tab pos="1270000" algn="l"/>
              </a:tabLst>
            </a:pPr>
            <a:r>
              <a:rPr sz="2400" spc="-5" dirty="0">
                <a:latin typeface="Times New Roman"/>
                <a:cs typeface="Times New Roman"/>
              </a:rPr>
              <a:t>A</a:t>
            </a:r>
            <a:r>
              <a:rPr sz="2400" spc="10" dirty="0">
                <a:latin typeface="Times New Roman"/>
                <a:cs typeface="Times New Roman"/>
              </a:rPr>
              <a:t> </a:t>
            </a:r>
            <a:r>
              <a:rPr sz="2400" spc="-5" dirty="0">
                <a:latin typeface="Times New Roman"/>
                <a:cs typeface="Times New Roman"/>
              </a:rPr>
              <a:t>complete</a:t>
            </a:r>
            <a:r>
              <a:rPr sz="2400" spc="-10" dirty="0">
                <a:latin typeface="Times New Roman"/>
                <a:cs typeface="Times New Roman"/>
              </a:rPr>
              <a:t> misread</a:t>
            </a:r>
            <a:r>
              <a:rPr sz="2400" spc="-5" dirty="0">
                <a:latin typeface="Times New Roman"/>
                <a:cs typeface="Times New Roman"/>
              </a:rPr>
              <a:t> </a:t>
            </a:r>
            <a:r>
              <a:rPr sz="2400" spc="5" dirty="0">
                <a:latin typeface="Times New Roman"/>
                <a:cs typeface="Times New Roman"/>
              </a:rPr>
              <a:t>of</a:t>
            </a:r>
            <a:r>
              <a:rPr sz="2400" spc="-15" dirty="0">
                <a:latin typeface="Times New Roman"/>
                <a:cs typeface="Times New Roman"/>
              </a:rPr>
              <a:t> </a:t>
            </a:r>
            <a:r>
              <a:rPr sz="2400" spc="-5" dirty="0">
                <a:latin typeface="Times New Roman"/>
                <a:cs typeface="Times New Roman"/>
              </a:rPr>
              <a:t>the</a:t>
            </a:r>
            <a:r>
              <a:rPr sz="2400" spc="-10" dirty="0">
                <a:latin typeface="Times New Roman"/>
                <a:cs typeface="Times New Roman"/>
              </a:rPr>
              <a:t> customer.</a:t>
            </a:r>
            <a:endParaRPr sz="2400" dirty="0">
              <a:latin typeface="Times New Roman"/>
              <a:cs typeface="Times New Roman"/>
            </a:endParaRPr>
          </a:p>
          <a:p>
            <a:pPr marL="1474470" lvl="2" indent="-457200">
              <a:lnSpc>
                <a:spcPct val="100000"/>
              </a:lnSpc>
              <a:spcBef>
                <a:spcPts val="530"/>
              </a:spcBef>
              <a:buFont typeface="+mj-lt"/>
              <a:buAutoNum type="arabicPeriod"/>
              <a:tabLst>
                <a:tab pos="1269365" algn="l"/>
                <a:tab pos="1270000" algn="l"/>
              </a:tabLst>
            </a:pPr>
            <a:r>
              <a:rPr sz="2400" spc="-5" dirty="0">
                <a:latin typeface="Times New Roman"/>
                <a:cs typeface="Times New Roman"/>
              </a:rPr>
              <a:t>Utterly</a:t>
            </a:r>
            <a:r>
              <a:rPr sz="2400" spc="-30" dirty="0">
                <a:latin typeface="Times New Roman"/>
                <a:cs typeface="Times New Roman"/>
              </a:rPr>
              <a:t> </a:t>
            </a:r>
            <a:r>
              <a:rPr sz="2400" dirty="0">
                <a:latin typeface="Times New Roman"/>
                <a:cs typeface="Times New Roman"/>
              </a:rPr>
              <a:t>unsound</a:t>
            </a:r>
            <a:r>
              <a:rPr sz="2400" spc="-45" dirty="0">
                <a:latin typeface="Times New Roman"/>
                <a:cs typeface="Times New Roman"/>
              </a:rPr>
              <a:t> </a:t>
            </a:r>
            <a:r>
              <a:rPr sz="2400" spc="-5" dirty="0">
                <a:latin typeface="Times New Roman"/>
                <a:cs typeface="Times New Roman"/>
              </a:rPr>
              <a:t>economics.</a:t>
            </a:r>
            <a:endParaRPr sz="240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2929" y="455867"/>
            <a:ext cx="9003790" cy="621965"/>
          </a:xfrm>
          <a:prstGeom prst="rect">
            <a:avLst/>
          </a:prstGeom>
        </p:spPr>
        <p:txBody>
          <a:bodyPr vert="horz" wrap="square" lIns="0" tIns="13970" rIns="0" bIns="0" rtlCol="0">
            <a:spAutoFit/>
          </a:bodyPr>
          <a:lstStyle/>
          <a:p>
            <a:pPr marL="12700">
              <a:lnSpc>
                <a:spcPct val="100000"/>
              </a:lnSpc>
              <a:spcBef>
                <a:spcPts val="110"/>
              </a:spcBef>
            </a:pPr>
            <a:r>
              <a:rPr sz="3950" spc="5" dirty="0">
                <a:latin typeface="Times New Roman"/>
                <a:cs typeface="Times New Roman"/>
              </a:rPr>
              <a:t>Components</a:t>
            </a:r>
            <a:r>
              <a:rPr sz="3950" spc="-10" dirty="0">
                <a:latin typeface="Times New Roman"/>
                <a:cs typeface="Times New Roman"/>
              </a:rPr>
              <a:t> </a:t>
            </a:r>
            <a:r>
              <a:rPr sz="3950" dirty="0">
                <a:latin typeface="Times New Roman"/>
                <a:cs typeface="Times New Roman"/>
              </a:rPr>
              <a:t>of</a:t>
            </a:r>
            <a:r>
              <a:rPr sz="3950" spc="-20" dirty="0">
                <a:latin typeface="Times New Roman"/>
                <a:cs typeface="Times New Roman"/>
              </a:rPr>
              <a:t> </a:t>
            </a:r>
            <a:r>
              <a:rPr sz="3950" dirty="0">
                <a:latin typeface="Times New Roman"/>
                <a:cs typeface="Times New Roman"/>
              </a:rPr>
              <a:t>a</a:t>
            </a:r>
            <a:r>
              <a:rPr lang="en-US" sz="3950" dirty="0">
                <a:latin typeface="Times New Roman"/>
                <a:cs typeface="Times New Roman"/>
              </a:rPr>
              <a:t>n Effective</a:t>
            </a:r>
            <a:r>
              <a:rPr sz="3950" spc="-30" dirty="0">
                <a:latin typeface="Times New Roman"/>
                <a:cs typeface="Times New Roman"/>
              </a:rPr>
              <a:t> </a:t>
            </a:r>
            <a:r>
              <a:rPr sz="3950" dirty="0">
                <a:latin typeface="Times New Roman"/>
                <a:cs typeface="Times New Roman"/>
              </a:rPr>
              <a:t>Business</a:t>
            </a:r>
            <a:r>
              <a:rPr sz="3950" spc="-5" dirty="0">
                <a:latin typeface="Times New Roman"/>
                <a:cs typeface="Times New Roman"/>
              </a:rPr>
              <a:t> </a:t>
            </a:r>
            <a:r>
              <a:rPr sz="3950" dirty="0">
                <a:latin typeface="Times New Roman"/>
                <a:cs typeface="Times New Roman"/>
              </a:rPr>
              <a:t>Model</a:t>
            </a:r>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1747507" y="1784034"/>
            <a:ext cx="6142990" cy="495934"/>
          </a:xfrm>
          <a:prstGeom prst="rect">
            <a:avLst/>
          </a:prstGeom>
        </p:spPr>
        <p:txBody>
          <a:bodyPr vert="horz" wrap="square" lIns="0" tIns="16510" rIns="0" bIns="0" rtlCol="0">
            <a:spAutoFit/>
          </a:bodyPr>
          <a:lstStyle/>
          <a:p>
            <a:pPr marL="12700">
              <a:lnSpc>
                <a:spcPct val="100000"/>
              </a:lnSpc>
              <a:spcBef>
                <a:spcPts val="130"/>
              </a:spcBef>
            </a:pPr>
            <a:r>
              <a:rPr sz="3050" spc="15" dirty="0">
                <a:latin typeface="Times New Roman"/>
                <a:cs typeface="Times New Roman"/>
              </a:rPr>
              <a:t>Four</a:t>
            </a:r>
            <a:r>
              <a:rPr sz="3050" spc="-15" dirty="0">
                <a:latin typeface="Times New Roman"/>
                <a:cs typeface="Times New Roman"/>
              </a:rPr>
              <a:t> </a:t>
            </a:r>
            <a:r>
              <a:rPr sz="3050" spc="15" dirty="0">
                <a:latin typeface="Times New Roman"/>
                <a:cs typeface="Times New Roman"/>
              </a:rPr>
              <a:t>Components</a:t>
            </a:r>
            <a:r>
              <a:rPr sz="3050" spc="-65" dirty="0">
                <a:latin typeface="Times New Roman"/>
                <a:cs typeface="Times New Roman"/>
              </a:rPr>
              <a:t> </a:t>
            </a:r>
            <a:r>
              <a:rPr sz="3050" spc="10" dirty="0">
                <a:latin typeface="Times New Roman"/>
                <a:cs typeface="Times New Roman"/>
              </a:rPr>
              <a:t>of</a:t>
            </a:r>
            <a:r>
              <a:rPr sz="3050" spc="20" dirty="0">
                <a:latin typeface="Times New Roman"/>
                <a:cs typeface="Times New Roman"/>
              </a:rPr>
              <a:t> </a:t>
            </a:r>
            <a:r>
              <a:rPr sz="3050" spc="15" dirty="0">
                <a:latin typeface="Times New Roman"/>
                <a:cs typeface="Times New Roman"/>
              </a:rPr>
              <a:t>a</a:t>
            </a:r>
            <a:r>
              <a:rPr sz="3050" spc="-15" dirty="0">
                <a:latin typeface="Times New Roman"/>
                <a:cs typeface="Times New Roman"/>
              </a:rPr>
              <a:t> </a:t>
            </a:r>
            <a:r>
              <a:rPr sz="3050" spc="10" dirty="0">
                <a:latin typeface="Times New Roman"/>
                <a:cs typeface="Times New Roman"/>
              </a:rPr>
              <a:t>Business</a:t>
            </a:r>
            <a:r>
              <a:rPr sz="3050" spc="-25" dirty="0">
                <a:latin typeface="Times New Roman"/>
                <a:cs typeface="Times New Roman"/>
              </a:rPr>
              <a:t> </a:t>
            </a:r>
            <a:r>
              <a:rPr sz="3050" spc="20" dirty="0">
                <a:latin typeface="Times New Roman"/>
                <a:cs typeface="Times New Roman"/>
              </a:rPr>
              <a:t>Model</a:t>
            </a:r>
            <a:endParaRPr sz="3050">
              <a:latin typeface="Times New Roman"/>
              <a:cs typeface="Times New Roman"/>
            </a:endParaRPr>
          </a:p>
        </p:txBody>
      </p:sp>
      <p:pic>
        <p:nvPicPr>
          <p:cNvPr id="5" name="object 5"/>
          <p:cNvPicPr/>
          <p:nvPr/>
        </p:nvPicPr>
        <p:blipFill>
          <a:blip r:embed="rId2" cstate="print"/>
          <a:stretch>
            <a:fillRect/>
          </a:stretch>
        </p:blipFill>
        <p:spPr>
          <a:xfrm>
            <a:off x="251459" y="2712720"/>
            <a:ext cx="9666731" cy="15925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dirty="0"/>
              <a:t>Core</a:t>
            </a:r>
            <a:r>
              <a:rPr spc="-85" dirty="0"/>
              <a:t> </a:t>
            </a:r>
            <a:r>
              <a:rPr spc="5" dirty="0"/>
              <a:t>Strategy</a:t>
            </a:r>
          </a:p>
          <a:p>
            <a:pPr algn="ctr">
              <a:lnSpc>
                <a:spcPct val="100000"/>
              </a:lnSpc>
              <a:spcBef>
                <a:spcPts val="55"/>
              </a:spcBef>
            </a:pPr>
            <a:r>
              <a:rPr sz="2200" spc="-5" dirty="0"/>
              <a:t>1</a:t>
            </a:r>
            <a:r>
              <a:rPr sz="2200" spc="-35" dirty="0"/>
              <a:t> </a:t>
            </a:r>
            <a:r>
              <a:rPr sz="2200" spc="-5" dirty="0"/>
              <a:t>of</a:t>
            </a:r>
            <a:r>
              <a:rPr sz="2200" spc="-15" dirty="0"/>
              <a:t> </a:t>
            </a:r>
            <a:r>
              <a:rPr sz="2200" spc="-5" dirty="0"/>
              <a:t>3</a:t>
            </a:r>
            <a:endParaRPr sz="2200"/>
          </a:p>
        </p:txBody>
      </p:sp>
      <p:sp>
        <p:nvSpPr>
          <p:cNvPr id="3" name="object 3"/>
          <p:cNvSpPr txBox="1"/>
          <p:nvPr/>
        </p:nvSpPr>
        <p:spPr>
          <a:xfrm>
            <a:off x="590865" y="1803066"/>
            <a:ext cx="8554085" cy="3891279"/>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20" dirty="0">
                <a:latin typeface="Times New Roman"/>
                <a:cs typeface="Times New Roman"/>
              </a:rPr>
              <a:t>Core</a:t>
            </a:r>
            <a:r>
              <a:rPr sz="3050" spc="-40" dirty="0">
                <a:latin typeface="Times New Roman"/>
                <a:cs typeface="Times New Roman"/>
              </a:rPr>
              <a:t> </a:t>
            </a:r>
            <a:r>
              <a:rPr sz="3050" spc="10" dirty="0">
                <a:latin typeface="Times New Roman"/>
                <a:cs typeface="Times New Roman"/>
              </a:rPr>
              <a:t>Strategy</a:t>
            </a:r>
            <a:endParaRPr sz="3050" dirty="0">
              <a:latin typeface="Times New Roman"/>
              <a:cs typeface="Times New Roman"/>
            </a:endParaRPr>
          </a:p>
          <a:p>
            <a:pPr marL="829310" marR="5080" lvl="1" indent="-314325">
              <a:lnSpc>
                <a:spcPts val="3170"/>
              </a:lnSpc>
              <a:spcBef>
                <a:spcPts val="750"/>
              </a:spcBef>
              <a:buChar char="–"/>
              <a:tabLst>
                <a:tab pos="830580" algn="l"/>
                <a:tab pos="831215" algn="l"/>
              </a:tabLst>
            </a:pPr>
            <a:r>
              <a:rPr sz="2650" spc="-10" dirty="0">
                <a:latin typeface="Times New Roman"/>
                <a:cs typeface="Times New Roman"/>
              </a:rPr>
              <a:t>The first </a:t>
            </a:r>
            <a:r>
              <a:rPr sz="2650" spc="-5" dirty="0">
                <a:latin typeface="Times New Roman"/>
                <a:cs typeface="Times New Roman"/>
              </a:rPr>
              <a:t>component of a business </a:t>
            </a:r>
            <a:r>
              <a:rPr sz="2650" spc="-10" dirty="0">
                <a:latin typeface="Times New Roman"/>
                <a:cs typeface="Times New Roman"/>
              </a:rPr>
              <a:t>model </a:t>
            </a:r>
            <a:r>
              <a:rPr sz="2650" spc="-20" dirty="0">
                <a:latin typeface="Times New Roman"/>
                <a:cs typeface="Times New Roman"/>
              </a:rPr>
              <a:t>is </a:t>
            </a:r>
            <a:r>
              <a:rPr sz="2650" spc="-5" dirty="0">
                <a:latin typeface="Times New Roman"/>
                <a:cs typeface="Times New Roman"/>
              </a:rPr>
              <a:t>the core </a:t>
            </a:r>
            <a:r>
              <a:rPr sz="2650" dirty="0">
                <a:latin typeface="Times New Roman"/>
                <a:cs typeface="Times New Roman"/>
              </a:rPr>
              <a:t> </a:t>
            </a:r>
            <a:r>
              <a:rPr sz="2650" spc="-5" dirty="0">
                <a:latin typeface="Times New Roman"/>
                <a:cs typeface="Times New Roman"/>
              </a:rPr>
              <a:t>strategy, which describes </a:t>
            </a:r>
            <a:r>
              <a:rPr sz="2650" spc="-10" dirty="0">
                <a:latin typeface="Times New Roman"/>
                <a:cs typeface="Times New Roman"/>
              </a:rPr>
              <a:t>how </a:t>
            </a:r>
            <a:r>
              <a:rPr sz="2650" spc="-5" dirty="0">
                <a:latin typeface="Times New Roman"/>
                <a:cs typeface="Times New Roman"/>
              </a:rPr>
              <a:t>a </a:t>
            </a:r>
            <a:r>
              <a:rPr sz="2650" spc="-10" dirty="0">
                <a:latin typeface="Times New Roman"/>
                <a:cs typeface="Times New Roman"/>
              </a:rPr>
              <a:t>firm competes relative </a:t>
            </a:r>
            <a:r>
              <a:rPr sz="2650" spc="-5" dirty="0">
                <a:latin typeface="Times New Roman"/>
                <a:cs typeface="Times New Roman"/>
              </a:rPr>
              <a:t>to </a:t>
            </a:r>
            <a:r>
              <a:rPr sz="2650" spc="-650" dirty="0">
                <a:latin typeface="Times New Roman"/>
                <a:cs typeface="Times New Roman"/>
              </a:rPr>
              <a:t> </a:t>
            </a:r>
            <a:r>
              <a:rPr sz="2650" spc="-10" dirty="0">
                <a:latin typeface="Times New Roman"/>
                <a:cs typeface="Times New Roman"/>
              </a:rPr>
              <a:t>its competitors.</a:t>
            </a:r>
            <a:endParaRPr sz="2650" dirty="0">
              <a:latin typeface="Times New Roman"/>
              <a:cs typeface="Times New Roman"/>
            </a:endParaRPr>
          </a:p>
          <a:p>
            <a:pPr marL="388620" indent="-376555">
              <a:lnSpc>
                <a:spcPct val="100000"/>
              </a:lnSpc>
              <a:spcBef>
                <a:spcPts val="645"/>
              </a:spcBef>
              <a:buChar char="•"/>
              <a:tabLst>
                <a:tab pos="388620" algn="l"/>
                <a:tab pos="389255" algn="l"/>
              </a:tabLst>
            </a:pPr>
            <a:r>
              <a:rPr sz="2800" spc="15" dirty="0">
                <a:latin typeface="Times New Roman"/>
                <a:cs typeface="Times New Roman"/>
              </a:rPr>
              <a:t>Primary</a:t>
            </a:r>
            <a:r>
              <a:rPr sz="2800" spc="-30" dirty="0">
                <a:latin typeface="Times New Roman"/>
                <a:cs typeface="Times New Roman"/>
              </a:rPr>
              <a:t> </a:t>
            </a:r>
            <a:r>
              <a:rPr sz="2800" spc="10" dirty="0">
                <a:latin typeface="Times New Roman"/>
                <a:cs typeface="Times New Roman"/>
              </a:rPr>
              <a:t>Elements</a:t>
            </a:r>
            <a:r>
              <a:rPr sz="2800" spc="-25" dirty="0">
                <a:latin typeface="Times New Roman"/>
                <a:cs typeface="Times New Roman"/>
              </a:rPr>
              <a:t> </a:t>
            </a:r>
            <a:r>
              <a:rPr sz="2800" spc="25" dirty="0">
                <a:latin typeface="Times New Roman"/>
                <a:cs typeface="Times New Roman"/>
              </a:rPr>
              <a:t>of</a:t>
            </a:r>
            <a:r>
              <a:rPr sz="2800" spc="-40" dirty="0">
                <a:latin typeface="Times New Roman"/>
                <a:cs typeface="Times New Roman"/>
              </a:rPr>
              <a:t> </a:t>
            </a:r>
            <a:r>
              <a:rPr sz="2800" spc="20" dirty="0">
                <a:latin typeface="Times New Roman"/>
                <a:cs typeface="Times New Roman"/>
              </a:rPr>
              <a:t>Core</a:t>
            </a:r>
            <a:r>
              <a:rPr sz="2800" spc="-10" dirty="0">
                <a:latin typeface="Times New Roman"/>
                <a:cs typeface="Times New Roman"/>
              </a:rPr>
              <a:t> </a:t>
            </a:r>
            <a:r>
              <a:rPr sz="2800" spc="10" dirty="0">
                <a:latin typeface="Times New Roman"/>
                <a:cs typeface="Times New Roman"/>
              </a:rPr>
              <a:t>Strategy</a:t>
            </a:r>
            <a:endParaRPr sz="2800" dirty="0">
              <a:latin typeface="Times New Roman"/>
              <a:cs typeface="Times New Roman"/>
            </a:endParaRPr>
          </a:p>
          <a:p>
            <a:pPr marL="830580" lvl="1" indent="-316230">
              <a:lnSpc>
                <a:spcPct val="100000"/>
              </a:lnSpc>
              <a:spcBef>
                <a:spcPts val="655"/>
              </a:spcBef>
              <a:buChar char="–"/>
              <a:tabLst>
                <a:tab pos="830580" algn="l"/>
                <a:tab pos="831215" algn="l"/>
              </a:tabLst>
            </a:pPr>
            <a:r>
              <a:rPr sz="2650" spc="-10" dirty="0">
                <a:latin typeface="Times New Roman"/>
                <a:cs typeface="Times New Roman"/>
              </a:rPr>
              <a:t>Mission</a:t>
            </a:r>
            <a:r>
              <a:rPr sz="2650" spc="-40" dirty="0">
                <a:latin typeface="Times New Roman"/>
                <a:cs typeface="Times New Roman"/>
              </a:rPr>
              <a:t> </a:t>
            </a:r>
            <a:r>
              <a:rPr sz="2650" spc="-5" dirty="0">
                <a:latin typeface="Times New Roman"/>
                <a:cs typeface="Times New Roman"/>
              </a:rPr>
              <a:t>statement.</a:t>
            </a:r>
            <a:endParaRPr sz="2650" dirty="0">
              <a:latin typeface="Times New Roman"/>
              <a:cs typeface="Times New Roman"/>
            </a:endParaRPr>
          </a:p>
          <a:p>
            <a:pPr marL="830580" lvl="1" indent="-316230">
              <a:lnSpc>
                <a:spcPct val="100000"/>
              </a:lnSpc>
              <a:spcBef>
                <a:spcPts val="610"/>
              </a:spcBef>
              <a:buChar char="–"/>
              <a:tabLst>
                <a:tab pos="830580" algn="l"/>
                <a:tab pos="831215" algn="l"/>
              </a:tabLst>
            </a:pPr>
            <a:r>
              <a:rPr sz="2650" spc="-10" dirty="0">
                <a:latin typeface="Times New Roman"/>
                <a:cs typeface="Times New Roman"/>
              </a:rPr>
              <a:t>Product/market</a:t>
            </a:r>
            <a:r>
              <a:rPr sz="2650" spc="-50" dirty="0">
                <a:latin typeface="Times New Roman"/>
                <a:cs typeface="Times New Roman"/>
              </a:rPr>
              <a:t> </a:t>
            </a:r>
            <a:r>
              <a:rPr sz="2650" spc="-5" dirty="0">
                <a:latin typeface="Times New Roman"/>
                <a:cs typeface="Times New Roman"/>
              </a:rPr>
              <a:t>scope.</a:t>
            </a:r>
            <a:endParaRPr sz="2650" dirty="0">
              <a:latin typeface="Times New Roman"/>
              <a:cs typeface="Times New Roman"/>
            </a:endParaRPr>
          </a:p>
          <a:p>
            <a:pPr marL="830580" lvl="1" indent="-316230">
              <a:lnSpc>
                <a:spcPct val="100000"/>
              </a:lnSpc>
              <a:spcBef>
                <a:spcPts val="625"/>
              </a:spcBef>
              <a:buChar char="–"/>
              <a:tabLst>
                <a:tab pos="830580" algn="l"/>
                <a:tab pos="831215" algn="l"/>
              </a:tabLst>
            </a:pPr>
            <a:r>
              <a:rPr sz="2650" spc="-5" dirty="0">
                <a:latin typeface="Times New Roman"/>
                <a:cs typeface="Times New Roman"/>
              </a:rPr>
              <a:t>Basis</a:t>
            </a:r>
            <a:r>
              <a:rPr sz="2650" spc="-40" dirty="0">
                <a:latin typeface="Times New Roman"/>
                <a:cs typeface="Times New Roman"/>
              </a:rPr>
              <a:t> </a:t>
            </a:r>
            <a:r>
              <a:rPr sz="2650" dirty="0">
                <a:latin typeface="Times New Roman"/>
                <a:cs typeface="Times New Roman"/>
              </a:rPr>
              <a:t>for</a:t>
            </a:r>
            <a:r>
              <a:rPr sz="2650" spc="-20" dirty="0">
                <a:latin typeface="Times New Roman"/>
                <a:cs typeface="Times New Roman"/>
              </a:rPr>
              <a:t> </a:t>
            </a:r>
            <a:r>
              <a:rPr sz="2650" spc="-10" dirty="0">
                <a:latin typeface="Times New Roman"/>
                <a:cs typeface="Times New Roman"/>
              </a:rPr>
              <a:t>differentiation.</a:t>
            </a:r>
            <a:endParaRPr sz="265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5124" y="412376"/>
            <a:ext cx="2806700" cy="629285"/>
          </a:xfrm>
          <a:prstGeom prst="rect">
            <a:avLst/>
          </a:prstGeom>
        </p:spPr>
        <p:txBody>
          <a:bodyPr vert="horz" wrap="square" lIns="0" tIns="13970" rIns="0" bIns="0" rtlCol="0">
            <a:spAutoFit/>
          </a:bodyPr>
          <a:lstStyle/>
          <a:p>
            <a:pPr marL="12700">
              <a:lnSpc>
                <a:spcPct val="100000"/>
              </a:lnSpc>
              <a:spcBef>
                <a:spcPts val="110"/>
              </a:spcBef>
            </a:pPr>
            <a:r>
              <a:rPr dirty="0"/>
              <a:t>Core</a:t>
            </a:r>
            <a:r>
              <a:rPr spc="-90" dirty="0"/>
              <a:t> </a:t>
            </a:r>
            <a:r>
              <a:rPr spc="5" dirty="0"/>
              <a:t>Strategy</a:t>
            </a:r>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2453116" y="1023607"/>
            <a:ext cx="4733290" cy="1052830"/>
          </a:xfrm>
          <a:prstGeom prst="rect">
            <a:avLst/>
          </a:prstGeom>
        </p:spPr>
        <p:txBody>
          <a:bodyPr vert="horz" wrap="square" lIns="0" tIns="12065" rIns="0" bIns="0" rtlCol="0">
            <a:spAutoFit/>
          </a:bodyPr>
          <a:lstStyle/>
          <a:p>
            <a:pPr marL="416559" algn="ctr">
              <a:lnSpc>
                <a:spcPct val="100000"/>
              </a:lnSpc>
              <a:spcBef>
                <a:spcPts val="95"/>
              </a:spcBef>
            </a:pPr>
            <a:r>
              <a:rPr sz="2200" spc="-5" dirty="0">
                <a:latin typeface="Times New Roman"/>
                <a:cs typeface="Times New Roman"/>
              </a:rPr>
              <a:t>2</a:t>
            </a:r>
            <a:r>
              <a:rPr sz="2200" spc="-35" dirty="0">
                <a:latin typeface="Times New Roman"/>
                <a:cs typeface="Times New Roman"/>
              </a:rPr>
              <a:t> </a:t>
            </a:r>
            <a:r>
              <a:rPr sz="2200" spc="-5" dirty="0">
                <a:latin typeface="Times New Roman"/>
                <a:cs typeface="Times New Roman"/>
              </a:rPr>
              <a:t>of</a:t>
            </a:r>
            <a:r>
              <a:rPr sz="2200" spc="-15" dirty="0">
                <a:latin typeface="Times New Roman"/>
                <a:cs typeface="Times New Roman"/>
              </a:rPr>
              <a:t> </a:t>
            </a:r>
            <a:r>
              <a:rPr sz="2200" spc="-5" dirty="0">
                <a:latin typeface="Times New Roman"/>
                <a:cs typeface="Times New Roman"/>
              </a:rPr>
              <a:t>3</a:t>
            </a:r>
            <a:endParaRPr sz="2200">
              <a:latin typeface="Times New Roman"/>
              <a:cs typeface="Times New Roman"/>
            </a:endParaRPr>
          </a:p>
          <a:p>
            <a:pPr>
              <a:lnSpc>
                <a:spcPct val="100000"/>
              </a:lnSpc>
              <a:spcBef>
                <a:spcPts val="30"/>
              </a:spcBef>
            </a:pPr>
            <a:endParaRPr sz="1950">
              <a:latin typeface="Times New Roman"/>
              <a:cs typeface="Times New Roman"/>
            </a:endParaRPr>
          </a:p>
          <a:p>
            <a:pPr marL="12700">
              <a:lnSpc>
                <a:spcPct val="100000"/>
              </a:lnSpc>
            </a:pPr>
            <a:r>
              <a:rPr sz="2650" spc="-10" dirty="0">
                <a:latin typeface="Times New Roman"/>
                <a:cs typeface="Times New Roman"/>
              </a:rPr>
              <a:t>Primary Elements</a:t>
            </a:r>
            <a:r>
              <a:rPr sz="2650" spc="-35" dirty="0">
                <a:latin typeface="Times New Roman"/>
                <a:cs typeface="Times New Roman"/>
              </a:rPr>
              <a:t> </a:t>
            </a:r>
            <a:r>
              <a:rPr sz="2650" spc="-5" dirty="0">
                <a:latin typeface="Times New Roman"/>
                <a:cs typeface="Times New Roman"/>
              </a:rPr>
              <a:t>of</a:t>
            </a:r>
            <a:r>
              <a:rPr sz="2650" spc="-20" dirty="0">
                <a:latin typeface="Times New Roman"/>
                <a:cs typeface="Times New Roman"/>
              </a:rPr>
              <a:t> </a:t>
            </a:r>
            <a:r>
              <a:rPr sz="2650" spc="-10" dirty="0">
                <a:latin typeface="Times New Roman"/>
                <a:cs typeface="Times New Roman"/>
              </a:rPr>
              <a:t>Core</a:t>
            </a:r>
            <a:r>
              <a:rPr sz="2650" spc="10" dirty="0">
                <a:latin typeface="Times New Roman"/>
                <a:cs typeface="Times New Roman"/>
              </a:rPr>
              <a:t> </a:t>
            </a:r>
            <a:r>
              <a:rPr sz="2650" spc="-10" dirty="0">
                <a:latin typeface="Times New Roman"/>
                <a:cs typeface="Times New Roman"/>
              </a:rPr>
              <a:t>Strategy</a:t>
            </a:r>
            <a:endParaRPr sz="265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170463651"/>
              </p:ext>
            </p:extLst>
          </p:nvPr>
        </p:nvGraphicFramePr>
        <p:xfrm>
          <a:off x="832866" y="2288286"/>
          <a:ext cx="8130540" cy="4610099"/>
        </p:xfrm>
        <a:graphic>
          <a:graphicData uri="http://schemas.openxmlformats.org/drawingml/2006/table">
            <a:tbl>
              <a:tblPr firstRow="1" bandRow="1">
                <a:tableStyleId>{2D5ABB26-0587-4C30-8999-92F81FD0307C}</a:tableStyleId>
              </a:tblPr>
              <a:tblGrid>
                <a:gridCol w="226314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2179320">
                <a:tc>
                  <a:txBody>
                    <a:bodyPr/>
                    <a:lstStyle/>
                    <a:p>
                      <a:pPr>
                        <a:lnSpc>
                          <a:spcPct val="100000"/>
                        </a:lnSpc>
                      </a:pPr>
                      <a:endParaRPr sz="2400" dirty="0">
                        <a:latin typeface="Times New Roman"/>
                        <a:cs typeface="Times New Roman"/>
                      </a:endParaRPr>
                    </a:p>
                    <a:p>
                      <a:pPr>
                        <a:lnSpc>
                          <a:spcPct val="100000"/>
                        </a:lnSpc>
                        <a:spcBef>
                          <a:spcPts val="20"/>
                        </a:spcBef>
                      </a:pPr>
                      <a:endParaRPr sz="2450" dirty="0">
                        <a:latin typeface="Times New Roman"/>
                        <a:cs typeface="Times New Roman"/>
                      </a:endParaRPr>
                    </a:p>
                    <a:p>
                      <a:pPr marL="531495" marR="608330" indent="106045">
                        <a:lnSpc>
                          <a:spcPct val="100000"/>
                        </a:lnSpc>
                      </a:pPr>
                      <a:r>
                        <a:rPr sz="2200" spc="-5" dirty="0">
                          <a:latin typeface="Times New Roman"/>
                          <a:cs typeface="Times New Roman"/>
                        </a:rPr>
                        <a:t>Mission </a:t>
                      </a:r>
                      <a:r>
                        <a:rPr sz="2200" dirty="0">
                          <a:latin typeface="Times New Roman"/>
                          <a:cs typeface="Times New Roman"/>
                        </a:rPr>
                        <a:t> </a:t>
                      </a:r>
                      <a:r>
                        <a:rPr sz="2200" spc="5" dirty="0">
                          <a:latin typeface="Times New Roman"/>
                          <a:cs typeface="Times New Roman"/>
                        </a:rPr>
                        <a:t>S</a:t>
                      </a:r>
                      <a:r>
                        <a:rPr sz="2200" dirty="0">
                          <a:latin typeface="Times New Roman"/>
                          <a:cs typeface="Times New Roman"/>
                        </a:rPr>
                        <a:t>t</a:t>
                      </a:r>
                      <a:r>
                        <a:rPr sz="2200" spc="-10" dirty="0">
                          <a:latin typeface="Times New Roman"/>
                          <a:cs typeface="Times New Roman"/>
                        </a:rPr>
                        <a:t>a</a:t>
                      </a:r>
                      <a:r>
                        <a:rPr sz="2200" dirty="0">
                          <a:latin typeface="Times New Roman"/>
                          <a:cs typeface="Times New Roman"/>
                        </a:rPr>
                        <a:t>t</a:t>
                      </a:r>
                      <a:r>
                        <a:rPr sz="2200" spc="-10" dirty="0">
                          <a:latin typeface="Times New Roman"/>
                          <a:cs typeface="Times New Roman"/>
                        </a:rPr>
                        <a:t>e</a:t>
                      </a:r>
                      <a:r>
                        <a:rPr sz="2200" spc="-20" dirty="0">
                          <a:latin typeface="Times New Roman"/>
                          <a:cs typeface="Times New Roman"/>
                        </a:rPr>
                        <a:t>m</a:t>
                      </a:r>
                      <a:r>
                        <a:rPr sz="2200" spc="-10" dirty="0">
                          <a:latin typeface="Times New Roman"/>
                          <a:cs typeface="Times New Roman"/>
                        </a:rPr>
                        <a:t>e</a:t>
                      </a:r>
                      <a:r>
                        <a:rPr sz="2200" spc="20" dirty="0">
                          <a:latin typeface="Times New Roman"/>
                          <a:cs typeface="Times New Roman"/>
                        </a:rPr>
                        <a:t>n</a:t>
                      </a:r>
                      <a:r>
                        <a:rPr sz="2200" dirty="0">
                          <a:latin typeface="Times New Roman"/>
                          <a:cs typeface="Times New Roman"/>
                        </a:rPr>
                        <a:t>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nSpc>
                          <a:spcPct val="100000"/>
                        </a:lnSpc>
                      </a:pPr>
                      <a:endParaRPr sz="2400" dirty="0">
                        <a:latin typeface="Times New Roman"/>
                        <a:cs typeface="Times New Roman"/>
                      </a:endParaRPr>
                    </a:p>
                    <a:p>
                      <a:pPr marL="415925" marR="493395" indent="-635" algn="ctr">
                        <a:lnSpc>
                          <a:spcPct val="100000"/>
                        </a:lnSpc>
                        <a:spcBef>
                          <a:spcPts val="1520"/>
                        </a:spcBef>
                      </a:pPr>
                      <a:r>
                        <a:rPr sz="2200" spc="-5" dirty="0">
                          <a:latin typeface="Times New Roman"/>
                          <a:cs typeface="Times New Roman"/>
                        </a:rPr>
                        <a:t>A </a:t>
                      </a:r>
                      <a:r>
                        <a:rPr sz="2200" spc="-25" dirty="0">
                          <a:latin typeface="Times New Roman"/>
                          <a:cs typeface="Times New Roman"/>
                        </a:rPr>
                        <a:t>firm’s </a:t>
                      </a:r>
                      <a:r>
                        <a:rPr sz="2200" spc="-5" dirty="0">
                          <a:latin typeface="Times New Roman"/>
                          <a:cs typeface="Times New Roman"/>
                        </a:rPr>
                        <a:t>mission, or mission </a:t>
                      </a:r>
                      <a:r>
                        <a:rPr sz="2200" spc="-10" dirty="0">
                          <a:latin typeface="Times New Roman"/>
                          <a:cs typeface="Times New Roman"/>
                        </a:rPr>
                        <a:t>statement, </a:t>
                      </a:r>
                      <a:r>
                        <a:rPr sz="2200" spc="-5" dirty="0">
                          <a:latin typeface="Times New Roman"/>
                          <a:cs typeface="Times New Roman"/>
                        </a:rPr>
                        <a:t> describes why it exists </a:t>
                      </a:r>
                      <a:r>
                        <a:rPr sz="2200" dirty="0">
                          <a:latin typeface="Times New Roman"/>
                          <a:cs typeface="Times New Roman"/>
                        </a:rPr>
                        <a:t>and </a:t>
                      </a:r>
                      <a:r>
                        <a:rPr sz="2200" spc="-5" dirty="0">
                          <a:latin typeface="Times New Roman"/>
                          <a:cs typeface="Times New Roman"/>
                        </a:rPr>
                        <a:t>what its business</a:t>
                      </a:r>
                      <a:r>
                        <a:rPr lang="en-US" sz="2200" spc="-5" dirty="0">
                          <a:latin typeface="Times New Roman"/>
                          <a:cs typeface="Times New Roman"/>
                        </a:rPr>
                        <a:t> </a:t>
                      </a:r>
                      <a:r>
                        <a:rPr sz="2200" spc="-5" dirty="0">
                          <a:latin typeface="Times New Roman"/>
                          <a:cs typeface="Times New Roman"/>
                        </a:rPr>
                        <a:t>model is</a:t>
                      </a:r>
                      <a:r>
                        <a:rPr sz="2200" spc="-25" dirty="0">
                          <a:latin typeface="Times New Roman"/>
                          <a:cs typeface="Times New Roman"/>
                        </a:rPr>
                        <a:t> </a:t>
                      </a:r>
                      <a:r>
                        <a:rPr sz="2200" dirty="0">
                          <a:latin typeface="Times New Roman"/>
                          <a:cs typeface="Times New Roman"/>
                        </a:rPr>
                        <a:t>suppose</a:t>
                      </a:r>
                      <a:r>
                        <a:rPr lang="en-US" sz="2200" dirty="0">
                          <a:latin typeface="Times New Roman"/>
                          <a:cs typeface="Times New Roman"/>
                        </a:rPr>
                        <a:t>d</a:t>
                      </a:r>
                      <a:r>
                        <a:rPr sz="2200" spc="-15" dirty="0">
                          <a:latin typeface="Times New Roman"/>
                          <a:cs typeface="Times New Roman"/>
                        </a:rPr>
                        <a:t> </a:t>
                      </a:r>
                      <a:r>
                        <a:rPr sz="2200" spc="-5" dirty="0">
                          <a:latin typeface="Times New Roman"/>
                          <a:cs typeface="Times New Roman"/>
                        </a:rPr>
                        <a:t>to</a:t>
                      </a:r>
                      <a:r>
                        <a:rPr sz="2200" spc="-25" dirty="0">
                          <a:latin typeface="Times New Roman"/>
                          <a:cs typeface="Times New Roman"/>
                        </a:rPr>
                        <a:t> </a:t>
                      </a:r>
                      <a:r>
                        <a:rPr sz="2200" spc="-5" dirty="0">
                          <a:latin typeface="Times New Roman"/>
                          <a:cs typeface="Times New Roman"/>
                        </a:rPr>
                        <a:t>accomplish.</a:t>
                      </a:r>
                      <a:endParaRPr sz="22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extLst>
                  <a:ext uri="{0D108BD9-81ED-4DB2-BD59-A6C34878D82A}">
                    <a16:rowId xmlns:a16="http://schemas.microsoft.com/office/drawing/2014/main" val="10000"/>
                  </a:ext>
                </a:extLst>
              </a:tr>
              <a:tr h="2430779">
                <a:tc>
                  <a:txBody>
                    <a:bodyPr/>
                    <a:lstStyle/>
                    <a:p>
                      <a:pPr>
                        <a:lnSpc>
                          <a:spcPct val="100000"/>
                        </a:lnSpc>
                      </a:pPr>
                      <a:endParaRPr sz="2400" dirty="0">
                        <a:latin typeface="Times New Roman"/>
                        <a:cs typeface="Times New Roman"/>
                      </a:endParaRPr>
                    </a:p>
                    <a:p>
                      <a:pPr>
                        <a:lnSpc>
                          <a:spcPct val="100000"/>
                        </a:lnSpc>
                        <a:spcBef>
                          <a:spcPts val="50"/>
                        </a:spcBef>
                      </a:pPr>
                      <a:endParaRPr sz="1850" dirty="0">
                        <a:latin typeface="Times New Roman"/>
                        <a:cs typeface="Times New Roman"/>
                      </a:endParaRPr>
                    </a:p>
                    <a:p>
                      <a:pPr marL="829944" marR="205740" indent="-535305">
                        <a:lnSpc>
                          <a:spcPct val="100000"/>
                        </a:lnSpc>
                      </a:pPr>
                      <a:r>
                        <a:rPr sz="2200" spc="5" dirty="0">
                          <a:latin typeface="Times New Roman"/>
                          <a:cs typeface="Times New Roman"/>
                        </a:rPr>
                        <a:t>P</a:t>
                      </a:r>
                      <a:r>
                        <a:rPr sz="2200" spc="-10" dirty="0">
                          <a:latin typeface="Times New Roman"/>
                          <a:cs typeface="Times New Roman"/>
                        </a:rPr>
                        <a:t>r</a:t>
                      </a:r>
                      <a:r>
                        <a:rPr sz="2200" dirty="0">
                          <a:latin typeface="Times New Roman"/>
                          <a:cs typeface="Times New Roman"/>
                        </a:rPr>
                        <a:t>o</a:t>
                      </a:r>
                      <a:r>
                        <a:rPr sz="2200" spc="20" dirty="0">
                          <a:latin typeface="Times New Roman"/>
                          <a:cs typeface="Times New Roman"/>
                        </a:rPr>
                        <a:t>d</a:t>
                      </a:r>
                      <a:r>
                        <a:rPr sz="2200" dirty="0">
                          <a:latin typeface="Times New Roman"/>
                          <a:cs typeface="Times New Roman"/>
                        </a:rPr>
                        <a:t>u</a:t>
                      </a:r>
                      <a:r>
                        <a:rPr sz="2200" spc="-10" dirty="0">
                          <a:latin typeface="Times New Roman"/>
                          <a:cs typeface="Times New Roman"/>
                        </a:rPr>
                        <a:t>c</a:t>
                      </a:r>
                      <a:r>
                        <a:rPr sz="2200" dirty="0">
                          <a:latin typeface="Times New Roman"/>
                          <a:cs typeface="Times New Roman"/>
                        </a:rPr>
                        <a:t>t/M</a:t>
                      </a:r>
                      <a:r>
                        <a:rPr sz="2200" spc="-10" dirty="0">
                          <a:latin typeface="Times New Roman"/>
                          <a:cs typeface="Times New Roman"/>
                        </a:rPr>
                        <a:t>a</a:t>
                      </a:r>
                      <a:r>
                        <a:rPr sz="2200" spc="15" dirty="0">
                          <a:latin typeface="Times New Roman"/>
                          <a:cs typeface="Times New Roman"/>
                        </a:rPr>
                        <a:t>r</a:t>
                      </a:r>
                      <a:r>
                        <a:rPr sz="2200" dirty="0">
                          <a:latin typeface="Times New Roman"/>
                          <a:cs typeface="Times New Roman"/>
                        </a:rPr>
                        <a:t>k</a:t>
                      </a:r>
                      <a:r>
                        <a:rPr sz="2200" spc="-10" dirty="0">
                          <a:latin typeface="Times New Roman"/>
                          <a:cs typeface="Times New Roman"/>
                        </a:rPr>
                        <a:t>e</a:t>
                      </a:r>
                      <a:r>
                        <a:rPr sz="2200" dirty="0">
                          <a:latin typeface="Times New Roman"/>
                          <a:cs typeface="Times New Roman"/>
                        </a:rPr>
                        <a:t>t  Scope</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nSpc>
                          <a:spcPct val="100000"/>
                        </a:lnSpc>
                      </a:pPr>
                      <a:endParaRPr sz="2400" dirty="0">
                        <a:latin typeface="Times New Roman"/>
                        <a:cs typeface="Times New Roman"/>
                      </a:endParaRPr>
                    </a:p>
                    <a:p>
                      <a:pPr marL="275590" marR="353060" algn="ctr">
                        <a:lnSpc>
                          <a:spcPct val="100000"/>
                        </a:lnSpc>
                        <a:spcBef>
                          <a:spcPts val="1520"/>
                        </a:spcBef>
                      </a:pPr>
                      <a:r>
                        <a:rPr sz="2200" spc="-5" dirty="0">
                          <a:latin typeface="Times New Roman"/>
                          <a:cs typeface="Times New Roman"/>
                        </a:rPr>
                        <a:t>A</a:t>
                      </a:r>
                      <a:r>
                        <a:rPr sz="2200" spc="-130" dirty="0">
                          <a:latin typeface="Times New Roman"/>
                          <a:cs typeface="Times New Roman"/>
                        </a:rPr>
                        <a:t> </a:t>
                      </a:r>
                      <a:r>
                        <a:rPr sz="2200" spc="-15" dirty="0">
                          <a:latin typeface="Times New Roman"/>
                          <a:cs typeface="Times New Roman"/>
                        </a:rPr>
                        <a:t>company’s</a:t>
                      </a:r>
                      <a:r>
                        <a:rPr sz="2200" spc="-30" dirty="0">
                          <a:latin typeface="Times New Roman"/>
                          <a:cs typeface="Times New Roman"/>
                        </a:rPr>
                        <a:t> </a:t>
                      </a:r>
                      <a:r>
                        <a:rPr sz="2200" spc="-5" dirty="0">
                          <a:latin typeface="Times New Roman"/>
                          <a:cs typeface="Times New Roman"/>
                        </a:rPr>
                        <a:t>product/market</a:t>
                      </a:r>
                      <a:r>
                        <a:rPr sz="2200" spc="-25" dirty="0">
                          <a:latin typeface="Times New Roman"/>
                          <a:cs typeface="Times New Roman"/>
                        </a:rPr>
                        <a:t> </a:t>
                      </a:r>
                      <a:r>
                        <a:rPr sz="2200" dirty="0">
                          <a:latin typeface="Times New Roman"/>
                          <a:cs typeface="Times New Roman"/>
                        </a:rPr>
                        <a:t>scope</a:t>
                      </a:r>
                      <a:r>
                        <a:rPr sz="2200" spc="-20" dirty="0">
                          <a:latin typeface="Times New Roman"/>
                          <a:cs typeface="Times New Roman"/>
                        </a:rPr>
                        <a:t> </a:t>
                      </a:r>
                      <a:r>
                        <a:rPr sz="2200" spc="-5" dirty="0">
                          <a:latin typeface="Times New Roman"/>
                          <a:cs typeface="Times New Roman"/>
                        </a:rPr>
                        <a:t>defines the </a:t>
                      </a:r>
                      <a:r>
                        <a:rPr sz="2200" spc="-535" dirty="0">
                          <a:latin typeface="Times New Roman"/>
                          <a:cs typeface="Times New Roman"/>
                        </a:rPr>
                        <a:t> </a:t>
                      </a:r>
                      <a:r>
                        <a:rPr sz="2200" dirty="0">
                          <a:latin typeface="Times New Roman"/>
                          <a:cs typeface="Times New Roman"/>
                        </a:rPr>
                        <a:t>products and </a:t>
                      </a:r>
                      <a:r>
                        <a:rPr sz="2200" spc="-10" dirty="0">
                          <a:latin typeface="Times New Roman"/>
                          <a:cs typeface="Times New Roman"/>
                        </a:rPr>
                        <a:t>markets </a:t>
                      </a:r>
                      <a:r>
                        <a:rPr sz="2200" spc="5" dirty="0">
                          <a:latin typeface="Times New Roman"/>
                          <a:cs typeface="Times New Roman"/>
                        </a:rPr>
                        <a:t>on </a:t>
                      </a:r>
                      <a:r>
                        <a:rPr sz="2200" spc="-5" dirty="0">
                          <a:latin typeface="Times New Roman"/>
                          <a:cs typeface="Times New Roman"/>
                        </a:rPr>
                        <a:t>which it will </a:t>
                      </a:r>
                      <a:r>
                        <a:rPr sz="2200" dirty="0">
                          <a:latin typeface="Times New Roman"/>
                          <a:cs typeface="Times New Roman"/>
                        </a:rPr>
                        <a:t> </a:t>
                      </a:r>
                      <a:r>
                        <a:rPr sz="2200" spc="-5" dirty="0">
                          <a:latin typeface="Times New Roman"/>
                          <a:cs typeface="Times New Roman"/>
                        </a:rPr>
                        <a:t>concentrate.</a:t>
                      </a:r>
                      <a:endParaRPr sz="22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dirty="0"/>
              <a:t>Core</a:t>
            </a:r>
            <a:r>
              <a:rPr spc="-85" dirty="0"/>
              <a:t> </a:t>
            </a:r>
            <a:r>
              <a:rPr spc="5" dirty="0"/>
              <a:t>Strategy</a:t>
            </a:r>
          </a:p>
          <a:p>
            <a:pPr algn="ctr">
              <a:lnSpc>
                <a:spcPct val="100000"/>
              </a:lnSpc>
              <a:spcBef>
                <a:spcPts val="55"/>
              </a:spcBef>
            </a:pPr>
            <a:r>
              <a:rPr sz="2200" spc="-5" dirty="0"/>
              <a:t>3</a:t>
            </a:r>
            <a:r>
              <a:rPr sz="2200" spc="-35" dirty="0"/>
              <a:t> </a:t>
            </a:r>
            <a:r>
              <a:rPr sz="2200" spc="-5" dirty="0"/>
              <a:t>of</a:t>
            </a:r>
            <a:r>
              <a:rPr sz="2200" spc="-15" dirty="0"/>
              <a:t> </a:t>
            </a:r>
            <a:r>
              <a:rPr sz="2200" spc="-5" dirty="0"/>
              <a:t>3</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grpSp>
        <p:nvGrpSpPr>
          <p:cNvPr id="4" name="object 4"/>
          <p:cNvGrpSpPr/>
          <p:nvPr/>
        </p:nvGrpSpPr>
        <p:grpSpPr>
          <a:xfrm>
            <a:off x="832802" y="2288222"/>
            <a:ext cx="8141334" cy="4620895"/>
            <a:chOff x="832802" y="2288222"/>
            <a:chExt cx="8141334" cy="4620895"/>
          </a:xfrm>
        </p:grpSpPr>
        <p:sp>
          <p:nvSpPr>
            <p:cNvPr id="5" name="object 5"/>
            <p:cNvSpPr/>
            <p:nvPr/>
          </p:nvSpPr>
          <p:spPr>
            <a:xfrm>
              <a:off x="838199" y="2293620"/>
              <a:ext cx="8130540" cy="4610100"/>
            </a:xfrm>
            <a:custGeom>
              <a:avLst/>
              <a:gdLst/>
              <a:ahLst/>
              <a:cxnLst/>
              <a:rect l="l" t="t" r="r" b="b"/>
              <a:pathLst>
                <a:path w="8130540" h="4610100">
                  <a:moveTo>
                    <a:pt x="8130539" y="4610099"/>
                  </a:moveTo>
                  <a:lnTo>
                    <a:pt x="0" y="4610099"/>
                  </a:lnTo>
                  <a:lnTo>
                    <a:pt x="0" y="0"/>
                  </a:lnTo>
                  <a:lnTo>
                    <a:pt x="8130539" y="0"/>
                  </a:lnTo>
                  <a:lnTo>
                    <a:pt x="8130539" y="4610099"/>
                  </a:lnTo>
                  <a:close/>
                </a:path>
              </a:pathLst>
            </a:custGeom>
            <a:solidFill>
              <a:srgbClr val="FFFFCC"/>
            </a:solidFill>
          </p:spPr>
          <p:txBody>
            <a:bodyPr wrap="square" lIns="0" tIns="0" rIns="0" bIns="0" rtlCol="0"/>
            <a:lstStyle/>
            <a:p>
              <a:endParaRPr/>
            </a:p>
          </p:txBody>
        </p:sp>
        <p:sp>
          <p:nvSpPr>
            <p:cNvPr id="6" name="object 6"/>
            <p:cNvSpPr/>
            <p:nvPr/>
          </p:nvSpPr>
          <p:spPr>
            <a:xfrm>
              <a:off x="838199" y="2293620"/>
              <a:ext cx="8130540" cy="4610100"/>
            </a:xfrm>
            <a:custGeom>
              <a:avLst/>
              <a:gdLst/>
              <a:ahLst/>
              <a:cxnLst/>
              <a:rect l="l" t="t" r="r" b="b"/>
              <a:pathLst>
                <a:path w="8130540" h="4610100">
                  <a:moveTo>
                    <a:pt x="0" y="0"/>
                  </a:moveTo>
                  <a:lnTo>
                    <a:pt x="8130539" y="0"/>
                  </a:lnTo>
                  <a:lnTo>
                    <a:pt x="8130539" y="4610099"/>
                  </a:lnTo>
                  <a:lnTo>
                    <a:pt x="0" y="4610099"/>
                  </a:lnTo>
                  <a:lnTo>
                    <a:pt x="0" y="0"/>
                  </a:lnTo>
                  <a:close/>
                </a:path>
              </a:pathLst>
            </a:custGeom>
            <a:ln w="10668">
              <a:solidFill>
                <a:srgbClr val="000000"/>
              </a:solidFill>
            </a:ln>
          </p:spPr>
          <p:txBody>
            <a:bodyPr wrap="square" lIns="0" tIns="0" rIns="0" bIns="0" rtlCol="0"/>
            <a:lstStyle/>
            <a:p>
              <a:endParaRPr/>
            </a:p>
          </p:txBody>
        </p:sp>
      </p:grpSp>
      <p:sp>
        <p:nvSpPr>
          <p:cNvPr id="7" name="object 7"/>
          <p:cNvSpPr txBox="1"/>
          <p:nvPr/>
        </p:nvSpPr>
        <p:spPr>
          <a:xfrm>
            <a:off x="2453116" y="1732296"/>
            <a:ext cx="4733290" cy="427990"/>
          </a:xfrm>
          <a:prstGeom prst="rect">
            <a:avLst/>
          </a:prstGeom>
        </p:spPr>
        <p:txBody>
          <a:bodyPr vert="horz" wrap="square" lIns="0" tIns="11430" rIns="0" bIns="0" rtlCol="0">
            <a:spAutoFit/>
          </a:bodyPr>
          <a:lstStyle/>
          <a:p>
            <a:pPr marL="12700">
              <a:lnSpc>
                <a:spcPct val="100000"/>
              </a:lnSpc>
              <a:spcBef>
                <a:spcPts val="90"/>
              </a:spcBef>
            </a:pPr>
            <a:r>
              <a:rPr sz="2650" spc="-10" dirty="0">
                <a:latin typeface="Times New Roman"/>
                <a:cs typeface="Times New Roman"/>
              </a:rPr>
              <a:t>Primary Elements</a:t>
            </a:r>
            <a:r>
              <a:rPr sz="2650" spc="-35" dirty="0">
                <a:latin typeface="Times New Roman"/>
                <a:cs typeface="Times New Roman"/>
              </a:rPr>
              <a:t> </a:t>
            </a:r>
            <a:r>
              <a:rPr sz="2650" spc="-5" dirty="0">
                <a:latin typeface="Times New Roman"/>
                <a:cs typeface="Times New Roman"/>
              </a:rPr>
              <a:t>of</a:t>
            </a:r>
            <a:r>
              <a:rPr sz="2650" spc="-20" dirty="0">
                <a:latin typeface="Times New Roman"/>
                <a:cs typeface="Times New Roman"/>
              </a:rPr>
              <a:t> </a:t>
            </a:r>
            <a:r>
              <a:rPr sz="2650" spc="-10" dirty="0">
                <a:latin typeface="Times New Roman"/>
                <a:cs typeface="Times New Roman"/>
              </a:rPr>
              <a:t>Core</a:t>
            </a:r>
            <a:r>
              <a:rPr sz="2650" spc="10" dirty="0">
                <a:latin typeface="Times New Roman"/>
                <a:cs typeface="Times New Roman"/>
              </a:rPr>
              <a:t> </a:t>
            </a:r>
            <a:r>
              <a:rPr sz="2650" spc="-10" dirty="0">
                <a:latin typeface="Times New Roman"/>
                <a:cs typeface="Times New Roman"/>
              </a:rPr>
              <a:t>Strategy</a:t>
            </a:r>
            <a:endParaRPr sz="2650">
              <a:latin typeface="Times New Roman"/>
              <a:cs typeface="Times New Roman"/>
            </a:endParaRPr>
          </a:p>
        </p:txBody>
      </p:sp>
      <p:sp>
        <p:nvSpPr>
          <p:cNvPr id="8" name="object 8"/>
          <p:cNvSpPr txBox="1"/>
          <p:nvPr/>
        </p:nvSpPr>
        <p:spPr>
          <a:xfrm>
            <a:off x="1044986" y="3914645"/>
            <a:ext cx="1679575" cy="695960"/>
          </a:xfrm>
          <a:prstGeom prst="rect">
            <a:avLst/>
          </a:prstGeom>
        </p:spPr>
        <p:txBody>
          <a:bodyPr vert="horz" wrap="square" lIns="0" tIns="12065" rIns="0" bIns="0" rtlCol="0">
            <a:spAutoFit/>
          </a:bodyPr>
          <a:lstStyle/>
          <a:p>
            <a:pPr marL="12700" marR="5080" indent="373380">
              <a:lnSpc>
                <a:spcPct val="100000"/>
              </a:lnSpc>
              <a:spcBef>
                <a:spcPts val="95"/>
              </a:spcBef>
            </a:pPr>
            <a:r>
              <a:rPr sz="2200" spc="-5" dirty="0">
                <a:latin typeface="Times New Roman"/>
                <a:cs typeface="Times New Roman"/>
              </a:rPr>
              <a:t>Basis of </a:t>
            </a:r>
            <a:r>
              <a:rPr sz="2200" dirty="0">
                <a:latin typeface="Times New Roman"/>
                <a:cs typeface="Times New Roman"/>
              </a:rPr>
              <a:t> </a:t>
            </a:r>
            <a:r>
              <a:rPr sz="2200" spc="-10" dirty="0">
                <a:latin typeface="Times New Roman"/>
                <a:cs typeface="Times New Roman"/>
              </a:rPr>
              <a:t>D</a:t>
            </a:r>
            <a:r>
              <a:rPr sz="2200" spc="-5" dirty="0">
                <a:latin typeface="Times New Roman"/>
                <a:cs typeface="Times New Roman"/>
              </a:rPr>
              <a:t>i</a:t>
            </a:r>
            <a:r>
              <a:rPr sz="2200" spc="-35" dirty="0">
                <a:latin typeface="Times New Roman"/>
                <a:cs typeface="Times New Roman"/>
              </a:rPr>
              <a:t>f</a:t>
            </a:r>
            <a:r>
              <a:rPr sz="2200" spc="-15" dirty="0">
                <a:latin typeface="Times New Roman"/>
                <a:cs typeface="Times New Roman"/>
              </a:rPr>
              <a:t>fe</a:t>
            </a:r>
            <a:r>
              <a:rPr sz="2200" spc="10" dirty="0">
                <a:latin typeface="Times New Roman"/>
                <a:cs typeface="Times New Roman"/>
              </a:rPr>
              <a:t>r</a:t>
            </a:r>
            <a:r>
              <a:rPr sz="2200" spc="-15" dirty="0">
                <a:latin typeface="Times New Roman"/>
                <a:cs typeface="Times New Roman"/>
              </a:rPr>
              <a:t>e</a:t>
            </a:r>
            <a:r>
              <a:rPr sz="2200" spc="-5" dirty="0">
                <a:latin typeface="Times New Roman"/>
                <a:cs typeface="Times New Roman"/>
              </a:rPr>
              <a:t>nti</a:t>
            </a:r>
            <a:r>
              <a:rPr sz="2200" spc="-15" dirty="0">
                <a:latin typeface="Times New Roman"/>
                <a:cs typeface="Times New Roman"/>
              </a:rPr>
              <a:t>a</a:t>
            </a:r>
            <a:r>
              <a:rPr sz="2200" spc="-5" dirty="0">
                <a:latin typeface="Times New Roman"/>
                <a:cs typeface="Times New Roman"/>
              </a:rPr>
              <a:t>tion</a:t>
            </a:r>
            <a:endParaRPr sz="2200">
              <a:latin typeface="Times New Roman"/>
              <a:cs typeface="Times New Roman"/>
            </a:endParaRPr>
          </a:p>
        </p:txBody>
      </p:sp>
      <p:sp>
        <p:nvSpPr>
          <p:cNvPr id="9" name="object 9"/>
          <p:cNvSpPr/>
          <p:nvPr/>
        </p:nvSpPr>
        <p:spPr>
          <a:xfrm>
            <a:off x="2933700" y="2293620"/>
            <a:ext cx="0" cy="4610100"/>
          </a:xfrm>
          <a:custGeom>
            <a:avLst/>
            <a:gdLst/>
            <a:ahLst/>
            <a:cxnLst/>
            <a:rect l="l" t="t" r="r" b="b"/>
            <a:pathLst>
              <a:path h="4610100">
                <a:moveTo>
                  <a:pt x="0" y="0"/>
                </a:moveTo>
                <a:lnTo>
                  <a:pt x="0" y="4610099"/>
                </a:lnTo>
              </a:path>
            </a:pathLst>
          </a:custGeom>
          <a:ln w="10668">
            <a:solidFill>
              <a:srgbClr val="000000"/>
            </a:solidFill>
          </a:ln>
        </p:spPr>
        <p:txBody>
          <a:bodyPr wrap="square" lIns="0" tIns="0" rIns="0" bIns="0" rtlCol="0"/>
          <a:lstStyle/>
          <a:p>
            <a:endParaRPr/>
          </a:p>
        </p:txBody>
      </p:sp>
      <p:sp>
        <p:nvSpPr>
          <p:cNvPr id="10" name="object 10"/>
          <p:cNvSpPr txBox="1"/>
          <p:nvPr/>
        </p:nvSpPr>
        <p:spPr>
          <a:xfrm>
            <a:off x="3358362" y="3160224"/>
            <a:ext cx="4931410" cy="3423373"/>
          </a:xfrm>
          <a:prstGeom prst="rect">
            <a:avLst/>
          </a:prstGeom>
        </p:spPr>
        <p:txBody>
          <a:bodyPr vert="horz" wrap="square" lIns="0" tIns="12065" rIns="0" bIns="0" rtlCol="0">
            <a:spAutoFit/>
          </a:bodyPr>
          <a:lstStyle/>
          <a:p>
            <a:pPr marL="12065" marR="5080" algn="ctr">
              <a:lnSpc>
                <a:spcPct val="100000"/>
              </a:lnSpc>
              <a:spcBef>
                <a:spcPts val="95"/>
              </a:spcBef>
            </a:pPr>
            <a:r>
              <a:rPr sz="2200" spc="-10" dirty="0">
                <a:latin typeface="Times New Roman"/>
                <a:cs typeface="Times New Roman"/>
              </a:rPr>
              <a:t>It </a:t>
            </a:r>
            <a:r>
              <a:rPr sz="2200" spc="-5" dirty="0">
                <a:latin typeface="Times New Roman"/>
                <a:cs typeface="Times New Roman"/>
              </a:rPr>
              <a:t>is important that a </a:t>
            </a:r>
            <a:r>
              <a:rPr sz="2200" dirty="0">
                <a:latin typeface="Times New Roman"/>
                <a:cs typeface="Times New Roman"/>
              </a:rPr>
              <a:t>new </a:t>
            </a:r>
            <a:r>
              <a:rPr sz="2200" spc="-5" dirty="0">
                <a:latin typeface="Times New Roman"/>
                <a:cs typeface="Times New Roman"/>
              </a:rPr>
              <a:t>venture </a:t>
            </a:r>
            <a:r>
              <a:rPr sz="2200" dirty="0">
                <a:latin typeface="Times New Roman"/>
                <a:cs typeface="Times New Roman"/>
              </a:rPr>
              <a:t> </a:t>
            </a:r>
            <a:r>
              <a:rPr sz="2200" spc="-10" dirty="0">
                <a:latin typeface="Times New Roman"/>
                <a:cs typeface="Times New Roman"/>
              </a:rPr>
              <a:t>differentiate </a:t>
            </a:r>
            <a:r>
              <a:rPr sz="2200" spc="-5" dirty="0">
                <a:latin typeface="Times New Roman"/>
                <a:cs typeface="Times New Roman"/>
              </a:rPr>
              <a:t>itself from its competitors in </a:t>
            </a:r>
            <a:r>
              <a:rPr sz="2200" dirty="0">
                <a:latin typeface="Times New Roman"/>
                <a:cs typeface="Times New Roman"/>
              </a:rPr>
              <a:t> </a:t>
            </a:r>
            <a:r>
              <a:rPr sz="2200" spc="-10" dirty="0">
                <a:latin typeface="Times New Roman"/>
                <a:cs typeface="Times New Roman"/>
              </a:rPr>
              <a:t>some way </a:t>
            </a:r>
            <a:r>
              <a:rPr sz="2200" dirty="0">
                <a:latin typeface="Times New Roman"/>
                <a:cs typeface="Times New Roman"/>
              </a:rPr>
              <a:t>that </a:t>
            </a:r>
            <a:r>
              <a:rPr sz="2200" spc="-5" dirty="0">
                <a:latin typeface="Times New Roman"/>
                <a:cs typeface="Times New Roman"/>
              </a:rPr>
              <a:t>is important </a:t>
            </a:r>
            <a:r>
              <a:rPr sz="2200" spc="-15" dirty="0">
                <a:latin typeface="Times New Roman"/>
                <a:cs typeface="Times New Roman"/>
              </a:rPr>
              <a:t>to </a:t>
            </a:r>
            <a:r>
              <a:rPr sz="2200" spc="-5" dirty="0">
                <a:latin typeface="Times New Roman"/>
                <a:cs typeface="Times New Roman"/>
              </a:rPr>
              <a:t>its customers. </a:t>
            </a:r>
            <a:r>
              <a:rPr sz="2200" spc="-535" dirty="0">
                <a:latin typeface="Times New Roman"/>
                <a:cs typeface="Times New Roman"/>
              </a:rPr>
              <a:t> </a:t>
            </a:r>
            <a:r>
              <a:rPr sz="2200" spc="-10" dirty="0">
                <a:latin typeface="Times New Roman"/>
                <a:cs typeface="Times New Roman"/>
              </a:rPr>
              <a:t>If </a:t>
            </a:r>
            <a:r>
              <a:rPr sz="2200" spc="-5" dirty="0">
                <a:latin typeface="Times New Roman"/>
                <a:cs typeface="Times New Roman"/>
              </a:rPr>
              <a:t>a </a:t>
            </a:r>
            <a:r>
              <a:rPr sz="2200" spc="-10" dirty="0">
                <a:latin typeface="Times New Roman"/>
                <a:cs typeface="Times New Roman"/>
              </a:rPr>
              <a:t>new </a:t>
            </a:r>
            <a:r>
              <a:rPr sz="2200" spc="-25" dirty="0">
                <a:latin typeface="Times New Roman"/>
                <a:cs typeface="Times New Roman"/>
              </a:rPr>
              <a:t>firm’s </a:t>
            </a:r>
            <a:r>
              <a:rPr sz="2200" dirty="0">
                <a:latin typeface="Times New Roman"/>
                <a:cs typeface="Times New Roman"/>
              </a:rPr>
              <a:t>products </a:t>
            </a:r>
            <a:r>
              <a:rPr sz="2200" spc="-5" dirty="0">
                <a:latin typeface="Times New Roman"/>
                <a:cs typeface="Times New Roman"/>
              </a:rPr>
              <a:t>or services </a:t>
            </a:r>
            <a:r>
              <a:rPr sz="2200" spc="-10" dirty="0">
                <a:latin typeface="Times New Roman"/>
                <a:cs typeface="Times New Roman"/>
              </a:rPr>
              <a:t>aren’t </a:t>
            </a:r>
            <a:r>
              <a:rPr sz="2200" spc="-5" dirty="0">
                <a:latin typeface="Times New Roman"/>
                <a:cs typeface="Times New Roman"/>
              </a:rPr>
              <a:t> </a:t>
            </a:r>
            <a:r>
              <a:rPr sz="2200" spc="-10" dirty="0">
                <a:latin typeface="Times New Roman"/>
                <a:cs typeface="Times New Roman"/>
              </a:rPr>
              <a:t>different </a:t>
            </a:r>
            <a:r>
              <a:rPr sz="2200" spc="-5" dirty="0">
                <a:latin typeface="Times New Roman"/>
                <a:cs typeface="Times New Roman"/>
              </a:rPr>
              <a:t>from </a:t>
            </a:r>
            <a:r>
              <a:rPr sz="2200" dirty="0">
                <a:latin typeface="Times New Roman"/>
                <a:cs typeface="Times New Roman"/>
              </a:rPr>
              <a:t>those </a:t>
            </a:r>
            <a:r>
              <a:rPr sz="2200" spc="5" dirty="0">
                <a:latin typeface="Times New Roman"/>
                <a:cs typeface="Times New Roman"/>
              </a:rPr>
              <a:t>of </a:t>
            </a:r>
            <a:r>
              <a:rPr sz="2200" spc="-10" dirty="0">
                <a:latin typeface="Times New Roman"/>
                <a:cs typeface="Times New Roman"/>
              </a:rPr>
              <a:t>its </a:t>
            </a:r>
            <a:r>
              <a:rPr sz="2200" spc="-5" dirty="0">
                <a:latin typeface="Times New Roman"/>
                <a:cs typeface="Times New Roman"/>
              </a:rPr>
              <a:t>competitors, why </a:t>
            </a:r>
            <a:r>
              <a:rPr sz="2200" spc="-535" dirty="0">
                <a:latin typeface="Times New Roman"/>
                <a:cs typeface="Times New Roman"/>
              </a:rPr>
              <a:t> </a:t>
            </a:r>
            <a:r>
              <a:rPr sz="2200" spc="-5" dirty="0">
                <a:latin typeface="Times New Roman"/>
                <a:cs typeface="Times New Roman"/>
              </a:rPr>
              <a:t>should</a:t>
            </a:r>
            <a:r>
              <a:rPr sz="2200" spc="-10" dirty="0">
                <a:latin typeface="Times New Roman"/>
                <a:cs typeface="Times New Roman"/>
              </a:rPr>
              <a:t> </a:t>
            </a:r>
            <a:r>
              <a:rPr sz="2200" dirty="0">
                <a:latin typeface="Times New Roman"/>
                <a:cs typeface="Times New Roman"/>
              </a:rPr>
              <a:t>anyone</a:t>
            </a:r>
            <a:r>
              <a:rPr sz="2200" spc="-35" dirty="0">
                <a:latin typeface="Times New Roman"/>
                <a:cs typeface="Times New Roman"/>
              </a:rPr>
              <a:t> </a:t>
            </a:r>
            <a:r>
              <a:rPr sz="2200" spc="-5" dirty="0">
                <a:latin typeface="Times New Roman"/>
                <a:cs typeface="Times New Roman"/>
              </a:rPr>
              <a:t>try them?</a:t>
            </a:r>
            <a:endParaRPr lang="en-US" sz="2200" spc="-5" dirty="0">
              <a:latin typeface="Times New Roman"/>
              <a:cs typeface="Times New Roman"/>
            </a:endParaRPr>
          </a:p>
          <a:p>
            <a:pPr marL="12065" marR="5080" algn="ctr">
              <a:lnSpc>
                <a:spcPct val="100000"/>
              </a:lnSpc>
              <a:spcBef>
                <a:spcPts val="95"/>
              </a:spcBef>
            </a:pPr>
            <a:endParaRPr lang="en-US" sz="2200" spc="-5" dirty="0">
              <a:latin typeface="Times New Roman"/>
              <a:cs typeface="Times New Roman"/>
            </a:endParaRPr>
          </a:p>
          <a:p>
            <a:pPr marL="12065" marR="5080">
              <a:lnSpc>
                <a:spcPct val="100000"/>
              </a:lnSpc>
              <a:spcBef>
                <a:spcPts val="95"/>
              </a:spcBef>
            </a:pPr>
            <a:r>
              <a:rPr lang="en-US" sz="2200" dirty="0">
                <a:latin typeface="Times New Roman"/>
                <a:cs typeface="Times New Roman"/>
              </a:rPr>
              <a:t>Firms typically choose one of two generic strategies   (cost leadership or differentiation)</a:t>
            </a:r>
            <a:endParaRPr sz="2200" dirty="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dirty="0"/>
              <a:t>Strategic</a:t>
            </a:r>
            <a:r>
              <a:rPr spc="-30" dirty="0"/>
              <a:t> </a:t>
            </a:r>
            <a:r>
              <a:rPr spc="-5" dirty="0"/>
              <a:t>Resources</a:t>
            </a:r>
          </a:p>
          <a:p>
            <a:pPr algn="ctr">
              <a:lnSpc>
                <a:spcPct val="100000"/>
              </a:lnSpc>
              <a:spcBef>
                <a:spcPts val="55"/>
              </a:spcBef>
            </a:pPr>
            <a:r>
              <a:rPr sz="2200" spc="-5" dirty="0"/>
              <a:t>1</a:t>
            </a:r>
            <a:r>
              <a:rPr sz="2200" spc="-35" dirty="0"/>
              <a:t> </a:t>
            </a:r>
            <a:r>
              <a:rPr sz="2200" spc="-5" dirty="0"/>
              <a:t>of</a:t>
            </a:r>
            <a:r>
              <a:rPr sz="2200" spc="-15" dirty="0"/>
              <a:t> </a:t>
            </a:r>
            <a:r>
              <a:rPr sz="2200" spc="-5" dirty="0"/>
              <a:t>3</a:t>
            </a:r>
            <a:endParaRPr sz="2200"/>
          </a:p>
        </p:txBody>
      </p:sp>
      <p:sp>
        <p:nvSpPr>
          <p:cNvPr id="3" name="object 3"/>
          <p:cNvSpPr txBox="1"/>
          <p:nvPr/>
        </p:nvSpPr>
        <p:spPr>
          <a:xfrm>
            <a:off x="590865" y="1803066"/>
            <a:ext cx="8806815" cy="4243070"/>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0" dirty="0">
                <a:latin typeface="Times New Roman"/>
                <a:cs typeface="Times New Roman"/>
              </a:rPr>
              <a:t>Strategic</a:t>
            </a:r>
            <a:r>
              <a:rPr sz="3050" spc="-30" dirty="0">
                <a:latin typeface="Times New Roman"/>
                <a:cs typeface="Times New Roman"/>
              </a:rPr>
              <a:t> </a:t>
            </a:r>
            <a:r>
              <a:rPr sz="3050" spc="10" dirty="0">
                <a:latin typeface="Times New Roman"/>
                <a:cs typeface="Times New Roman"/>
              </a:rPr>
              <a:t>Resources</a:t>
            </a:r>
            <a:endParaRPr sz="3050" dirty="0">
              <a:latin typeface="Times New Roman"/>
              <a:cs typeface="Times New Roman"/>
            </a:endParaRPr>
          </a:p>
          <a:p>
            <a:pPr marL="829310" marR="375285" lvl="1" indent="-314325">
              <a:lnSpc>
                <a:spcPts val="3170"/>
              </a:lnSpc>
              <a:spcBef>
                <a:spcPts val="750"/>
              </a:spcBef>
              <a:buChar char="–"/>
              <a:tabLst>
                <a:tab pos="830580" algn="l"/>
                <a:tab pos="831215" algn="l"/>
              </a:tabLst>
            </a:pPr>
            <a:r>
              <a:rPr sz="2650" spc="-10" dirty="0">
                <a:latin typeface="Times New Roman"/>
                <a:cs typeface="Times New Roman"/>
              </a:rPr>
              <a:t>A firm </a:t>
            </a:r>
            <a:r>
              <a:rPr sz="2650" spc="-20" dirty="0">
                <a:latin typeface="Times New Roman"/>
                <a:cs typeface="Times New Roman"/>
              </a:rPr>
              <a:t>is </a:t>
            </a:r>
            <a:r>
              <a:rPr sz="2650" spc="-5" dirty="0">
                <a:latin typeface="Times New Roman"/>
                <a:cs typeface="Times New Roman"/>
              </a:rPr>
              <a:t>not </a:t>
            </a:r>
            <a:r>
              <a:rPr sz="2650" dirty="0">
                <a:latin typeface="Times New Roman"/>
                <a:cs typeface="Times New Roman"/>
              </a:rPr>
              <a:t>able </a:t>
            </a:r>
            <a:r>
              <a:rPr sz="2650" spc="-5" dirty="0">
                <a:latin typeface="Times New Roman"/>
                <a:cs typeface="Times New Roman"/>
              </a:rPr>
              <a:t>to </a:t>
            </a:r>
            <a:r>
              <a:rPr sz="2650" spc="-10" dirty="0">
                <a:latin typeface="Times New Roman"/>
                <a:cs typeface="Times New Roman"/>
              </a:rPr>
              <a:t>implement </a:t>
            </a:r>
            <a:r>
              <a:rPr sz="2650" spc="-5" dirty="0">
                <a:latin typeface="Times New Roman"/>
                <a:cs typeface="Times New Roman"/>
              </a:rPr>
              <a:t>a strategy </a:t>
            </a:r>
            <a:r>
              <a:rPr sz="2650" spc="-10" dirty="0">
                <a:latin typeface="Times New Roman"/>
                <a:cs typeface="Times New Roman"/>
              </a:rPr>
              <a:t>without</a:t>
            </a:r>
            <a:r>
              <a:rPr lang="en-US" sz="2650" spc="-10" dirty="0">
                <a:latin typeface="Times New Roman"/>
                <a:cs typeface="Times New Roman"/>
              </a:rPr>
              <a:t> </a:t>
            </a:r>
            <a:r>
              <a:rPr lang="en-US" sz="2650" spc="-5" dirty="0">
                <a:latin typeface="Times New Roman"/>
                <a:cs typeface="Times New Roman"/>
              </a:rPr>
              <a:t>adequate </a:t>
            </a:r>
            <a:r>
              <a:rPr sz="2650" spc="-5" dirty="0">
                <a:latin typeface="Times New Roman"/>
                <a:cs typeface="Times New Roman"/>
              </a:rPr>
              <a:t>resources, so the </a:t>
            </a:r>
            <a:r>
              <a:rPr lang="en-US" sz="2650" spc="-5" dirty="0">
                <a:latin typeface="Times New Roman"/>
                <a:cs typeface="Times New Roman"/>
              </a:rPr>
              <a:t>firm’s </a:t>
            </a:r>
            <a:r>
              <a:rPr sz="2650" spc="-10" dirty="0">
                <a:latin typeface="Times New Roman"/>
                <a:cs typeface="Times New Roman"/>
              </a:rPr>
              <a:t>resources </a:t>
            </a:r>
            <a:r>
              <a:rPr lang="en-US" sz="2650" spc="-10" dirty="0">
                <a:latin typeface="Times New Roman"/>
                <a:cs typeface="Times New Roman"/>
              </a:rPr>
              <a:t>substantially </a:t>
            </a:r>
            <a:r>
              <a:rPr sz="2650" spc="-5" dirty="0">
                <a:latin typeface="Times New Roman"/>
                <a:cs typeface="Times New Roman"/>
              </a:rPr>
              <a:t>affect</a:t>
            </a:r>
            <a:r>
              <a:rPr lang="en-US" sz="2650" spc="-5" dirty="0">
                <a:latin typeface="Times New Roman"/>
                <a:cs typeface="Times New Roman"/>
              </a:rPr>
              <a:t> how</a:t>
            </a:r>
            <a:r>
              <a:rPr sz="2650" spc="-5" dirty="0">
                <a:latin typeface="Times New Roman"/>
                <a:cs typeface="Times New Roman"/>
              </a:rPr>
              <a:t> </a:t>
            </a:r>
            <a:r>
              <a:rPr sz="2650" spc="-10" dirty="0">
                <a:latin typeface="Times New Roman"/>
                <a:cs typeface="Times New Roman"/>
              </a:rPr>
              <a:t>its business</a:t>
            </a:r>
            <a:r>
              <a:rPr lang="en-US" sz="2650" spc="-10" dirty="0">
                <a:latin typeface="Times New Roman"/>
                <a:cs typeface="Times New Roman"/>
              </a:rPr>
              <a:t> </a:t>
            </a:r>
            <a:r>
              <a:rPr sz="2650" spc="-10" dirty="0">
                <a:latin typeface="Times New Roman"/>
                <a:cs typeface="Times New Roman"/>
              </a:rPr>
              <a:t>model</a:t>
            </a:r>
            <a:r>
              <a:rPr lang="en-US" sz="2650" spc="-10" dirty="0">
                <a:latin typeface="Times New Roman"/>
                <a:cs typeface="Times New Roman"/>
              </a:rPr>
              <a:t> is used</a:t>
            </a:r>
            <a:r>
              <a:rPr sz="2650" spc="-10" dirty="0">
                <a:latin typeface="Times New Roman"/>
                <a:cs typeface="Times New Roman"/>
              </a:rPr>
              <a:t>.</a:t>
            </a:r>
            <a:endParaRPr sz="2650" dirty="0">
              <a:latin typeface="Times New Roman"/>
              <a:cs typeface="Times New Roman"/>
            </a:endParaRPr>
          </a:p>
          <a:p>
            <a:pPr marL="1269365" marR="5080" lvl="2" indent="-252095">
              <a:lnSpc>
                <a:spcPct val="100000"/>
              </a:lnSpc>
              <a:spcBef>
                <a:spcPts val="440"/>
              </a:spcBef>
              <a:buChar char="•"/>
              <a:tabLst>
                <a:tab pos="1269365" algn="l"/>
                <a:tab pos="1270000" algn="l"/>
              </a:tabLst>
            </a:pPr>
            <a:r>
              <a:rPr sz="2200" spc="-5" dirty="0">
                <a:latin typeface="Times New Roman"/>
                <a:cs typeface="Times New Roman"/>
              </a:rPr>
              <a:t>For</a:t>
            </a:r>
            <a:r>
              <a:rPr sz="2200" spc="-1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dirty="0">
                <a:latin typeface="Times New Roman"/>
                <a:cs typeface="Times New Roman"/>
              </a:rPr>
              <a:t>new</a:t>
            </a:r>
            <a:r>
              <a:rPr sz="2200" spc="15" dirty="0">
                <a:latin typeface="Times New Roman"/>
                <a:cs typeface="Times New Roman"/>
              </a:rPr>
              <a:t> </a:t>
            </a:r>
            <a:r>
              <a:rPr sz="2200" spc="-5" dirty="0">
                <a:latin typeface="Times New Roman"/>
                <a:cs typeface="Times New Roman"/>
              </a:rPr>
              <a:t>venture, its</a:t>
            </a:r>
            <a:r>
              <a:rPr sz="2200" spc="-25" dirty="0">
                <a:latin typeface="Times New Roman"/>
                <a:cs typeface="Times New Roman"/>
              </a:rPr>
              <a:t> </a:t>
            </a:r>
            <a:r>
              <a:rPr sz="2200" spc="-5" dirty="0">
                <a:latin typeface="Times New Roman"/>
                <a:cs typeface="Times New Roman"/>
              </a:rPr>
              <a:t>strategic</a:t>
            </a:r>
            <a:r>
              <a:rPr sz="2200" spc="-10" dirty="0">
                <a:latin typeface="Times New Roman"/>
                <a:cs typeface="Times New Roman"/>
              </a:rPr>
              <a:t> </a:t>
            </a:r>
            <a:r>
              <a:rPr sz="2200" spc="-5" dirty="0">
                <a:latin typeface="Times New Roman"/>
                <a:cs typeface="Times New Roman"/>
              </a:rPr>
              <a:t>resources</a:t>
            </a:r>
            <a:r>
              <a:rPr sz="2200" dirty="0">
                <a:latin typeface="Times New Roman"/>
                <a:cs typeface="Times New Roman"/>
              </a:rPr>
              <a:t> </a:t>
            </a:r>
            <a:r>
              <a:rPr sz="2200" spc="-15" dirty="0">
                <a:latin typeface="Times New Roman"/>
                <a:cs typeface="Times New Roman"/>
              </a:rPr>
              <a:t>may</a:t>
            </a:r>
            <a:r>
              <a:rPr sz="2200" spc="20" dirty="0">
                <a:latin typeface="Times New Roman"/>
                <a:cs typeface="Times New Roman"/>
              </a:rPr>
              <a:t> </a:t>
            </a:r>
            <a:r>
              <a:rPr sz="2200" spc="-5" dirty="0">
                <a:latin typeface="Times New Roman"/>
                <a:cs typeface="Times New Roman"/>
              </a:rPr>
              <a:t>initially</a:t>
            </a:r>
            <a:r>
              <a:rPr sz="2200" spc="-25" dirty="0">
                <a:latin typeface="Times New Roman"/>
                <a:cs typeface="Times New Roman"/>
              </a:rPr>
              <a:t> </a:t>
            </a:r>
            <a:r>
              <a:rPr sz="2200" spc="-5" dirty="0">
                <a:latin typeface="Times New Roman"/>
                <a:cs typeface="Times New Roman"/>
              </a:rPr>
              <a:t>be</a:t>
            </a:r>
            <a:r>
              <a:rPr sz="2200" spc="10" dirty="0">
                <a:latin typeface="Times New Roman"/>
                <a:cs typeface="Times New Roman"/>
              </a:rPr>
              <a:t> </a:t>
            </a:r>
            <a:r>
              <a:rPr sz="2200" spc="-10" dirty="0">
                <a:latin typeface="Times New Roman"/>
                <a:cs typeface="Times New Roman"/>
              </a:rPr>
              <a:t>limited</a:t>
            </a:r>
            <a:r>
              <a:rPr sz="2200" spc="-5" dirty="0">
                <a:latin typeface="Times New Roman"/>
                <a:cs typeface="Times New Roman"/>
              </a:rPr>
              <a:t> to </a:t>
            </a:r>
            <a:r>
              <a:rPr sz="2200" spc="-535" dirty="0">
                <a:latin typeface="Times New Roman"/>
                <a:cs typeface="Times New Roman"/>
              </a:rPr>
              <a:t> </a:t>
            </a:r>
            <a:r>
              <a:rPr sz="2200" spc="-5" dirty="0">
                <a:latin typeface="Times New Roman"/>
                <a:cs typeface="Times New Roman"/>
              </a:rPr>
              <a:t>the competencies </a:t>
            </a:r>
            <a:r>
              <a:rPr sz="2200" spc="5" dirty="0">
                <a:latin typeface="Times New Roman"/>
                <a:cs typeface="Times New Roman"/>
              </a:rPr>
              <a:t>of </a:t>
            </a:r>
            <a:r>
              <a:rPr sz="2200" spc="-10" dirty="0">
                <a:latin typeface="Times New Roman"/>
                <a:cs typeface="Times New Roman"/>
              </a:rPr>
              <a:t>its </a:t>
            </a:r>
            <a:r>
              <a:rPr sz="2200" dirty="0">
                <a:latin typeface="Times New Roman"/>
                <a:cs typeface="Times New Roman"/>
              </a:rPr>
              <a:t>founders, </a:t>
            </a:r>
            <a:r>
              <a:rPr sz="2200" spc="-5" dirty="0">
                <a:latin typeface="Times New Roman"/>
                <a:cs typeface="Times New Roman"/>
              </a:rPr>
              <a:t>the opportunity </a:t>
            </a:r>
            <a:r>
              <a:rPr sz="2200" dirty="0">
                <a:latin typeface="Times New Roman"/>
                <a:cs typeface="Times New Roman"/>
              </a:rPr>
              <a:t>they have </a:t>
            </a:r>
            <a:r>
              <a:rPr sz="2200" spc="5" dirty="0">
                <a:latin typeface="Times New Roman"/>
                <a:cs typeface="Times New Roman"/>
              </a:rPr>
              <a:t> </a:t>
            </a:r>
            <a:r>
              <a:rPr sz="2200" spc="-5" dirty="0">
                <a:latin typeface="Times New Roman"/>
                <a:cs typeface="Times New Roman"/>
              </a:rPr>
              <a:t>identified,</a:t>
            </a:r>
            <a:r>
              <a:rPr sz="2200" spc="-25" dirty="0">
                <a:latin typeface="Times New Roman"/>
                <a:cs typeface="Times New Roman"/>
              </a:rPr>
              <a:t> </a:t>
            </a:r>
            <a:r>
              <a:rPr sz="2200" spc="-10" dirty="0">
                <a:latin typeface="Times New Roman"/>
                <a:cs typeface="Times New Roman"/>
              </a:rPr>
              <a:t>and</a:t>
            </a:r>
            <a:r>
              <a:rPr sz="2200" spc="-5" dirty="0">
                <a:latin typeface="Times New Roman"/>
                <a:cs typeface="Times New Roman"/>
              </a:rPr>
              <a:t> the</a:t>
            </a:r>
            <a:r>
              <a:rPr sz="2200" spc="15" dirty="0">
                <a:latin typeface="Times New Roman"/>
                <a:cs typeface="Times New Roman"/>
              </a:rPr>
              <a:t> </a:t>
            </a:r>
            <a:r>
              <a:rPr sz="2200" dirty="0">
                <a:latin typeface="Times New Roman"/>
                <a:cs typeface="Times New Roman"/>
              </a:rPr>
              <a:t>unique</a:t>
            </a:r>
            <a:r>
              <a:rPr sz="2200" spc="-35" dirty="0">
                <a:latin typeface="Times New Roman"/>
                <a:cs typeface="Times New Roman"/>
              </a:rPr>
              <a:t> </a:t>
            </a:r>
            <a:r>
              <a:rPr sz="2200" spc="-10" dirty="0">
                <a:latin typeface="Times New Roman"/>
                <a:cs typeface="Times New Roman"/>
              </a:rPr>
              <a:t>way</a:t>
            </a:r>
            <a:r>
              <a:rPr sz="2200" spc="25" dirty="0">
                <a:latin typeface="Times New Roman"/>
                <a:cs typeface="Times New Roman"/>
              </a:rPr>
              <a:t> </a:t>
            </a:r>
            <a:r>
              <a:rPr sz="2200" dirty="0">
                <a:latin typeface="Times New Roman"/>
                <a:cs typeface="Times New Roman"/>
              </a:rPr>
              <a:t>they</a:t>
            </a:r>
            <a:r>
              <a:rPr sz="2200" spc="-5" dirty="0">
                <a:latin typeface="Times New Roman"/>
                <a:cs typeface="Times New Roman"/>
              </a:rPr>
              <a:t> plan</a:t>
            </a:r>
            <a:r>
              <a:rPr sz="2200" spc="-25"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5" dirty="0">
                <a:latin typeface="Times New Roman"/>
                <a:cs typeface="Times New Roman"/>
              </a:rPr>
              <a:t>serv</a:t>
            </a:r>
            <a:r>
              <a:rPr lang="en-US" sz="2200" spc="-5" dirty="0">
                <a:latin typeface="Times New Roman"/>
                <a:cs typeface="Times New Roman"/>
              </a:rPr>
              <a:t>ic</a:t>
            </a:r>
            <a:r>
              <a:rPr sz="2200" spc="-5" dirty="0">
                <a:latin typeface="Times New Roman"/>
                <a:cs typeface="Times New Roman"/>
              </a:rPr>
              <a:t>e</a:t>
            </a:r>
            <a:r>
              <a:rPr sz="2200" spc="-10" dirty="0">
                <a:latin typeface="Times New Roman"/>
                <a:cs typeface="Times New Roman"/>
              </a:rPr>
              <a:t> </a:t>
            </a:r>
            <a:r>
              <a:rPr sz="2200" spc="-5" dirty="0">
                <a:latin typeface="Times New Roman"/>
                <a:cs typeface="Times New Roman"/>
              </a:rPr>
              <a:t>their </a:t>
            </a:r>
            <a:r>
              <a:rPr sz="2200" spc="-10" dirty="0">
                <a:latin typeface="Times New Roman"/>
                <a:cs typeface="Times New Roman"/>
              </a:rPr>
              <a:t>market.</a:t>
            </a:r>
            <a:endParaRPr sz="2200" dirty="0">
              <a:latin typeface="Times New Roman"/>
              <a:cs typeface="Times New Roman"/>
            </a:endParaRPr>
          </a:p>
          <a:p>
            <a:pPr marL="830580" lvl="1" indent="-316230">
              <a:lnSpc>
                <a:spcPct val="100000"/>
              </a:lnSpc>
              <a:spcBef>
                <a:spcPts val="605"/>
              </a:spcBef>
              <a:buChar char="–"/>
              <a:tabLst>
                <a:tab pos="830580" algn="l"/>
                <a:tab pos="831215" algn="l"/>
              </a:tabLst>
            </a:pPr>
            <a:r>
              <a:rPr sz="2650" spc="-10" dirty="0">
                <a:latin typeface="Times New Roman"/>
                <a:cs typeface="Times New Roman"/>
              </a:rPr>
              <a:t>The</a:t>
            </a:r>
            <a:r>
              <a:rPr sz="2650" spc="-15" dirty="0">
                <a:latin typeface="Times New Roman"/>
                <a:cs typeface="Times New Roman"/>
              </a:rPr>
              <a:t> </a:t>
            </a:r>
            <a:r>
              <a:rPr sz="2650" spc="-10" dirty="0">
                <a:latin typeface="Times New Roman"/>
                <a:cs typeface="Times New Roman"/>
              </a:rPr>
              <a:t>two</a:t>
            </a:r>
            <a:r>
              <a:rPr sz="2650" spc="-5" dirty="0">
                <a:latin typeface="Times New Roman"/>
                <a:cs typeface="Times New Roman"/>
              </a:rPr>
              <a:t> </a:t>
            </a:r>
            <a:r>
              <a:rPr sz="2650" spc="-15" dirty="0">
                <a:latin typeface="Times New Roman"/>
                <a:cs typeface="Times New Roman"/>
              </a:rPr>
              <a:t>most</a:t>
            </a:r>
            <a:r>
              <a:rPr sz="2650" dirty="0">
                <a:latin typeface="Times New Roman"/>
                <a:cs typeface="Times New Roman"/>
              </a:rPr>
              <a:t> </a:t>
            </a:r>
            <a:r>
              <a:rPr sz="2650" spc="-10" dirty="0">
                <a:latin typeface="Times New Roman"/>
                <a:cs typeface="Times New Roman"/>
              </a:rPr>
              <a:t>important</a:t>
            </a:r>
            <a:r>
              <a:rPr sz="2650" spc="-25" dirty="0">
                <a:latin typeface="Times New Roman"/>
                <a:cs typeface="Times New Roman"/>
              </a:rPr>
              <a:t> </a:t>
            </a:r>
            <a:r>
              <a:rPr sz="2650" spc="-5" dirty="0">
                <a:latin typeface="Times New Roman"/>
                <a:cs typeface="Times New Roman"/>
              </a:rPr>
              <a:t>strategic</a:t>
            </a:r>
            <a:r>
              <a:rPr sz="2650" spc="-40" dirty="0">
                <a:latin typeface="Times New Roman"/>
                <a:cs typeface="Times New Roman"/>
              </a:rPr>
              <a:t> </a:t>
            </a:r>
            <a:r>
              <a:rPr sz="2650" spc="-5" dirty="0">
                <a:latin typeface="Times New Roman"/>
                <a:cs typeface="Times New Roman"/>
              </a:rPr>
              <a:t>resources </a:t>
            </a:r>
            <a:r>
              <a:rPr sz="2650" spc="-10" dirty="0">
                <a:latin typeface="Times New Roman"/>
                <a:cs typeface="Times New Roman"/>
              </a:rPr>
              <a:t>are:</a:t>
            </a:r>
            <a:endParaRPr sz="2650" dirty="0">
              <a:latin typeface="Times New Roman"/>
              <a:cs typeface="Times New Roman"/>
            </a:endParaRPr>
          </a:p>
          <a:p>
            <a:pPr marL="1269365" lvl="2" indent="-252095">
              <a:lnSpc>
                <a:spcPct val="100000"/>
              </a:lnSpc>
              <a:spcBef>
                <a:spcPts val="545"/>
              </a:spcBef>
              <a:buChar char="•"/>
              <a:tabLst>
                <a:tab pos="1269365" algn="l"/>
                <a:tab pos="1270000" algn="l"/>
              </a:tabLst>
            </a:pPr>
            <a:r>
              <a:rPr sz="2200" spc="-5" dirty="0">
                <a:latin typeface="Times New Roman"/>
                <a:cs typeface="Times New Roman"/>
              </a:rPr>
              <a:t>A</a:t>
            </a:r>
            <a:r>
              <a:rPr sz="2200" spc="10" dirty="0">
                <a:latin typeface="Times New Roman"/>
                <a:cs typeface="Times New Roman"/>
              </a:rPr>
              <a:t> </a:t>
            </a:r>
            <a:r>
              <a:rPr sz="2200" spc="-10" dirty="0">
                <a:latin typeface="Times New Roman"/>
                <a:cs typeface="Times New Roman"/>
              </a:rPr>
              <a:t>firm’s</a:t>
            </a:r>
            <a:r>
              <a:rPr sz="2200" spc="-25" dirty="0">
                <a:latin typeface="Times New Roman"/>
                <a:cs typeface="Times New Roman"/>
              </a:rPr>
              <a:t> </a:t>
            </a:r>
            <a:r>
              <a:rPr sz="2200" spc="-5" dirty="0">
                <a:latin typeface="Times New Roman"/>
                <a:cs typeface="Times New Roman"/>
              </a:rPr>
              <a:t>core</a:t>
            </a:r>
            <a:r>
              <a:rPr sz="2200" spc="10" dirty="0">
                <a:latin typeface="Times New Roman"/>
                <a:cs typeface="Times New Roman"/>
              </a:rPr>
              <a:t> </a:t>
            </a:r>
            <a:r>
              <a:rPr sz="2200" spc="-10" dirty="0">
                <a:latin typeface="Times New Roman"/>
                <a:cs typeface="Times New Roman"/>
              </a:rPr>
              <a:t>competencies.</a:t>
            </a:r>
            <a:endParaRPr sz="2200" dirty="0">
              <a:latin typeface="Times New Roman"/>
              <a:cs typeface="Times New Roman"/>
            </a:endParaRPr>
          </a:p>
          <a:p>
            <a:pPr marL="1269365" lvl="2" indent="-252095">
              <a:lnSpc>
                <a:spcPct val="100000"/>
              </a:lnSpc>
              <a:spcBef>
                <a:spcPts val="530"/>
              </a:spcBef>
              <a:buChar char="•"/>
              <a:tabLst>
                <a:tab pos="1269365" algn="l"/>
                <a:tab pos="1270000" algn="l"/>
              </a:tabLst>
            </a:pPr>
            <a:r>
              <a:rPr sz="2200" spc="-5" dirty="0">
                <a:latin typeface="Times New Roman"/>
                <a:cs typeface="Times New Roman"/>
              </a:rPr>
              <a:t>Strategic</a:t>
            </a:r>
            <a:r>
              <a:rPr sz="2200" spc="-40" dirty="0">
                <a:latin typeface="Times New Roman"/>
                <a:cs typeface="Times New Roman"/>
              </a:rPr>
              <a:t> </a:t>
            </a:r>
            <a:r>
              <a:rPr sz="2200" spc="-10" dirty="0">
                <a:latin typeface="Times New Roman"/>
                <a:cs typeface="Times New Roman"/>
              </a:rPr>
              <a:t>assets</a:t>
            </a:r>
            <a:r>
              <a:rPr sz="2200" spc="-10">
                <a:latin typeface="Times New Roman"/>
                <a:cs typeface="Times New Roman"/>
              </a:rPr>
              <a:t>.</a:t>
            </a:r>
            <a:r>
              <a:rPr lang="en-US" sz="2200" spc="-10">
                <a:latin typeface="Times New Roman"/>
                <a:cs typeface="Times New Roman"/>
              </a:rPr>
              <a:t> </a:t>
            </a:r>
            <a:endParaRPr sz="220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789"/>
              </a:lnSpc>
            </a:pPr>
            <a:r>
              <a:rPr spc="15" dirty="0"/>
              <a:t>6-18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26187" y="412376"/>
            <a:ext cx="4003675" cy="629285"/>
          </a:xfrm>
          <a:prstGeom prst="rect">
            <a:avLst/>
          </a:prstGeom>
        </p:spPr>
        <p:txBody>
          <a:bodyPr vert="horz" wrap="square" lIns="0" tIns="13970" rIns="0" bIns="0" rtlCol="0">
            <a:spAutoFit/>
          </a:bodyPr>
          <a:lstStyle/>
          <a:p>
            <a:pPr marL="12700">
              <a:lnSpc>
                <a:spcPct val="100000"/>
              </a:lnSpc>
              <a:spcBef>
                <a:spcPts val="110"/>
              </a:spcBef>
            </a:pPr>
            <a:r>
              <a:rPr dirty="0"/>
              <a:t>Strategic</a:t>
            </a:r>
            <a:r>
              <a:rPr spc="-35" dirty="0"/>
              <a:t> </a:t>
            </a:r>
            <a:r>
              <a:rPr spc="-5" dirty="0"/>
              <a:t>Resources</a:t>
            </a:r>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2052352" y="1023607"/>
            <a:ext cx="5534025" cy="1052830"/>
          </a:xfrm>
          <a:prstGeom prst="rect">
            <a:avLst/>
          </a:prstGeom>
        </p:spPr>
        <p:txBody>
          <a:bodyPr vert="horz" wrap="square" lIns="0" tIns="12065" rIns="0" bIns="0" rtlCol="0">
            <a:spAutoFit/>
          </a:bodyPr>
          <a:lstStyle/>
          <a:p>
            <a:pPr marL="416559" algn="ctr">
              <a:lnSpc>
                <a:spcPct val="100000"/>
              </a:lnSpc>
              <a:spcBef>
                <a:spcPts val="95"/>
              </a:spcBef>
            </a:pPr>
            <a:r>
              <a:rPr sz="2200" spc="-5" dirty="0">
                <a:latin typeface="Times New Roman"/>
                <a:cs typeface="Times New Roman"/>
              </a:rPr>
              <a:t>2</a:t>
            </a:r>
            <a:r>
              <a:rPr sz="2200" spc="-35" dirty="0">
                <a:latin typeface="Times New Roman"/>
                <a:cs typeface="Times New Roman"/>
              </a:rPr>
              <a:t> </a:t>
            </a:r>
            <a:r>
              <a:rPr sz="2200" spc="-5" dirty="0">
                <a:latin typeface="Times New Roman"/>
                <a:cs typeface="Times New Roman"/>
              </a:rPr>
              <a:t>of</a:t>
            </a:r>
            <a:r>
              <a:rPr sz="2200" spc="-15" dirty="0">
                <a:latin typeface="Times New Roman"/>
                <a:cs typeface="Times New Roman"/>
              </a:rPr>
              <a:t> </a:t>
            </a:r>
            <a:r>
              <a:rPr sz="2200" spc="-5" dirty="0">
                <a:latin typeface="Times New Roman"/>
                <a:cs typeface="Times New Roman"/>
              </a:rPr>
              <a:t>3</a:t>
            </a:r>
            <a:endParaRPr sz="2200">
              <a:latin typeface="Times New Roman"/>
              <a:cs typeface="Times New Roman"/>
            </a:endParaRPr>
          </a:p>
          <a:p>
            <a:pPr>
              <a:lnSpc>
                <a:spcPct val="100000"/>
              </a:lnSpc>
              <a:spcBef>
                <a:spcPts val="30"/>
              </a:spcBef>
            </a:pPr>
            <a:endParaRPr sz="1950">
              <a:latin typeface="Times New Roman"/>
              <a:cs typeface="Times New Roman"/>
            </a:endParaRPr>
          </a:p>
          <a:p>
            <a:pPr marL="12700">
              <a:lnSpc>
                <a:spcPct val="100000"/>
              </a:lnSpc>
            </a:pPr>
            <a:r>
              <a:rPr sz="2650" spc="-10" dirty="0">
                <a:latin typeface="Times New Roman"/>
                <a:cs typeface="Times New Roman"/>
              </a:rPr>
              <a:t>Primary Elements</a:t>
            </a:r>
            <a:r>
              <a:rPr sz="2650" spc="-30" dirty="0">
                <a:latin typeface="Times New Roman"/>
                <a:cs typeface="Times New Roman"/>
              </a:rPr>
              <a:t> </a:t>
            </a:r>
            <a:r>
              <a:rPr sz="2650" spc="-5" dirty="0">
                <a:latin typeface="Times New Roman"/>
                <a:cs typeface="Times New Roman"/>
              </a:rPr>
              <a:t>of</a:t>
            </a:r>
            <a:r>
              <a:rPr sz="2650" spc="-15" dirty="0">
                <a:latin typeface="Times New Roman"/>
                <a:cs typeface="Times New Roman"/>
              </a:rPr>
              <a:t> </a:t>
            </a:r>
            <a:r>
              <a:rPr sz="2650" spc="-10" dirty="0">
                <a:latin typeface="Times New Roman"/>
                <a:cs typeface="Times New Roman"/>
              </a:rPr>
              <a:t>Strategic</a:t>
            </a:r>
            <a:r>
              <a:rPr sz="2650" spc="-15" dirty="0">
                <a:latin typeface="Times New Roman"/>
                <a:cs typeface="Times New Roman"/>
              </a:rPr>
              <a:t> </a:t>
            </a:r>
            <a:r>
              <a:rPr sz="2650" spc="-5" dirty="0">
                <a:latin typeface="Times New Roman"/>
                <a:cs typeface="Times New Roman"/>
              </a:rPr>
              <a:t>Resources</a:t>
            </a:r>
            <a:endParaRPr sz="265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2482088557"/>
              </p:ext>
            </p:extLst>
          </p:nvPr>
        </p:nvGraphicFramePr>
        <p:xfrm>
          <a:off x="832866" y="2288286"/>
          <a:ext cx="8130539" cy="4650739"/>
        </p:xfrm>
        <a:graphic>
          <a:graphicData uri="http://schemas.openxmlformats.org/drawingml/2006/table">
            <a:tbl>
              <a:tblPr firstRow="1" bandRow="1">
                <a:tableStyleId>{2D5ABB26-0587-4C30-8999-92F81FD0307C}</a:tableStyleId>
              </a:tblPr>
              <a:tblGrid>
                <a:gridCol w="1844039">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2179320">
                <a:tc>
                  <a:txBody>
                    <a:bodyPr/>
                    <a:lstStyle/>
                    <a:p>
                      <a:pPr>
                        <a:lnSpc>
                          <a:spcPct val="100000"/>
                        </a:lnSpc>
                      </a:pPr>
                      <a:endParaRPr sz="2400" dirty="0">
                        <a:latin typeface="Times New Roman"/>
                        <a:cs typeface="Times New Roman"/>
                      </a:endParaRPr>
                    </a:p>
                    <a:p>
                      <a:pPr>
                        <a:lnSpc>
                          <a:spcPct val="100000"/>
                        </a:lnSpc>
                      </a:pPr>
                      <a:endParaRPr sz="2400" dirty="0">
                        <a:latin typeface="Times New Roman"/>
                        <a:cs typeface="Times New Roman"/>
                      </a:endParaRPr>
                    </a:p>
                    <a:p>
                      <a:pPr marL="174625" marR="82550" indent="517525">
                        <a:lnSpc>
                          <a:spcPct val="100000"/>
                        </a:lnSpc>
                        <a:spcBef>
                          <a:spcPts val="1400"/>
                        </a:spcBef>
                      </a:pPr>
                      <a:r>
                        <a:rPr sz="2200" spc="-5" dirty="0">
                          <a:latin typeface="Times New Roman"/>
                          <a:cs typeface="Times New Roman"/>
                        </a:rPr>
                        <a:t>Core </a:t>
                      </a:r>
                      <a:r>
                        <a:rPr sz="2200" dirty="0">
                          <a:latin typeface="Times New Roman"/>
                          <a:cs typeface="Times New Roman"/>
                        </a:rPr>
                        <a:t> </a:t>
                      </a:r>
                      <a:r>
                        <a:rPr sz="2200" spc="5" dirty="0">
                          <a:latin typeface="Times New Roman"/>
                          <a:cs typeface="Times New Roman"/>
                        </a:rPr>
                        <a:t>C</a:t>
                      </a:r>
                      <a:r>
                        <a:rPr sz="2200" dirty="0">
                          <a:latin typeface="Times New Roman"/>
                          <a:cs typeface="Times New Roman"/>
                        </a:rPr>
                        <a:t>o</a:t>
                      </a:r>
                      <a:r>
                        <a:rPr sz="2200" spc="-20" dirty="0">
                          <a:latin typeface="Times New Roman"/>
                          <a:cs typeface="Times New Roman"/>
                        </a:rPr>
                        <a:t>m</a:t>
                      </a:r>
                      <a:r>
                        <a:rPr sz="2200" dirty="0">
                          <a:latin typeface="Times New Roman"/>
                          <a:cs typeface="Times New Roman"/>
                        </a:rPr>
                        <a:t>p</a:t>
                      </a:r>
                      <a:r>
                        <a:rPr sz="2200" spc="10" dirty="0">
                          <a:latin typeface="Times New Roman"/>
                          <a:cs typeface="Times New Roman"/>
                        </a:rPr>
                        <a:t>e</a:t>
                      </a:r>
                      <a:r>
                        <a:rPr sz="2200" spc="-20" dirty="0">
                          <a:latin typeface="Times New Roman"/>
                          <a:cs typeface="Times New Roman"/>
                        </a:rPr>
                        <a:t>t</a:t>
                      </a:r>
                      <a:r>
                        <a:rPr sz="2200" spc="10" dirty="0">
                          <a:latin typeface="Times New Roman"/>
                          <a:cs typeface="Times New Roman"/>
                        </a:rPr>
                        <a:t>e</a:t>
                      </a:r>
                      <a:r>
                        <a:rPr sz="2200" dirty="0">
                          <a:latin typeface="Times New Roman"/>
                          <a:cs typeface="Times New Roman"/>
                        </a:rPr>
                        <a:t>n</a:t>
                      </a:r>
                      <a:r>
                        <a:rPr sz="2200" spc="-10" dirty="0">
                          <a:latin typeface="Times New Roman"/>
                          <a:cs typeface="Times New Roman"/>
                        </a:rPr>
                        <a:t>c</a:t>
                      </a:r>
                      <a:r>
                        <a:rPr sz="2200" dirty="0">
                          <a:latin typeface="Times New Roman"/>
                          <a:cs typeface="Times New Roman"/>
                        </a:rPr>
                        <a:t>i</a:t>
                      </a:r>
                      <a:r>
                        <a:rPr sz="2200" spc="-10" dirty="0">
                          <a:latin typeface="Times New Roman"/>
                          <a:cs typeface="Times New Roman"/>
                        </a:rPr>
                        <a:t>e</a:t>
                      </a:r>
                      <a:r>
                        <a:rPr sz="2200" dirty="0">
                          <a:latin typeface="Times New Roman"/>
                          <a:cs typeface="Times New Roman"/>
                        </a:rPr>
                        <a:t>s</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marL="190500" marR="184150" indent="-1270" algn="ctr">
                        <a:lnSpc>
                          <a:spcPct val="100000"/>
                        </a:lnSpc>
                        <a:spcBef>
                          <a:spcPts val="1640"/>
                        </a:spcBef>
                      </a:pPr>
                      <a:r>
                        <a:rPr sz="2200" spc="-5" dirty="0">
                          <a:latin typeface="Times New Roman"/>
                          <a:cs typeface="Times New Roman"/>
                        </a:rPr>
                        <a:t>A core </a:t>
                      </a:r>
                      <a:r>
                        <a:rPr sz="2200" spc="-10" dirty="0">
                          <a:latin typeface="Times New Roman"/>
                          <a:cs typeface="Times New Roman"/>
                        </a:rPr>
                        <a:t>competency </a:t>
                      </a:r>
                      <a:r>
                        <a:rPr sz="2200" spc="-5" dirty="0">
                          <a:latin typeface="Times New Roman"/>
                          <a:cs typeface="Times New Roman"/>
                        </a:rPr>
                        <a:t>is a resource </a:t>
                      </a:r>
                      <a:r>
                        <a:rPr sz="2200" spc="5" dirty="0">
                          <a:latin typeface="Times New Roman"/>
                          <a:cs typeface="Times New Roman"/>
                        </a:rPr>
                        <a:t>or </a:t>
                      </a:r>
                      <a:r>
                        <a:rPr sz="2200" spc="-5" dirty="0">
                          <a:latin typeface="Times New Roman"/>
                          <a:cs typeface="Times New Roman"/>
                        </a:rPr>
                        <a:t>capability that</a:t>
                      </a:r>
                      <a:r>
                        <a:rPr lang="en-US" sz="2200" spc="-5" dirty="0">
                          <a:latin typeface="Times New Roman"/>
                          <a:cs typeface="Times New Roman"/>
                        </a:rPr>
                        <a:t> </a:t>
                      </a:r>
                      <a:r>
                        <a:rPr sz="2200" spc="-5" dirty="0">
                          <a:latin typeface="Times New Roman"/>
                          <a:cs typeface="Times New Roman"/>
                        </a:rPr>
                        <a:t>serves </a:t>
                      </a:r>
                      <a:r>
                        <a:rPr sz="2200" spc="-10" dirty="0">
                          <a:latin typeface="Times New Roman"/>
                          <a:cs typeface="Times New Roman"/>
                        </a:rPr>
                        <a:t>as</a:t>
                      </a:r>
                      <a:r>
                        <a:rPr sz="220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source</a:t>
                      </a:r>
                      <a:r>
                        <a:rPr sz="2200" spc="10"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25" dirty="0">
                          <a:latin typeface="Times New Roman"/>
                          <a:cs typeface="Times New Roman"/>
                        </a:rPr>
                        <a:t>firm’s </a:t>
                      </a:r>
                      <a:r>
                        <a:rPr sz="2200" spc="-5" dirty="0">
                          <a:latin typeface="Times New Roman"/>
                          <a:cs typeface="Times New Roman"/>
                        </a:rPr>
                        <a:t>competitive</a:t>
                      </a:r>
                      <a:r>
                        <a:rPr sz="2200" spc="-10" dirty="0">
                          <a:latin typeface="Times New Roman"/>
                          <a:cs typeface="Times New Roman"/>
                        </a:rPr>
                        <a:t> </a:t>
                      </a:r>
                      <a:r>
                        <a:rPr sz="2200" spc="-5" dirty="0">
                          <a:latin typeface="Times New Roman"/>
                          <a:cs typeface="Times New Roman"/>
                        </a:rPr>
                        <a:t>advantag</a:t>
                      </a:r>
                      <a:r>
                        <a:rPr lang="en-US" sz="2200" spc="-5" dirty="0">
                          <a:latin typeface="Times New Roman"/>
                          <a:cs typeface="Times New Roman"/>
                        </a:rPr>
                        <a:t>e over its rivals</a:t>
                      </a:r>
                      <a:r>
                        <a:rPr sz="2200" spc="-5" dirty="0">
                          <a:latin typeface="Times New Roman"/>
                          <a:cs typeface="Times New Roman"/>
                        </a:rPr>
                        <a:t>. </a:t>
                      </a:r>
                      <a:r>
                        <a:rPr sz="2200" spc="-535" dirty="0">
                          <a:latin typeface="Times New Roman"/>
                          <a:cs typeface="Times New Roman"/>
                        </a:rPr>
                        <a:t> </a:t>
                      </a:r>
                      <a:r>
                        <a:rPr sz="2200" spc="-10" dirty="0">
                          <a:latin typeface="Times New Roman"/>
                          <a:cs typeface="Times New Roman"/>
                        </a:rPr>
                        <a:t>Examples</a:t>
                      </a:r>
                      <a:r>
                        <a:rPr sz="2200" spc="25" dirty="0">
                          <a:latin typeface="Times New Roman"/>
                          <a:cs typeface="Times New Roman"/>
                        </a:rPr>
                        <a:t> </a:t>
                      </a:r>
                      <a:r>
                        <a:rPr sz="2200" spc="-5" dirty="0">
                          <a:latin typeface="Times New Roman"/>
                          <a:cs typeface="Times New Roman"/>
                        </a:rPr>
                        <a:t>include </a:t>
                      </a:r>
                      <a:r>
                        <a:rPr lang="en-US" sz="2200" spc="-5" dirty="0">
                          <a:latin typeface="Times New Roman"/>
                          <a:cs typeface="Times New Roman"/>
                        </a:rPr>
                        <a:t>Apple’s competence in designing consumer products, Netflix’s competence in supply chain management., or </a:t>
                      </a:r>
                      <a:r>
                        <a:rPr sz="2200" spc="-25" dirty="0">
                          <a:latin typeface="Times New Roman"/>
                          <a:cs typeface="Times New Roman"/>
                        </a:rPr>
                        <a:t>Dell’s</a:t>
                      </a:r>
                      <a:r>
                        <a:rPr sz="2200" spc="5" dirty="0">
                          <a:latin typeface="Times New Roman"/>
                          <a:cs typeface="Times New Roman"/>
                        </a:rPr>
                        <a:t> </a:t>
                      </a:r>
                      <a:r>
                        <a:rPr sz="2200" spc="-10" dirty="0">
                          <a:latin typeface="Times New Roman"/>
                          <a:cs typeface="Times New Roman"/>
                        </a:rPr>
                        <a:t>competence</a:t>
                      </a:r>
                      <a:r>
                        <a:rPr sz="2200" spc="15" dirty="0">
                          <a:latin typeface="Times New Roman"/>
                          <a:cs typeface="Times New Roman"/>
                        </a:rPr>
                        <a:t> </a:t>
                      </a:r>
                      <a:r>
                        <a:rPr sz="2200" spc="-5" dirty="0">
                          <a:latin typeface="Times New Roman"/>
                          <a:cs typeface="Times New Roman"/>
                        </a:rPr>
                        <a:t>in</a:t>
                      </a:r>
                      <a:r>
                        <a:rPr sz="2200" dirty="0">
                          <a:latin typeface="Times New Roman"/>
                          <a:cs typeface="Times New Roman"/>
                        </a:rPr>
                        <a:t> supply</a:t>
                      </a:r>
                      <a:r>
                        <a:rPr lang="en-US" sz="2200" spc="-20" dirty="0">
                          <a:latin typeface="Times New Roman"/>
                          <a:cs typeface="Times New Roman"/>
                        </a:rPr>
                        <a:t> </a:t>
                      </a:r>
                      <a:r>
                        <a:rPr sz="2200" spc="-5" dirty="0">
                          <a:latin typeface="Times New Roman"/>
                          <a:cs typeface="Times New Roman"/>
                        </a:rPr>
                        <a:t>chain</a:t>
                      </a:r>
                      <a:r>
                        <a:rPr lang="en-US" sz="2200" spc="-5" dirty="0">
                          <a:latin typeface="Times New Roman"/>
                          <a:cs typeface="Times New Roman"/>
                        </a:rPr>
                        <a:t> </a:t>
                      </a:r>
                      <a:r>
                        <a:rPr sz="2200" spc="-10" dirty="0">
                          <a:latin typeface="Times New Roman"/>
                          <a:cs typeface="Times New Roman"/>
                        </a:rPr>
                        <a:t>management.</a:t>
                      </a:r>
                      <a:endParaRPr sz="2200" dirty="0">
                        <a:latin typeface="Times New Roman"/>
                        <a:cs typeface="Times New Roman"/>
                      </a:endParaRPr>
                    </a:p>
                  </a:txBody>
                  <a:tcPr marL="0" marR="0" marT="2082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extLst>
                  <a:ext uri="{0D108BD9-81ED-4DB2-BD59-A6C34878D82A}">
                    <a16:rowId xmlns:a16="http://schemas.microsoft.com/office/drawing/2014/main" val="10000"/>
                  </a:ext>
                </a:extLst>
              </a:tr>
              <a:tr h="2430779">
                <a:tc>
                  <a:txBody>
                    <a:bodyPr/>
                    <a:lstStyle/>
                    <a:p>
                      <a:pPr>
                        <a:lnSpc>
                          <a:spcPct val="100000"/>
                        </a:lnSpc>
                      </a:pPr>
                      <a:endParaRPr sz="2400">
                        <a:latin typeface="Times New Roman"/>
                        <a:cs typeface="Times New Roman"/>
                      </a:endParaRPr>
                    </a:p>
                    <a:p>
                      <a:pPr>
                        <a:lnSpc>
                          <a:spcPct val="100000"/>
                        </a:lnSpc>
                        <a:spcBef>
                          <a:spcPts val="20"/>
                        </a:spcBef>
                      </a:pPr>
                      <a:endParaRPr sz="2450">
                        <a:latin typeface="Times New Roman"/>
                        <a:cs typeface="Times New Roman"/>
                      </a:endParaRPr>
                    </a:p>
                    <a:p>
                      <a:pPr marL="558800" marR="418465" indent="-132715">
                        <a:lnSpc>
                          <a:spcPct val="100000"/>
                        </a:lnSpc>
                      </a:pPr>
                      <a:r>
                        <a:rPr sz="2200" spc="5" dirty="0">
                          <a:latin typeface="Times New Roman"/>
                          <a:cs typeface="Times New Roman"/>
                        </a:rPr>
                        <a:t>S</a:t>
                      </a:r>
                      <a:r>
                        <a:rPr sz="2200" dirty="0">
                          <a:latin typeface="Times New Roman"/>
                          <a:cs typeface="Times New Roman"/>
                        </a:rPr>
                        <a:t>t</a:t>
                      </a:r>
                      <a:r>
                        <a:rPr sz="2200" spc="-10" dirty="0">
                          <a:latin typeface="Times New Roman"/>
                          <a:cs typeface="Times New Roman"/>
                        </a:rPr>
                        <a:t>ra</a:t>
                      </a:r>
                      <a:r>
                        <a:rPr sz="2200" dirty="0">
                          <a:latin typeface="Times New Roman"/>
                          <a:cs typeface="Times New Roman"/>
                        </a:rPr>
                        <a:t>t</a:t>
                      </a:r>
                      <a:r>
                        <a:rPr sz="2200" spc="-10" dirty="0">
                          <a:latin typeface="Times New Roman"/>
                          <a:cs typeface="Times New Roman"/>
                        </a:rPr>
                        <a:t>e</a:t>
                      </a:r>
                      <a:r>
                        <a:rPr sz="2200" spc="20" dirty="0">
                          <a:latin typeface="Times New Roman"/>
                          <a:cs typeface="Times New Roman"/>
                        </a:rPr>
                        <a:t>g</a:t>
                      </a:r>
                      <a:r>
                        <a:rPr sz="2200" spc="-20" dirty="0">
                          <a:latin typeface="Times New Roman"/>
                          <a:cs typeface="Times New Roman"/>
                        </a:rPr>
                        <a:t>i</a:t>
                      </a:r>
                      <a:r>
                        <a:rPr sz="2200" dirty="0">
                          <a:latin typeface="Times New Roman"/>
                          <a:cs typeface="Times New Roman"/>
                        </a:rPr>
                        <a:t>c  </a:t>
                      </a:r>
                      <a:r>
                        <a:rPr sz="2200" spc="-5" dirty="0">
                          <a:latin typeface="Times New Roman"/>
                          <a:cs typeface="Times New Roman"/>
                        </a:rPr>
                        <a:t>Assets</a:t>
                      </a: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nSpc>
                          <a:spcPct val="100000"/>
                        </a:lnSpc>
                        <a:spcBef>
                          <a:spcPts val="55"/>
                        </a:spcBef>
                      </a:pPr>
                      <a:endParaRPr sz="1950" dirty="0">
                        <a:latin typeface="Times New Roman"/>
                        <a:cs typeface="Times New Roman"/>
                      </a:endParaRPr>
                    </a:p>
                    <a:p>
                      <a:pPr marL="225425" marR="214629" algn="ctr">
                        <a:lnSpc>
                          <a:spcPct val="100000"/>
                        </a:lnSpc>
                        <a:tabLst>
                          <a:tab pos="1566545" algn="l"/>
                        </a:tabLst>
                      </a:pPr>
                      <a:r>
                        <a:rPr sz="2200" spc="-5" dirty="0">
                          <a:latin typeface="Times New Roman"/>
                          <a:cs typeface="Times New Roman"/>
                        </a:rPr>
                        <a:t>Strategic </a:t>
                      </a:r>
                      <a:r>
                        <a:rPr sz="2200" spc="-10" dirty="0">
                          <a:latin typeface="Times New Roman"/>
                          <a:cs typeface="Times New Roman"/>
                        </a:rPr>
                        <a:t>assets </a:t>
                      </a:r>
                      <a:r>
                        <a:rPr sz="2200" spc="-5" dirty="0">
                          <a:latin typeface="Times New Roman"/>
                          <a:cs typeface="Times New Roman"/>
                        </a:rPr>
                        <a:t>are </a:t>
                      </a:r>
                      <a:r>
                        <a:rPr sz="2200" dirty="0">
                          <a:latin typeface="Times New Roman"/>
                          <a:cs typeface="Times New Roman"/>
                        </a:rPr>
                        <a:t>anything </a:t>
                      </a:r>
                      <a:r>
                        <a:rPr sz="2200" spc="-5" dirty="0">
                          <a:latin typeface="Times New Roman"/>
                          <a:cs typeface="Times New Roman"/>
                        </a:rPr>
                        <a:t>rare </a:t>
                      </a:r>
                      <a:r>
                        <a:rPr sz="2200" dirty="0">
                          <a:latin typeface="Times New Roman"/>
                          <a:cs typeface="Times New Roman"/>
                        </a:rPr>
                        <a:t>and </a:t>
                      </a:r>
                      <a:r>
                        <a:rPr sz="2200" spc="-5" dirty="0">
                          <a:latin typeface="Times New Roman"/>
                          <a:cs typeface="Times New Roman"/>
                        </a:rPr>
                        <a:t>valuable that a </a:t>
                      </a:r>
                      <a:r>
                        <a:rPr sz="2200" spc="-535" dirty="0">
                          <a:latin typeface="Times New Roman"/>
                          <a:cs typeface="Times New Roman"/>
                        </a:rPr>
                        <a:t> </a:t>
                      </a:r>
                      <a:r>
                        <a:rPr sz="2200" spc="-5" dirty="0">
                          <a:latin typeface="Times New Roman"/>
                          <a:cs typeface="Times New Roman"/>
                        </a:rPr>
                        <a:t>firm</a:t>
                      </a:r>
                      <a:r>
                        <a:rPr sz="2200" spc="-15" dirty="0">
                          <a:latin typeface="Times New Roman"/>
                          <a:cs typeface="Times New Roman"/>
                        </a:rPr>
                        <a:t> </a:t>
                      </a:r>
                      <a:r>
                        <a:rPr sz="2200" spc="-5" dirty="0">
                          <a:latin typeface="Times New Roman"/>
                          <a:cs typeface="Times New Roman"/>
                        </a:rPr>
                        <a:t>owns.	</a:t>
                      </a:r>
                      <a:r>
                        <a:rPr sz="2200" dirty="0">
                          <a:latin typeface="Times New Roman"/>
                          <a:cs typeface="Times New Roman"/>
                        </a:rPr>
                        <a:t>They</a:t>
                      </a:r>
                      <a:r>
                        <a:rPr sz="2200" spc="20" dirty="0">
                          <a:latin typeface="Times New Roman"/>
                          <a:cs typeface="Times New Roman"/>
                        </a:rPr>
                        <a:t> </a:t>
                      </a:r>
                      <a:r>
                        <a:rPr sz="2200" spc="-5" dirty="0">
                          <a:latin typeface="Times New Roman"/>
                          <a:cs typeface="Times New Roman"/>
                        </a:rPr>
                        <a:t>include</a:t>
                      </a:r>
                      <a:r>
                        <a:rPr sz="2200" spc="-15" dirty="0">
                          <a:latin typeface="Times New Roman"/>
                          <a:cs typeface="Times New Roman"/>
                        </a:rPr>
                        <a:t> </a:t>
                      </a:r>
                      <a:r>
                        <a:rPr sz="2200" spc="-5" dirty="0">
                          <a:latin typeface="Times New Roman"/>
                          <a:cs typeface="Times New Roman"/>
                        </a:rPr>
                        <a:t>plant</a:t>
                      </a:r>
                      <a:r>
                        <a:rPr sz="2200" dirty="0">
                          <a:latin typeface="Times New Roman"/>
                          <a:cs typeface="Times New Roman"/>
                        </a:rPr>
                        <a:t> </a:t>
                      </a:r>
                      <a:r>
                        <a:rPr sz="2200" spc="-10" dirty="0">
                          <a:latin typeface="Times New Roman"/>
                          <a:cs typeface="Times New Roman"/>
                        </a:rPr>
                        <a:t>and </a:t>
                      </a:r>
                      <a:r>
                        <a:rPr sz="2200" spc="-5" dirty="0">
                          <a:latin typeface="Times New Roman"/>
                          <a:cs typeface="Times New Roman"/>
                        </a:rPr>
                        <a:t>equipment, </a:t>
                      </a:r>
                      <a:r>
                        <a:rPr sz="2200" dirty="0">
                          <a:latin typeface="Times New Roman"/>
                          <a:cs typeface="Times New Roman"/>
                        </a:rPr>
                        <a:t> </a:t>
                      </a:r>
                      <a:r>
                        <a:rPr sz="2200" spc="-5" dirty="0">
                          <a:latin typeface="Times New Roman"/>
                          <a:cs typeface="Times New Roman"/>
                        </a:rPr>
                        <a:t>location, brands, patents, customer data, a </a:t>
                      </a:r>
                      <a:r>
                        <a:rPr sz="2200" dirty="0">
                          <a:latin typeface="Times New Roman"/>
                          <a:cs typeface="Times New Roman"/>
                        </a:rPr>
                        <a:t>highly </a:t>
                      </a:r>
                      <a:r>
                        <a:rPr sz="2200" spc="5" dirty="0">
                          <a:latin typeface="Times New Roman"/>
                          <a:cs typeface="Times New Roman"/>
                        </a:rPr>
                        <a:t> </a:t>
                      </a:r>
                      <a:r>
                        <a:rPr sz="2200" spc="-5" dirty="0">
                          <a:latin typeface="Times New Roman"/>
                          <a:cs typeface="Times New Roman"/>
                        </a:rPr>
                        <a:t>qualified</a:t>
                      </a:r>
                      <a:r>
                        <a:rPr sz="2200" spc="-30" dirty="0">
                          <a:latin typeface="Times New Roman"/>
                          <a:cs typeface="Times New Roman"/>
                        </a:rPr>
                        <a:t> </a:t>
                      </a:r>
                      <a:r>
                        <a:rPr sz="2200" spc="-10" dirty="0">
                          <a:latin typeface="Times New Roman"/>
                          <a:cs typeface="Times New Roman"/>
                        </a:rPr>
                        <a:t>staff,</a:t>
                      </a:r>
                      <a:r>
                        <a:rPr sz="2200" spc="-25" dirty="0">
                          <a:latin typeface="Times New Roman"/>
                          <a:cs typeface="Times New Roman"/>
                        </a:rPr>
                        <a:t> </a:t>
                      </a:r>
                      <a:r>
                        <a:rPr sz="2200" dirty="0">
                          <a:latin typeface="Times New Roman"/>
                          <a:cs typeface="Times New Roman"/>
                        </a:rPr>
                        <a:t>and</a:t>
                      </a:r>
                      <a:r>
                        <a:rPr sz="2200" spc="-5" dirty="0">
                          <a:latin typeface="Times New Roman"/>
                          <a:cs typeface="Times New Roman"/>
                        </a:rPr>
                        <a:t> distinctive</a:t>
                      </a:r>
                      <a:r>
                        <a:rPr sz="2200" spc="-40" dirty="0">
                          <a:latin typeface="Times New Roman"/>
                          <a:cs typeface="Times New Roman"/>
                        </a:rPr>
                        <a:t> </a:t>
                      </a:r>
                      <a:r>
                        <a:rPr sz="2200" spc="-5" dirty="0">
                          <a:latin typeface="Times New Roman"/>
                          <a:cs typeface="Times New Roman"/>
                        </a:rPr>
                        <a:t>partnerships.</a:t>
                      </a:r>
                      <a:endParaRPr sz="2200" dirty="0">
                        <a:latin typeface="Times New Roman"/>
                        <a:cs typeface="Times New Roman"/>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dirty="0"/>
              <a:t>Strategic</a:t>
            </a:r>
            <a:r>
              <a:rPr spc="-30" dirty="0"/>
              <a:t> </a:t>
            </a:r>
            <a:r>
              <a:rPr spc="-5" dirty="0"/>
              <a:t>Resources</a:t>
            </a:r>
          </a:p>
          <a:p>
            <a:pPr algn="ctr">
              <a:lnSpc>
                <a:spcPct val="100000"/>
              </a:lnSpc>
              <a:spcBef>
                <a:spcPts val="55"/>
              </a:spcBef>
            </a:pPr>
            <a:r>
              <a:rPr sz="2200" spc="-5" dirty="0"/>
              <a:t>3</a:t>
            </a:r>
            <a:r>
              <a:rPr sz="2200" spc="-35" dirty="0"/>
              <a:t> </a:t>
            </a:r>
            <a:r>
              <a:rPr sz="2200" spc="-5" dirty="0"/>
              <a:t>of</a:t>
            </a:r>
            <a:r>
              <a:rPr sz="2200" spc="-15" dirty="0"/>
              <a:t> </a:t>
            </a:r>
            <a:r>
              <a:rPr sz="2200" spc="-5" dirty="0"/>
              <a:t>3</a:t>
            </a:r>
            <a:endParaRPr sz="2200"/>
          </a:p>
        </p:txBody>
      </p:sp>
      <p:sp>
        <p:nvSpPr>
          <p:cNvPr id="3" name="object 3"/>
          <p:cNvSpPr txBox="1"/>
          <p:nvPr/>
        </p:nvSpPr>
        <p:spPr>
          <a:xfrm>
            <a:off x="304800" y="1803066"/>
            <a:ext cx="9372600" cy="5407378"/>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5" dirty="0">
                <a:latin typeface="Times New Roman"/>
                <a:cs typeface="Times New Roman"/>
              </a:rPr>
              <a:t>Importance</a:t>
            </a:r>
            <a:r>
              <a:rPr sz="3050" spc="-45" dirty="0">
                <a:latin typeface="Times New Roman"/>
                <a:cs typeface="Times New Roman"/>
              </a:rPr>
              <a:t> </a:t>
            </a:r>
            <a:r>
              <a:rPr sz="3050" spc="10" dirty="0">
                <a:latin typeface="Times New Roman"/>
                <a:cs typeface="Times New Roman"/>
              </a:rPr>
              <a:t>of</a:t>
            </a:r>
            <a:r>
              <a:rPr sz="3050" spc="-15" dirty="0">
                <a:latin typeface="Times New Roman"/>
                <a:cs typeface="Times New Roman"/>
              </a:rPr>
              <a:t> </a:t>
            </a:r>
            <a:r>
              <a:rPr sz="3050" spc="10" dirty="0">
                <a:latin typeface="Times New Roman"/>
                <a:cs typeface="Times New Roman"/>
              </a:rPr>
              <a:t>Strategic</a:t>
            </a:r>
            <a:r>
              <a:rPr sz="3050" spc="-40" dirty="0">
                <a:latin typeface="Times New Roman"/>
                <a:cs typeface="Times New Roman"/>
              </a:rPr>
              <a:t> </a:t>
            </a:r>
            <a:r>
              <a:rPr sz="3050" spc="15" dirty="0">
                <a:latin typeface="Times New Roman"/>
                <a:cs typeface="Times New Roman"/>
              </a:rPr>
              <a:t>Resources</a:t>
            </a:r>
            <a:endParaRPr sz="3050" dirty="0">
              <a:latin typeface="Times New Roman"/>
              <a:cs typeface="Times New Roman"/>
            </a:endParaRPr>
          </a:p>
          <a:p>
            <a:pPr marL="829310" marR="187960" lvl="1" indent="-314325">
              <a:lnSpc>
                <a:spcPts val="3170"/>
              </a:lnSpc>
              <a:spcBef>
                <a:spcPts val="750"/>
              </a:spcBef>
              <a:buChar char="–"/>
              <a:tabLst>
                <a:tab pos="830580" algn="l"/>
                <a:tab pos="831215" algn="l"/>
              </a:tabLst>
            </a:pPr>
            <a:r>
              <a:rPr lang="en-US" sz="2650" spc="-15" dirty="0">
                <a:latin typeface="Times New Roman"/>
                <a:cs typeface="Times New Roman"/>
              </a:rPr>
              <a:t>Companies </a:t>
            </a:r>
            <a:r>
              <a:rPr sz="2650" spc="-5" dirty="0">
                <a:latin typeface="Times New Roman"/>
                <a:cs typeface="Times New Roman"/>
              </a:rPr>
              <a:t>ultimately </a:t>
            </a:r>
            <a:r>
              <a:rPr sz="2650" spc="-10" dirty="0">
                <a:latin typeface="Times New Roman"/>
                <a:cs typeface="Times New Roman"/>
              </a:rPr>
              <a:t>try </a:t>
            </a:r>
            <a:r>
              <a:rPr sz="2650" spc="-5" dirty="0">
                <a:latin typeface="Times New Roman"/>
                <a:cs typeface="Times New Roman"/>
              </a:rPr>
              <a:t>to </a:t>
            </a:r>
            <a:r>
              <a:rPr sz="2650" spc="-10" dirty="0">
                <a:latin typeface="Times New Roman"/>
                <a:cs typeface="Times New Roman"/>
              </a:rPr>
              <a:t>combine </a:t>
            </a:r>
            <a:r>
              <a:rPr sz="2650" spc="-5" dirty="0">
                <a:latin typeface="Times New Roman"/>
                <a:cs typeface="Times New Roman"/>
              </a:rPr>
              <a:t>their core</a:t>
            </a:r>
            <a:r>
              <a:rPr lang="en-US" sz="2650" spc="-5" dirty="0">
                <a:latin typeface="Times New Roman"/>
                <a:cs typeface="Times New Roman"/>
              </a:rPr>
              <a:t> </a:t>
            </a:r>
            <a:r>
              <a:rPr sz="2650" spc="-10" dirty="0">
                <a:latin typeface="Times New Roman"/>
                <a:cs typeface="Times New Roman"/>
              </a:rPr>
              <a:t>competencies </a:t>
            </a:r>
            <a:r>
              <a:rPr sz="2650" dirty="0">
                <a:latin typeface="Times New Roman"/>
                <a:cs typeface="Times New Roman"/>
              </a:rPr>
              <a:t>and </a:t>
            </a:r>
            <a:r>
              <a:rPr sz="2650" spc="-10" dirty="0">
                <a:latin typeface="Times New Roman"/>
                <a:cs typeface="Times New Roman"/>
              </a:rPr>
              <a:t>strategic </a:t>
            </a:r>
            <a:r>
              <a:rPr sz="2650" spc="-5" dirty="0">
                <a:latin typeface="Times New Roman"/>
                <a:cs typeface="Times New Roman"/>
              </a:rPr>
              <a:t>assets </a:t>
            </a:r>
            <a:r>
              <a:rPr sz="2650" spc="-20" dirty="0">
                <a:latin typeface="Times New Roman"/>
                <a:cs typeface="Times New Roman"/>
              </a:rPr>
              <a:t>to </a:t>
            </a:r>
            <a:r>
              <a:rPr sz="2650" spc="-5" dirty="0">
                <a:latin typeface="Times New Roman"/>
                <a:cs typeface="Times New Roman"/>
              </a:rPr>
              <a:t>create a </a:t>
            </a:r>
            <a:r>
              <a:rPr lang="en-US" sz="2650" b="1" spc="-10" dirty="0">
                <a:latin typeface="Times New Roman"/>
                <a:cs typeface="Times New Roman"/>
              </a:rPr>
              <a:t>s</a:t>
            </a:r>
            <a:r>
              <a:rPr sz="2650" b="1" spc="-10" dirty="0">
                <a:latin typeface="Times New Roman"/>
                <a:cs typeface="Times New Roman"/>
              </a:rPr>
              <a:t>ustainable </a:t>
            </a:r>
            <a:r>
              <a:rPr sz="2650" b="1" spc="-650" dirty="0">
                <a:latin typeface="Times New Roman"/>
                <a:cs typeface="Times New Roman"/>
              </a:rPr>
              <a:t> </a:t>
            </a:r>
            <a:r>
              <a:rPr lang="en-US" sz="2650" b="1" spc="-5" dirty="0">
                <a:latin typeface="Times New Roman"/>
                <a:cs typeface="Times New Roman"/>
              </a:rPr>
              <a:t>c</a:t>
            </a:r>
            <a:r>
              <a:rPr sz="2650" b="1" spc="-5" dirty="0">
                <a:latin typeface="Times New Roman"/>
                <a:cs typeface="Times New Roman"/>
              </a:rPr>
              <a:t>ompetitive</a:t>
            </a:r>
            <a:r>
              <a:rPr sz="2650" b="1" spc="-45" dirty="0">
                <a:latin typeface="Times New Roman"/>
                <a:cs typeface="Times New Roman"/>
              </a:rPr>
              <a:t> </a:t>
            </a:r>
            <a:r>
              <a:rPr lang="en-US" sz="2650" b="1" spc="-5" dirty="0">
                <a:latin typeface="Times New Roman"/>
                <a:cs typeface="Times New Roman"/>
              </a:rPr>
              <a:t>a</a:t>
            </a:r>
            <a:r>
              <a:rPr sz="2650" b="1" spc="-5" dirty="0">
                <a:latin typeface="Times New Roman"/>
                <a:cs typeface="Times New Roman"/>
              </a:rPr>
              <a:t>dvantage.</a:t>
            </a:r>
            <a:endParaRPr sz="2650" b="1" dirty="0">
              <a:latin typeface="Times New Roman"/>
              <a:cs typeface="Times New Roman"/>
            </a:endParaRPr>
          </a:p>
          <a:p>
            <a:pPr marL="829310" marR="77470" lvl="1" indent="-314325">
              <a:lnSpc>
                <a:spcPts val="3170"/>
              </a:lnSpc>
              <a:spcBef>
                <a:spcPts val="635"/>
              </a:spcBef>
              <a:buChar char="–"/>
              <a:tabLst>
                <a:tab pos="830580" algn="l"/>
                <a:tab pos="831215" algn="l"/>
              </a:tabLst>
            </a:pPr>
            <a:r>
              <a:rPr sz="2650" spc="-15" dirty="0">
                <a:latin typeface="Times New Roman"/>
                <a:cs typeface="Times New Roman"/>
              </a:rPr>
              <a:t>This </a:t>
            </a:r>
            <a:r>
              <a:rPr sz="2650" spc="-10" dirty="0">
                <a:latin typeface="Times New Roman"/>
                <a:cs typeface="Times New Roman"/>
              </a:rPr>
              <a:t>factor </a:t>
            </a:r>
            <a:r>
              <a:rPr sz="2650" spc="-5" dirty="0">
                <a:latin typeface="Times New Roman"/>
                <a:cs typeface="Times New Roman"/>
              </a:rPr>
              <a:t>is one </a:t>
            </a:r>
            <a:r>
              <a:rPr sz="2650" spc="-10" dirty="0">
                <a:latin typeface="Times New Roman"/>
                <a:cs typeface="Times New Roman"/>
              </a:rPr>
              <a:t>that investors </a:t>
            </a:r>
            <a:r>
              <a:rPr sz="2650" dirty="0">
                <a:latin typeface="Times New Roman"/>
                <a:cs typeface="Times New Roman"/>
              </a:rPr>
              <a:t>pay </a:t>
            </a:r>
            <a:r>
              <a:rPr sz="2650" spc="-10" dirty="0">
                <a:latin typeface="Times New Roman"/>
                <a:cs typeface="Times New Roman"/>
              </a:rPr>
              <a:t>close </a:t>
            </a:r>
            <a:r>
              <a:rPr sz="2650" spc="-5" dirty="0">
                <a:latin typeface="Times New Roman"/>
                <a:cs typeface="Times New Roman"/>
              </a:rPr>
              <a:t>attention </a:t>
            </a:r>
            <a:r>
              <a:rPr sz="2650" spc="-15" dirty="0">
                <a:latin typeface="Times New Roman"/>
                <a:cs typeface="Times New Roman"/>
              </a:rPr>
              <a:t>when</a:t>
            </a:r>
            <a:r>
              <a:rPr lang="en-US" sz="2650" spc="-15" dirty="0">
                <a:latin typeface="Times New Roman"/>
                <a:cs typeface="Times New Roman"/>
              </a:rPr>
              <a:t> </a:t>
            </a:r>
            <a:r>
              <a:rPr sz="2650" spc="-5" dirty="0">
                <a:latin typeface="Times New Roman"/>
                <a:cs typeface="Times New Roman"/>
              </a:rPr>
              <a:t>evaluating</a:t>
            </a:r>
            <a:r>
              <a:rPr sz="2650" spc="-65" dirty="0">
                <a:latin typeface="Times New Roman"/>
                <a:cs typeface="Times New Roman"/>
              </a:rPr>
              <a:t> </a:t>
            </a:r>
            <a:r>
              <a:rPr sz="2650" spc="-5" dirty="0">
                <a:latin typeface="Times New Roman"/>
                <a:cs typeface="Times New Roman"/>
              </a:rPr>
              <a:t>a</a:t>
            </a:r>
            <a:r>
              <a:rPr sz="2650" spc="10" dirty="0">
                <a:latin typeface="Times New Roman"/>
                <a:cs typeface="Times New Roman"/>
              </a:rPr>
              <a:t> </a:t>
            </a:r>
            <a:r>
              <a:rPr sz="2650" spc="-5" dirty="0">
                <a:latin typeface="Times New Roman"/>
                <a:cs typeface="Times New Roman"/>
              </a:rPr>
              <a:t>business.</a:t>
            </a:r>
            <a:endParaRPr sz="2650" dirty="0">
              <a:latin typeface="Times New Roman"/>
              <a:cs typeface="Times New Roman"/>
            </a:endParaRPr>
          </a:p>
          <a:p>
            <a:pPr marL="829310" marR="5080" lvl="1" indent="-314325">
              <a:lnSpc>
                <a:spcPts val="3170"/>
              </a:lnSpc>
              <a:spcBef>
                <a:spcPts val="630"/>
              </a:spcBef>
              <a:buChar char="–"/>
              <a:tabLst>
                <a:tab pos="830580" algn="l"/>
                <a:tab pos="831215" algn="l"/>
              </a:tabLst>
            </a:pPr>
            <a:r>
              <a:rPr sz="2650" spc="-10" dirty="0">
                <a:latin typeface="Times New Roman"/>
                <a:cs typeface="Times New Roman"/>
              </a:rPr>
              <a:t>A sustainable </a:t>
            </a:r>
            <a:r>
              <a:rPr sz="2650" spc="-5" dirty="0">
                <a:latin typeface="Times New Roman"/>
                <a:cs typeface="Times New Roman"/>
              </a:rPr>
              <a:t>competitive advantage is achieved by</a:t>
            </a:r>
            <a:r>
              <a:rPr lang="en-US" sz="2650" spc="-5" dirty="0">
                <a:latin typeface="Times New Roman"/>
                <a:cs typeface="Times New Roman"/>
              </a:rPr>
              <a:t> </a:t>
            </a:r>
            <a:r>
              <a:rPr sz="2650" spc="-10" dirty="0">
                <a:latin typeface="Times New Roman"/>
                <a:cs typeface="Times New Roman"/>
              </a:rPr>
              <a:t>implementing</a:t>
            </a:r>
            <a:r>
              <a:rPr sz="2650" spc="-35" dirty="0">
                <a:latin typeface="Times New Roman"/>
                <a:cs typeface="Times New Roman"/>
              </a:rPr>
              <a:t> </a:t>
            </a:r>
            <a:r>
              <a:rPr sz="2650" spc="-5" dirty="0">
                <a:latin typeface="Times New Roman"/>
                <a:cs typeface="Times New Roman"/>
              </a:rPr>
              <a:t>a</a:t>
            </a:r>
            <a:r>
              <a:rPr sz="2650" spc="10" dirty="0">
                <a:latin typeface="Times New Roman"/>
                <a:cs typeface="Times New Roman"/>
              </a:rPr>
              <a:t> </a:t>
            </a:r>
            <a:r>
              <a:rPr sz="2650" spc="-10" dirty="0">
                <a:latin typeface="Times New Roman"/>
                <a:cs typeface="Times New Roman"/>
              </a:rPr>
              <a:t>value-creating</a:t>
            </a:r>
            <a:r>
              <a:rPr sz="2650" spc="-30" dirty="0">
                <a:latin typeface="Times New Roman"/>
                <a:cs typeface="Times New Roman"/>
              </a:rPr>
              <a:t> </a:t>
            </a:r>
            <a:r>
              <a:rPr sz="2650" spc="-5" dirty="0">
                <a:latin typeface="Times New Roman"/>
                <a:cs typeface="Times New Roman"/>
              </a:rPr>
              <a:t>strategy</a:t>
            </a:r>
            <a:r>
              <a:rPr sz="2650" spc="-30" dirty="0">
                <a:latin typeface="Times New Roman"/>
                <a:cs typeface="Times New Roman"/>
              </a:rPr>
              <a:t> </a:t>
            </a:r>
            <a:r>
              <a:rPr sz="2650" dirty="0">
                <a:latin typeface="Times New Roman"/>
                <a:cs typeface="Times New Roman"/>
              </a:rPr>
              <a:t>that</a:t>
            </a:r>
            <a:r>
              <a:rPr sz="2650" spc="-25" dirty="0">
                <a:latin typeface="Times New Roman"/>
                <a:cs typeface="Times New Roman"/>
              </a:rPr>
              <a:t> </a:t>
            </a:r>
            <a:r>
              <a:rPr sz="2650" spc="-5" dirty="0">
                <a:latin typeface="Times New Roman"/>
                <a:cs typeface="Times New Roman"/>
              </a:rPr>
              <a:t>is</a:t>
            </a:r>
            <a:r>
              <a:rPr sz="2650" spc="-35" dirty="0">
                <a:latin typeface="Times New Roman"/>
                <a:cs typeface="Times New Roman"/>
              </a:rPr>
              <a:t> </a:t>
            </a:r>
            <a:r>
              <a:rPr sz="2650" spc="-5" dirty="0">
                <a:latin typeface="Times New Roman"/>
                <a:cs typeface="Times New Roman"/>
              </a:rPr>
              <a:t>unique</a:t>
            </a:r>
            <a:r>
              <a:rPr sz="2650" spc="10" dirty="0">
                <a:latin typeface="Times New Roman"/>
                <a:cs typeface="Times New Roman"/>
              </a:rPr>
              <a:t> </a:t>
            </a:r>
            <a:r>
              <a:rPr sz="2650" spc="-10" dirty="0">
                <a:latin typeface="Times New Roman"/>
                <a:cs typeface="Times New Roman"/>
              </a:rPr>
              <a:t>and</a:t>
            </a:r>
            <a:r>
              <a:rPr lang="en-US" sz="2650" spc="-10" dirty="0">
                <a:latin typeface="Times New Roman"/>
                <a:cs typeface="Times New Roman"/>
              </a:rPr>
              <a:t> </a:t>
            </a:r>
            <a:r>
              <a:rPr sz="2650" spc="-5" dirty="0">
                <a:latin typeface="Times New Roman"/>
                <a:cs typeface="Times New Roman"/>
              </a:rPr>
              <a:t>not easy</a:t>
            </a:r>
            <a:r>
              <a:rPr sz="2650" spc="-30" dirty="0">
                <a:latin typeface="Times New Roman"/>
                <a:cs typeface="Times New Roman"/>
              </a:rPr>
              <a:t> </a:t>
            </a:r>
            <a:r>
              <a:rPr sz="2650" spc="-5" dirty="0">
                <a:latin typeface="Times New Roman"/>
                <a:cs typeface="Times New Roman"/>
              </a:rPr>
              <a:t>to </a:t>
            </a:r>
            <a:r>
              <a:rPr sz="2650" spc="-10" dirty="0">
                <a:latin typeface="Times New Roman"/>
                <a:cs typeface="Times New Roman"/>
              </a:rPr>
              <a:t>imitate.</a:t>
            </a:r>
            <a:endParaRPr sz="2650" dirty="0">
              <a:latin typeface="Times New Roman"/>
              <a:cs typeface="Times New Roman"/>
            </a:endParaRPr>
          </a:p>
          <a:p>
            <a:pPr marL="829310" marR="577215" lvl="1" indent="-314325">
              <a:lnSpc>
                <a:spcPts val="3170"/>
              </a:lnSpc>
              <a:spcBef>
                <a:spcPts val="620"/>
              </a:spcBef>
              <a:buChar char="–"/>
              <a:tabLst>
                <a:tab pos="830580" algn="l"/>
                <a:tab pos="831215" algn="l"/>
              </a:tabLst>
            </a:pPr>
            <a:r>
              <a:rPr sz="2650" spc="-15" dirty="0">
                <a:latin typeface="Times New Roman"/>
                <a:cs typeface="Times New Roman"/>
              </a:rPr>
              <a:t>This </a:t>
            </a:r>
            <a:r>
              <a:rPr sz="2650" spc="-5" dirty="0">
                <a:latin typeface="Times New Roman"/>
                <a:cs typeface="Times New Roman"/>
              </a:rPr>
              <a:t>type of advantage is </a:t>
            </a:r>
            <a:r>
              <a:rPr sz="2650" spc="-10" dirty="0">
                <a:latin typeface="Times New Roman"/>
                <a:cs typeface="Times New Roman"/>
              </a:rPr>
              <a:t>achievable </a:t>
            </a:r>
            <a:r>
              <a:rPr sz="2650" spc="-15" dirty="0">
                <a:latin typeface="Times New Roman"/>
                <a:cs typeface="Times New Roman"/>
              </a:rPr>
              <a:t>when </a:t>
            </a:r>
            <a:r>
              <a:rPr sz="2650" spc="-5" dirty="0">
                <a:latin typeface="Times New Roman"/>
                <a:cs typeface="Times New Roman"/>
              </a:rPr>
              <a:t>a firm </a:t>
            </a:r>
            <a:r>
              <a:rPr sz="2650" dirty="0">
                <a:latin typeface="Times New Roman"/>
                <a:cs typeface="Times New Roman"/>
              </a:rPr>
              <a:t>has</a:t>
            </a:r>
            <a:r>
              <a:rPr lang="en-US" sz="2650" dirty="0">
                <a:latin typeface="Times New Roman"/>
                <a:cs typeface="Times New Roman"/>
              </a:rPr>
              <a:t> </a:t>
            </a:r>
            <a:r>
              <a:rPr sz="2650" spc="-5" dirty="0">
                <a:latin typeface="Times New Roman"/>
                <a:cs typeface="Times New Roman"/>
              </a:rPr>
              <a:t>strategic</a:t>
            </a:r>
            <a:r>
              <a:rPr sz="2650" spc="-45" dirty="0">
                <a:latin typeface="Times New Roman"/>
                <a:cs typeface="Times New Roman"/>
              </a:rPr>
              <a:t> </a:t>
            </a:r>
            <a:r>
              <a:rPr sz="2650" spc="-5" dirty="0">
                <a:latin typeface="Times New Roman"/>
                <a:cs typeface="Times New Roman"/>
              </a:rPr>
              <a:t>resources</a:t>
            </a:r>
            <a:r>
              <a:rPr sz="2650" spc="-30" dirty="0">
                <a:latin typeface="Times New Roman"/>
                <a:cs typeface="Times New Roman"/>
              </a:rPr>
              <a:t> </a:t>
            </a:r>
            <a:r>
              <a:rPr sz="2650" dirty="0">
                <a:latin typeface="Times New Roman"/>
                <a:cs typeface="Times New Roman"/>
              </a:rPr>
              <a:t>and</a:t>
            </a:r>
            <a:r>
              <a:rPr sz="2650" spc="-5" dirty="0">
                <a:latin typeface="Times New Roman"/>
                <a:cs typeface="Times New Roman"/>
              </a:rPr>
              <a:t> the</a:t>
            </a:r>
            <a:r>
              <a:rPr sz="2650" spc="-15" dirty="0">
                <a:latin typeface="Times New Roman"/>
                <a:cs typeface="Times New Roman"/>
              </a:rPr>
              <a:t> </a:t>
            </a:r>
            <a:r>
              <a:rPr sz="2650" spc="-10" dirty="0">
                <a:latin typeface="Times New Roman"/>
                <a:cs typeface="Times New Roman"/>
              </a:rPr>
              <a:t>ability</a:t>
            </a:r>
            <a:r>
              <a:rPr sz="2650" spc="-35" dirty="0">
                <a:latin typeface="Times New Roman"/>
                <a:cs typeface="Times New Roman"/>
              </a:rPr>
              <a:t> </a:t>
            </a:r>
            <a:r>
              <a:rPr sz="2650" spc="-5" dirty="0">
                <a:latin typeface="Times New Roman"/>
                <a:cs typeface="Times New Roman"/>
              </a:rPr>
              <a:t>to use</a:t>
            </a:r>
            <a:r>
              <a:rPr sz="2650" spc="-15" dirty="0">
                <a:latin typeface="Times New Roman"/>
                <a:cs typeface="Times New Roman"/>
              </a:rPr>
              <a:t> </a:t>
            </a:r>
            <a:r>
              <a:rPr sz="2650" spc="-10" dirty="0">
                <a:latin typeface="Times New Roman"/>
                <a:cs typeface="Times New Roman"/>
              </a:rPr>
              <a:t>them</a:t>
            </a:r>
            <a:r>
              <a:rPr lang="en-US" sz="2650" spc="-10" dirty="0">
                <a:latin typeface="Times New Roman"/>
                <a:cs typeface="Times New Roman"/>
              </a:rPr>
              <a:t> in unique ways that create value for a group of targeted customers</a:t>
            </a:r>
            <a:r>
              <a:rPr sz="2650" spc="-10" dirty="0">
                <a:latin typeface="Times New Roman"/>
                <a:cs typeface="Times New Roman"/>
              </a:rPr>
              <a:t>.</a:t>
            </a:r>
            <a:endParaRPr sz="265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dirty="0"/>
              <a:t>Partnership</a:t>
            </a:r>
            <a:r>
              <a:rPr spc="-25" dirty="0"/>
              <a:t> </a:t>
            </a:r>
            <a:r>
              <a:rPr spc="-5" dirty="0"/>
              <a:t>Network</a:t>
            </a:r>
          </a:p>
          <a:p>
            <a:pPr algn="ctr">
              <a:lnSpc>
                <a:spcPct val="100000"/>
              </a:lnSpc>
              <a:spcBef>
                <a:spcPts val="55"/>
              </a:spcBef>
            </a:pPr>
            <a:r>
              <a:rPr sz="2200" spc="-5" dirty="0"/>
              <a:t>1</a:t>
            </a:r>
            <a:r>
              <a:rPr sz="2200" spc="-35" dirty="0"/>
              <a:t> </a:t>
            </a:r>
            <a:r>
              <a:rPr sz="2200" spc="-5" dirty="0"/>
              <a:t>of</a:t>
            </a:r>
            <a:r>
              <a:rPr sz="2200" spc="-15" dirty="0"/>
              <a:t> </a:t>
            </a:r>
            <a:r>
              <a:rPr sz="2200" spc="-5" dirty="0"/>
              <a:t>3</a:t>
            </a:r>
            <a:endParaRPr sz="2200"/>
          </a:p>
        </p:txBody>
      </p:sp>
      <p:sp>
        <p:nvSpPr>
          <p:cNvPr id="3" name="object 3"/>
          <p:cNvSpPr txBox="1"/>
          <p:nvPr/>
        </p:nvSpPr>
        <p:spPr>
          <a:xfrm>
            <a:off x="590865" y="1803066"/>
            <a:ext cx="8554085" cy="4912242"/>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0" dirty="0">
                <a:latin typeface="Times New Roman"/>
                <a:cs typeface="Times New Roman"/>
              </a:rPr>
              <a:t>Partnership</a:t>
            </a:r>
            <a:r>
              <a:rPr sz="3050" spc="-35" dirty="0">
                <a:latin typeface="Times New Roman"/>
                <a:cs typeface="Times New Roman"/>
              </a:rPr>
              <a:t> </a:t>
            </a:r>
            <a:r>
              <a:rPr sz="3050" spc="15" dirty="0">
                <a:latin typeface="Times New Roman"/>
                <a:cs typeface="Times New Roman"/>
              </a:rPr>
              <a:t>Network</a:t>
            </a:r>
            <a:endParaRPr sz="3050" dirty="0">
              <a:latin typeface="Times New Roman"/>
              <a:cs typeface="Times New Roman"/>
            </a:endParaRPr>
          </a:p>
          <a:p>
            <a:pPr marL="829310" marR="5080" lvl="1" indent="-314325">
              <a:lnSpc>
                <a:spcPts val="3170"/>
              </a:lnSpc>
              <a:spcBef>
                <a:spcPts val="750"/>
              </a:spcBef>
              <a:buChar char="–"/>
              <a:tabLst>
                <a:tab pos="830580" algn="l"/>
                <a:tab pos="831215" algn="l"/>
                <a:tab pos="3139440" algn="l"/>
              </a:tabLst>
            </a:pPr>
            <a:r>
              <a:rPr sz="2650" spc="-10" dirty="0">
                <a:latin typeface="Times New Roman"/>
                <a:cs typeface="Times New Roman"/>
              </a:rPr>
              <a:t>A firm’s partnership </a:t>
            </a:r>
            <a:r>
              <a:rPr sz="2650" spc="-5" dirty="0">
                <a:latin typeface="Times New Roman"/>
                <a:cs typeface="Times New Roman"/>
              </a:rPr>
              <a:t>network is the third </a:t>
            </a:r>
            <a:r>
              <a:rPr sz="2650" spc="-10" dirty="0">
                <a:latin typeface="Times New Roman"/>
                <a:cs typeface="Times New Roman"/>
              </a:rPr>
              <a:t>component </a:t>
            </a:r>
            <a:r>
              <a:rPr sz="2650" spc="-5" dirty="0">
                <a:latin typeface="Times New Roman"/>
                <a:cs typeface="Times New Roman"/>
              </a:rPr>
              <a:t>of a </a:t>
            </a:r>
            <a:r>
              <a:rPr sz="2650" dirty="0">
                <a:latin typeface="Times New Roman"/>
                <a:cs typeface="Times New Roman"/>
              </a:rPr>
              <a:t> </a:t>
            </a:r>
            <a:r>
              <a:rPr sz="2650" spc="-10" dirty="0">
                <a:latin typeface="Times New Roman"/>
                <a:cs typeface="Times New Roman"/>
              </a:rPr>
              <a:t>business</a:t>
            </a:r>
            <a:r>
              <a:rPr sz="2650" spc="20" dirty="0">
                <a:latin typeface="Times New Roman"/>
                <a:cs typeface="Times New Roman"/>
              </a:rPr>
              <a:t> </a:t>
            </a:r>
            <a:r>
              <a:rPr sz="2650" spc="-10" dirty="0">
                <a:latin typeface="Times New Roman"/>
                <a:cs typeface="Times New Roman"/>
              </a:rPr>
              <a:t>model.	</a:t>
            </a:r>
            <a:r>
              <a:rPr sz="2650" spc="-15" dirty="0">
                <a:latin typeface="Times New Roman"/>
                <a:cs typeface="Times New Roman"/>
              </a:rPr>
              <a:t>New</a:t>
            </a:r>
            <a:r>
              <a:rPr sz="2650" spc="5" dirty="0">
                <a:latin typeface="Times New Roman"/>
                <a:cs typeface="Times New Roman"/>
              </a:rPr>
              <a:t> </a:t>
            </a:r>
            <a:r>
              <a:rPr sz="2650" spc="-5" dirty="0">
                <a:latin typeface="Times New Roman"/>
                <a:cs typeface="Times New Roman"/>
              </a:rPr>
              <a:t>ventures,</a:t>
            </a:r>
            <a:r>
              <a:rPr sz="2650" spc="-35" dirty="0">
                <a:latin typeface="Times New Roman"/>
                <a:cs typeface="Times New Roman"/>
              </a:rPr>
              <a:t> </a:t>
            </a:r>
            <a:r>
              <a:rPr sz="2650" spc="-5" dirty="0">
                <a:latin typeface="Times New Roman"/>
                <a:cs typeface="Times New Roman"/>
              </a:rPr>
              <a:t>in</a:t>
            </a:r>
            <a:r>
              <a:rPr sz="2650" spc="-15" dirty="0">
                <a:latin typeface="Times New Roman"/>
                <a:cs typeface="Times New Roman"/>
              </a:rPr>
              <a:t> </a:t>
            </a:r>
            <a:r>
              <a:rPr sz="2650" spc="-10" dirty="0">
                <a:latin typeface="Times New Roman"/>
                <a:cs typeface="Times New Roman"/>
              </a:rPr>
              <a:t>particular,</a:t>
            </a:r>
            <a:r>
              <a:rPr sz="2650" spc="-35" dirty="0">
                <a:latin typeface="Times New Roman"/>
                <a:cs typeface="Times New Roman"/>
              </a:rPr>
              <a:t> </a:t>
            </a:r>
            <a:r>
              <a:rPr sz="2650" spc="-5" dirty="0">
                <a:latin typeface="Times New Roman"/>
                <a:cs typeface="Times New Roman"/>
              </a:rPr>
              <a:t>typically</a:t>
            </a:r>
            <a:r>
              <a:rPr sz="2650" spc="-40" dirty="0">
                <a:latin typeface="Times New Roman"/>
                <a:cs typeface="Times New Roman"/>
              </a:rPr>
              <a:t> </a:t>
            </a:r>
            <a:r>
              <a:rPr sz="2650" spc="-5" dirty="0">
                <a:latin typeface="Times New Roman"/>
                <a:cs typeface="Times New Roman"/>
              </a:rPr>
              <a:t>do </a:t>
            </a:r>
            <a:r>
              <a:rPr sz="2650" spc="-645" dirty="0">
                <a:latin typeface="Times New Roman"/>
                <a:cs typeface="Times New Roman"/>
              </a:rPr>
              <a:t> </a:t>
            </a:r>
            <a:r>
              <a:rPr sz="2650" spc="-5" dirty="0">
                <a:latin typeface="Times New Roman"/>
                <a:cs typeface="Times New Roman"/>
              </a:rPr>
              <a:t>not </a:t>
            </a:r>
            <a:r>
              <a:rPr sz="2650" spc="-10" dirty="0">
                <a:latin typeface="Times New Roman"/>
                <a:cs typeface="Times New Roman"/>
              </a:rPr>
              <a:t>have</a:t>
            </a:r>
            <a:r>
              <a:rPr sz="2650" spc="-15" dirty="0">
                <a:latin typeface="Times New Roman"/>
                <a:cs typeface="Times New Roman"/>
              </a:rPr>
              <a:t> </a:t>
            </a:r>
            <a:r>
              <a:rPr sz="2650" spc="-5" dirty="0">
                <a:latin typeface="Times New Roman"/>
                <a:cs typeface="Times New Roman"/>
              </a:rPr>
              <a:t>the</a:t>
            </a:r>
            <a:r>
              <a:rPr sz="2650" spc="-15" dirty="0">
                <a:latin typeface="Times New Roman"/>
                <a:cs typeface="Times New Roman"/>
              </a:rPr>
              <a:t> </a:t>
            </a:r>
            <a:r>
              <a:rPr sz="2650" spc="-5" dirty="0">
                <a:latin typeface="Times New Roman"/>
                <a:cs typeface="Times New Roman"/>
              </a:rPr>
              <a:t>resources</a:t>
            </a:r>
            <a:r>
              <a:rPr sz="2650" spc="-30" dirty="0">
                <a:latin typeface="Times New Roman"/>
                <a:cs typeface="Times New Roman"/>
              </a:rPr>
              <a:t> </a:t>
            </a:r>
            <a:r>
              <a:rPr sz="2650" spc="-5" dirty="0">
                <a:latin typeface="Times New Roman"/>
                <a:cs typeface="Times New Roman"/>
              </a:rPr>
              <a:t>to</a:t>
            </a:r>
            <a:r>
              <a:rPr sz="2650" spc="-10" dirty="0">
                <a:latin typeface="Times New Roman"/>
                <a:cs typeface="Times New Roman"/>
              </a:rPr>
              <a:t> perform</a:t>
            </a:r>
            <a:r>
              <a:rPr sz="2650" dirty="0">
                <a:latin typeface="Times New Roman"/>
                <a:cs typeface="Times New Roman"/>
              </a:rPr>
              <a:t> key</a:t>
            </a:r>
            <a:r>
              <a:rPr sz="2650" spc="-5" dirty="0">
                <a:latin typeface="Times New Roman"/>
                <a:cs typeface="Times New Roman"/>
              </a:rPr>
              <a:t> </a:t>
            </a:r>
            <a:r>
              <a:rPr sz="2650" spc="-10" dirty="0">
                <a:latin typeface="Times New Roman"/>
                <a:cs typeface="Times New Roman"/>
              </a:rPr>
              <a:t>roles.</a:t>
            </a:r>
            <a:endParaRPr sz="2650" dirty="0">
              <a:latin typeface="Times New Roman"/>
              <a:cs typeface="Times New Roman"/>
            </a:endParaRPr>
          </a:p>
          <a:p>
            <a:pPr marL="829310" marR="147955" lvl="1" indent="-314325">
              <a:lnSpc>
                <a:spcPts val="3170"/>
              </a:lnSpc>
              <a:spcBef>
                <a:spcPts val="635"/>
              </a:spcBef>
              <a:buChar char="–"/>
              <a:tabLst>
                <a:tab pos="830580" algn="l"/>
                <a:tab pos="831215" algn="l"/>
              </a:tabLst>
            </a:pPr>
            <a:r>
              <a:rPr sz="2650" spc="-10" dirty="0">
                <a:latin typeface="Times New Roman"/>
                <a:cs typeface="Times New Roman"/>
              </a:rPr>
              <a:t>In </a:t>
            </a:r>
            <a:r>
              <a:rPr sz="2650" spc="-5" dirty="0">
                <a:latin typeface="Times New Roman"/>
                <a:cs typeface="Times New Roman"/>
              </a:rPr>
              <a:t>most</a:t>
            </a:r>
            <a:r>
              <a:rPr sz="2650" spc="-25" dirty="0">
                <a:latin typeface="Times New Roman"/>
                <a:cs typeface="Times New Roman"/>
              </a:rPr>
              <a:t> </a:t>
            </a:r>
            <a:r>
              <a:rPr sz="2650" spc="-5" dirty="0">
                <a:latin typeface="Times New Roman"/>
                <a:cs typeface="Times New Roman"/>
              </a:rPr>
              <a:t>cases,</a:t>
            </a:r>
            <a:r>
              <a:rPr sz="2650" spc="-30"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5" dirty="0">
                <a:latin typeface="Times New Roman"/>
                <a:cs typeface="Times New Roman"/>
              </a:rPr>
              <a:t>business</a:t>
            </a:r>
            <a:r>
              <a:rPr sz="2650" spc="-35" dirty="0">
                <a:latin typeface="Times New Roman"/>
                <a:cs typeface="Times New Roman"/>
              </a:rPr>
              <a:t> </a:t>
            </a:r>
            <a:r>
              <a:rPr sz="2650" spc="-5" dirty="0">
                <a:latin typeface="Times New Roman"/>
                <a:cs typeface="Times New Roman"/>
              </a:rPr>
              <a:t>does not</a:t>
            </a:r>
            <a:r>
              <a:rPr sz="2650" spc="-25" dirty="0">
                <a:latin typeface="Times New Roman"/>
                <a:cs typeface="Times New Roman"/>
              </a:rPr>
              <a:t> </a:t>
            </a:r>
            <a:r>
              <a:rPr sz="2650" spc="-5" dirty="0">
                <a:latin typeface="Times New Roman"/>
                <a:cs typeface="Times New Roman"/>
              </a:rPr>
              <a:t>want</a:t>
            </a:r>
            <a:r>
              <a:rPr sz="2650" dirty="0">
                <a:latin typeface="Times New Roman"/>
                <a:cs typeface="Times New Roman"/>
              </a:rPr>
              <a:t> </a:t>
            </a:r>
            <a:r>
              <a:rPr sz="2650" spc="-5" dirty="0">
                <a:latin typeface="Times New Roman"/>
                <a:cs typeface="Times New Roman"/>
              </a:rPr>
              <a:t>to</a:t>
            </a:r>
            <a:r>
              <a:rPr sz="2650" spc="-30" dirty="0">
                <a:latin typeface="Times New Roman"/>
                <a:cs typeface="Times New Roman"/>
              </a:rPr>
              <a:t> </a:t>
            </a:r>
            <a:r>
              <a:rPr sz="2650" spc="-5" dirty="0">
                <a:latin typeface="Times New Roman"/>
                <a:cs typeface="Times New Roman"/>
              </a:rPr>
              <a:t>do</a:t>
            </a:r>
            <a:r>
              <a:rPr sz="2650" spc="-10" dirty="0">
                <a:latin typeface="Times New Roman"/>
                <a:cs typeface="Times New Roman"/>
              </a:rPr>
              <a:t> </a:t>
            </a:r>
            <a:r>
              <a:rPr sz="2650" spc="-5" dirty="0">
                <a:latin typeface="Times New Roman"/>
                <a:cs typeface="Times New Roman"/>
              </a:rPr>
              <a:t>everything </a:t>
            </a:r>
            <a:r>
              <a:rPr sz="2650" spc="-645" dirty="0">
                <a:latin typeface="Times New Roman"/>
                <a:cs typeface="Times New Roman"/>
              </a:rPr>
              <a:t> </a:t>
            </a:r>
            <a:r>
              <a:rPr sz="2650" spc="-5" dirty="0">
                <a:latin typeface="Times New Roman"/>
                <a:cs typeface="Times New Roman"/>
              </a:rPr>
              <a:t>itself </a:t>
            </a:r>
            <a:r>
              <a:rPr sz="2650" spc="-10" dirty="0">
                <a:latin typeface="Times New Roman"/>
                <a:cs typeface="Times New Roman"/>
              </a:rPr>
              <a:t>because </a:t>
            </a:r>
            <a:r>
              <a:rPr sz="2650" spc="-5" dirty="0">
                <a:latin typeface="Times New Roman"/>
                <a:cs typeface="Times New Roman"/>
              </a:rPr>
              <a:t>the </a:t>
            </a:r>
            <a:r>
              <a:rPr sz="2650" spc="-10" dirty="0">
                <a:latin typeface="Times New Roman"/>
                <a:cs typeface="Times New Roman"/>
              </a:rPr>
              <a:t>majority </a:t>
            </a:r>
            <a:r>
              <a:rPr sz="2650" spc="-5" dirty="0">
                <a:latin typeface="Times New Roman"/>
                <a:cs typeface="Times New Roman"/>
              </a:rPr>
              <a:t>of </a:t>
            </a:r>
            <a:r>
              <a:rPr sz="2650" spc="-10" dirty="0">
                <a:latin typeface="Times New Roman"/>
                <a:cs typeface="Times New Roman"/>
              </a:rPr>
              <a:t>tasks needed </a:t>
            </a:r>
            <a:r>
              <a:rPr sz="2650" spc="-5" dirty="0">
                <a:latin typeface="Times New Roman"/>
                <a:cs typeface="Times New Roman"/>
              </a:rPr>
              <a:t>to build a </a:t>
            </a:r>
            <a:r>
              <a:rPr sz="2650" dirty="0">
                <a:latin typeface="Times New Roman"/>
                <a:cs typeface="Times New Roman"/>
              </a:rPr>
              <a:t> </a:t>
            </a:r>
            <a:r>
              <a:rPr sz="2650" spc="-5" dirty="0">
                <a:latin typeface="Times New Roman"/>
                <a:cs typeface="Times New Roman"/>
              </a:rPr>
              <a:t>product or </a:t>
            </a:r>
            <a:r>
              <a:rPr sz="2650" spc="-10" dirty="0">
                <a:latin typeface="Times New Roman"/>
                <a:cs typeface="Times New Roman"/>
              </a:rPr>
              <a:t>deliver </a:t>
            </a:r>
            <a:r>
              <a:rPr sz="2650" spc="-5" dirty="0">
                <a:latin typeface="Times New Roman"/>
                <a:cs typeface="Times New Roman"/>
              </a:rPr>
              <a:t>a service </a:t>
            </a:r>
            <a:r>
              <a:rPr sz="2650" spc="-15" dirty="0">
                <a:latin typeface="Times New Roman"/>
                <a:cs typeface="Times New Roman"/>
              </a:rPr>
              <a:t>are </a:t>
            </a:r>
            <a:r>
              <a:rPr sz="2650" spc="-5" dirty="0">
                <a:latin typeface="Times New Roman"/>
                <a:cs typeface="Times New Roman"/>
              </a:rPr>
              <a:t>not core to a </a:t>
            </a:r>
            <a:r>
              <a:rPr sz="2650" spc="-10" dirty="0">
                <a:latin typeface="Times New Roman"/>
                <a:cs typeface="Times New Roman"/>
              </a:rPr>
              <a:t>company’s </a:t>
            </a:r>
            <a:r>
              <a:rPr sz="2650" spc="-5" dirty="0">
                <a:latin typeface="Times New Roman"/>
                <a:cs typeface="Times New Roman"/>
              </a:rPr>
              <a:t> competitive</a:t>
            </a:r>
            <a:r>
              <a:rPr sz="2650" spc="-45" dirty="0">
                <a:latin typeface="Times New Roman"/>
                <a:cs typeface="Times New Roman"/>
              </a:rPr>
              <a:t> </a:t>
            </a:r>
            <a:r>
              <a:rPr sz="2650" spc="-5" dirty="0">
                <a:latin typeface="Times New Roman"/>
                <a:cs typeface="Times New Roman"/>
              </a:rPr>
              <a:t>advantage.</a:t>
            </a:r>
            <a:endParaRPr sz="2650" dirty="0">
              <a:latin typeface="Times New Roman"/>
              <a:cs typeface="Times New Roman"/>
            </a:endParaRPr>
          </a:p>
          <a:p>
            <a:pPr marL="830580" lvl="1" indent="-316230">
              <a:lnSpc>
                <a:spcPct val="100000"/>
              </a:lnSpc>
              <a:spcBef>
                <a:spcPts val="509"/>
              </a:spcBef>
              <a:buChar char="–"/>
              <a:tabLst>
                <a:tab pos="830580" algn="l"/>
                <a:tab pos="831215" algn="l"/>
              </a:tabLst>
            </a:pPr>
            <a:r>
              <a:rPr sz="2650" spc="-10" dirty="0">
                <a:latin typeface="Times New Roman"/>
                <a:cs typeface="Times New Roman"/>
              </a:rPr>
              <a:t>A</a:t>
            </a:r>
            <a:r>
              <a:rPr sz="2650" spc="-15" dirty="0">
                <a:latin typeface="Times New Roman"/>
                <a:cs typeface="Times New Roman"/>
              </a:rPr>
              <a:t> </a:t>
            </a:r>
            <a:r>
              <a:rPr sz="2650" spc="-10" dirty="0">
                <a:latin typeface="Times New Roman"/>
                <a:cs typeface="Times New Roman"/>
              </a:rPr>
              <a:t>firm’s</a:t>
            </a:r>
            <a:r>
              <a:rPr sz="2650" spc="-5" dirty="0">
                <a:latin typeface="Times New Roman"/>
                <a:cs typeface="Times New Roman"/>
              </a:rPr>
              <a:t> </a:t>
            </a:r>
            <a:r>
              <a:rPr sz="2650" spc="-10" dirty="0">
                <a:latin typeface="Times New Roman"/>
                <a:cs typeface="Times New Roman"/>
              </a:rPr>
              <a:t>partnership </a:t>
            </a:r>
            <a:r>
              <a:rPr sz="2650" spc="-5" dirty="0">
                <a:latin typeface="Times New Roman"/>
                <a:cs typeface="Times New Roman"/>
              </a:rPr>
              <a:t>network</a:t>
            </a:r>
            <a:r>
              <a:rPr sz="2650" spc="-30" dirty="0">
                <a:latin typeface="Times New Roman"/>
                <a:cs typeface="Times New Roman"/>
              </a:rPr>
              <a:t> </a:t>
            </a:r>
            <a:r>
              <a:rPr sz="2650" spc="-5" dirty="0">
                <a:latin typeface="Times New Roman"/>
                <a:cs typeface="Times New Roman"/>
              </a:rPr>
              <a:t>includes:</a:t>
            </a:r>
            <a:endParaRPr sz="2650" dirty="0">
              <a:latin typeface="Times New Roman"/>
              <a:cs typeface="Times New Roman"/>
            </a:endParaRPr>
          </a:p>
          <a:p>
            <a:pPr marL="1269365" lvl="2" indent="-252095">
              <a:lnSpc>
                <a:spcPct val="100000"/>
              </a:lnSpc>
              <a:spcBef>
                <a:spcPts val="535"/>
              </a:spcBef>
              <a:buChar char="•"/>
              <a:tabLst>
                <a:tab pos="1269365" algn="l"/>
                <a:tab pos="1270000" algn="l"/>
              </a:tabLst>
            </a:pPr>
            <a:r>
              <a:rPr sz="2200" spc="-5" dirty="0">
                <a:latin typeface="Times New Roman"/>
                <a:cs typeface="Times New Roman"/>
              </a:rPr>
              <a:t>Suppliers.</a:t>
            </a:r>
            <a:endParaRPr sz="2200" dirty="0">
              <a:latin typeface="Times New Roman"/>
              <a:cs typeface="Times New Roman"/>
            </a:endParaRPr>
          </a:p>
          <a:p>
            <a:pPr marL="1269365" lvl="2" indent="-252095">
              <a:lnSpc>
                <a:spcPct val="100000"/>
              </a:lnSpc>
              <a:spcBef>
                <a:spcPts val="525"/>
              </a:spcBef>
              <a:buChar char="•"/>
              <a:tabLst>
                <a:tab pos="1269365" algn="l"/>
                <a:tab pos="1270000" algn="l"/>
              </a:tabLst>
            </a:pPr>
            <a:r>
              <a:rPr sz="2200" spc="-5" dirty="0">
                <a:latin typeface="Times New Roman"/>
                <a:cs typeface="Times New Roman"/>
              </a:rPr>
              <a:t>Other</a:t>
            </a:r>
            <a:r>
              <a:rPr sz="2200" spc="-25" dirty="0">
                <a:latin typeface="Times New Roman"/>
                <a:cs typeface="Times New Roman"/>
              </a:rPr>
              <a:t> </a:t>
            </a:r>
            <a:r>
              <a:rPr sz="2200" dirty="0">
                <a:latin typeface="Times New Roman"/>
                <a:cs typeface="Times New Roman"/>
              </a:rPr>
              <a:t>key</a:t>
            </a:r>
            <a:r>
              <a:rPr sz="2200" spc="-15" dirty="0">
                <a:latin typeface="Times New Roman"/>
                <a:cs typeface="Times New Roman"/>
              </a:rPr>
              <a:t> </a:t>
            </a:r>
            <a:r>
              <a:rPr sz="2200" spc="-5" dirty="0">
                <a:latin typeface="Times New Roman"/>
                <a:cs typeface="Times New Roman"/>
              </a:rPr>
              <a:t>relationships</a:t>
            </a:r>
            <a:r>
              <a:rPr lang="en-US" sz="2200" spc="-5" dirty="0">
                <a:latin typeface="Times New Roman"/>
                <a:cs typeface="Times New Roman"/>
              </a:rPr>
              <a:t>/ partners</a:t>
            </a:r>
            <a:r>
              <a:rPr sz="2200" spc="-5" dirty="0">
                <a:latin typeface="Times New Roman"/>
                <a:cs typeface="Times New Roman"/>
              </a:rPr>
              <a:t>.</a:t>
            </a:r>
            <a:endParaRPr sz="220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algn="ctr">
              <a:lnSpc>
                <a:spcPct val="100000"/>
              </a:lnSpc>
              <a:spcBef>
                <a:spcPts val="110"/>
              </a:spcBef>
            </a:pPr>
            <a:r>
              <a:rPr dirty="0"/>
              <a:t>Partnership</a:t>
            </a:r>
            <a:r>
              <a:rPr spc="-25" dirty="0"/>
              <a:t> </a:t>
            </a:r>
            <a:r>
              <a:rPr spc="-5" dirty="0"/>
              <a:t>Network</a:t>
            </a:r>
          </a:p>
          <a:p>
            <a:pPr algn="ctr">
              <a:lnSpc>
                <a:spcPct val="100000"/>
              </a:lnSpc>
              <a:spcBef>
                <a:spcPts val="55"/>
              </a:spcBef>
            </a:pPr>
            <a:r>
              <a:rPr sz="2200" spc="-5" dirty="0"/>
              <a:t>2</a:t>
            </a:r>
            <a:r>
              <a:rPr sz="2200" spc="-35" dirty="0"/>
              <a:t> </a:t>
            </a:r>
            <a:r>
              <a:rPr sz="2200" spc="-5" dirty="0"/>
              <a:t>of</a:t>
            </a:r>
            <a:r>
              <a:rPr sz="2200" spc="-15" dirty="0"/>
              <a:t> </a:t>
            </a:r>
            <a:r>
              <a:rPr sz="2200" spc="-5" dirty="0"/>
              <a:t>3</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2065717" y="1477449"/>
            <a:ext cx="5664835" cy="427990"/>
          </a:xfrm>
          <a:prstGeom prst="rect">
            <a:avLst/>
          </a:prstGeom>
        </p:spPr>
        <p:txBody>
          <a:bodyPr vert="horz" wrap="square" lIns="0" tIns="11430" rIns="0" bIns="0" rtlCol="0">
            <a:spAutoFit/>
          </a:bodyPr>
          <a:lstStyle/>
          <a:p>
            <a:pPr marL="12700">
              <a:lnSpc>
                <a:spcPct val="100000"/>
              </a:lnSpc>
              <a:spcBef>
                <a:spcPts val="90"/>
              </a:spcBef>
            </a:pPr>
            <a:r>
              <a:rPr sz="2650" spc="-10" dirty="0">
                <a:latin typeface="Times New Roman"/>
                <a:cs typeface="Times New Roman"/>
              </a:rPr>
              <a:t>Primary</a:t>
            </a:r>
            <a:r>
              <a:rPr sz="2650" spc="-15" dirty="0">
                <a:latin typeface="Times New Roman"/>
                <a:cs typeface="Times New Roman"/>
              </a:rPr>
              <a:t> </a:t>
            </a:r>
            <a:r>
              <a:rPr sz="2650" spc="-10" dirty="0">
                <a:latin typeface="Times New Roman"/>
                <a:cs typeface="Times New Roman"/>
              </a:rPr>
              <a:t>Elements</a:t>
            </a:r>
            <a:r>
              <a:rPr sz="2650" spc="-35" dirty="0">
                <a:latin typeface="Times New Roman"/>
                <a:cs typeface="Times New Roman"/>
              </a:rPr>
              <a:t> </a:t>
            </a:r>
            <a:r>
              <a:rPr sz="2650" spc="-5" dirty="0">
                <a:latin typeface="Times New Roman"/>
                <a:cs typeface="Times New Roman"/>
              </a:rPr>
              <a:t>of</a:t>
            </a:r>
            <a:r>
              <a:rPr sz="2650" spc="-20" dirty="0">
                <a:latin typeface="Times New Roman"/>
                <a:cs typeface="Times New Roman"/>
              </a:rPr>
              <a:t> </a:t>
            </a:r>
            <a:r>
              <a:rPr sz="2650" spc="-5" dirty="0">
                <a:latin typeface="Times New Roman"/>
                <a:cs typeface="Times New Roman"/>
              </a:rPr>
              <a:t>Partnership</a:t>
            </a:r>
            <a:r>
              <a:rPr sz="2650" spc="-15" dirty="0">
                <a:latin typeface="Times New Roman"/>
                <a:cs typeface="Times New Roman"/>
              </a:rPr>
              <a:t> </a:t>
            </a:r>
            <a:r>
              <a:rPr sz="2650" spc="-10" dirty="0">
                <a:latin typeface="Times New Roman"/>
                <a:cs typeface="Times New Roman"/>
              </a:rPr>
              <a:t>Network</a:t>
            </a:r>
            <a:endParaRPr sz="265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250957849"/>
              </p:ext>
            </p:extLst>
          </p:nvPr>
        </p:nvGraphicFramePr>
        <p:xfrm>
          <a:off x="832866" y="1927468"/>
          <a:ext cx="8130539" cy="5748871"/>
        </p:xfrm>
        <a:graphic>
          <a:graphicData uri="http://schemas.openxmlformats.org/drawingml/2006/table">
            <a:tbl>
              <a:tblPr firstRow="1" bandRow="1">
                <a:tableStyleId>{2D5ABB26-0587-4C30-8999-92F81FD0307C}</a:tableStyleId>
              </a:tblPr>
              <a:tblGrid>
                <a:gridCol w="1844039">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3152161">
                <a:tc>
                  <a:txBody>
                    <a:bodyPr/>
                    <a:lstStyle/>
                    <a:p>
                      <a:pPr>
                        <a:lnSpc>
                          <a:spcPct val="100000"/>
                        </a:lnSpc>
                      </a:pPr>
                      <a:endParaRPr sz="2400" dirty="0">
                        <a:latin typeface="Times New Roman"/>
                        <a:cs typeface="Times New Roman"/>
                      </a:endParaRPr>
                    </a:p>
                    <a:p>
                      <a:pPr>
                        <a:lnSpc>
                          <a:spcPct val="100000"/>
                        </a:lnSpc>
                      </a:pPr>
                      <a:endParaRPr sz="2400" dirty="0">
                        <a:latin typeface="Times New Roman"/>
                        <a:cs typeface="Times New Roman"/>
                      </a:endParaRPr>
                    </a:p>
                    <a:p>
                      <a:pPr marL="351790">
                        <a:lnSpc>
                          <a:spcPct val="100000"/>
                        </a:lnSpc>
                        <a:spcBef>
                          <a:spcPts val="1400"/>
                        </a:spcBef>
                      </a:pPr>
                      <a:r>
                        <a:rPr sz="2200" spc="-5" dirty="0">
                          <a:latin typeface="Times New Roman"/>
                          <a:cs typeface="Times New Roman"/>
                        </a:rPr>
                        <a:t>Suppliers</a:t>
                      </a:r>
                      <a:endParaRPr sz="22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marL="187325" marR="265430" indent="1270" algn="ctr">
                        <a:lnSpc>
                          <a:spcPct val="100000"/>
                        </a:lnSpc>
                        <a:tabLst>
                          <a:tab pos="3561715" algn="l"/>
                        </a:tabLst>
                      </a:pPr>
                      <a:endParaRPr lang="en-US" sz="2200" spc="-5" dirty="0">
                        <a:latin typeface="Times New Roman"/>
                        <a:cs typeface="Times New Roman"/>
                      </a:endParaRPr>
                    </a:p>
                    <a:p>
                      <a:pPr marL="187325" marR="265430" indent="1270" algn="ctr">
                        <a:lnSpc>
                          <a:spcPct val="100000"/>
                        </a:lnSpc>
                        <a:tabLst>
                          <a:tab pos="3561715" algn="l"/>
                        </a:tabLst>
                      </a:pPr>
                      <a:r>
                        <a:rPr sz="2200" spc="-5" dirty="0">
                          <a:latin typeface="Times New Roman"/>
                          <a:cs typeface="Times New Roman"/>
                        </a:rPr>
                        <a:t>A </a:t>
                      </a:r>
                      <a:r>
                        <a:rPr sz="2200" b="1" spc="-5" dirty="0">
                          <a:latin typeface="Times New Roman"/>
                          <a:cs typeface="Times New Roman"/>
                        </a:rPr>
                        <a:t>supplier</a:t>
                      </a:r>
                      <a:r>
                        <a:rPr sz="2200" spc="-5" dirty="0">
                          <a:latin typeface="Times New Roman"/>
                          <a:cs typeface="Times New Roman"/>
                        </a:rPr>
                        <a:t> is a company that provides parts or</a:t>
                      </a:r>
                      <a:r>
                        <a:rPr lang="en-US" sz="2200" spc="-5" dirty="0">
                          <a:latin typeface="Times New Roman"/>
                          <a:cs typeface="Times New Roman"/>
                        </a:rPr>
                        <a:t> </a:t>
                      </a:r>
                      <a:r>
                        <a:rPr sz="2200" spc="-5" dirty="0">
                          <a:latin typeface="Times New Roman"/>
                          <a:cs typeface="Times New Roman"/>
                        </a:rPr>
                        <a:t>services</a:t>
                      </a:r>
                      <a:r>
                        <a:rPr sz="2200" spc="5" dirty="0">
                          <a:latin typeface="Times New Roman"/>
                          <a:cs typeface="Times New Roman"/>
                        </a:rPr>
                        <a:t> </a:t>
                      </a:r>
                      <a:r>
                        <a:rPr sz="2200" spc="-5" dirty="0">
                          <a:latin typeface="Times New Roman"/>
                          <a:cs typeface="Times New Roman"/>
                        </a:rPr>
                        <a:t>to</a:t>
                      </a:r>
                      <a:r>
                        <a:rPr sz="2200" spc="5" dirty="0">
                          <a:latin typeface="Times New Roman"/>
                          <a:cs typeface="Times New Roman"/>
                        </a:rPr>
                        <a:t> </a:t>
                      </a:r>
                      <a:r>
                        <a:rPr sz="2200" spc="-5" dirty="0">
                          <a:latin typeface="Times New Roman"/>
                          <a:cs typeface="Times New Roman"/>
                        </a:rPr>
                        <a:t>another</a:t>
                      </a:r>
                      <a:r>
                        <a:rPr sz="2200" spc="-20" dirty="0">
                          <a:latin typeface="Times New Roman"/>
                          <a:cs typeface="Times New Roman"/>
                        </a:rPr>
                        <a:t> company.</a:t>
                      </a:r>
                      <a:r>
                        <a:rPr lang="en-US" sz="2200" spc="-20" dirty="0">
                          <a:latin typeface="Times New Roman"/>
                          <a:cs typeface="Times New Roman"/>
                        </a:rPr>
                        <a:t> A </a:t>
                      </a:r>
                      <a:r>
                        <a:rPr lang="en-US" sz="2200" b="1" spc="-20" dirty="0">
                          <a:latin typeface="Times New Roman"/>
                          <a:cs typeface="Times New Roman"/>
                        </a:rPr>
                        <a:t>supply chain </a:t>
                      </a:r>
                      <a:r>
                        <a:rPr lang="en-US" sz="2200" spc="-20" dirty="0">
                          <a:latin typeface="Times New Roman"/>
                          <a:cs typeface="Times New Roman"/>
                        </a:rPr>
                        <a:t>is the network of all the companies that participate in the production of a product, from the acquisition of raw materials to the final sale. The more efficiently an organization can manage its supply chain, the more effectively its entire business model will perform. </a:t>
                      </a:r>
                      <a:r>
                        <a:rPr sz="2200" spc="-5" dirty="0">
                          <a:latin typeface="Times New Roman"/>
                          <a:cs typeface="Times New Roman"/>
                        </a:rPr>
                        <a:t>Intel</a:t>
                      </a:r>
                      <a:r>
                        <a:rPr sz="2200" spc="-35" dirty="0">
                          <a:latin typeface="Times New Roman"/>
                          <a:cs typeface="Times New Roman"/>
                        </a:rPr>
                        <a:t> </a:t>
                      </a:r>
                      <a:r>
                        <a:rPr sz="2200" spc="-5" dirty="0">
                          <a:latin typeface="Times New Roman"/>
                          <a:cs typeface="Times New Roman"/>
                        </a:rPr>
                        <a:t>is</a:t>
                      </a:r>
                      <a:r>
                        <a:rPr sz="2200" spc="-40" dirty="0">
                          <a:latin typeface="Times New Roman"/>
                          <a:cs typeface="Times New Roman"/>
                        </a:rPr>
                        <a:t> </a:t>
                      </a:r>
                      <a:r>
                        <a:rPr sz="2200" spc="-20" dirty="0">
                          <a:latin typeface="Times New Roman"/>
                          <a:cs typeface="Times New Roman"/>
                        </a:rPr>
                        <a:t>Dell’s</a:t>
                      </a:r>
                      <a:r>
                        <a:rPr sz="2200" spc="-35" dirty="0">
                          <a:latin typeface="Times New Roman"/>
                          <a:cs typeface="Times New Roman"/>
                        </a:rPr>
                        <a:t> </a:t>
                      </a:r>
                      <a:r>
                        <a:rPr sz="2200" spc="-10" dirty="0">
                          <a:latin typeface="Times New Roman"/>
                          <a:cs typeface="Times New Roman"/>
                        </a:rPr>
                        <a:t>primary</a:t>
                      </a:r>
                      <a:r>
                        <a:rPr lang="en-US" sz="2200" spc="-10" dirty="0">
                          <a:latin typeface="Times New Roman"/>
                          <a:cs typeface="Times New Roman"/>
                        </a:rPr>
                        <a:t> supplier</a:t>
                      </a:r>
                      <a:r>
                        <a:rPr sz="2200" spc="-35" dirty="0">
                          <a:latin typeface="Times New Roman"/>
                          <a:cs typeface="Times New Roman"/>
                        </a:rPr>
                        <a:t> </a:t>
                      </a:r>
                      <a:r>
                        <a:rPr lang="en-US" sz="2200" dirty="0">
                          <a:latin typeface="Times New Roman"/>
                          <a:cs typeface="Times New Roman"/>
                        </a:rPr>
                        <a:t>of</a:t>
                      </a:r>
                      <a:r>
                        <a:rPr sz="2200" spc="-10" dirty="0">
                          <a:latin typeface="Times New Roman"/>
                          <a:cs typeface="Times New Roman"/>
                        </a:rPr>
                        <a:t> </a:t>
                      </a:r>
                      <a:r>
                        <a:rPr sz="2200" spc="-5" dirty="0">
                          <a:latin typeface="Times New Roman"/>
                          <a:cs typeface="Times New Roman"/>
                        </a:rPr>
                        <a:t>computer</a:t>
                      </a:r>
                      <a:r>
                        <a:rPr sz="2200" spc="-10" dirty="0">
                          <a:latin typeface="Times New Roman"/>
                          <a:cs typeface="Times New Roman"/>
                        </a:rPr>
                        <a:t> </a:t>
                      </a:r>
                      <a:r>
                        <a:rPr sz="2200" dirty="0">
                          <a:latin typeface="Times New Roman"/>
                          <a:cs typeface="Times New Roman"/>
                        </a:rPr>
                        <a:t>chips</a:t>
                      </a:r>
                      <a:r>
                        <a:rPr lang="en-US" sz="2200" dirty="0">
                          <a:latin typeface="Times New Roman"/>
                          <a:cs typeface="Times New Roman"/>
                        </a:rPr>
                        <a:t>.</a:t>
                      </a:r>
                      <a:endParaRPr sz="2200" dirty="0">
                        <a:latin typeface="Times New Roman"/>
                        <a:cs typeface="Times New Roman"/>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extLst>
                  <a:ext uri="{0D108BD9-81ED-4DB2-BD59-A6C34878D82A}">
                    <a16:rowId xmlns:a16="http://schemas.microsoft.com/office/drawing/2014/main" val="10000"/>
                  </a:ext>
                </a:extLst>
              </a:tr>
              <a:tr h="2596710">
                <a:tc>
                  <a:txBody>
                    <a:bodyPr/>
                    <a:lstStyle/>
                    <a:p>
                      <a:pPr>
                        <a:lnSpc>
                          <a:spcPct val="100000"/>
                        </a:lnSpc>
                      </a:pPr>
                      <a:endParaRPr sz="2400">
                        <a:latin typeface="Times New Roman"/>
                        <a:cs typeface="Times New Roman"/>
                      </a:endParaRPr>
                    </a:p>
                    <a:p>
                      <a:pPr>
                        <a:lnSpc>
                          <a:spcPct val="100000"/>
                        </a:lnSpc>
                      </a:pPr>
                      <a:endParaRPr sz="2400">
                        <a:latin typeface="Times New Roman"/>
                        <a:cs typeface="Times New Roman"/>
                      </a:endParaRPr>
                    </a:p>
                    <a:p>
                      <a:pPr marL="161290" marR="152400" indent="175260">
                        <a:lnSpc>
                          <a:spcPct val="100000"/>
                        </a:lnSpc>
                        <a:spcBef>
                          <a:spcPts val="1400"/>
                        </a:spcBef>
                      </a:pPr>
                      <a:r>
                        <a:rPr sz="2200" spc="-5" dirty="0">
                          <a:latin typeface="Times New Roman"/>
                          <a:cs typeface="Times New Roman"/>
                        </a:rPr>
                        <a:t>Other </a:t>
                      </a:r>
                      <a:r>
                        <a:rPr sz="2200" spc="-10" dirty="0">
                          <a:latin typeface="Times New Roman"/>
                          <a:cs typeface="Times New Roman"/>
                        </a:rPr>
                        <a:t>Key </a:t>
                      </a:r>
                      <a:r>
                        <a:rPr sz="2200" spc="-5" dirty="0">
                          <a:latin typeface="Times New Roman"/>
                          <a:cs typeface="Times New Roman"/>
                        </a:rPr>
                        <a:t> </a:t>
                      </a:r>
                      <a:r>
                        <a:rPr sz="2200" spc="5" dirty="0">
                          <a:latin typeface="Times New Roman"/>
                          <a:cs typeface="Times New Roman"/>
                        </a:rPr>
                        <a:t>R</a:t>
                      </a:r>
                      <a:r>
                        <a:rPr sz="2200" spc="-10" dirty="0">
                          <a:latin typeface="Times New Roman"/>
                          <a:cs typeface="Times New Roman"/>
                        </a:rPr>
                        <a:t>e</a:t>
                      </a:r>
                      <a:r>
                        <a:rPr sz="2200" dirty="0">
                          <a:latin typeface="Times New Roman"/>
                          <a:cs typeface="Times New Roman"/>
                        </a:rPr>
                        <a:t>l</a:t>
                      </a:r>
                      <a:r>
                        <a:rPr sz="2200" spc="-10" dirty="0">
                          <a:latin typeface="Times New Roman"/>
                          <a:cs typeface="Times New Roman"/>
                        </a:rPr>
                        <a:t>a</a:t>
                      </a:r>
                      <a:r>
                        <a:rPr sz="2200" dirty="0">
                          <a:latin typeface="Times New Roman"/>
                          <a:cs typeface="Times New Roman"/>
                        </a:rPr>
                        <a:t>tionshi</a:t>
                      </a:r>
                      <a:r>
                        <a:rPr sz="2200" spc="20" dirty="0">
                          <a:latin typeface="Times New Roman"/>
                          <a:cs typeface="Times New Roman"/>
                        </a:rPr>
                        <a:t>p</a:t>
                      </a:r>
                      <a:r>
                        <a:rPr sz="2200" dirty="0">
                          <a:latin typeface="Times New Roman"/>
                          <a:cs typeface="Times New Roman"/>
                        </a:rPr>
                        <a:t>s</a:t>
                      </a: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marL="269240" marR="266700" algn="ctr">
                        <a:lnSpc>
                          <a:spcPct val="100000"/>
                        </a:lnSpc>
                        <a:spcBef>
                          <a:spcPts val="1639"/>
                        </a:spcBef>
                      </a:pPr>
                      <a:r>
                        <a:rPr sz="2200" spc="-10" dirty="0">
                          <a:latin typeface="Times New Roman"/>
                          <a:cs typeface="Times New Roman"/>
                        </a:rPr>
                        <a:t>Firms </a:t>
                      </a:r>
                      <a:r>
                        <a:rPr sz="2200" spc="-5" dirty="0">
                          <a:latin typeface="Times New Roman"/>
                          <a:cs typeface="Times New Roman"/>
                        </a:rPr>
                        <a:t>partner with </a:t>
                      </a:r>
                      <a:r>
                        <a:rPr sz="2200" dirty="0">
                          <a:latin typeface="Times New Roman"/>
                          <a:cs typeface="Times New Roman"/>
                        </a:rPr>
                        <a:t>other </a:t>
                      </a:r>
                      <a:r>
                        <a:rPr sz="2200" spc="-5" dirty="0">
                          <a:latin typeface="Times New Roman"/>
                          <a:cs typeface="Times New Roman"/>
                        </a:rPr>
                        <a:t>companies to </a:t>
                      </a:r>
                      <a:r>
                        <a:rPr sz="2200" spc="-10" dirty="0">
                          <a:latin typeface="Times New Roman"/>
                          <a:cs typeface="Times New Roman"/>
                        </a:rPr>
                        <a:t>make </a:t>
                      </a:r>
                      <a:r>
                        <a:rPr sz="2200" spc="-5" dirty="0">
                          <a:latin typeface="Times New Roman"/>
                          <a:cs typeface="Times New Roman"/>
                        </a:rPr>
                        <a:t>their </a:t>
                      </a:r>
                      <a:r>
                        <a:rPr sz="2200" dirty="0">
                          <a:latin typeface="Times New Roman"/>
                          <a:cs typeface="Times New Roman"/>
                        </a:rPr>
                        <a:t> </a:t>
                      </a:r>
                      <a:r>
                        <a:rPr sz="2200" spc="-5" dirty="0">
                          <a:latin typeface="Times New Roman"/>
                          <a:cs typeface="Times New Roman"/>
                        </a:rPr>
                        <a:t>business</a:t>
                      </a:r>
                      <a:r>
                        <a:rPr sz="2200" spc="-30" dirty="0">
                          <a:latin typeface="Times New Roman"/>
                          <a:cs typeface="Times New Roman"/>
                        </a:rPr>
                        <a:t> </a:t>
                      </a:r>
                      <a:r>
                        <a:rPr sz="2200" spc="-5" dirty="0">
                          <a:latin typeface="Times New Roman"/>
                          <a:cs typeface="Times New Roman"/>
                        </a:rPr>
                        <a:t>models</a:t>
                      </a:r>
                      <a:r>
                        <a:rPr sz="2200" dirty="0">
                          <a:latin typeface="Times New Roman"/>
                          <a:cs typeface="Times New Roman"/>
                        </a:rPr>
                        <a:t> </a:t>
                      </a:r>
                      <a:r>
                        <a:rPr sz="2200" spc="-5" dirty="0">
                          <a:latin typeface="Times New Roman"/>
                          <a:cs typeface="Times New Roman"/>
                        </a:rPr>
                        <a:t>work.</a:t>
                      </a:r>
                      <a:r>
                        <a:rPr sz="2200" spc="415" dirty="0">
                          <a:latin typeface="Times New Roman"/>
                          <a:cs typeface="Times New Roman"/>
                        </a:rPr>
                        <a:t> </a:t>
                      </a:r>
                      <a:r>
                        <a:rPr sz="2200" spc="-5" dirty="0">
                          <a:latin typeface="Times New Roman"/>
                          <a:cs typeface="Times New Roman"/>
                        </a:rPr>
                        <a:t>An</a:t>
                      </a:r>
                      <a:r>
                        <a:rPr sz="2200" spc="20" dirty="0">
                          <a:latin typeface="Times New Roman"/>
                          <a:cs typeface="Times New Roman"/>
                        </a:rPr>
                        <a:t> </a:t>
                      </a:r>
                      <a:r>
                        <a:rPr sz="2200" spc="-5" dirty="0">
                          <a:latin typeface="Times New Roman"/>
                          <a:cs typeface="Times New Roman"/>
                        </a:rPr>
                        <a:t>entrepreneur’s</a:t>
                      </a:r>
                      <a:r>
                        <a:rPr sz="2200" spc="-25" dirty="0">
                          <a:latin typeface="Times New Roman"/>
                          <a:cs typeface="Times New Roman"/>
                        </a:rPr>
                        <a:t> </a:t>
                      </a:r>
                      <a:r>
                        <a:rPr sz="2200" spc="-5" dirty="0">
                          <a:latin typeface="Times New Roman"/>
                          <a:cs typeface="Times New Roman"/>
                        </a:rPr>
                        <a:t>ability</a:t>
                      </a:r>
                      <a:r>
                        <a:rPr sz="2200" spc="-50" dirty="0">
                          <a:latin typeface="Times New Roman"/>
                          <a:cs typeface="Times New Roman"/>
                        </a:rPr>
                        <a:t> </a:t>
                      </a:r>
                      <a:r>
                        <a:rPr sz="2200" spc="-5" dirty="0">
                          <a:latin typeface="Times New Roman"/>
                          <a:cs typeface="Times New Roman"/>
                        </a:rPr>
                        <a:t>to </a:t>
                      </a:r>
                      <a:r>
                        <a:rPr sz="2200" spc="-535" dirty="0">
                          <a:latin typeface="Times New Roman"/>
                          <a:cs typeface="Times New Roman"/>
                        </a:rPr>
                        <a:t> </a:t>
                      </a:r>
                      <a:r>
                        <a:rPr sz="2200" spc="-5" dirty="0">
                          <a:latin typeface="Times New Roman"/>
                          <a:cs typeface="Times New Roman"/>
                        </a:rPr>
                        <a:t>launch</a:t>
                      </a:r>
                      <a:r>
                        <a:rPr sz="2200" spc="60" dirty="0">
                          <a:latin typeface="Times New Roman"/>
                          <a:cs typeface="Times New Roman"/>
                        </a:rPr>
                        <a:t> </a:t>
                      </a:r>
                      <a:r>
                        <a:rPr sz="2200" spc="-5" dirty="0">
                          <a:latin typeface="Times New Roman"/>
                          <a:cs typeface="Times New Roman"/>
                        </a:rPr>
                        <a:t>a</a:t>
                      </a:r>
                      <a:r>
                        <a:rPr sz="2200" spc="55" dirty="0">
                          <a:latin typeface="Times New Roman"/>
                          <a:cs typeface="Times New Roman"/>
                        </a:rPr>
                        <a:t> </a:t>
                      </a:r>
                      <a:r>
                        <a:rPr sz="2200" dirty="0">
                          <a:latin typeface="Times New Roman"/>
                          <a:cs typeface="Times New Roman"/>
                        </a:rPr>
                        <a:t>firm</a:t>
                      </a:r>
                      <a:r>
                        <a:rPr sz="2200" spc="50" dirty="0">
                          <a:latin typeface="Times New Roman"/>
                          <a:cs typeface="Times New Roman"/>
                        </a:rPr>
                        <a:t> </a:t>
                      </a:r>
                      <a:r>
                        <a:rPr sz="2200" spc="-5" dirty="0">
                          <a:latin typeface="Times New Roman"/>
                          <a:cs typeface="Times New Roman"/>
                        </a:rPr>
                        <a:t>that</a:t>
                      </a:r>
                      <a:r>
                        <a:rPr sz="2200" spc="65" dirty="0">
                          <a:latin typeface="Times New Roman"/>
                          <a:cs typeface="Times New Roman"/>
                        </a:rPr>
                        <a:t> </a:t>
                      </a:r>
                      <a:r>
                        <a:rPr sz="2200" spc="-5" dirty="0">
                          <a:latin typeface="Times New Roman"/>
                          <a:cs typeface="Times New Roman"/>
                        </a:rPr>
                        <a:t>achieves</a:t>
                      </a:r>
                      <a:r>
                        <a:rPr sz="2200" spc="65" dirty="0">
                          <a:latin typeface="Times New Roman"/>
                          <a:cs typeface="Times New Roman"/>
                        </a:rPr>
                        <a:t> </a:t>
                      </a:r>
                      <a:r>
                        <a:rPr sz="2200" spc="-5" dirty="0">
                          <a:latin typeface="Times New Roman"/>
                          <a:cs typeface="Times New Roman"/>
                        </a:rPr>
                        <a:t>a</a:t>
                      </a:r>
                      <a:r>
                        <a:rPr sz="2200" spc="80" dirty="0">
                          <a:latin typeface="Times New Roman"/>
                          <a:cs typeface="Times New Roman"/>
                        </a:rPr>
                        <a:t> </a:t>
                      </a:r>
                      <a:r>
                        <a:rPr sz="2200" spc="-10" dirty="0">
                          <a:latin typeface="Times New Roman"/>
                          <a:cs typeface="Times New Roman"/>
                        </a:rPr>
                        <a:t>competitive </a:t>
                      </a:r>
                      <a:r>
                        <a:rPr sz="2200" spc="-5" dirty="0">
                          <a:latin typeface="Times New Roman"/>
                          <a:cs typeface="Times New Roman"/>
                        </a:rPr>
                        <a:t> advantage</a:t>
                      </a:r>
                      <a:r>
                        <a:rPr sz="2200" spc="-10" dirty="0">
                          <a:latin typeface="Times New Roman"/>
                          <a:cs typeface="Times New Roman"/>
                        </a:rPr>
                        <a:t> </a:t>
                      </a:r>
                      <a:r>
                        <a:rPr sz="2200" spc="-15" dirty="0">
                          <a:latin typeface="Times New Roman"/>
                          <a:cs typeface="Times New Roman"/>
                        </a:rPr>
                        <a:t>may</a:t>
                      </a:r>
                      <a:r>
                        <a:rPr sz="2200" spc="20" dirty="0">
                          <a:latin typeface="Times New Roman"/>
                          <a:cs typeface="Times New Roman"/>
                        </a:rPr>
                        <a:t> </a:t>
                      </a:r>
                      <a:r>
                        <a:rPr sz="2200" dirty="0">
                          <a:latin typeface="Times New Roman"/>
                          <a:cs typeface="Times New Roman"/>
                        </a:rPr>
                        <a:t>hinge</a:t>
                      </a:r>
                      <a:r>
                        <a:rPr sz="2200" spc="-35" dirty="0">
                          <a:latin typeface="Times New Roman"/>
                          <a:cs typeface="Times New Roman"/>
                        </a:rPr>
                        <a:t> </a:t>
                      </a:r>
                      <a:r>
                        <a:rPr sz="2200" dirty="0">
                          <a:latin typeface="Times New Roman"/>
                          <a:cs typeface="Times New Roman"/>
                        </a:rPr>
                        <a:t>as</a:t>
                      </a:r>
                      <a:r>
                        <a:rPr sz="2200" spc="5" dirty="0">
                          <a:latin typeface="Times New Roman"/>
                          <a:cs typeface="Times New Roman"/>
                        </a:rPr>
                        <a:t> </a:t>
                      </a:r>
                      <a:r>
                        <a:rPr sz="2200" spc="-10" dirty="0">
                          <a:latin typeface="Times New Roman"/>
                          <a:cs typeface="Times New Roman"/>
                        </a:rPr>
                        <a:t>much</a:t>
                      </a:r>
                      <a:r>
                        <a:rPr sz="2200" spc="20" dirty="0">
                          <a:latin typeface="Times New Roman"/>
                          <a:cs typeface="Times New Roman"/>
                        </a:rPr>
                        <a:t> </a:t>
                      </a:r>
                      <a:r>
                        <a:rPr sz="2200" spc="-5" dirty="0">
                          <a:latin typeface="Times New Roman"/>
                          <a:cs typeface="Times New Roman"/>
                        </a:rPr>
                        <a:t>on the skills</a:t>
                      </a:r>
                      <a:r>
                        <a:rPr sz="2200" spc="-25"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the </a:t>
                      </a:r>
                      <a:r>
                        <a:rPr sz="2200" dirty="0">
                          <a:latin typeface="Times New Roman"/>
                          <a:cs typeface="Times New Roman"/>
                        </a:rPr>
                        <a:t> </a:t>
                      </a:r>
                      <a:r>
                        <a:rPr sz="2200" spc="-5" dirty="0">
                          <a:latin typeface="Times New Roman"/>
                          <a:cs typeface="Times New Roman"/>
                        </a:rPr>
                        <a:t>partners</a:t>
                      </a:r>
                      <a:r>
                        <a:rPr sz="2200" spc="-25" dirty="0">
                          <a:latin typeface="Times New Roman"/>
                          <a:cs typeface="Times New Roman"/>
                        </a:rPr>
                        <a:t> </a:t>
                      </a:r>
                      <a:r>
                        <a:rPr sz="2200" spc="-10" dirty="0">
                          <a:latin typeface="Times New Roman"/>
                          <a:cs typeface="Times New Roman"/>
                        </a:rPr>
                        <a:t>as</a:t>
                      </a:r>
                      <a:r>
                        <a:rPr sz="2200" dirty="0">
                          <a:latin typeface="Times New Roman"/>
                          <a:cs typeface="Times New Roman"/>
                        </a:rPr>
                        <a:t> </a:t>
                      </a:r>
                      <a:r>
                        <a:rPr sz="2200" spc="-5" dirty="0">
                          <a:latin typeface="Times New Roman"/>
                          <a:cs typeface="Times New Roman"/>
                        </a:rPr>
                        <a:t>on the</a:t>
                      </a:r>
                      <a:r>
                        <a:rPr sz="2200" spc="-10" dirty="0">
                          <a:latin typeface="Times New Roman"/>
                          <a:cs typeface="Times New Roman"/>
                        </a:rPr>
                        <a:t> </a:t>
                      </a:r>
                      <a:r>
                        <a:rPr sz="2200" spc="-5" dirty="0">
                          <a:latin typeface="Times New Roman"/>
                          <a:cs typeface="Times New Roman"/>
                        </a:rPr>
                        <a:t>skills</a:t>
                      </a:r>
                      <a:r>
                        <a:rPr sz="2200" spc="-20" dirty="0">
                          <a:latin typeface="Times New Roman"/>
                          <a:cs typeface="Times New Roman"/>
                        </a:rPr>
                        <a:t> </a:t>
                      </a:r>
                      <a:r>
                        <a:rPr sz="2200" spc="-5" dirty="0">
                          <a:latin typeface="Times New Roman"/>
                          <a:cs typeface="Times New Roman"/>
                        </a:rPr>
                        <a:t>within the</a:t>
                      </a:r>
                      <a:r>
                        <a:rPr sz="2200" spc="-10" dirty="0">
                          <a:latin typeface="Times New Roman"/>
                          <a:cs typeface="Times New Roman"/>
                        </a:rPr>
                        <a:t> firm</a:t>
                      </a:r>
                      <a:r>
                        <a:rPr sz="2200" spc="-20" dirty="0">
                          <a:latin typeface="Times New Roman"/>
                          <a:cs typeface="Times New Roman"/>
                        </a:rPr>
                        <a:t> </a:t>
                      </a:r>
                      <a:r>
                        <a:rPr sz="2200" spc="-5" dirty="0">
                          <a:latin typeface="Times New Roman"/>
                          <a:cs typeface="Times New Roman"/>
                        </a:rPr>
                        <a:t>itself.</a:t>
                      </a:r>
                      <a:endParaRPr sz="2200" dirty="0">
                        <a:latin typeface="Times New Roman"/>
                        <a:cs typeface="Times New Roman"/>
                      </a:endParaRPr>
                    </a:p>
                  </a:txBody>
                  <a:tcPr marL="0" marR="0" marT="20827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6813" y="412376"/>
            <a:ext cx="6244772" cy="621965"/>
          </a:xfrm>
          <a:prstGeom prst="rect">
            <a:avLst/>
          </a:prstGeom>
        </p:spPr>
        <p:txBody>
          <a:bodyPr vert="horz" wrap="square" lIns="0" tIns="13970" rIns="0" bIns="0" rtlCol="0">
            <a:spAutoFit/>
          </a:bodyPr>
          <a:lstStyle/>
          <a:p>
            <a:pPr marL="13335">
              <a:lnSpc>
                <a:spcPct val="100000"/>
              </a:lnSpc>
              <a:spcBef>
                <a:spcPts val="110"/>
              </a:spcBef>
            </a:pPr>
            <a:endParaRPr spc="5" dirty="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pic>
        <p:nvPicPr>
          <p:cNvPr id="7" name="Picture 6">
            <a:extLst>
              <a:ext uri="{FF2B5EF4-FFF2-40B4-BE49-F238E27FC236}">
                <a16:creationId xmlns:a16="http://schemas.microsoft.com/office/drawing/2014/main" id="{7DC001BB-5C89-49C5-FBEE-379C8B9B0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 y="1676410"/>
            <a:ext cx="10058391" cy="5181587"/>
          </a:xfrm>
          <a:prstGeom prst="rect">
            <a:avLst/>
          </a:prstGeom>
        </p:spPr>
      </p:pic>
    </p:spTree>
    <p:extLst>
      <p:ext uri="{BB962C8B-B14F-4D97-AF65-F5344CB8AC3E}">
        <p14:creationId xmlns:p14="http://schemas.microsoft.com/office/powerpoint/2010/main" val="4113202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905" algn="ctr">
              <a:lnSpc>
                <a:spcPct val="100000"/>
              </a:lnSpc>
              <a:spcBef>
                <a:spcPts val="110"/>
              </a:spcBef>
            </a:pPr>
            <a:r>
              <a:rPr spc="-5" dirty="0"/>
              <a:t>Customer</a:t>
            </a:r>
            <a:r>
              <a:rPr spc="-10" dirty="0"/>
              <a:t> </a:t>
            </a:r>
            <a:r>
              <a:rPr dirty="0"/>
              <a:t>Interface</a:t>
            </a:r>
          </a:p>
          <a:p>
            <a:pPr marL="1905" algn="ctr">
              <a:lnSpc>
                <a:spcPct val="100000"/>
              </a:lnSpc>
              <a:spcBef>
                <a:spcPts val="55"/>
              </a:spcBef>
            </a:pPr>
            <a:r>
              <a:rPr sz="2200" spc="-5" dirty="0"/>
              <a:t>1</a:t>
            </a:r>
            <a:r>
              <a:rPr sz="2200" spc="-35" dirty="0"/>
              <a:t> </a:t>
            </a:r>
            <a:r>
              <a:rPr sz="2200" spc="-5" dirty="0"/>
              <a:t>of</a:t>
            </a:r>
            <a:r>
              <a:rPr sz="2200" spc="-15" dirty="0"/>
              <a:t> </a:t>
            </a:r>
            <a:r>
              <a:rPr sz="2200" spc="-5" dirty="0"/>
              <a:t>3</a:t>
            </a:r>
            <a:endParaRPr sz="2200"/>
          </a:p>
        </p:txBody>
      </p:sp>
      <p:sp>
        <p:nvSpPr>
          <p:cNvPr id="3" name="object 3"/>
          <p:cNvSpPr txBox="1"/>
          <p:nvPr/>
        </p:nvSpPr>
        <p:spPr>
          <a:xfrm>
            <a:off x="590865" y="1803066"/>
            <a:ext cx="8735060" cy="5066130"/>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5" dirty="0">
                <a:latin typeface="Times New Roman"/>
                <a:cs typeface="Times New Roman"/>
              </a:rPr>
              <a:t>Customer</a:t>
            </a:r>
            <a:r>
              <a:rPr sz="3050" spc="-70" dirty="0">
                <a:latin typeface="Times New Roman"/>
                <a:cs typeface="Times New Roman"/>
              </a:rPr>
              <a:t> </a:t>
            </a:r>
            <a:r>
              <a:rPr sz="3050" spc="15" dirty="0">
                <a:latin typeface="Times New Roman"/>
                <a:cs typeface="Times New Roman"/>
              </a:rPr>
              <a:t>Interface</a:t>
            </a:r>
            <a:endParaRPr sz="3050" dirty="0">
              <a:latin typeface="Times New Roman"/>
              <a:cs typeface="Times New Roman"/>
            </a:endParaRPr>
          </a:p>
          <a:p>
            <a:pPr marL="829310" marR="279400" lvl="1" indent="-314325">
              <a:lnSpc>
                <a:spcPts val="3170"/>
              </a:lnSpc>
              <a:spcBef>
                <a:spcPts val="750"/>
              </a:spcBef>
              <a:buChar char="–"/>
              <a:tabLst>
                <a:tab pos="830580" algn="l"/>
                <a:tab pos="831215" algn="l"/>
              </a:tabLst>
            </a:pPr>
            <a:r>
              <a:rPr lang="en-US" sz="2650" spc="-10" dirty="0">
                <a:latin typeface="Times New Roman"/>
                <a:cs typeface="Times New Roman"/>
              </a:rPr>
              <a:t>How</a:t>
            </a:r>
            <a:r>
              <a:rPr sz="2650" spc="-15" dirty="0">
                <a:latin typeface="Times New Roman"/>
                <a:cs typeface="Times New Roman"/>
              </a:rPr>
              <a:t> </a:t>
            </a:r>
            <a:r>
              <a:rPr sz="2650" spc="-5" dirty="0">
                <a:latin typeface="Times New Roman"/>
                <a:cs typeface="Times New Roman"/>
              </a:rPr>
              <a:t>a </a:t>
            </a:r>
            <a:r>
              <a:rPr sz="2650" spc="-10" dirty="0">
                <a:latin typeface="Times New Roman"/>
                <a:cs typeface="Times New Roman"/>
              </a:rPr>
              <a:t>firm </a:t>
            </a:r>
            <a:r>
              <a:rPr sz="2650" spc="-5" dirty="0">
                <a:latin typeface="Times New Roman"/>
                <a:cs typeface="Times New Roman"/>
              </a:rPr>
              <a:t>interacts </a:t>
            </a:r>
            <a:r>
              <a:rPr sz="2650" spc="-15" dirty="0">
                <a:latin typeface="Times New Roman"/>
                <a:cs typeface="Times New Roman"/>
              </a:rPr>
              <a:t>with </a:t>
            </a:r>
            <a:r>
              <a:rPr sz="2650" dirty="0">
                <a:latin typeface="Times New Roman"/>
                <a:cs typeface="Times New Roman"/>
              </a:rPr>
              <a:t>its </a:t>
            </a:r>
            <a:r>
              <a:rPr sz="2650" spc="-5" dirty="0">
                <a:latin typeface="Times New Roman"/>
                <a:cs typeface="Times New Roman"/>
              </a:rPr>
              <a:t>customer</a:t>
            </a:r>
            <a:r>
              <a:rPr lang="en-US" sz="2650" spc="-5" dirty="0">
                <a:latin typeface="Times New Roman"/>
                <a:cs typeface="Times New Roman"/>
              </a:rPr>
              <a:t>s, the type of customer interaction depends o</a:t>
            </a:r>
            <a:r>
              <a:rPr sz="2650" spc="-5" dirty="0">
                <a:latin typeface="Times New Roman"/>
                <a:cs typeface="Times New Roman"/>
              </a:rPr>
              <a:t>n </a:t>
            </a:r>
            <a:r>
              <a:rPr sz="2650" spc="-10" dirty="0">
                <a:latin typeface="Times New Roman"/>
                <a:cs typeface="Times New Roman"/>
              </a:rPr>
              <a:t>how </a:t>
            </a:r>
            <a:r>
              <a:rPr lang="en-US" sz="2650" spc="-5" dirty="0">
                <a:latin typeface="Times New Roman"/>
                <a:cs typeface="Times New Roman"/>
              </a:rPr>
              <a:t>a firm </a:t>
            </a:r>
            <a:r>
              <a:rPr sz="2650" spc="-5" dirty="0">
                <a:latin typeface="Times New Roman"/>
                <a:cs typeface="Times New Roman"/>
              </a:rPr>
              <a:t>chooses</a:t>
            </a:r>
            <a:r>
              <a:rPr sz="2650" spc="-10" dirty="0">
                <a:latin typeface="Times New Roman"/>
                <a:cs typeface="Times New Roman"/>
              </a:rPr>
              <a:t> </a:t>
            </a:r>
            <a:r>
              <a:rPr sz="2650" spc="-5" dirty="0">
                <a:latin typeface="Times New Roman"/>
                <a:cs typeface="Times New Roman"/>
              </a:rPr>
              <a:t>to</a:t>
            </a:r>
            <a:r>
              <a:rPr sz="2650" spc="-30" dirty="0">
                <a:latin typeface="Times New Roman"/>
                <a:cs typeface="Times New Roman"/>
              </a:rPr>
              <a:t> </a:t>
            </a:r>
            <a:r>
              <a:rPr sz="2650" spc="-10" dirty="0">
                <a:latin typeface="Times New Roman"/>
                <a:cs typeface="Times New Roman"/>
              </a:rPr>
              <a:t>compete.</a:t>
            </a:r>
            <a:endParaRPr sz="2650" dirty="0">
              <a:latin typeface="Times New Roman"/>
              <a:cs typeface="Times New Roman"/>
            </a:endParaRPr>
          </a:p>
          <a:p>
            <a:pPr marL="1269365" marR="5080" lvl="2" indent="-252095">
              <a:lnSpc>
                <a:spcPct val="100000"/>
              </a:lnSpc>
              <a:spcBef>
                <a:spcPts val="440"/>
              </a:spcBef>
              <a:buChar char="•"/>
              <a:tabLst>
                <a:tab pos="1269365" algn="l"/>
                <a:tab pos="1270000" algn="l"/>
              </a:tabLst>
            </a:pPr>
            <a:r>
              <a:rPr sz="2200" spc="-5" dirty="0">
                <a:latin typeface="Times New Roman"/>
                <a:cs typeface="Times New Roman"/>
              </a:rPr>
              <a:t>For </a:t>
            </a:r>
            <a:r>
              <a:rPr sz="2200" spc="-10" dirty="0">
                <a:latin typeface="Times New Roman"/>
                <a:cs typeface="Times New Roman"/>
              </a:rPr>
              <a:t>example, </a:t>
            </a:r>
            <a:r>
              <a:rPr sz="2200" spc="-5" dirty="0">
                <a:latin typeface="Times New Roman"/>
                <a:cs typeface="Times New Roman"/>
              </a:rPr>
              <a:t>Amazon.com sells </a:t>
            </a:r>
            <a:r>
              <a:rPr sz="2200" dirty="0">
                <a:latin typeface="Times New Roman"/>
                <a:cs typeface="Times New Roman"/>
              </a:rPr>
              <a:t>books over </a:t>
            </a:r>
            <a:r>
              <a:rPr sz="2200" spc="-5" dirty="0">
                <a:latin typeface="Times New Roman"/>
                <a:cs typeface="Times New Roman"/>
              </a:rPr>
              <a:t>the Internet while </a:t>
            </a:r>
            <a:r>
              <a:rPr sz="2200" dirty="0">
                <a:latin typeface="Times New Roman"/>
                <a:cs typeface="Times New Roman"/>
              </a:rPr>
              <a:t> </a:t>
            </a:r>
            <a:r>
              <a:rPr sz="2200" spc="-5" dirty="0">
                <a:latin typeface="Times New Roman"/>
                <a:cs typeface="Times New Roman"/>
              </a:rPr>
              <a:t>Barnes</a:t>
            </a:r>
            <a:r>
              <a:rPr sz="2200" spc="5" dirty="0">
                <a:latin typeface="Times New Roman"/>
                <a:cs typeface="Times New Roman"/>
              </a:rPr>
              <a:t> </a:t>
            </a:r>
            <a:r>
              <a:rPr sz="2200" spc="-5" dirty="0">
                <a:latin typeface="Times New Roman"/>
                <a:cs typeface="Times New Roman"/>
              </a:rPr>
              <a:t>&amp;</a:t>
            </a:r>
            <a:r>
              <a:rPr sz="2200" spc="-15" dirty="0">
                <a:latin typeface="Times New Roman"/>
                <a:cs typeface="Times New Roman"/>
              </a:rPr>
              <a:t> </a:t>
            </a:r>
            <a:r>
              <a:rPr sz="2200" dirty="0">
                <a:latin typeface="Times New Roman"/>
                <a:cs typeface="Times New Roman"/>
              </a:rPr>
              <a:t>Noble</a:t>
            </a:r>
            <a:r>
              <a:rPr sz="2200" spc="-5" dirty="0">
                <a:latin typeface="Times New Roman"/>
                <a:cs typeface="Times New Roman"/>
              </a:rPr>
              <a:t> sells</a:t>
            </a:r>
            <a:r>
              <a:rPr sz="2200" spc="10" dirty="0">
                <a:latin typeface="Times New Roman"/>
                <a:cs typeface="Times New Roman"/>
              </a:rPr>
              <a:t> </a:t>
            </a:r>
            <a:r>
              <a:rPr sz="2200" spc="-5" dirty="0">
                <a:latin typeface="Times New Roman"/>
                <a:cs typeface="Times New Roman"/>
              </a:rPr>
              <a:t>through</a:t>
            </a:r>
            <a:r>
              <a:rPr sz="2200" spc="-20" dirty="0">
                <a:latin typeface="Times New Roman"/>
                <a:cs typeface="Times New Roman"/>
              </a:rPr>
              <a:t> </a:t>
            </a:r>
            <a:r>
              <a:rPr sz="2200" spc="-5" dirty="0">
                <a:latin typeface="Times New Roman"/>
                <a:cs typeface="Times New Roman"/>
              </a:rPr>
              <a:t>its</a:t>
            </a:r>
            <a:r>
              <a:rPr sz="2200" spc="-20" dirty="0">
                <a:latin typeface="Times New Roman"/>
                <a:cs typeface="Times New Roman"/>
              </a:rPr>
              <a:t> </a:t>
            </a:r>
            <a:r>
              <a:rPr sz="2200" spc="-5" dirty="0">
                <a:latin typeface="Times New Roman"/>
                <a:cs typeface="Times New Roman"/>
              </a:rPr>
              <a:t>traditional</a:t>
            </a:r>
            <a:r>
              <a:rPr sz="2200" spc="-40" dirty="0">
                <a:latin typeface="Times New Roman"/>
                <a:cs typeface="Times New Roman"/>
              </a:rPr>
              <a:t> </a:t>
            </a:r>
            <a:r>
              <a:rPr sz="2200" dirty="0">
                <a:latin typeface="Times New Roman"/>
                <a:cs typeface="Times New Roman"/>
              </a:rPr>
              <a:t>bookstores</a:t>
            </a:r>
            <a:r>
              <a:rPr sz="2200" spc="-20" dirty="0">
                <a:latin typeface="Times New Roman"/>
                <a:cs typeface="Times New Roman"/>
              </a:rPr>
              <a:t> </a:t>
            </a:r>
            <a:r>
              <a:rPr sz="2200" spc="-10" dirty="0">
                <a:latin typeface="Times New Roman"/>
                <a:cs typeface="Times New Roman"/>
              </a:rPr>
              <a:t>and</a:t>
            </a:r>
            <a:r>
              <a:rPr sz="2200" spc="5" dirty="0">
                <a:latin typeface="Times New Roman"/>
                <a:cs typeface="Times New Roman"/>
              </a:rPr>
              <a:t> </a:t>
            </a:r>
            <a:r>
              <a:rPr sz="2200" spc="-5" dirty="0">
                <a:latin typeface="Times New Roman"/>
                <a:cs typeface="Times New Roman"/>
              </a:rPr>
              <a:t>online.</a:t>
            </a:r>
            <a:endParaRPr lang="en-US" sz="2200" spc="-5" dirty="0">
              <a:latin typeface="Times New Roman"/>
              <a:cs typeface="Times New Roman"/>
            </a:endParaRPr>
          </a:p>
          <a:p>
            <a:pPr marL="1269365" marR="5080" lvl="2" indent="-252095">
              <a:lnSpc>
                <a:spcPct val="100000"/>
              </a:lnSpc>
              <a:spcBef>
                <a:spcPts val="440"/>
              </a:spcBef>
              <a:buChar char="•"/>
              <a:tabLst>
                <a:tab pos="1269365" algn="l"/>
                <a:tab pos="1270000" algn="l"/>
              </a:tabLst>
            </a:pPr>
            <a:r>
              <a:rPr lang="en-US" sz="2200" spc="-5" dirty="0">
                <a:latin typeface="Times New Roman"/>
                <a:cs typeface="Times New Roman"/>
              </a:rPr>
              <a:t>Sometimes a company’s customer interface will change as conditions change. Ex: Apple Stores</a:t>
            </a:r>
            <a:endParaRPr sz="2200" dirty="0">
              <a:latin typeface="Times New Roman"/>
              <a:cs typeface="Times New Roman"/>
            </a:endParaRPr>
          </a:p>
          <a:p>
            <a:pPr marL="830580" lvl="1" indent="-316230">
              <a:lnSpc>
                <a:spcPct val="100000"/>
              </a:lnSpc>
              <a:spcBef>
                <a:spcPts val="610"/>
              </a:spcBef>
              <a:buChar char="–"/>
              <a:tabLst>
                <a:tab pos="830580" algn="l"/>
                <a:tab pos="831215" algn="l"/>
              </a:tabLst>
            </a:pPr>
            <a:r>
              <a:rPr sz="2650" spc="-10" dirty="0">
                <a:latin typeface="Times New Roman"/>
                <a:cs typeface="Times New Roman"/>
              </a:rPr>
              <a:t>The</a:t>
            </a:r>
            <a:r>
              <a:rPr sz="2650" spc="-15" dirty="0">
                <a:latin typeface="Times New Roman"/>
                <a:cs typeface="Times New Roman"/>
              </a:rPr>
              <a:t> </a:t>
            </a:r>
            <a:r>
              <a:rPr sz="2650" spc="-10" dirty="0">
                <a:latin typeface="Times New Roman"/>
                <a:cs typeface="Times New Roman"/>
              </a:rPr>
              <a:t>three</a:t>
            </a:r>
            <a:r>
              <a:rPr sz="2650" spc="-15" dirty="0">
                <a:latin typeface="Times New Roman"/>
                <a:cs typeface="Times New Roman"/>
              </a:rPr>
              <a:t> </a:t>
            </a:r>
            <a:r>
              <a:rPr sz="2650" spc="-5" dirty="0">
                <a:latin typeface="Times New Roman"/>
                <a:cs typeface="Times New Roman"/>
              </a:rPr>
              <a:t>elements</a:t>
            </a:r>
            <a:r>
              <a:rPr sz="2650" spc="-30" dirty="0">
                <a:latin typeface="Times New Roman"/>
                <a:cs typeface="Times New Roman"/>
              </a:rPr>
              <a:t> </a:t>
            </a:r>
            <a:r>
              <a:rPr sz="2650" spc="-5" dirty="0">
                <a:latin typeface="Times New Roman"/>
                <a:cs typeface="Times New Roman"/>
              </a:rPr>
              <a:t>of</a:t>
            </a:r>
            <a:r>
              <a:rPr sz="2650" spc="-15"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10" dirty="0">
                <a:latin typeface="Times New Roman"/>
                <a:cs typeface="Times New Roman"/>
              </a:rPr>
              <a:t>company’s</a:t>
            </a:r>
            <a:r>
              <a:rPr sz="2650" spc="-5" dirty="0">
                <a:latin typeface="Times New Roman"/>
                <a:cs typeface="Times New Roman"/>
              </a:rPr>
              <a:t> customer</a:t>
            </a:r>
            <a:r>
              <a:rPr sz="2650" spc="-40" dirty="0">
                <a:latin typeface="Times New Roman"/>
                <a:cs typeface="Times New Roman"/>
              </a:rPr>
              <a:t> </a:t>
            </a:r>
            <a:r>
              <a:rPr sz="2650" spc="-5" dirty="0">
                <a:latin typeface="Times New Roman"/>
                <a:cs typeface="Times New Roman"/>
              </a:rPr>
              <a:t>interface</a:t>
            </a:r>
            <a:r>
              <a:rPr sz="2650" spc="-40" dirty="0">
                <a:latin typeface="Times New Roman"/>
                <a:cs typeface="Times New Roman"/>
              </a:rPr>
              <a:t> </a:t>
            </a:r>
            <a:r>
              <a:rPr sz="2650" spc="-10" dirty="0">
                <a:latin typeface="Times New Roman"/>
                <a:cs typeface="Times New Roman"/>
              </a:rPr>
              <a:t>are:</a:t>
            </a:r>
            <a:endParaRPr sz="2650" dirty="0">
              <a:latin typeface="Times New Roman"/>
              <a:cs typeface="Times New Roman"/>
            </a:endParaRPr>
          </a:p>
          <a:p>
            <a:pPr marL="1269365" lvl="2" indent="-252095">
              <a:lnSpc>
                <a:spcPct val="100000"/>
              </a:lnSpc>
              <a:spcBef>
                <a:spcPts val="545"/>
              </a:spcBef>
              <a:buChar char="•"/>
              <a:tabLst>
                <a:tab pos="1269365" algn="l"/>
                <a:tab pos="1270000" algn="l"/>
              </a:tabLst>
            </a:pPr>
            <a:r>
              <a:rPr sz="2200" spc="-5" dirty="0">
                <a:latin typeface="Times New Roman"/>
                <a:cs typeface="Times New Roman"/>
              </a:rPr>
              <a:t>Target</a:t>
            </a:r>
            <a:r>
              <a:rPr sz="2200" spc="-15" dirty="0">
                <a:latin typeface="Times New Roman"/>
                <a:cs typeface="Times New Roman"/>
              </a:rPr>
              <a:t> </a:t>
            </a:r>
            <a:r>
              <a:rPr lang="en-US" sz="2200" spc="-5" dirty="0">
                <a:latin typeface="Times New Roman"/>
                <a:cs typeface="Times New Roman"/>
              </a:rPr>
              <a:t>market</a:t>
            </a:r>
            <a:r>
              <a:rPr sz="2200" spc="-5" dirty="0">
                <a:latin typeface="Times New Roman"/>
                <a:cs typeface="Times New Roman"/>
              </a:rPr>
              <a:t>.</a:t>
            </a:r>
            <a:endParaRPr sz="2200" dirty="0">
              <a:latin typeface="Times New Roman"/>
              <a:cs typeface="Times New Roman"/>
            </a:endParaRPr>
          </a:p>
          <a:p>
            <a:pPr marL="1269365" lvl="2" indent="-252095">
              <a:lnSpc>
                <a:spcPct val="100000"/>
              </a:lnSpc>
              <a:spcBef>
                <a:spcPts val="525"/>
              </a:spcBef>
              <a:buChar char="•"/>
              <a:tabLst>
                <a:tab pos="1269365" algn="l"/>
                <a:tab pos="1270000" algn="l"/>
              </a:tabLst>
            </a:pPr>
            <a:r>
              <a:rPr sz="2200" spc="-5" dirty="0">
                <a:latin typeface="Times New Roman"/>
                <a:cs typeface="Times New Roman"/>
              </a:rPr>
              <a:t>Fulfillment</a:t>
            </a:r>
            <a:r>
              <a:rPr sz="2200" spc="-55" dirty="0">
                <a:latin typeface="Times New Roman"/>
                <a:cs typeface="Times New Roman"/>
              </a:rPr>
              <a:t> </a:t>
            </a:r>
            <a:r>
              <a:rPr sz="2200" spc="-10" dirty="0">
                <a:latin typeface="Times New Roman"/>
                <a:cs typeface="Times New Roman"/>
              </a:rPr>
              <a:t>and</a:t>
            </a:r>
            <a:r>
              <a:rPr sz="2200" spc="10" dirty="0">
                <a:latin typeface="Times New Roman"/>
                <a:cs typeface="Times New Roman"/>
              </a:rPr>
              <a:t> </a:t>
            </a:r>
            <a:r>
              <a:rPr sz="2200" spc="-5" dirty="0">
                <a:latin typeface="Times New Roman"/>
                <a:cs typeface="Times New Roman"/>
              </a:rPr>
              <a:t>support.</a:t>
            </a:r>
            <a:endParaRPr sz="2200" dirty="0">
              <a:latin typeface="Times New Roman"/>
              <a:cs typeface="Times New Roman"/>
            </a:endParaRPr>
          </a:p>
          <a:p>
            <a:pPr marL="1269365" lvl="2" indent="-252095">
              <a:lnSpc>
                <a:spcPct val="100000"/>
              </a:lnSpc>
              <a:spcBef>
                <a:spcPts val="530"/>
              </a:spcBef>
              <a:buChar char="•"/>
              <a:tabLst>
                <a:tab pos="1269365" algn="l"/>
                <a:tab pos="1270000" algn="l"/>
              </a:tabLst>
            </a:pPr>
            <a:r>
              <a:rPr sz="2200" spc="-5" dirty="0">
                <a:latin typeface="Times New Roman"/>
                <a:cs typeface="Times New Roman"/>
              </a:rPr>
              <a:t>Pricing</a:t>
            </a:r>
            <a:r>
              <a:rPr sz="2200" spc="-45" dirty="0">
                <a:latin typeface="Times New Roman"/>
                <a:cs typeface="Times New Roman"/>
              </a:rPr>
              <a:t> </a:t>
            </a:r>
            <a:r>
              <a:rPr lang="en-US" sz="2200" spc="-5" dirty="0">
                <a:latin typeface="Times New Roman"/>
                <a:cs typeface="Times New Roman"/>
              </a:rPr>
              <a:t>structure</a:t>
            </a:r>
            <a:r>
              <a:rPr sz="2200" spc="-5" dirty="0">
                <a:latin typeface="Times New Roman"/>
                <a:cs typeface="Times New Roman"/>
              </a:rPr>
              <a:t>.</a:t>
            </a:r>
            <a:endParaRPr sz="220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905" algn="ctr">
              <a:lnSpc>
                <a:spcPct val="100000"/>
              </a:lnSpc>
              <a:spcBef>
                <a:spcPts val="110"/>
              </a:spcBef>
            </a:pPr>
            <a:r>
              <a:rPr spc="-5" dirty="0"/>
              <a:t>Customer</a:t>
            </a:r>
            <a:r>
              <a:rPr spc="-10" dirty="0"/>
              <a:t> </a:t>
            </a:r>
            <a:r>
              <a:rPr dirty="0"/>
              <a:t>Interface</a:t>
            </a:r>
          </a:p>
          <a:p>
            <a:pPr marL="1905" algn="ctr">
              <a:lnSpc>
                <a:spcPct val="100000"/>
              </a:lnSpc>
              <a:spcBef>
                <a:spcPts val="55"/>
              </a:spcBef>
            </a:pPr>
            <a:r>
              <a:rPr sz="2200" spc="-5" dirty="0"/>
              <a:t>2</a:t>
            </a:r>
            <a:r>
              <a:rPr sz="2200" spc="-35" dirty="0"/>
              <a:t> </a:t>
            </a:r>
            <a:r>
              <a:rPr sz="2200" spc="-5" dirty="0"/>
              <a:t>of</a:t>
            </a:r>
            <a:r>
              <a:rPr sz="2200" spc="-15" dirty="0"/>
              <a:t> </a:t>
            </a:r>
            <a:r>
              <a:rPr sz="2200" spc="-5" dirty="0"/>
              <a:t>3</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2088859" y="1732296"/>
            <a:ext cx="5458460" cy="427990"/>
          </a:xfrm>
          <a:prstGeom prst="rect">
            <a:avLst/>
          </a:prstGeom>
        </p:spPr>
        <p:txBody>
          <a:bodyPr vert="horz" wrap="square" lIns="0" tIns="11430" rIns="0" bIns="0" rtlCol="0">
            <a:spAutoFit/>
          </a:bodyPr>
          <a:lstStyle/>
          <a:p>
            <a:pPr marL="12700">
              <a:lnSpc>
                <a:spcPct val="100000"/>
              </a:lnSpc>
              <a:spcBef>
                <a:spcPts val="90"/>
              </a:spcBef>
            </a:pPr>
            <a:r>
              <a:rPr sz="2650" spc="-10" dirty="0">
                <a:latin typeface="Times New Roman"/>
                <a:cs typeface="Times New Roman"/>
              </a:rPr>
              <a:t>Primary Elements</a:t>
            </a:r>
            <a:r>
              <a:rPr sz="2650" spc="-35" dirty="0">
                <a:latin typeface="Times New Roman"/>
                <a:cs typeface="Times New Roman"/>
              </a:rPr>
              <a:t> </a:t>
            </a:r>
            <a:r>
              <a:rPr sz="2650" spc="-5" dirty="0">
                <a:latin typeface="Times New Roman"/>
                <a:cs typeface="Times New Roman"/>
              </a:rPr>
              <a:t>of</a:t>
            </a:r>
            <a:r>
              <a:rPr sz="2650" spc="-20" dirty="0">
                <a:latin typeface="Times New Roman"/>
                <a:cs typeface="Times New Roman"/>
              </a:rPr>
              <a:t> </a:t>
            </a:r>
            <a:r>
              <a:rPr sz="2650" spc="-5" dirty="0">
                <a:latin typeface="Times New Roman"/>
                <a:cs typeface="Times New Roman"/>
              </a:rPr>
              <a:t>Customer</a:t>
            </a:r>
            <a:r>
              <a:rPr sz="2650" spc="-20" dirty="0">
                <a:latin typeface="Times New Roman"/>
                <a:cs typeface="Times New Roman"/>
              </a:rPr>
              <a:t> </a:t>
            </a:r>
            <a:r>
              <a:rPr sz="2650" spc="-10" dirty="0">
                <a:latin typeface="Times New Roman"/>
                <a:cs typeface="Times New Roman"/>
              </a:rPr>
              <a:t>Interface</a:t>
            </a:r>
            <a:endParaRPr sz="2650">
              <a:latin typeface="Times New Roman"/>
              <a:cs typeface="Times New Roman"/>
            </a:endParaRPr>
          </a:p>
        </p:txBody>
      </p:sp>
      <p:graphicFrame>
        <p:nvGraphicFramePr>
          <p:cNvPr id="5" name="object 5"/>
          <p:cNvGraphicFramePr>
            <a:graphicFrameLocks noGrp="1"/>
          </p:cNvGraphicFramePr>
          <p:nvPr>
            <p:extLst>
              <p:ext uri="{D42A27DB-BD31-4B8C-83A1-F6EECF244321}">
                <p14:modId xmlns:p14="http://schemas.microsoft.com/office/powerpoint/2010/main" val="973802702"/>
              </p:ext>
            </p:extLst>
          </p:nvPr>
        </p:nvGraphicFramePr>
        <p:xfrm>
          <a:off x="832866" y="2372105"/>
          <a:ext cx="8130539" cy="4610099"/>
        </p:xfrm>
        <a:graphic>
          <a:graphicData uri="http://schemas.openxmlformats.org/drawingml/2006/table">
            <a:tbl>
              <a:tblPr firstRow="1" bandRow="1">
                <a:tableStyleId>{2D5ABB26-0587-4C30-8999-92F81FD0307C}</a:tableStyleId>
              </a:tblPr>
              <a:tblGrid>
                <a:gridCol w="1844039">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2095500">
                <a:tc>
                  <a:txBody>
                    <a:bodyPr/>
                    <a:lstStyle/>
                    <a:p>
                      <a:pPr>
                        <a:lnSpc>
                          <a:spcPct val="100000"/>
                        </a:lnSpc>
                      </a:pPr>
                      <a:endParaRPr sz="2400" dirty="0">
                        <a:latin typeface="Times New Roman"/>
                        <a:cs typeface="Times New Roman"/>
                      </a:endParaRPr>
                    </a:p>
                    <a:p>
                      <a:pPr>
                        <a:lnSpc>
                          <a:spcPct val="100000"/>
                        </a:lnSpc>
                        <a:spcBef>
                          <a:spcPts val="20"/>
                        </a:spcBef>
                      </a:pPr>
                      <a:endParaRPr sz="2450" dirty="0">
                        <a:latin typeface="Times New Roman"/>
                        <a:cs typeface="Times New Roman"/>
                      </a:endParaRPr>
                    </a:p>
                    <a:p>
                      <a:pPr marL="519430" marR="511175" indent="50165">
                        <a:lnSpc>
                          <a:spcPct val="100000"/>
                        </a:lnSpc>
                      </a:pPr>
                      <a:r>
                        <a:rPr sz="2200" spc="-35" dirty="0">
                          <a:latin typeface="Times New Roman"/>
                          <a:cs typeface="Times New Roman"/>
                        </a:rPr>
                        <a:t>Target </a:t>
                      </a:r>
                      <a:r>
                        <a:rPr sz="2200" spc="-535" dirty="0">
                          <a:latin typeface="Times New Roman"/>
                          <a:cs typeface="Times New Roman"/>
                        </a:rPr>
                        <a:t> </a:t>
                      </a:r>
                      <a:r>
                        <a:rPr sz="2200" dirty="0">
                          <a:latin typeface="Times New Roman"/>
                          <a:cs typeface="Times New Roman"/>
                        </a:rPr>
                        <a:t>M</a:t>
                      </a:r>
                      <a:r>
                        <a:rPr sz="2200" spc="-10" dirty="0">
                          <a:latin typeface="Times New Roman"/>
                          <a:cs typeface="Times New Roman"/>
                        </a:rPr>
                        <a:t>a</a:t>
                      </a:r>
                      <a:r>
                        <a:rPr sz="2200" spc="15" dirty="0">
                          <a:latin typeface="Times New Roman"/>
                          <a:cs typeface="Times New Roman"/>
                        </a:rPr>
                        <a:t>r</a:t>
                      </a:r>
                      <a:r>
                        <a:rPr sz="2200" dirty="0">
                          <a:latin typeface="Times New Roman"/>
                          <a:cs typeface="Times New Roman"/>
                        </a:rPr>
                        <a:t>k</a:t>
                      </a:r>
                      <a:r>
                        <a:rPr sz="2200" spc="-10" dirty="0">
                          <a:latin typeface="Times New Roman"/>
                          <a:cs typeface="Times New Roman"/>
                        </a:rPr>
                        <a:t>e</a:t>
                      </a:r>
                      <a:r>
                        <a:rPr sz="2200" dirty="0">
                          <a:latin typeface="Times New Roman"/>
                          <a:cs typeface="Times New Roman"/>
                        </a:rPr>
                        <a:t>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nSpc>
                          <a:spcPct val="100000"/>
                        </a:lnSpc>
                      </a:pPr>
                      <a:endParaRPr sz="2400" dirty="0">
                        <a:latin typeface="Times New Roman"/>
                        <a:cs typeface="Times New Roman"/>
                      </a:endParaRPr>
                    </a:p>
                    <a:p>
                      <a:pPr>
                        <a:lnSpc>
                          <a:spcPct val="100000"/>
                        </a:lnSpc>
                        <a:spcBef>
                          <a:spcPts val="50"/>
                        </a:spcBef>
                      </a:pPr>
                      <a:endParaRPr sz="1850" dirty="0">
                        <a:latin typeface="Times New Roman"/>
                        <a:cs typeface="Times New Roman"/>
                      </a:endParaRPr>
                    </a:p>
                    <a:p>
                      <a:pPr marL="245110" marR="238125" indent="635" algn="ctr">
                        <a:lnSpc>
                          <a:spcPct val="100000"/>
                        </a:lnSpc>
                      </a:pPr>
                      <a:r>
                        <a:rPr sz="2200" spc="-5" dirty="0">
                          <a:latin typeface="Times New Roman"/>
                          <a:cs typeface="Times New Roman"/>
                        </a:rPr>
                        <a:t>A </a:t>
                      </a:r>
                      <a:r>
                        <a:rPr sz="2200" spc="-25" dirty="0">
                          <a:latin typeface="Times New Roman"/>
                          <a:cs typeface="Times New Roman"/>
                        </a:rPr>
                        <a:t>firm’s </a:t>
                      </a:r>
                      <a:r>
                        <a:rPr sz="2200" spc="-10" dirty="0">
                          <a:latin typeface="Times New Roman"/>
                          <a:cs typeface="Times New Roman"/>
                        </a:rPr>
                        <a:t>target market </a:t>
                      </a:r>
                      <a:r>
                        <a:rPr sz="2200" spc="-5" dirty="0">
                          <a:latin typeface="Times New Roman"/>
                          <a:cs typeface="Times New Roman"/>
                        </a:rPr>
                        <a:t>is </a:t>
                      </a:r>
                      <a:r>
                        <a:rPr sz="2200" spc="5" dirty="0">
                          <a:latin typeface="Times New Roman"/>
                          <a:cs typeface="Times New Roman"/>
                        </a:rPr>
                        <a:t>the </a:t>
                      </a:r>
                      <a:r>
                        <a:rPr sz="2200" spc="-10" dirty="0">
                          <a:latin typeface="Times New Roman"/>
                          <a:cs typeface="Times New Roman"/>
                        </a:rPr>
                        <a:t>limited </a:t>
                      </a:r>
                      <a:r>
                        <a:rPr sz="2200" dirty="0">
                          <a:latin typeface="Times New Roman"/>
                          <a:cs typeface="Times New Roman"/>
                        </a:rPr>
                        <a:t>group </a:t>
                      </a:r>
                      <a:r>
                        <a:rPr sz="2200" spc="-5" dirty="0">
                          <a:latin typeface="Times New Roman"/>
                          <a:cs typeface="Times New Roman"/>
                        </a:rPr>
                        <a:t>of</a:t>
                      </a:r>
                      <a:r>
                        <a:rPr lang="en-US" sz="2200" spc="-5" dirty="0">
                          <a:latin typeface="Times New Roman"/>
                          <a:cs typeface="Times New Roman"/>
                        </a:rPr>
                        <a:t> </a:t>
                      </a:r>
                      <a:r>
                        <a:rPr sz="2200" spc="-5" dirty="0">
                          <a:latin typeface="Times New Roman"/>
                          <a:cs typeface="Times New Roman"/>
                        </a:rPr>
                        <a:t>individuals or businesses that it </a:t>
                      </a:r>
                      <a:r>
                        <a:rPr sz="2200" dirty="0">
                          <a:latin typeface="Times New Roman"/>
                          <a:cs typeface="Times New Roman"/>
                        </a:rPr>
                        <a:t>goes </a:t>
                      </a:r>
                      <a:r>
                        <a:rPr sz="2200" spc="-5" dirty="0">
                          <a:latin typeface="Times New Roman"/>
                          <a:cs typeface="Times New Roman"/>
                        </a:rPr>
                        <a:t>after or </a:t>
                      </a:r>
                      <a:r>
                        <a:rPr sz="2200" spc="-10" dirty="0">
                          <a:latin typeface="Times New Roman"/>
                          <a:cs typeface="Times New Roman"/>
                        </a:rPr>
                        <a:t>tries </a:t>
                      </a:r>
                      <a:r>
                        <a:rPr sz="2200" spc="-15" dirty="0">
                          <a:latin typeface="Times New Roman"/>
                          <a:cs typeface="Times New Roman"/>
                        </a:rPr>
                        <a:t>to</a:t>
                      </a:r>
                      <a:r>
                        <a:rPr lang="en-US" sz="2200" spc="-15" dirty="0">
                          <a:latin typeface="Times New Roman"/>
                          <a:cs typeface="Times New Roman"/>
                        </a:rPr>
                        <a:t> </a:t>
                      </a:r>
                      <a:r>
                        <a:rPr sz="2200" spc="-5" dirty="0">
                          <a:latin typeface="Times New Roman"/>
                          <a:cs typeface="Times New Roman"/>
                        </a:rPr>
                        <a:t>appeal to.</a:t>
                      </a:r>
                      <a:endParaRPr sz="22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extLst>
                  <a:ext uri="{0D108BD9-81ED-4DB2-BD59-A6C34878D82A}">
                    <a16:rowId xmlns:a16="http://schemas.microsoft.com/office/drawing/2014/main" val="10000"/>
                  </a:ext>
                </a:extLst>
              </a:tr>
              <a:tr h="2514599">
                <a:tc>
                  <a:txBody>
                    <a:bodyPr/>
                    <a:lstStyle/>
                    <a:p>
                      <a:pPr>
                        <a:lnSpc>
                          <a:spcPct val="100000"/>
                        </a:lnSpc>
                      </a:pPr>
                      <a:endParaRPr sz="2400" dirty="0">
                        <a:latin typeface="Times New Roman"/>
                        <a:cs typeface="Times New Roman"/>
                      </a:endParaRPr>
                    </a:p>
                    <a:p>
                      <a:pPr>
                        <a:lnSpc>
                          <a:spcPct val="100000"/>
                        </a:lnSpc>
                        <a:spcBef>
                          <a:spcPts val="50"/>
                        </a:spcBef>
                      </a:pPr>
                      <a:endParaRPr sz="1850" dirty="0">
                        <a:latin typeface="Times New Roman"/>
                        <a:cs typeface="Times New Roman"/>
                      </a:endParaRPr>
                    </a:p>
                    <a:p>
                      <a:pPr marL="241935" marR="234315" indent="51435">
                        <a:lnSpc>
                          <a:spcPct val="100000"/>
                        </a:lnSpc>
                      </a:pPr>
                      <a:r>
                        <a:rPr sz="2200" spc="-5" dirty="0">
                          <a:latin typeface="Times New Roman"/>
                          <a:cs typeface="Times New Roman"/>
                        </a:rPr>
                        <a:t>Fulfillment </a:t>
                      </a:r>
                      <a:r>
                        <a:rPr sz="2200" spc="-535" dirty="0">
                          <a:latin typeface="Times New Roman"/>
                          <a:cs typeface="Times New Roman"/>
                        </a:rPr>
                        <a:t> </a:t>
                      </a:r>
                      <a:r>
                        <a:rPr sz="2200" dirty="0">
                          <a:latin typeface="Times New Roman"/>
                          <a:cs typeface="Times New Roman"/>
                        </a:rPr>
                        <a:t>and</a:t>
                      </a:r>
                      <a:r>
                        <a:rPr sz="2200" spc="-95" dirty="0">
                          <a:latin typeface="Times New Roman"/>
                          <a:cs typeface="Times New Roman"/>
                        </a:rPr>
                        <a:t> </a:t>
                      </a:r>
                      <a:r>
                        <a:rPr sz="2200" dirty="0">
                          <a:latin typeface="Times New Roman"/>
                          <a:cs typeface="Times New Roman"/>
                        </a:rPr>
                        <a:t>Support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nSpc>
                          <a:spcPct val="100000"/>
                        </a:lnSpc>
                        <a:spcBef>
                          <a:spcPts val="55"/>
                        </a:spcBef>
                      </a:pPr>
                      <a:endParaRPr sz="1950" dirty="0">
                        <a:latin typeface="Times New Roman"/>
                        <a:cs typeface="Times New Roman"/>
                      </a:endParaRPr>
                    </a:p>
                    <a:p>
                      <a:pPr marL="203835" marR="198120" algn="ctr">
                        <a:lnSpc>
                          <a:spcPct val="100000"/>
                        </a:lnSpc>
                      </a:pPr>
                      <a:r>
                        <a:rPr sz="2200" spc="-5" dirty="0">
                          <a:latin typeface="Times New Roman"/>
                          <a:cs typeface="Times New Roman"/>
                        </a:rPr>
                        <a:t>Fulfillment</a:t>
                      </a:r>
                      <a:r>
                        <a:rPr sz="2200" spc="-25" dirty="0">
                          <a:latin typeface="Times New Roman"/>
                          <a:cs typeface="Times New Roman"/>
                        </a:rPr>
                        <a:t> </a:t>
                      </a:r>
                      <a:r>
                        <a:rPr sz="2200" spc="-10" dirty="0">
                          <a:latin typeface="Times New Roman"/>
                          <a:cs typeface="Times New Roman"/>
                        </a:rPr>
                        <a:t>and</a:t>
                      </a:r>
                      <a:r>
                        <a:rPr sz="2200" spc="20" dirty="0">
                          <a:latin typeface="Times New Roman"/>
                          <a:cs typeface="Times New Roman"/>
                        </a:rPr>
                        <a:t> </a:t>
                      </a:r>
                      <a:r>
                        <a:rPr sz="2200" spc="-5" dirty="0">
                          <a:latin typeface="Times New Roman"/>
                          <a:cs typeface="Times New Roman"/>
                        </a:rPr>
                        <a:t>support</a:t>
                      </a:r>
                      <a:r>
                        <a:rPr sz="2200" spc="-20" dirty="0">
                          <a:latin typeface="Times New Roman"/>
                          <a:cs typeface="Times New Roman"/>
                        </a:rPr>
                        <a:t> </a:t>
                      </a:r>
                      <a:r>
                        <a:rPr lang="en-US" sz="2200" spc="-5" dirty="0">
                          <a:latin typeface="Times New Roman"/>
                          <a:cs typeface="Times New Roman"/>
                        </a:rPr>
                        <a:t>describes</a:t>
                      </a:r>
                      <a:r>
                        <a:rPr sz="2200" dirty="0">
                          <a:latin typeface="Times New Roman"/>
                          <a:cs typeface="Times New Roman"/>
                        </a:rPr>
                        <a:t> </a:t>
                      </a:r>
                      <a:r>
                        <a:rPr sz="2200" spc="-5" dirty="0">
                          <a:latin typeface="Times New Roman"/>
                          <a:cs typeface="Times New Roman"/>
                        </a:rPr>
                        <a:t>the</a:t>
                      </a:r>
                      <a:r>
                        <a:rPr sz="2200" spc="-10" dirty="0">
                          <a:latin typeface="Times New Roman"/>
                          <a:cs typeface="Times New Roman"/>
                        </a:rPr>
                        <a:t> way</a:t>
                      </a:r>
                      <a:r>
                        <a:rPr sz="2200" spc="2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25" dirty="0">
                          <a:latin typeface="Times New Roman"/>
                          <a:cs typeface="Times New Roman"/>
                        </a:rPr>
                        <a:t>firm’s</a:t>
                      </a:r>
                      <a:r>
                        <a:rPr lang="en-US" sz="2200" spc="-25" dirty="0">
                          <a:latin typeface="Times New Roman"/>
                          <a:cs typeface="Times New Roman"/>
                        </a:rPr>
                        <a:t> </a:t>
                      </a:r>
                      <a:r>
                        <a:rPr sz="2200" dirty="0">
                          <a:latin typeface="Times New Roman"/>
                          <a:cs typeface="Times New Roman"/>
                        </a:rPr>
                        <a:t>product </a:t>
                      </a:r>
                      <a:r>
                        <a:rPr sz="2200" spc="-5" dirty="0">
                          <a:latin typeface="Times New Roman"/>
                          <a:cs typeface="Times New Roman"/>
                        </a:rPr>
                        <a:t>or service reaches </a:t>
                      </a:r>
                      <a:r>
                        <a:rPr lang="en-US" sz="2200" spc="-5" dirty="0">
                          <a:latin typeface="Times New Roman"/>
                          <a:cs typeface="Times New Roman"/>
                        </a:rPr>
                        <a:t>its</a:t>
                      </a:r>
                      <a:r>
                        <a:rPr sz="2200" spc="-5" dirty="0">
                          <a:latin typeface="Times New Roman"/>
                          <a:cs typeface="Times New Roman"/>
                        </a:rPr>
                        <a:t> customers. </a:t>
                      </a:r>
                      <a:r>
                        <a:rPr sz="2200" spc="-10" dirty="0">
                          <a:latin typeface="Times New Roman"/>
                          <a:cs typeface="Times New Roman"/>
                        </a:rPr>
                        <a:t>It </a:t>
                      </a:r>
                      <a:r>
                        <a:rPr sz="2200" spc="-5" dirty="0">
                          <a:latin typeface="Times New Roman"/>
                          <a:cs typeface="Times New Roman"/>
                        </a:rPr>
                        <a:t>also refers</a:t>
                      </a:r>
                      <a:r>
                        <a:rPr lang="en-US" sz="2200" spc="-5" dirty="0">
                          <a:latin typeface="Times New Roman"/>
                          <a:cs typeface="Times New Roman"/>
                        </a:rPr>
                        <a:t> </a:t>
                      </a:r>
                      <a:r>
                        <a:rPr sz="2200" spc="-5" dirty="0">
                          <a:latin typeface="Times New Roman"/>
                          <a:cs typeface="Times New Roman"/>
                        </a:rPr>
                        <a:t>to the</a:t>
                      </a:r>
                      <a:r>
                        <a:rPr sz="2200" spc="-10" dirty="0">
                          <a:latin typeface="Times New Roman"/>
                          <a:cs typeface="Times New Roman"/>
                        </a:rPr>
                        <a:t> </a:t>
                      </a:r>
                      <a:r>
                        <a:rPr sz="2200" spc="-5" dirty="0">
                          <a:latin typeface="Times New Roman"/>
                          <a:cs typeface="Times New Roman"/>
                        </a:rPr>
                        <a:t>channels</a:t>
                      </a:r>
                      <a:r>
                        <a:rPr sz="220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company uses</a:t>
                      </a:r>
                      <a:r>
                        <a:rPr sz="2200" dirty="0">
                          <a:latin typeface="Times New Roman"/>
                          <a:cs typeface="Times New Roman"/>
                        </a:rPr>
                        <a:t> </a:t>
                      </a:r>
                      <a:r>
                        <a:rPr sz="2200" spc="-10" dirty="0">
                          <a:latin typeface="Times New Roman"/>
                          <a:cs typeface="Times New Roman"/>
                        </a:rPr>
                        <a:t>and</a:t>
                      </a:r>
                      <a:r>
                        <a:rPr sz="2200" spc="-5" dirty="0">
                          <a:latin typeface="Times New Roman"/>
                          <a:cs typeface="Times New Roman"/>
                        </a:rPr>
                        <a:t> what</a:t>
                      </a:r>
                      <a:r>
                        <a:rPr sz="2200" spc="5" dirty="0">
                          <a:latin typeface="Times New Roman"/>
                          <a:cs typeface="Times New Roman"/>
                        </a:rPr>
                        <a:t> </a:t>
                      </a:r>
                      <a:r>
                        <a:rPr sz="2200" spc="-5" dirty="0">
                          <a:latin typeface="Times New Roman"/>
                          <a:cs typeface="Times New Roman"/>
                        </a:rPr>
                        <a:t>level</a:t>
                      </a:r>
                      <a:r>
                        <a:rPr sz="2200" spc="-20" dirty="0">
                          <a:latin typeface="Times New Roman"/>
                          <a:cs typeface="Times New Roman"/>
                        </a:rPr>
                        <a:t> </a:t>
                      </a:r>
                      <a:r>
                        <a:rPr sz="2200" spc="5" dirty="0">
                          <a:latin typeface="Times New Roman"/>
                          <a:cs typeface="Times New Roman"/>
                        </a:rPr>
                        <a:t>of</a:t>
                      </a:r>
                      <a:r>
                        <a:rPr lang="en-US" sz="2200" spc="5" dirty="0">
                          <a:latin typeface="Times New Roman"/>
                          <a:cs typeface="Times New Roman"/>
                        </a:rPr>
                        <a:t> </a:t>
                      </a:r>
                      <a:r>
                        <a:rPr sz="2200" spc="-5" dirty="0">
                          <a:latin typeface="Times New Roman"/>
                          <a:cs typeface="Times New Roman"/>
                        </a:rPr>
                        <a:t>customer</a:t>
                      </a:r>
                      <a:r>
                        <a:rPr sz="2200" spc="-15" dirty="0">
                          <a:latin typeface="Times New Roman"/>
                          <a:cs typeface="Times New Roman"/>
                        </a:rPr>
                        <a:t> </a:t>
                      </a:r>
                      <a:r>
                        <a:rPr sz="2200" spc="-5" dirty="0">
                          <a:latin typeface="Times New Roman"/>
                          <a:cs typeface="Times New Roman"/>
                        </a:rPr>
                        <a:t>support</a:t>
                      </a:r>
                      <a:r>
                        <a:rPr sz="2200" spc="-20" dirty="0">
                          <a:latin typeface="Times New Roman"/>
                          <a:cs typeface="Times New Roman"/>
                        </a:rPr>
                        <a:t> </a:t>
                      </a:r>
                      <a:r>
                        <a:rPr sz="2200" spc="-5" dirty="0">
                          <a:latin typeface="Times New Roman"/>
                          <a:cs typeface="Times New Roman"/>
                        </a:rPr>
                        <a:t>it</a:t>
                      </a:r>
                      <a:r>
                        <a:rPr sz="2200" dirty="0">
                          <a:latin typeface="Times New Roman"/>
                          <a:cs typeface="Times New Roman"/>
                        </a:rPr>
                        <a:t> </a:t>
                      </a:r>
                      <a:r>
                        <a:rPr sz="2200" spc="-5" dirty="0">
                          <a:latin typeface="Times New Roman"/>
                          <a:cs typeface="Times New Roman"/>
                        </a:rPr>
                        <a:t>provides.</a:t>
                      </a:r>
                      <a:endParaRPr lang="en-US" sz="2200" spc="-5" dirty="0">
                        <a:latin typeface="Times New Roman"/>
                        <a:cs typeface="Times New Roman"/>
                      </a:endParaRPr>
                    </a:p>
                    <a:p>
                      <a:pPr marL="203835" marR="198120" algn="ctr">
                        <a:lnSpc>
                          <a:spcPct val="100000"/>
                        </a:lnSpc>
                      </a:pPr>
                      <a:r>
                        <a:rPr lang="en-US" sz="2200" spc="-5" dirty="0">
                          <a:latin typeface="Times New Roman"/>
                          <a:cs typeface="Times New Roman"/>
                        </a:rPr>
                        <a:t>All these issues impact the shape and nature of a company’s business model.</a:t>
                      </a:r>
                      <a:endParaRPr sz="2200" dirty="0">
                        <a:latin typeface="Times New Roman"/>
                        <a:cs typeface="Times New Roman"/>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905" algn="ctr">
              <a:lnSpc>
                <a:spcPct val="100000"/>
              </a:lnSpc>
              <a:spcBef>
                <a:spcPts val="110"/>
              </a:spcBef>
            </a:pPr>
            <a:r>
              <a:rPr spc="-5" dirty="0"/>
              <a:t>Customer</a:t>
            </a:r>
            <a:r>
              <a:rPr spc="-10" dirty="0"/>
              <a:t> </a:t>
            </a:r>
            <a:r>
              <a:rPr dirty="0"/>
              <a:t>Interface</a:t>
            </a:r>
          </a:p>
          <a:p>
            <a:pPr marL="1905" algn="ctr">
              <a:lnSpc>
                <a:spcPct val="100000"/>
              </a:lnSpc>
              <a:spcBef>
                <a:spcPts val="55"/>
              </a:spcBef>
            </a:pPr>
            <a:r>
              <a:rPr sz="2200" spc="-5" dirty="0"/>
              <a:t>3</a:t>
            </a:r>
            <a:r>
              <a:rPr sz="2200" spc="-35" dirty="0"/>
              <a:t> </a:t>
            </a:r>
            <a:r>
              <a:rPr sz="2200" spc="-5" dirty="0"/>
              <a:t>of</a:t>
            </a:r>
            <a:r>
              <a:rPr sz="2200" spc="-15" dirty="0"/>
              <a:t> </a:t>
            </a:r>
            <a:r>
              <a:rPr sz="2200" spc="-5" dirty="0"/>
              <a:t>3</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p:nvPr/>
        </p:nvSpPr>
        <p:spPr>
          <a:xfrm>
            <a:off x="838200" y="2293620"/>
            <a:ext cx="8130540" cy="4610100"/>
          </a:xfrm>
          <a:custGeom>
            <a:avLst/>
            <a:gdLst/>
            <a:ahLst/>
            <a:cxnLst/>
            <a:rect l="l" t="t" r="r" b="b"/>
            <a:pathLst>
              <a:path w="8130540" h="4610100">
                <a:moveTo>
                  <a:pt x="8130539" y="4610099"/>
                </a:moveTo>
                <a:lnTo>
                  <a:pt x="0" y="4610099"/>
                </a:lnTo>
                <a:lnTo>
                  <a:pt x="0" y="0"/>
                </a:lnTo>
                <a:lnTo>
                  <a:pt x="8130539" y="0"/>
                </a:lnTo>
                <a:lnTo>
                  <a:pt x="8130539" y="4610099"/>
                </a:lnTo>
                <a:close/>
              </a:path>
            </a:pathLst>
          </a:custGeom>
          <a:solidFill>
            <a:srgbClr val="FFFFCC"/>
          </a:solidFill>
        </p:spPr>
        <p:txBody>
          <a:bodyPr wrap="square" lIns="0" tIns="0" rIns="0" bIns="0" rtlCol="0"/>
          <a:lstStyle/>
          <a:p>
            <a:endParaRPr/>
          </a:p>
        </p:txBody>
      </p:sp>
      <p:sp>
        <p:nvSpPr>
          <p:cNvPr id="5" name="object 5"/>
          <p:cNvSpPr txBox="1"/>
          <p:nvPr/>
        </p:nvSpPr>
        <p:spPr>
          <a:xfrm>
            <a:off x="2088859" y="1732296"/>
            <a:ext cx="5458460" cy="427990"/>
          </a:xfrm>
          <a:prstGeom prst="rect">
            <a:avLst/>
          </a:prstGeom>
        </p:spPr>
        <p:txBody>
          <a:bodyPr vert="horz" wrap="square" lIns="0" tIns="11430" rIns="0" bIns="0" rtlCol="0">
            <a:spAutoFit/>
          </a:bodyPr>
          <a:lstStyle/>
          <a:p>
            <a:pPr marL="12700">
              <a:lnSpc>
                <a:spcPct val="100000"/>
              </a:lnSpc>
              <a:spcBef>
                <a:spcPts val="90"/>
              </a:spcBef>
            </a:pPr>
            <a:r>
              <a:rPr sz="2650" spc="-10" dirty="0">
                <a:latin typeface="Times New Roman"/>
                <a:cs typeface="Times New Roman"/>
              </a:rPr>
              <a:t>Primary Elements</a:t>
            </a:r>
            <a:r>
              <a:rPr sz="2650" spc="-35" dirty="0">
                <a:latin typeface="Times New Roman"/>
                <a:cs typeface="Times New Roman"/>
              </a:rPr>
              <a:t> </a:t>
            </a:r>
            <a:r>
              <a:rPr sz="2650" spc="-5" dirty="0">
                <a:latin typeface="Times New Roman"/>
                <a:cs typeface="Times New Roman"/>
              </a:rPr>
              <a:t>of</a:t>
            </a:r>
            <a:r>
              <a:rPr sz="2650" spc="-20" dirty="0">
                <a:latin typeface="Times New Roman"/>
                <a:cs typeface="Times New Roman"/>
              </a:rPr>
              <a:t> </a:t>
            </a:r>
            <a:r>
              <a:rPr sz="2650" spc="-5" dirty="0">
                <a:latin typeface="Times New Roman"/>
                <a:cs typeface="Times New Roman"/>
              </a:rPr>
              <a:t>Customer</a:t>
            </a:r>
            <a:r>
              <a:rPr sz="2650" spc="-20" dirty="0">
                <a:latin typeface="Times New Roman"/>
                <a:cs typeface="Times New Roman"/>
              </a:rPr>
              <a:t> </a:t>
            </a:r>
            <a:r>
              <a:rPr sz="2650" spc="-10" dirty="0">
                <a:latin typeface="Times New Roman"/>
                <a:cs typeface="Times New Roman"/>
              </a:rPr>
              <a:t>Interface</a:t>
            </a:r>
            <a:endParaRPr sz="2650">
              <a:latin typeface="Times New Roman"/>
              <a:cs typeface="Times New Roman"/>
            </a:endParaRPr>
          </a:p>
        </p:txBody>
      </p:sp>
      <p:sp>
        <p:nvSpPr>
          <p:cNvPr id="6" name="object 6"/>
          <p:cNvSpPr txBox="1"/>
          <p:nvPr/>
        </p:nvSpPr>
        <p:spPr>
          <a:xfrm>
            <a:off x="838200" y="2293620"/>
            <a:ext cx="2095500" cy="4610100"/>
          </a:xfrm>
          <a:prstGeom prst="rect">
            <a:avLst/>
          </a:prstGeom>
          <a:solidFill>
            <a:srgbClr val="FFFFCC"/>
          </a:solidFill>
          <a:ln w="10667">
            <a:solidFill>
              <a:srgbClr val="000000"/>
            </a:solidFill>
          </a:ln>
        </p:spPr>
        <p:txBody>
          <a:bodyPr vert="horz" wrap="square" lIns="0" tIns="0" rIns="0" bIns="0" rtlCol="0">
            <a:spAutoFit/>
          </a:bodyPr>
          <a:lstStyle/>
          <a:p>
            <a:pPr>
              <a:lnSpc>
                <a:spcPct val="100000"/>
              </a:lnSpc>
            </a:pPr>
            <a:endParaRPr sz="2400">
              <a:latin typeface="Times New Roman"/>
              <a:cs typeface="Times New Roman"/>
            </a:endParaRPr>
          </a:p>
          <a:p>
            <a:pPr>
              <a:lnSpc>
                <a:spcPct val="100000"/>
              </a:lnSpc>
            </a:pPr>
            <a:endParaRPr sz="2400">
              <a:latin typeface="Times New Roman"/>
              <a:cs typeface="Times New Roman"/>
            </a:endParaRPr>
          </a:p>
          <a:p>
            <a:pPr>
              <a:lnSpc>
                <a:spcPct val="100000"/>
              </a:lnSpc>
            </a:pPr>
            <a:endParaRPr sz="2400">
              <a:latin typeface="Times New Roman"/>
              <a:cs typeface="Times New Roman"/>
            </a:endParaRPr>
          </a:p>
          <a:p>
            <a:pPr>
              <a:lnSpc>
                <a:spcPct val="100000"/>
              </a:lnSpc>
            </a:pPr>
            <a:endParaRPr sz="2400">
              <a:latin typeface="Times New Roman"/>
              <a:cs typeface="Times New Roman"/>
            </a:endParaRPr>
          </a:p>
          <a:p>
            <a:pPr marL="535940" marR="526415" indent="107950">
              <a:lnSpc>
                <a:spcPct val="100000"/>
              </a:lnSpc>
              <a:spcBef>
                <a:spcPts val="1820"/>
              </a:spcBef>
            </a:pPr>
            <a:r>
              <a:rPr sz="2200" spc="-5" dirty="0">
                <a:latin typeface="Times New Roman"/>
                <a:cs typeface="Times New Roman"/>
              </a:rPr>
              <a:t>Pricing </a:t>
            </a:r>
            <a:r>
              <a:rPr sz="2200" dirty="0">
                <a:latin typeface="Times New Roman"/>
                <a:cs typeface="Times New Roman"/>
              </a:rPr>
              <a:t> S</a:t>
            </a:r>
            <a:r>
              <a:rPr sz="2200" spc="-5" dirty="0">
                <a:latin typeface="Times New Roman"/>
                <a:cs typeface="Times New Roman"/>
              </a:rPr>
              <a:t>t</a:t>
            </a:r>
            <a:r>
              <a:rPr sz="2200" spc="-15" dirty="0">
                <a:latin typeface="Times New Roman"/>
                <a:cs typeface="Times New Roman"/>
              </a:rPr>
              <a:t>r</a:t>
            </a:r>
            <a:r>
              <a:rPr sz="2200" spc="-5" dirty="0">
                <a:latin typeface="Times New Roman"/>
                <a:cs typeface="Times New Roman"/>
              </a:rPr>
              <a:t>u</a:t>
            </a:r>
            <a:r>
              <a:rPr sz="2200" spc="-15" dirty="0">
                <a:latin typeface="Times New Roman"/>
                <a:cs typeface="Times New Roman"/>
              </a:rPr>
              <a:t>c</a:t>
            </a:r>
            <a:r>
              <a:rPr sz="2200" spc="-5" dirty="0">
                <a:latin typeface="Times New Roman"/>
                <a:cs typeface="Times New Roman"/>
              </a:rPr>
              <a:t>t</a:t>
            </a:r>
            <a:r>
              <a:rPr sz="2200" spc="15" dirty="0">
                <a:latin typeface="Times New Roman"/>
                <a:cs typeface="Times New Roman"/>
              </a:rPr>
              <a:t>u</a:t>
            </a:r>
            <a:r>
              <a:rPr sz="2200" spc="-15" dirty="0">
                <a:latin typeface="Times New Roman"/>
                <a:cs typeface="Times New Roman"/>
              </a:rPr>
              <a:t>r</a:t>
            </a:r>
            <a:r>
              <a:rPr sz="2200" spc="-5" dirty="0">
                <a:latin typeface="Times New Roman"/>
                <a:cs typeface="Times New Roman"/>
              </a:rPr>
              <a:t>e</a:t>
            </a:r>
            <a:endParaRPr sz="2200">
              <a:latin typeface="Times New Roman"/>
              <a:cs typeface="Times New Roman"/>
            </a:endParaRPr>
          </a:p>
        </p:txBody>
      </p:sp>
      <p:sp>
        <p:nvSpPr>
          <p:cNvPr id="7" name="object 7"/>
          <p:cNvSpPr txBox="1"/>
          <p:nvPr/>
        </p:nvSpPr>
        <p:spPr>
          <a:xfrm>
            <a:off x="2933700" y="2293620"/>
            <a:ext cx="6035040" cy="4610100"/>
          </a:xfrm>
          <a:prstGeom prst="rect">
            <a:avLst/>
          </a:prstGeom>
          <a:solidFill>
            <a:srgbClr val="FFFFCC"/>
          </a:solidFill>
          <a:ln w="10667">
            <a:solidFill>
              <a:srgbClr val="000000"/>
            </a:solidFill>
          </a:ln>
        </p:spPr>
        <p:txBody>
          <a:bodyPr vert="horz" wrap="square" lIns="0" tIns="0" rIns="0" bIns="0" rtlCol="0">
            <a:spAutoFit/>
          </a:bodyPr>
          <a:lstStyle/>
          <a:p>
            <a:pPr>
              <a:lnSpc>
                <a:spcPct val="100000"/>
              </a:lnSpc>
            </a:pPr>
            <a:endParaRPr sz="2400" dirty="0">
              <a:latin typeface="Times New Roman"/>
              <a:cs typeface="Times New Roman"/>
            </a:endParaRPr>
          </a:p>
          <a:p>
            <a:pPr>
              <a:lnSpc>
                <a:spcPct val="100000"/>
              </a:lnSpc>
            </a:pPr>
            <a:endParaRPr sz="2400" dirty="0">
              <a:latin typeface="Times New Roman"/>
              <a:cs typeface="Times New Roman"/>
            </a:endParaRPr>
          </a:p>
          <a:p>
            <a:pPr>
              <a:lnSpc>
                <a:spcPct val="100000"/>
              </a:lnSpc>
            </a:pPr>
            <a:endParaRPr sz="2400" dirty="0">
              <a:latin typeface="Times New Roman"/>
              <a:cs typeface="Times New Roman"/>
            </a:endParaRPr>
          </a:p>
          <a:p>
            <a:pPr marL="354965" marR="267335" indent="635" algn="ctr">
              <a:lnSpc>
                <a:spcPct val="100000"/>
              </a:lnSpc>
              <a:spcBef>
                <a:spcPts val="1939"/>
              </a:spcBef>
              <a:tabLst>
                <a:tab pos="4027804" algn="l"/>
              </a:tabLst>
            </a:pPr>
            <a:r>
              <a:rPr sz="2200" spc="-5" dirty="0">
                <a:latin typeface="Times New Roman"/>
                <a:cs typeface="Times New Roman"/>
              </a:rPr>
              <a:t>The third </a:t>
            </a:r>
            <a:r>
              <a:rPr sz="2200" spc="-10" dirty="0">
                <a:latin typeface="Times New Roman"/>
                <a:cs typeface="Times New Roman"/>
              </a:rPr>
              <a:t>element </a:t>
            </a:r>
            <a:r>
              <a:rPr sz="2200" spc="5" dirty="0">
                <a:latin typeface="Times New Roman"/>
                <a:cs typeface="Times New Roman"/>
              </a:rPr>
              <a:t>of </a:t>
            </a:r>
            <a:r>
              <a:rPr sz="2200" spc="-5" dirty="0">
                <a:latin typeface="Times New Roman"/>
                <a:cs typeface="Times New Roman"/>
              </a:rPr>
              <a:t>a </a:t>
            </a:r>
            <a:r>
              <a:rPr sz="2200" spc="-20" dirty="0">
                <a:latin typeface="Times New Roman"/>
                <a:cs typeface="Times New Roman"/>
              </a:rPr>
              <a:t>company’s </a:t>
            </a:r>
            <a:r>
              <a:rPr sz="2200" spc="-5" dirty="0">
                <a:latin typeface="Times New Roman"/>
                <a:cs typeface="Times New Roman"/>
              </a:rPr>
              <a:t>customer </a:t>
            </a:r>
            <a:r>
              <a:rPr sz="2200" dirty="0">
                <a:latin typeface="Times New Roman"/>
                <a:cs typeface="Times New Roman"/>
              </a:rPr>
              <a:t> </a:t>
            </a:r>
            <a:r>
              <a:rPr sz="2200" spc="-5" dirty="0">
                <a:latin typeface="Times New Roman"/>
                <a:cs typeface="Times New Roman"/>
              </a:rPr>
              <a:t>interface is</a:t>
            </a:r>
            <a:r>
              <a:rPr sz="2200" spc="10" dirty="0">
                <a:latin typeface="Times New Roman"/>
                <a:cs typeface="Times New Roman"/>
              </a:rPr>
              <a:t> </a:t>
            </a:r>
            <a:r>
              <a:rPr sz="2200" spc="-10" dirty="0">
                <a:latin typeface="Times New Roman"/>
                <a:cs typeface="Times New Roman"/>
              </a:rPr>
              <a:t>its</a:t>
            </a:r>
            <a:r>
              <a:rPr sz="2200" spc="10" dirty="0">
                <a:latin typeface="Times New Roman"/>
                <a:cs typeface="Times New Roman"/>
              </a:rPr>
              <a:t> </a:t>
            </a:r>
            <a:r>
              <a:rPr sz="2200" spc="-5" dirty="0">
                <a:latin typeface="Times New Roman"/>
                <a:cs typeface="Times New Roman"/>
              </a:rPr>
              <a:t>pricing</a:t>
            </a:r>
            <a:r>
              <a:rPr sz="2200" spc="-15" dirty="0">
                <a:latin typeface="Times New Roman"/>
                <a:cs typeface="Times New Roman"/>
              </a:rPr>
              <a:t> </a:t>
            </a:r>
            <a:r>
              <a:rPr sz="2200" spc="-5" dirty="0">
                <a:latin typeface="Times New Roman"/>
                <a:cs typeface="Times New Roman"/>
              </a:rPr>
              <a:t>structure.	Pricing models </a:t>
            </a:r>
            <a:r>
              <a:rPr sz="2200" spc="-535" dirty="0">
                <a:latin typeface="Times New Roman"/>
                <a:cs typeface="Times New Roman"/>
              </a:rPr>
              <a:t> </a:t>
            </a:r>
            <a:r>
              <a:rPr sz="2200" spc="-30" dirty="0">
                <a:latin typeface="Times New Roman"/>
                <a:cs typeface="Times New Roman"/>
              </a:rPr>
              <a:t>vary, </a:t>
            </a:r>
            <a:r>
              <a:rPr sz="2200" dirty="0">
                <a:latin typeface="Times New Roman"/>
                <a:cs typeface="Times New Roman"/>
              </a:rPr>
              <a:t>depending </a:t>
            </a:r>
            <a:r>
              <a:rPr sz="2200" spc="5" dirty="0">
                <a:latin typeface="Times New Roman"/>
                <a:cs typeface="Times New Roman"/>
              </a:rPr>
              <a:t>on </a:t>
            </a:r>
            <a:r>
              <a:rPr sz="2200" spc="-5" dirty="0">
                <a:latin typeface="Times New Roman"/>
                <a:cs typeface="Times New Roman"/>
              </a:rPr>
              <a:t>a </a:t>
            </a:r>
            <a:r>
              <a:rPr sz="2200" spc="-25" dirty="0">
                <a:latin typeface="Times New Roman"/>
                <a:cs typeface="Times New Roman"/>
              </a:rPr>
              <a:t>firm’s </a:t>
            </a:r>
            <a:r>
              <a:rPr sz="2200" spc="-10" dirty="0">
                <a:latin typeface="Times New Roman"/>
                <a:cs typeface="Times New Roman"/>
              </a:rPr>
              <a:t>target market </a:t>
            </a:r>
            <a:r>
              <a:rPr sz="2200" dirty="0">
                <a:latin typeface="Times New Roman"/>
                <a:cs typeface="Times New Roman"/>
              </a:rPr>
              <a:t>and </a:t>
            </a:r>
            <a:r>
              <a:rPr sz="2200" spc="-10" dirty="0">
                <a:latin typeface="Times New Roman"/>
                <a:cs typeface="Times New Roman"/>
              </a:rPr>
              <a:t>its </a:t>
            </a:r>
            <a:r>
              <a:rPr sz="2200" spc="-535" dirty="0">
                <a:latin typeface="Times New Roman"/>
                <a:cs typeface="Times New Roman"/>
              </a:rPr>
              <a:t> </a:t>
            </a:r>
            <a:r>
              <a:rPr sz="2200" spc="-5" dirty="0">
                <a:latin typeface="Times New Roman"/>
                <a:cs typeface="Times New Roman"/>
              </a:rPr>
              <a:t>pricing</a:t>
            </a:r>
            <a:r>
              <a:rPr sz="2200" spc="-30" dirty="0">
                <a:latin typeface="Times New Roman"/>
                <a:cs typeface="Times New Roman"/>
              </a:rPr>
              <a:t> </a:t>
            </a:r>
            <a:r>
              <a:rPr sz="2200" spc="-15" dirty="0">
                <a:latin typeface="Times New Roman"/>
                <a:cs typeface="Times New Roman"/>
              </a:rPr>
              <a:t>philosophy.</a:t>
            </a:r>
            <a:endParaRPr sz="2200" dirty="0">
              <a:latin typeface="Times New Roman"/>
              <a:cs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09074" y="580097"/>
            <a:ext cx="8841740" cy="629285"/>
          </a:xfrm>
          <a:prstGeom prst="rect">
            <a:avLst/>
          </a:prstGeom>
        </p:spPr>
        <p:txBody>
          <a:bodyPr vert="horz" wrap="square" lIns="0" tIns="13970" rIns="0" bIns="0" rtlCol="0">
            <a:spAutoFit/>
          </a:bodyPr>
          <a:lstStyle/>
          <a:p>
            <a:pPr marL="12700">
              <a:lnSpc>
                <a:spcPct val="100000"/>
              </a:lnSpc>
              <a:spcBef>
                <a:spcPts val="110"/>
              </a:spcBef>
            </a:pPr>
            <a:r>
              <a:rPr spc="-5" dirty="0"/>
              <a:t>Recap:</a:t>
            </a:r>
            <a:r>
              <a:rPr spc="45" dirty="0"/>
              <a:t> </a:t>
            </a:r>
            <a:r>
              <a:rPr dirty="0"/>
              <a:t>The</a:t>
            </a:r>
            <a:r>
              <a:rPr spc="-15" dirty="0"/>
              <a:t> </a:t>
            </a:r>
            <a:r>
              <a:rPr dirty="0"/>
              <a:t>Importance</a:t>
            </a:r>
            <a:r>
              <a:rPr spc="25" dirty="0"/>
              <a:t> </a:t>
            </a:r>
            <a:r>
              <a:rPr dirty="0"/>
              <a:t>of</a:t>
            </a:r>
            <a:r>
              <a:rPr spc="-10" dirty="0"/>
              <a:t> </a:t>
            </a:r>
            <a:r>
              <a:rPr spc="-5" dirty="0"/>
              <a:t>Business</a:t>
            </a:r>
            <a:r>
              <a:rPr spc="45" dirty="0"/>
              <a:t> </a:t>
            </a:r>
            <a:r>
              <a:rPr dirty="0"/>
              <a:t>Models</a:t>
            </a:r>
          </a:p>
        </p:txBody>
      </p:sp>
      <p:sp>
        <p:nvSpPr>
          <p:cNvPr id="4" name="object 4"/>
          <p:cNvSpPr txBox="1"/>
          <p:nvPr/>
        </p:nvSpPr>
        <p:spPr>
          <a:xfrm>
            <a:off x="590865" y="1803066"/>
            <a:ext cx="8863330" cy="4509696"/>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0" dirty="0">
                <a:latin typeface="Times New Roman"/>
                <a:cs typeface="Times New Roman"/>
              </a:rPr>
              <a:t>Business</a:t>
            </a:r>
            <a:r>
              <a:rPr sz="3050" spc="-50" dirty="0">
                <a:latin typeface="Times New Roman"/>
                <a:cs typeface="Times New Roman"/>
              </a:rPr>
              <a:t> </a:t>
            </a:r>
            <a:r>
              <a:rPr sz="3050" spc="15" dirty="0">
                <a:latin typeface="Times New Roman"/>
                <a:cs typeface="Times New Roman"/>
              </a:rPr>
              <a:t>Models</a:t>
            </a:r>
            <a:endParaRPr sz="3050" dirty="0">
              <a:latin typeface="Times New Roman"/>
              <a:cs typeface="Times New Roman"/>
            </a:endParaRPr>
          </a:p>
          <a:p>
            <a:pPr marL="829310" marR="528955" lvl="1" indent="-314325">
              <a:lnSpc>
                <a:spcPts val="3170"/>
              </a:lnSpc>
              <a:spcBef>
                <a:spcPts val="750"/>
              </a:spcBef>
              <a:buChar char="–"/>
              <a:tabLst>
                <a:tab pos="830580" algn="l"/>
                <a:tab pos="831215" algn="l"/>
              </a:tabLst>
            </a:pPr>
            <a:r>
              <a:rPr sz="2650" spc="-10" dirty="0">
                <a:latin typeface="Times New Roman"/>
                <a:cs typeface="Times New Roman"/>
              </a:rPr>
              <a:t>It</a:t>
            </a:r>
            <a:r>
              <a:rPr sz="2650" dirty="0">
                <a:latin typeface="Times New Roman"/>
                <a:cs typeface="Times New Roman"/>
              </a:rPr>
              <a:t> </a:t>
            </a:r>
            <a:r>
              <a:rPr sz="2650" spc="-20" dirty="0">
                <a:latin typeface="Times New Roman"/>
                <a:cs typeface="Times New Roman"/>
              </a:rPr>
              <a:t>is</a:t>
            </a:r>
            <a:r>
              <a:rPr sz="2650" spc="-5" dirty="0">
                <a:latin typeface="Times New Roman"/>
                <a:cs typeface="Times New Roman"/>
              </a:rPr>
              <a:t> very </a:t>
            </a:r>
            <a:r>
              <a:rPr sz="2650" spc="-10" dirty="0">
                <a:latin typeface="Times New Roman"/>
                <a:cs typeface="Times New Roman"/>
              </a:rPr>
              <a:t>useful</a:t>
            </a:r>
            <a:r>
              <a:rPr sz="2650" spc="5" dirty="0">
                <a:latin typeface="Times New Roman"/>
                <a:cs typeface="Times New Roman"/>
              </a:rPr>
              <a:t> </a:t>
            </a:r>
            <a:r>
              <a:rPr sz="2650" spc="-10" dirty="0">
                <a:latin typeface="Times New Roman"/>
                <a:cs typeface="Times New Roman"/>
              </a:rPr>
              <a:t>for</a:t>
            </a:r>
            <a:r>
              <a:rPr sz="2650" spc="15"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5" dirty="0">
                <a:latin typeface="Times New Roman"/>
                <a:cs typeface="Times New Roman"/>
              </a:rPr>
              <a:t>new</a:t>
            </a:r>
            <a:r>
              <a:rPr sz="2650" spc="-10" dirty="0">
                <a:latin typeface="Times New Roman"/>
                <a:cs typeface="Times New Roman"/>
              </a:rPr>
              <a:t> venture </a:t>
            </a:r>
            <a:r>
              <a:rPr sz="2650" spc="-5" dirty="0">
                <a:latin typeface="Times New Roman"/>
                <a:cs typeface="Times New Roman"/>
              </a:rPr>
              <a:t>to </a:t>
            </a:r>
            <a:r>
              <a:rPr sz="2650" spc="-15" dirty="0">
                <a:latin typeface="Times New Roman"/>
                <a:cs typeface="Times New Roman"/>
              </a:rPr>
              <a:t>look</a:t>
            </a:r>
            <a:r>
              <a:rPr sz="2650" spc="-5" dirty="0">
                <a:latin typeface="Times New Roman"/>
                <a:cs typeface="Times New Roman"/>
              </a:rPr>
              <a:t> </a:t>
            </a:r>
            <a:r>
              <a:rPr sz="2650" dirty="0">
                <a:latin typeface="Times New Roman"/>
                <a:cs typeface="Times New Roman"/>
              </a:rPr>
              <a:t>at</a:t>
            </a:r>
            <a:r>
              <a:rPr sz="2650" spc="-25" dirty="0">
                <a:latin typeface="Times New Roman"/>
                <a:cs typeface="Times New Roman"/>
              </a:rPr>
              <a:t> </a:t>
            </a:r>
            <a:r>
              <a:rPr sz="2650" spc="-5" dirty="0">
                <a:latin typeface="Times New Roman"/>
                <a:cs typeface="Times New Roman"/>
              </a:rPr>
              <a:t>itself</a:t>
            </a:r>
            <a:r>
              <a:rPr sz="2650" spc="-10" dirty="0">
                <a:latin typeface="Times New Roman"/>
                <a:cs typeface="Times New Roman"/>
              </a:rPr>
              <a:t> </a:t>
            </a:r>
            <a:r>
              <a:rPr sz="2650" spc="-5" dirty="0">
                <a:latin typeface="Times New Roman"/>
                <a:cs typeface="Times New Roman"/>
              </a:rPr>
              <a:t>in a </a:t>
            </a:r>
            <a:r>
              <a:rPr sz="2650" dirty="0">
                <a:latin typeface="Times New Roman"/>
                <a:cs typeface="Times New Roman"/>
              </a:rPr>
              <a:t> </a:t>
            </a:r>
            <a:r>
              <a:rPr sz="2650" spc="-10" dirty="0">
                <a:latin typeface="Times New Roman"/>
                <a:cs typeface="Times New Roman"/>
              </a:rPr>
              <a:t>holistic manner </a:t>
            </a:r>
            <a:r>
              <a:rPr sz="2650" dirty="0">
                <a:latin typeface="Times New Roman"/>
                <a:cs typeface="Times New Roman"/>
              </a:rPr>
              <a:t>and </a:t>
            </a:r>
            <a:r>
              <a:rPr sz="2650" spc="-10" dirty="0">
                <a:latin typeface="Times New Roman"/>
                <a:cs typeface="Times New Roman"/>
              </a:rPr>
              <a:t>understand that </a:t>
            </a:r>
            <a:r>
              <a:rPr sz="2650" spc="-5" dirty="0">
                <a:latin typeface="Times New Roman"/>
                <a:cs typeface="Times New Roman"/>
              </a:rPr>
              <a:t>it must </a:t>
            </a:r>
            <a:r>
              <a:rPr sz="2650" spc="-10" dirty="0">
                <a:latin typeface="Times New Roman"/>
                <a:cs typeface="Times New Roman"/>
              </a:rPr>
              <a:t>construct </a:t>
            </a:r>
            <a:r>
              <a:rPr sz="2650" dirty="0">
                <a:latin typeface="Times New Roman"/>
                <a:cs typeface="Times New Roman"/>
              </a:rPr>
              <a:t>an </a:t>
            </a:r>
            <a:r>
              <a:rPr sz="2650" spc="-650" dirty="0">
                <a:latin typeface="Times New Roman"/>
                <a:cs typeface="Times New Roman"/>
              </a:rPr>
              <a:t> </a:t>
            </a:r>
            <a:r>
              <a:rPr sz="2650" spc="-10" dirty="0">
                <a:latin typeface="Times New Roman"/>
                <a:cs typeface="Times New Roman"/>
              </a:rPr>
              <a:t>effective</a:t>
            </a:r>
            <a:r>
              <a:rPr sz="2650" spc="-20" dirty="0">
                <a:latin typeface="Times New Roman"/>
                <a:cs typeface="Times New Roman"/>
              </a:rPr>
              <a:t> </a:t>
            </a:r>
            <a:r>
              <a:rPr sz="2650" spc="-5" dirty="0">
                <a:latin typeface="Times New Roman"/>
                <a:cs typeface="Times New Roman"/>
              </a:rPr>
              <a:t>“business</a:t>
            </a:r>
            <a:r>
              <a:rPr sz="2650" spc="-30" dirty="0">
                <a:latin typeface="Times New Roman"/>
                <a:cs typeface="Times New Roman"/>
              </a:rPr>
              <a:t> </a:t>
            </a:r>
            <a:r>
              <a:rPr sz="2650" spc="-10" dirty="0">
                <a:latin typeface="Times New Roman"/>
                <a:cs typeface="Times New Roman"/>
              </a:rPr>
              <a:t>model”</a:t>
            </a:r>
            <a:r>
              <a:rPr sz="2650" spc="-15" dirty="0">
                <a:latin typeface="Times New Roman"/>
                <a:cs typeface="Times New Roman"/>
              </a:rPr>
              <a:t> </a:t>
            </a:r>
            <a:r>
              <a:rPr sz="2650" spc="-5" dirty="0">
                <a:latin typeface="Times New Roman"/>
                <a:cs typeface="Times New Roman"/>
              </a:rPr>
              <a:t>to be</a:t>
            </a:r>
            <a:r>
              <a:rPr sz="2650" spc="-15" dirty="0">
                <a:latin typeface="Times New Roman"/>
                <a:cs typeface="Times New Roman"/>
              </a:rPr>
              <a:t> </a:t>
            </a:r>
            <a:r>
              <a:rPr sz="2650" spc="-5" dirty="0">
                <a:latin typeface="Times New Roman"/>
                <a:cs typeface="Times New Roman"/>
              </a:rPr>
              <a:t>successful.</a:t>
            </a:r>
            <a:endParaRPr sz="2650" dirty="0">
              <a:latin typeface="Times New Roman"/>
              <a:cs typeface="Times New Roman"/>
            </a:endParaRPr>
          </a:p>
          <a:p>
            <a:pPr marL="829310" marR="5080" lvl="1" indent="-314325">
              <a:lnSpc>
                <a:spcPts val="3170"/>
              </a:lnSpc>
              <a:spcBef>
                <a:spcPts val="635"/>
              </a:spcBef>
              <a:buChar char="–"/>
              <a:tabLst>
                <a:tab pos="830580" algn="l"/>
                <a:tab pos="831215" algn="l"/>
                <a:tab pos="6840855" algn="l"/>
              </a:tabLst>
            </a:pPr>
            <a:r>
              <a:rPr sz="2650" spc="-10" dirty="0">
                <a:latin typeface="Times New Roman"/>
                <a:cs typeface="Times New Roman"/>
              </a:rPr>
              <a:t>Everyone</a:t>
            </a:r>
            <a:r>
              <a:rPr sz="2650" spc="-20" dirty="0">
                <a:latin typeface="Times New Roman"/>
                <a:cs typeface="Times New Roman"/>
              </a:rPr>
              <a:t> </a:t>
            </a:r>
            <a:r>
              <a:rPr sz="2650" dirty="0">
                <a:latin typeface="Times New Roman"/>
                <a:cs typeface="Times New Roman"/>
              </a:rPr>
              <a:t>that</a:t>
            </a:r>
            <a:r>
              <a:rPr sz="2650" spc="-25" dirty="0">
                <a:latin typeface="Times New Roman"/>
                <a:cs typeface="Times New Roman"/>
              </a:rPr>
              <a:t> </a:t>
            </a:r>
            <a:r>
              <a:rPr sz="2650" spc="-10" dirty="0">
                <a:latin typeface="Times New Roman"/>
                <a:cs typeface="Times New Roman"/>
              </a:rPr>
              <a:t>does </a:t>
            </a:r>
            <a:r>
              <a:rPr sz="2650" spc="-5" dirty="0">
                <a:latin typeface="Times New Roman"/>
                <a:cs typeface="Times New Roman"/>
              </a:rPr>
              <a:t>business</a:t>
            </a:r>
            <a:r>
              <a:rPr sz="2650" spc="-30" dirty="0">
                <a:latin typeface="Times New Roman"/>
                <a:cs typeface="Times New Roman"/>
              </a:rPr>
              <a:t> </a:t>
            </a:r>
            <a:r>
              <a:rPr sz="2650" spc="-5" dirty="0">
                <a:latin typeface="Times New Roman"/>
                <a:cs typeface="Times New Roman"/>
              </a:rPr>
              <a:t>with</a:t>
            </a:r>
            <a:r>
              <a:rPr sz="2650" spc="-10"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10" dirty="0">
                <a:latin typeface="Times New Roman"/>
                <a:cs typeface="Times New Roman"/>
              </a:rPr>
              <a:t>firm, </a:t>
            </a:r>
            <a:r>
              <a:rPr sz="2650" spc="-5" dirty="0">
                <a:latin typeface="Times New Roman"/>
                <a:cs typeface="Times New Roman"/>
              </a:rPr>
              <a:t>from</a:t>
            </a:r>
            <a:r>
              <a:rPr sz="2650" spc="-25" dirty="0">
                <a:latin typeface="Times New Roman"/>
                <a:cs typeface="Times New Roman"/>
              </a:rPr>
              <a:t> </a:t>
            </a:r>
            <a:r>
              <a:rPr sz="2650" dirty="0">
                <a:latin typeface="Times New Roman"/>
                <a:cs typeface="Times New Roman"/>
              </a:rPr>
              <a:t>its</a:t>
            </a:r>
            <a:r>
              <a:rPr sz="2650" spc="-35" dirty="0">
                <a:latin typeface="Times New Roman"/>
                <a:cs typeface="Times New Roman"/>
              </a:rPr>
              <a:t> </a:t>
            </a:r>
            <a:r>
              <a:rPr sz="2650" spc="-5" dirty="0">
                <a:latin typeface="Times New Roman"/>
                <a:cs typeface="Times New Roman"/>
              </a:rPr>
              <a:t>customers </a:t>
            </a:r>
            <a:r>
              <a:rPr sz="2650" spc="-645" dirty="0">
                <a:latin typeface="Times New Roman"/>
                <a:cs typeface="Times New Roman"/>
              </a:rPr>
              <a:t> </a:t>
            </a:r>
            <a:r>
              <a:rPr sz="2650" spc="-5" dirty="0">
                <a:latin typeface="Times New Roman"/>
                <a:cs typeface="Times New Roman"/>
              </a:rPr>
              <a:t>to</a:t>
            </a:r>
            <a:r>
              <a:rPr sz="2650" spc="5" dirty="0">
                <a:latin typeface="Times New Roman"/>
                <a:cs typeface="Times New Roman"/>
              </a:rPr>
              <a:t> </a:t>
            </a:r>
            <a:r>
              <a:rPr sz="2650" spc="-10" dirty="0">
                <a:latin typeface="Times New Roman"/>
                <a:cs typeface="Times New Roman"/>
              </a:rPr>
              <a:t>its</a:t>
            </a:r>
            <a:r>
              <a:rPr sz="2650" spc="5" dirty="0">
                <a:latin typeface="Times New Roman"/>
                <a:cs typeface="Times New Roman"/>
              </a:rPr>
              <a:t> </a:t>
            </a:r>
            <a:r>
              <a:rPr sz="2650" spc="-10" dirty="0">
                <a:latin typeface="Times New Roman"/>
                <a:cs typeface="Times New Roman"/>
              </a:rPr>
              <a:t>partners,</a:t>
            </a:r>
            <a:r>
              <a:rPr sz="2650" spc="5" dirty="0">
                <a:latin typeface="Times New Roman"/>
                <a:cs typeface="Times New Roman"/>
              </a:rPr>
              <a:t> </a:t>
            </a:r>
            <a:r>
              <a:rPr sz="2650" spc="-10" dirty="0">
                <a:latin typeface="Times New Roman"/>
                <a:cs typeface="Times New Roman"/>
              </a:rPr>
              <a:t>does</a:t>
            </a:r>
            <a:r>
              <a:rPr sz="2650" spc="5" dirty="0">
                <a:latin typeface="Times New Roman"/>
                <a:cs typeface="Times New Roman"/>
              </a:rPr>
              <a:t> </a:t>
            </a:r>
            <a:r>
              <a:rPr sz="2650" spc="-5" dirty="0">
                <a:latin typeface="Times New Roman"/>
                <a:cs typeface="Times New Roman"/>
              </a:rPr>
              <a:t>so</a:t>
            </a:r>
            <a:r>
              <a:rPr sz="2650" spc="5" dirty="0">
                <a:latin typeface="Times New Roman"/>
                <a:cs typeface="Times New Roman"/>
              </a:rPr>
              <a:t> </a:t>
            </a:r>
            <a:r>
              <a:rPr sz="2650" spc="-5" dirty="0">
                <a:latin typeface="Times New Roman"/>
                <a:cs typeface="Times New Roman"/>
              </a:rPr>
              <a:t>on</a:t>
            </a:r>
            <a:r>
              <a:rPr sz="2650" spc="5" dirty="0">
                <a:latin typeface="Times New Roman"/>
                <a:cs typeface="Times New Roman"/>
              </a:rPr>
              <a:t> </a:t>
            </a:r>
            <a:r>
              <a:rPr sz="2650" spc="-5" dirty="0">
                <a:latin typeface="Times New Roman"/>
                <a:cs typeface="Times New Roman"/>
              </a:rPr>
              <a:t>a voluntary</a:t>
            </a:r>
            <a:r>
              <a:rPr sz="2650" spc="-20" dirty="0">
                <a:latin typeface="Times New Roman"/>
                <a:cs typeface="Times New Roman"/>
              </a:rPr>
              <a:t> </a:t>
            </a:r>
            <a:r>
              <a:rPr sz="2650" spc="-5" dirty="0">
                <a:latin typeface="Times New Roman"/>
                <a:cs typeface="Times New Roman"/>
              </a:rPr>
              <a:t>basis.	</a:t>
            </a:r>
            <a:r>
              <a:rPr sz="2650" spc="-15" dirty="0">
                <a:latin typeface="Times New Roman"/>
                <a:cs typeface="Times New Roman"/>
              </a:rPr>
              <a:t>As</a:t>
            </a:r>
            <a:r>
              <a:rPr sz="2650" spc="15" dirty="0">
                <a:latin typeface="Times New Roman"/>
                <a:cs typeface="Times New Roman"/>
              </a:rPr>
              <a:t> </a:t>
            </a:r>
            <a:r>
              <a:rPr sz="2650" spc="-5" dirty="0">
                <a:latin typeface="Times New Roman"/>
                <a:cs typeface="Times New Roman"/>
              </a:rPr>
              <a:t>a</a:t>
            </a:r>
            <a:r>
              <a:rPr sz="2650" spc="-25" dirty="0">
                <a:latin typeface="Times New Roman"/>
                <a:cs typeface="Times New Roman"/>
              </a:rPr>
              <a:t> </a:t>
            </a:r>
            <a:r>
              <a:rPr sz="2650" spc="-10" dirty="0">
                <a:latin typeface="Times New Roman"/>
                <a:cs typeface="Times New Roman"/>
              </a:rPr>
              <a:t>result,</a:t>
            </a:r>
            <a:r>
              <a:rPr sz="2650" spc="-15" dirty="0">
                <a:latin typeface="Times New Roman"/>
                <a:cs typeface="Times New Roman"/>
              </a:rPr>
              <a:t> </a:t>
            </a:r>
            <a:r>
              <a:rPr sz="2650" spc="-5" dirty="0">
                <a:latin typeface="Times New Roman"/>
                <a:cs typeface="Times New Roman"/>
              </a:rPr>
              <a:t>a </a:t>
            </a:r>
            <a:r>
              <a:rPr sz="2650" dirty="0">
                <a:latin typeface="Times New Roman"/>
                <a:cs typeface="Times New Roman"/>
              </a:rPr>
              <a:t> </a:t>
            </a:r>
            <a:r>
              <a:rPr sz="2650" spc="-10" dirty="0">
                <a:latin typeface="Times New Roman"/>
                <a:cs typeface="Times New Roman"/>
              </a:rPr>
              <a:t>firm</a:t>
            </a:r>
            <a:r>
              <a:rPr sz="2650" spc="-5" dirty="0">
                <a:latin typeface="Times New Roman"/>
                <a:cs typeface="Times New Roman"/>
              </a:rPr>
              <a:t> must</a:t>
            </a:r>
            <a:r>
              <a:rPr sz="2650" spc="-25" dirty="0">
                <a:latin typeface="Times New Roman"/>
                <a:cs typeface="Times New Roman"/>
              </a:rPr>
              <a:t> </a:t>
            </a:r>
            <a:r>
              <a:rPr sz="2650" spc="-5" dirty="0">
                <a:latin typeface="Times New Roman"/>
                <a:cs typeface="Times New Roman"/>
              </a:rPr>
              <a:t>motivate</a:t>
            </a:r>
            <a:r>
              <a:rPr sz="2650" spc="-40" dirty="0">
                <a:latin typeface="Times New Roman"/>
                <a:cs typeface="Times New Roman"/>
              </a:rPr>
              <a:t> </a:t>
            </a:r>
            <a:r>
              <a:rPr sz="2650" spc="-10" dirty="0">
                <a:latin typeface="Times New Roman"/>
                <a:cs typeface="Times New Roman"/>
              </a:rPr>
              <a:t>its</a:t>
            </a:r>
            <a:r>
              <a:rPr sz="2650" spc="25" dirty="0">
                <a:latin typeface="Times New Roman"/>
                <a:cs typeface="Times New Roman"/>
              </a:rPr>
              <a:t> </a:t>
            </a:r>
            <a:r>
              <a:rPr sz="2650" spc="-10" dirty="0">
                <a:latin typeface="Times New Roman"/>
                <a:cs typeface="Times New Roman"/>
              </a:rPr>
              <a:t>customers</a:t>
            </a:r>
            <a:r>
              <a:rPr sz="2650" spc="-5" dirty="0">
                <a:latin typeface="Times New Roman"/>
                <a:cs typeface="Times New Roman"/>
              </a:rPr>
              <a:t> </a:t>
            </a:r>
            <a:r>
              <a:rPr sz="2650" spc="-10" dirty="0">
                <a:latin typeface="Times New Roman"/>
                <a:cs typeface="Times New Roman"/>
              </a:rPr>
              <a:t>and</a:t>
            </a:r>
            <a:r>
              <a:rPr sz="2650" spc="-5" dirty="0">
                <a:latin typeface="Times New Roman"/>
                <a:cs typeface="Times New Roman"/>
              </a:rPr>
              <a:t> </a:t>
            </a:r>
            <a:r>
              <a:rPr sz="2650" spc="-10" dirty="0">
                <a:latin typeface="Times New Roman"/>
                <a:cs typeface="Times New Roman"/>
              </a:rPr>
              <a:t>partners</a:t>
            </a:r>
            <a:r>
              <a:rPr sz="2650" spc="-5" dirty="0">
                <a:latin typeface="Times New Roman"/>
                <a:cs typeface="Times New Roman"/>
              </a:rPr>
              <a:t> to </a:t>
            </a:r>
            <a:r>
              <a:rPr sz="2650" spc="-10" dirty="0">
                <a:latin typeface="Times New Roman"/>
                <a:cs typeface="Times New Roman"/>
              </a:rPr>
              <a:t>play </a:t>
            </a:r>
            <a:r>
              <a:rPr sz="2650" spc="-5" dirty="0">
                <a:latin typeface="Times New Roman"/>
                <a:cs typeface="Times New Roman"/>
              </a:rPr>
              <a:t> </a:t>
            </a:r>
            <a:r>
              <a:rPr sz="2650" spc="-10" dirty="0">
                <a:latin typeface="Times New Roman"/>
                <a:cs typeface="Times New Roman"/>
              </a:rPr>
              <a:t>along.</a:t>
            </a:r>
            <a:endParaRPr sz="2650" dirty="0">
              <a:latin typeface="Times New Roman"/>
              <a:cs typeface="Times New Roman"/>
            </a:endParaRPr>
          </a:p>
          <a:p>
            <a:pPr marL="829310" marR="199390" lvl="1" indent="-314325">
              <a:lnSpc>
                <a:spcPts val="3170"/>
              </a:lnSpc>
              <a:spcBef>
                <a:spcPts val="615"/>
              </a:spcBef>
              <a:buChar char="–"/>
              <a:tabLst>
                <a:tab pos="830580" algn="l"/>
                <a:tab pos="831215" algn="l"/>
              </a:tabLst>
            </a:pPr>
            <a:r>
              <a:rPr sz="2650" spc="-10" dirty="0">
                <a:latin typeface="Times New Roman"/>
                <a:cs typeface="Times New Roman"/>
              </a:rPr>
              <a:t>Close</a:t>
            </a:r>
            <a:r>
              <a:rPr sz="2650" spc="-20" dirty="0">
                <a:latin typeface="Times New Roman"/>
                <a:cs typeface="Times New Roman"/>
              </a:rPr>
              <a:t> </a:t>
            </a:r>
            <a:r>
              <a:rPr sz="2650" spc="-5" dirty="0">
                <a:latin typeface="Times New Roman"/>
                <a:cs typeface="Times New Roman"/>
              </a:rPr>
              <a:t>attention</a:t>
            </a:r>
            <a:r>
              <a:rPr sz="2650" spc="-35" dirty="0">
                <a:latin typeface="Times New Roman"/>
                <a:cs typeface="Times New Roman"/>
              </a:rPr>
              <a:t> </a:t>
            </a:r>
            <a:r>
              <a:rPr sz="2650" spc="-5" dirty="0">
                <a:latin typeface="Times New Roman"/>
                <a:cs typeface="Times New Roman"/>
              </a:rPr>
              <a:t>to </a:t>
            </a:r>
            <a:r>
              <a:rPr sz="2650" spc="-10" dirty="0">
                <a:latin typeface="Times New Roman"/>
                <a:cs typeface="Times New Roman"/>
              </a:rPr>
              <a:t>each</a:t>
            </a:r>
            <a:r>
              <a:rPr sz="2650" spc="-35" dirty="0">
                <a:latin typeface="Times New Roman"/>
                <a:cs typeface="Times New Roman"/>
              </a:rPr>
              <a:t> </a:t>
            </a:r>
            <a:r>
              <a:rPr sz="2650" spc="-5" dirty="0">
                <a:latin typeface="Times New Roman"/>
                <a:cs typeface="Times New Roman"/>
              </a:rPr>
              <a:t>of</a:t>
            </a:r>
            <a:r>
              <a:rPr sz="2650" spc="15" dirty="0">
                <a:latin typeface="Times New Roman"/>
                <a:cs typeface="Times New Roman"/>
              </a:rPr>
              <a:t> </a:t>
            </a:r>
            <a:r>
              <a:rPr sz="2650" spc="-5" dirty="0">
                <a:latin typeface="Times New Roman"/>
                <a:cs typeface="Times New Roman"/>
              </a:rPr>
              <a:t>the</a:t>
            </a:r>
            <a:r>
              <a:rPr sz="2650" spc="-20" dirty="0">
                <a:latin typeface="Times New Roman"/>
                <a:cs typeface="Times New Roman"/>
              </a:rPr>
              <a:t> </a:t>
            </a:r>
            <a:r>
              <a:rPr sz="2650" spc="-10" dirty="0">
                <a:latin typeface="Times New Roman"/>
                <a:cs typeface="Times New Roman"/>
              </a:rPr>
              <a:t>primary</a:t>
            </a:r>
            <a:r>
              <a:rPr sz="2650" spc="-5" dirty="0">
                <a:latin typeface="Times New Roman"/>
                <a:cs typeface="Times New Roman"/>
              </a:rPr>
              <a:t> elements</a:t>
            </a:r>
            <a:r>
              <a:rPr sz="2650" spc="-35" dirty="0">
                <a:latin typeface="Times New Roman"/>
                <a:cs typeface="Times New Roman"/>
              </a:rPr>
              <a:t> </a:t>
            </a:r>
            <a:r>
              <a:rPr sz="2650" spc="-5" dirty="0">
                <a:latin typeface="Times New Roman"/>
                <a:cs typeface="Times New Roman"/>
              </a:rPr>
              <a:t>of</a:t>
            </a:r>
            <a:r>
              <a:rPr sz="2650" spc="-20"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10" dirty="0">
                <a:latin typeface="Times New Roman"/>
                <a:cs typeface="Times New Roman"/>
              </a:rPr>
              <a:t>firm’s </a:t>
            </a:r>
            <a:r>
              <a:rPr sz="2650" spc="-650" dirty="0">
                <a:latin typeface="Times New Roman"/>
                <a:cs typeface="Times New Roman"/>
              </a:rPr>
              <a:t> </a:t>
            </a:r>
            <a:r>
              <a:rPr sz="2650" spc="-10" dirty="0">
                <a:latin typeface="Times New Roman"/>
                <a:cs typeface="Times New Roman"/>
              </a:rPr>
              <a:t>business</a:t>
            </a:r>
            <a:r>
              <a:rPr sz="2650" spc="-5" dirty="0">
                <a:latin typeface="Times New Roman"/>
                <a:cs typeface="Times New Roman"/>
              </a:rPr>
              <a:t> </a:t>
            </a:r>
            <a:r>
              <a:rPr sz="2650" spc="-10" dirty="0">
                <a:latin typeface="Times New Roman"/>
                <a:cs typeface="Times New Roman"/>
              </a:rPr>
              <a:t>model</a:t>
            </a:r>
            <a:r>
              <a:rPr sz="2650" dirty="0">
                <a:latin typeface="Times New Roman"/>
                <a:cs typeface="Times New Roman"/>
              </a:rPr>
              <a:t> </a:t>
            </a:r>
            <a:r>
              <a:rPr sz="2650" spc="-20" dirty="0">
                <a:latin typeface="Times New Roman"/>
                <a:cs typeface="Times New Roman"/>
              </a:rPr>
              <a:t>is</a:t>
            </a:r>
            <a:r>
              <a:rPr sz="2650" dirty="0">
                <a:latin typeface="Times New Roman"/>
                <a:cs typeface="Times New Roman"/>
              </a:rPr>
              <a:t> </a:t>
            </a:r>
            <a:r>
              <a:rPr sz="2650" spc="-5" dirty="0">
                <a:latin typeface="Times New Roman"/>
                <a:cs typeface="Times New Roman"/>
              </a:rPr>
              <a:t>essential</a:t>
            </a:r>
            <a:r>
              <a:rPr sz="2650" spc="-25" dirty="0">
                <a:latin typeface="Times New Roman"/>
                <a:cs typeface="Times New Roman"/>
              </a:rPr>
              <a:t> </a:t>
            </a:r>
            <a:r>
              <a:rPr sz="2650" spc="-10" dirty="0">
                <a:latin typeface="Times New Roman"/>
                <a:cs typeface="Times New Roman"/>
              </a:rPr>
              <a:t>for</a:t>
            </a:r>
            <a:r>
              <a:rPr sz="2650" spc="-15"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5" dirty="0">
                <a:latin typeface="Times New Roman"/>
                <a:cs typeface="Times New Roman"/>
              </a:rPr>
              <a:t>new</a:t>
            </a:r>
            <a:r>
              <a:rPr sz="2650" spc="-35" dirty="0">
                <a:latin typeface="Times New Roman"/>
                <a:cs typeface="Times New Roman"/>
              </a:rPr>
              <a:t> </a:t>
            </a:r>
            <a:r>
              <a:rPr sz="2650" spc="-5" dirty="0">
                <a:latin typeface="Times New Roman"/>
                <a:cs typeface="Times New Roman"/>
              </a:rPr>
              <a:t>venture’s success.</a:t>
            </a:r>
            <a:endParaRPr sz="2650" dirty="0">
              <a:latin typeface="Times New Roman"/>
              <a:cs typeface="Times New Roman"/>
            </a:endParaRPr>
          </a:p>
        </p:txBody>
      </p:sp>
      <p:sp>
        <p:nvSpPr>
          <p:cNvPr id="5" name="object 5"/>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776</TotalTime>
  <Words>1957</Words>
  <Application>Microsoft Office PowerPoint</Application>
  <PresentationFormat>Custom</PresentationFormat>
  <Paragraphs>209</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 MT</vt:lpstr>
      <vt:lpstr>Calibri</vt:lpstr>
      <vt:lpstr>Times New Roman</vt:lpstr>
      <vt:lpstr>Office Theme</vt:lpstr>
      <vt:lpstr>Chapter 6</vt:lpstr>
      <vt:lpstr>Chapter Objectives 1 of 2</vt:lpstr>
      <vt:lpstr>Chapter Objectives 2 of 2</vt:lpstr>
      <vt:lpstr>What is a Business Model?</vt:lpstr>
      <vt:lpstr>Beyond Its Own Boundaries </vt:lpstr>
      <vt:lpstr>Diversity of Business Models</vt:lpstr>
      <vt:lpstr>Business Model Innovation</vt:lpstr>
      <vt:lpstr>Dell’s Business Model </vt:lpstr>
      <vt:lpstr>Dell’s Business Model</vt:lpstr>
      <vt:lpstr>PowerPoint Presentation</vt:lpstr>
      <vt:lpstr>The Importance of Business Models</vt:lpstr>
      <vt:lpstr>How Business Models Emerge </vt:lpstr>
      <vt:lpstr>How Business Models Emerge</vt:lpstr>
      <vt:lpstr>PowerPoint Presentation</vt:lpstr>
      <vt:lpstr>How Business Models Emerge </vt:lpstr>
      <vt:lpstr>How Business Models Emerge </vt:lpstr>
      <vt:lpstr>Potential Fatal Flaws in Business Models</vt:lpstr>
      <vt:lpstr>PowerPoint Presentation</vt:lpstr>
      <vt:lpstr>Core Strategy 1 of 3</vt:lpstr>
      <vt:lpstr>Core Strategy</vt:lpstr>
      <vt:lpstr>Core Strategy 3 of 3</vt:lpstr>
      <vt:lpstr>Strategic Resources 1 of 3</vt:lpstr>
      <vt:lpstr>Strategic Resources</vt:lpstr>
      <vt:lpstr>Strategic Resources 3 of 3</vt:lpstr>
      <vt:lpstr>Partnership Network 1 of 3</vt:lpstr>
      <vt:lpstr>Partnership Network 2 of 3</vt:lpstr>
      <vt:lpstr>PowerPoint Presentation</vt:lpstr>
      <vt:lpstr>Customer Interface 1 of 3</vt:lpstr>
      <vt:lpstr>Customer Interface 2 of 3</vt:lpstr>
      <vt:lpstr>Customer Interface 3 of 3</vt:lpstr>
      <vt:lpstr>Recap: The Importance of Business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EBM_5.ppt [Compatibility Mode]</dc:title>
  <dc:creator>AliShahid</dc:creator>
  <cp:lastModifiedBy>ramsha</cp:lastModifiedBy>
  <cp:revision>40</cp:revision>
  <dcterms:created xsi:type="dcterms:W3CDTF">2023-01-17T09:33:28Z</dcterms:created>
  <dcterms:modified xsi:type="dcterms:W3CDTF">2023-02-27T19:36:36Z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2022-03-05T00:00:00Z</vt:filetime>
  </property>
  <property fmtid="{D5CDD505-2E9C-101B-9397-08002B2CF9AE}" pid="3" name="LastSaved">
    <vt:filetime>2023-01-17T00:00:00Z</vt:filetime>
  </property>
</Properties>
</file>