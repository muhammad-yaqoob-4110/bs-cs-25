
<file path=[Content_Types].xml><?xml version="1.0" encoding="utf-8"?>
<Types xmlns="http://schemas.openxmlformats.org/package/2006/content-types">
  <Default Extension="jfif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8" r:id="rId8"/>
    <p:sldId id="262" r:id="rId9"/>
    <p:sldId id="290" r:id="rId10"/>
    <p:sldId id="263" r:id="rId11"/>
    <p:sldId id="291" r:id="rId12"/>
    <p:sldId id="264" r:id="rId13"/>
    <p:sldId id="265" r:id="rId14"/>
    <p:sldId id="293" r:id="rId15"/>
    <p:sldId id="292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94" r:id="rId24"/>
    <p:sldId id="295" r:id="rId25"/>
    <p:sldId id="274" r:id="rId26"/>
    <p:sldId id="275" r:id="rId27"/>
    <p:sldId id="276" r:id="rId28"/>
    <p:sldId id="277" r:id="rId29"/>
    <p:sldId id="297" r:id="rId30"/>
    <p:sldId id="298" r:id="rId31"/>
    <p:sldId id="279" r:id="rId32"/>
    <p:sldId id="296" r:id="rId33"/>
    <p:sldId id="280" r:id="rId34"/>
    <p:sldId id="299" r:id="rId35"/>
    <p:sldId id="300" r:id="rId36"/>
    <p:sldId id="281" r:id="rId37"/>
    <p:sldId id="282" r:id="rId38"/>
    <p:sldId id="283" r:id="rId39"/>
    <p:sldId id="301" r:id="rId40"/>
    <p:sldId id="302" r:id="rId41"/>
    <p:sldId id="285" r:id="rId42"/>
    <p:sldId id="287" r:id="rId43"/>
    <p:sldId id="286" r:id="rId44"/>
    <p:sldId id="304" r:id="rId45"/>
    <p:sldId id="303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99794" y="147015"/>
            <a:ext cx="6744411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©2010</a:t>
            </a:r>
            <a:r>
              <a:rPr spc="-40" dirty="0"/>
              <a:t> </a:t>
            </a:r>
            <a:r>
              <a:rPr spc="-5" dirty="0"/>
              <a:t>Prentice</a:t>
            </a:r>
            <a:r>
              <a:rPr spc="-25" dirty="0"/>
              <a:t> </a:t>
            </a:r>
            <a:r>
              <a:rPr spc="-5"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25" dirty="0"/>
              <a:t>11-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©2010</a:t>
            </a:r>
            <a:r>
              <a:rPr spc="-40" dirty="0"/>
              <a:t> </a:t>
            </a:r>
            <a:r>
              <a:rPr spc="-5" dirty="0"/>
              <a:t>Prentice</a:t>
            </a:r>
            <a:r>
              <a:rPr spc="-25" dirty="0"/>
              <a:t> </a:t>
            </a:r>
            <a:r>
              <a:rPr spc="-5"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25" dirty="0"/>
              <a:t>11-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2286825"/>
            <a:ext cx="3429000" cy="3504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53000" y="2286825"/>
            <a:ext cx="3429000" cy="3504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©2010</a:t>
            </a:r>
            <a:r>
              <a:rPr spc="-40" dirty="0"/>
              <a:t> </a:t>
            </a:r>
            <a:r>
              <a:rPr spc="-5" dirty="0"/>
              <a:t>Prentice</a:t>
            </a:r>
            <a:r>
              <a:rPr spc="-25" dirty="0"/>
              <a:t> </a:t>
            </a:r>
            <a:r>
              <a:rPr spc="-5" dirty="0"/>
              <a:t>Hall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25" dirty="0"/>
              <a:t>11-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©2010</a:t>
            </a:r>
            <a:r>
              <a:rPr spc="-40" dirty="0"/>
              <a:t> </a:t>
            </a:r>
            <a:r>
              <a:rPr spc="-5" dirty="0"/>
              <a:t>Prentice</a:t>
            </a:r>
            <a:r>
              <a:rPr spc="-25" dirty="0"/>
              <a:t> </a:t>
            </a:r>
            <a:r>
              <a:rPr spc="-5" dirty="0"/>
              <a:t>Hall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25" dirty="0"/>
              <a:t>11-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©2010</a:t>
            </a:r>
            <a:r>
              <a:rPr spc="-40" dirty="0"/>
              <a:t> </a:t>
            </a:r>
            <a:r>
              <a:rPr spc="-5" dirty="0"/>
              <a:t>Prentice</a:t>
            </a:r>
            <a:r>
              <a:rPr spc="-25" dirty="0"/>
              <a:t> </a:t>
            </a:r>
            <a:r>
              <a:rPr spc="-5" dirty="0"/>
              <a:t>Hall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25" dirty="0"/>
              <a:t>11-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2802" y="-5384"/>
            <a:ext cx="7378395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0037" y="2052637"/>
            <a:ext cx="8549005" cy="412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74242" y="6433930"/>
            <a:ext cx="137985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©2010</a:t>
            </a:r>
            <a:r>
              <a:rPr spc="-40" dirty="0"/>
              <a:t> </a:t>
            </a:r>
            <a:r>
              <a:rPr spc="-5" dirty="0"/>
              <a:t>Prentice</a:t>
            </a:r>
            <a:r>
              <a:rPr spc="-25" dirty="0"/>
              <a:t> </a:t>
            </a:r>
            <a:r>
              <a:rPr spc="-5"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40445" y="6426936"/>
            <a:ext cx="493395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25" dirty="0"/>
              <a:t>11-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fif"/><Relationship Id="rId4" Type="http://schemas.openxmlformats.org/officeDocument/2006/relationships/image" Target="../media/image24.jfi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1" y="29725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54146" y="1383233"/>
            <a:ext cx="26943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Chapter</a:t>
            </a:r>
            <a:r>
              <a:rPr sz="4800" spc="-80" dirty="0"/>
              <a:t> </a:t>
            </a:r>
            <a:r>
              <a:rPr sz="4800" spc="-100" dirty="0"/>
              <a:t>11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3054857" y="3294710"/>
            <a:ext cx="3644265" cy="222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Unique</a:t>
            </a:r>
            <a:r>
              <a:rPr sz="3600" b="1" spc="-7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Marketing </a:t>
            </a:r>
            <a:r>
              <a:rPr sz="3600" b="1" spc="-88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Issues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80"/>
              </a:spcBef>
            </a:pPr>
            <a:r>
              <a:rPr sz="2400" dirty="0">
                <a:latin typeface="Times New Roman"/>
                <a:cs typeface="Times New Roman"/>
              </a:rPr>
              <a:t>Bruce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Barringer</a:t>
            </a:r>
            <a:endParaRPr sz="2400">
              <a:latin typeface="Times New Roman"/>
              <a:cs typeface="Times New Roman"/>
            </a:endParaRPr>
          </a:p>
          <a:p>
            <a:pPr marL="77597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R.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Duane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Ireland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-70" dirty="0"/>
              <a:t> </a:t>
            </a:r>
            <a:r>
              <a:rPr dirty="0"/>
              <a:t>Objectives</a:t>
            </a:r>
          </a:p>
          <a:p>
            <a:pPr marL="3175" algn="ctr">
              <a:lnSpc>
                <a:spcPct val="100000"/>
              </a:lnSpc>
              <a:spcBef>
                <a:spcPts val="50"/>
              </a:spcBef>
            </a:pPr>
            <a:r>
              <a:rPr sz="2000" dirty="0"/>
              <a:t>1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dirty="0"/>
              <a:t>2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535940" y="1382547"/>
            <a:ext cx="8143240" cy="38671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purpose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market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segmentation.</a:t>
            </a:r>
            <a:endParaRPr sz="2800">
              <a:latin typeface="Times New Roman"/>
              <a:cs typeface="Times New Roman"/>
            </a:endParaRPr>
          </a:p>
          <a:p>
            <a:pPr marL="622300" indent="-6102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Describe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importance 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selecting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target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market.</a:t>
            </a:r>
            <a:endParaRPr sz="2800">
              <a:latin typeface="Times New Roman"/>
              <a:cs typeface="Times New Roman"/>
            </a:endParaRPr>
          </a:p>
          <a:p>
            <a:pPr marL="622300" marR="189230" indent="-61023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important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start-up</a:t>
            </a:r>
            <a:r>
              <a:rPr sz="2800" spc="-5" dirty="0">
                <a:latin typeface="Times New Roman"/>
                <a:cs typeface="Times New Roman"/>
              </a:rPr>
              <a:t> 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establish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unique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position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target market.</a:t>
            </a:r>
            <a:endParaRPr sz="2800">
              <a:latin typeface="Times New Roman"/>
              <a:cs typeface="Times New Roman"/>
            </a:endParaRPr>
          </a:p>
          <a:p>
            <a:pPr marL="622300" marR="64769" indent="-6102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Describe the importance of the ability to </a:t>
            </a:r>
            <a:r>
              <a:rPr sz="2800" dirty="0">
                <a:latin typeface="Times New Roman"/>
                <a:cs typeface="Times New Roman"/>
              </a:rPr>
              <a:t>position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company’s</a:t>
            </a:r>
            <a:r>
              <a:rPr sz="2800" dirty="0">
                <a:latin typeface="Times New Roman"/>
                <a:cs typeface="Times New Roman"/>
              </a:rPr>
              <a:t> products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 benefits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rather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features.</a:t>
            </a:r>
            <a:endParaRPr sz="2800">
              <a:latin typeface="Times New Roman"/>
              <a:cs typeface="Times New Roman"/>
            </a:endParaRPr>
          </a:p>
          <a:p>
            <a:pPr marL="622300" marR="414020" indent="-61023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Illustrate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two major ways in which a company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brand.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-70" dirty="0"/>
              <a:t> </a:t>
            </a:r>
            <a:r>
              <a:rPr dirty="0"/>
              <a:t>Objectives</a:t>
            </a:r>
          </a:p>
          <a:p>
            <a:pPr marL="3175" algn="ctr">
              <a:lnSpc>
                <a:spcPct val="100000"/>
              </a:lnSpc>
              <a:spcBef>
                <a:spcPts val="50"/>
              </a:spcBef>
            </a:pPr>
            <a:r>
              <a:rPr sz="2000" dirty="0"/>
              <a:t>2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dirty="0"/>
              <a:t>2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535940" y="1534629"/>
            <a:ext cx="7933055" cy="42945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775"/>
              </a:spcBef>
              <a:buAutoNum type="arabicPeriod" startAt="6"/>
              <a:tabLst>
                <a:tab pos="622300" algn="l"/>
                <a:tab pos="622935" algn="l"/>
              </a:tabLst>
            </a:pPr>
            <a:r>
              <a:rPr sz="2800" dirty="0">
                <a:latin typeface="Times New Roman"/>
                <a:cs typeface="Times New Roman"/>
              </a:rPr>
              <a:t>Identify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four</a:t>
            </a:r>
            <a:r>
              <a:rPr sz="2800" spc="-5" dirty="0">
                <a:latin typeface="Times New Roman"/>
                <a:cs typeface="Times New Roman"/>
              </a:rPr>
              <a:t> components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marketing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mix.</a:t>
            </a:r>
            <a:endParaRPr sz="2800">
              <a:latin typeface="Times New Roman"/>
              <a:cs typeface="Times New Roman"/>
            </a:endParaRPr>
          </a:p>
          <a:p>
            <a:pPr marL="622300" marR="154940" indent="-610235">
              <a:lnSpc>
                <a:spcPct val="100000"/>
              </a:lnSpc>
              <a:spcBef>
                <a:spcPts val="675"/>
              </a:spcBef>
              <a:buAutoNum type="arabicPeriod" startAt="6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difference between a core </a:t>
            </a:r>
            <a:r>
              <a:rPr sz="2800" dirty="0">
                <a:latin typeface="Times New Roman"/>
                <a:cs typeface="Times New Roman"/>
              </a:rPr>
              <a:t>product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actual product.</a:t>
            </a:r>
            <a:endParaRPr sz="2800">
              <a:latin typeface="Times New Roman"/>
              <a:cs typeface="Times New Roman"/>
            </a:endParaRPr>
          </a:p>
          <a:p>
            <a:pPr marL="622300" marR="1028065" indent="-610235">
              <a:lnSpc>
                <a:spcPct val="100000"/>
              </a:lnSpc>
              <a:spcBef>
                <a:spcPts val="675"/>
              </a:spcBef>
              <a:buAutoNum type="arabicPeriod" startAt="6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Contrast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cost-based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pricing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value-based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pricing.</a:t>
            </a:r>
            <a:endParaRPr sz="2800">
              <a:latin typeface="Times New Roman"/>
              <a:cs typeface="Times New Roman"/>
            </a:endParaRPr>
          </a:p>
          <a:p>
            <a:pPr marL="622300" marR="471170" indent="-610235">
              <a:lnSpc>
                <a:spcPct val="100000"/>
              </a:lnSpc>
              <a:spcBef>
                <a:spcPts val="675"/>
              </a:spcBef>
              <a:buAutoNum type="arabicPeriod" startAt="6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Explain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differences between advertising 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relations.</a:t>
            </a:r>
            <a:endParaRPr sz="2800">
              <a:latin typeface="Times New Roman"/>
              <a:cs typeface="Times New Roman"/>
            </a:endParaRPr>
          </a:p>
          <a:p>
            <a:pPr marL="622300" marR="64769" indent="-610235">
              <a:lnSpc>
                <a:spcPct val="100000"/>
              </a:lnSpc>
              <a:spcBef>
                <a:spcPts val="670"/>
              </a:spcBef>
              <a:buAutoNum type="arabicPeriod" startAt="6"/>
              <a:tabLst>
                <a:tab pos="622300" algn="l"/>
                <a:tab pos="622935" algn="l"/>
              </a:tabLst>
            </a:pPr>
            <a:r>
              <a:rPr sz="2800" spc="-5" dirty="0">
                <a:latin typeface="Times New Roman"/>
                <a:cs typeface="Times New Roman"/>
              </a:rPr>
              <a:t>Weigh 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advantages 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disadvantages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selling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 versus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selling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intermediaries.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1274707"/>
          </a:xfrm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1612265" marR="5080" indent="-142240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Selecting </a:t>
            </a:r>
            <a:r>
              <a:rPr dirty="0"/>
              <a:t>a Market and </a:t>
            </a:r>
            <a:r>
              <a:rPr spc="-5" dirty="0"/>
              <a:t>Establishing </a:t>
            </a:r>
            <a:r>
              <a:rPr dirty="0"/>
              <a:t>a</a:t>
            </a:r>
            <a:r>
              <a:rPr lang="en-US" dirty="0"/>
              <a:t> </a:t>
            </a:r>
            <a:r>
              <a:rPr spc="-5" dirty="0"/>
              <a:t>Position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09020"/>
            <a:ext cx="8000365" cy="36175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Important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Questions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 All</a:t>
            </a:r>
            <a:r>
              <a:rPr sz="2800" dirty="0">
                <a:latin typeface="Times New Roman"/>
                <a:cs typeface="Times New Roman"/>
              </a:rPr>
              <a:t> Startups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Ask</a:t>
            </a:r>
            <a:endParaRPr sz="28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In order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succeed,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new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firm</a:t>
            </a:r>
            <a:r>
              <a:rPr sz="2400" spc="-10" dirty="0">
                <a:latin typeface="Times New Roman"/>
                <a:cs typeface="Times New Roman"/>
              </a:rPr>
              <a:t> must</a:t>
            </a:r>
            <a:r>
              <a:rPr sz="2400" dirty="0">
                <a:latin typeface="Times New Roman"/>
                <a:cs typeface="Times New Roman"/>
              </a:rPr>
              <a:t> address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important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issue: </a:t>
            </a:r>
            <a:r>
              <a:rPr sz="2400" spc="-10" dirty="0">
                <a:latin typeface="Times New Roman"/>
                <a:cs typeface="Times New Roman"/>
              </a:rPr>
              <a:t>Who </a:t>
            </a:r>
            <a:r>
              <a:rPr sz="2400" dirty="0">
                <a:latin typeface="Times New Roman"/>
                <a:cs typeface="Times New Roman"/>
              </a:rPr>
              <a:t>are our </a:t>
            </a:r>
            <a:r>
              <a:rPr sz="2400" spc="-5" dirty="0">
                <a:latin typeface="Times New Roman"/>
                <a:cs typeface="Times New Roman"/>
              </a:rPr>
              <a:t>customers </a:t>
            </a:r>
            <a:r>
              <a:rPr sz="2400" dirty="0">
                <a:latin typeface="Times New Roman"/>
                <a:cs typeface="Times New Roman"/>
              </a:rPr>
              <a:t>are how </a:t>
            </a:r>
            <a:r>
              <a:rPr sz="2400" spc="-5" dirty="0">
                <a:latin typeface="Times New Roman"/>
                <a:cs typeface="Times New Roman"/>
              </a:rPr>
              <a:t>will we </a:t>
            </a:r>
            <a:r>
              <a:rPr sz="2400" dirty="0">
                <a:latin typeface="Times New Roman"/>
                <a:cs typeface="Times New Roman"/>
              </a:rPr>
              <a:t>appeal to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them?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well-managed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start-up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following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three-step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process: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95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Segmenting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market.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Selecting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target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market.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Establishing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unique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target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market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4485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101" y="147015"/>
            <a:ext cx="76288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735" marR="5080" indent="-15506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" dirty="0"/>
              <a:t> </a:t>
            </a:r>
            <a:r>
              <a:rPr dirty="0"/>
              <a:t>Process</a:t>
            </a:r>
            <a:r>
              <a:rPr spc="5" dirty="0"/>
              <a:t> </a:t>
            </a:r>
            <a:r>
              <a:rPr dirty="0"/>
              <a:t>of</a:t>
            </a:r>
            <a:r>
              <a:rPr spc="-5" dirty="0"/>
              <a:t> Selecting</a:t>
            </a:r>
            <a:r>
              <a:rPr spc="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Target</a:t>
            </a:r>
            <a:r>
              <a:rPr spc="10" dirty="0"/>
              <a:t> </a:t>
            </a:r>
            <a:r>
              <a:rPr dirty="0"/>
              <a:t>Market </a:t>
            </a:r>
            <a:r>
              <a:rPr spc="-885" dirty="0"/>
              <a:t> </a:t>
            </a:r>
            <a:r>
              <a:rPr dirty="0"/>
              <a:t>and</a:t>
            </a:r>
            <a:r>
              <a:rPr spc="-5" dirty="0"/>
              <a:t> Positioning</a:t>
            </a:r>
            <a:r>
              <a:rPr spc="5" dirty="0"/>
              <a:t> </a:t>
            </a:r>
            <a:r>
              <a:rPr spc="-5" dirty="0"/>
              <a:t>Strategy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5247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068" y="2052827"/>
            <a:ext cx="8599932" cy="28239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5085" y="421894"/>
            <a:ext cx="3976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Market Segmentation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674" y="2991738"/>
            <a:ext cx="25660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5325" marR="5080" indent="-6832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Segmenting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Market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2437" y="1595437"/>
            <a:ext cx="4352925" cy="4352925"/>
            <a:chOff x="4262437" y="1595437"/>
            <a:chExt cx="4352925" cy="4352925"/>
          </a:xfrm>
        </p:grpSpPr>
        <p:sp>
          <p:nvSpPr>
            <p:cNvPr id="7" name="object 7"/>
            <p:cNvSpPr/>
            <p:nvPr/>
          </p:nvSpPr>
          <p:spPr>
            <a:xfrm>
              <a:off x="4267200" y="1600200"/>
              <a:ext cx="4343400" cy="4343400"/>
            </a:xfrm>
            <a:custGeom>
              <a:avLst/>
              <a:gdLst/>
              <a:ahLst/>
              <a:cxnLst/>
              <a:rect l="l" t="t" r="r" b="b"/>
              <a:pathLst>
                <a:path w="4343400" h="4343400">
                  <a:moveTo>
                    <a:pt x="4343400" y="0"/>
                  </a:moveTo>
                  <a:lnTo>
                    <a:pt x="0" y="0"/>
                  </a:lnTo>
                  <a:lnTo>
                    <a:pt x="0" y="4343400"/>
                  </a:lnTo>
                  <a:lnTo>
                    <a:pt x="4343400" y="43434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67200" y="1600200"/>
              <a:ext cx="4343400" cy="4343400"/>
            </a:xfrm>
            <a:custGeom>
              <a:avLst/>
              <a:gdLst/>
              <a:ahLst/>
              <a:cxnLst/>
              <a:rect l="l" t="t" r="r" b="b"/>
              <a:pathLst>
                <a:path w="4343400" h="4343400">
                  <a:moveTo>
                    <a:pt x="0" y="4343400"/>
                  </a:moveTo>
                  <a:lnTo>
                    <a:pt x="4343400" y="4343400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434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26852" y="2476224"/>
            <a:ext cx="3867785" cy="20330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marR="5080" indent="-152400">
              <a:lnSpc>
                <a:spcPct val="111100"/>
              </a:lnSpc>
              <a:spcBef>
                <a:spcPts val="105"/>
              </a:spcBef>
              <a:buFont typeface="Arial MT"/>
              <a:buChar char="•"/>
              <a:tabLst>
                <a:tab pos="195580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Involves </a:t>
            </a:r>
            <a:r>
              <a:rPr sz="2400" spc="-5" dirty="0">
                <a:latin typeface="Times New Roman"/>
                <a:cs typeface="Times New Roman"/>
              </a:rPr>
              <a:t>studying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25" dirty="0">
                <a:latin typeface="Times New Roman"/>
                <a:cs typeface="Times New Roman"/>
              </a:rPr>
              <a:t>firm’s 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industry and </a:t>
            </a:r>
            <a:r>
              <a:rPr sz="2400" spc="-5" dirty="0">
                <a:latin typeface="Times New Roman"/>
                <a:cs typeface="Times New Roman"/>
              </a:rPr>
              <a:t>determining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target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markets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industry.</a:t>
            </a:r>
            <a:endParaRPr sz="2400" dirty="0">
              <a:latin typeface="Times New Roman"/>
              <a:cs typeface="Times New Roman"/>
            </a:endParaRPr>
          </a:p>
          <a:p>
            <a:pPr marL="12700" marR="112395">
              <a:lnSpc>
                <a:spcPct val="111100"/>
              </a:lnSpc>
              <a:spcBef>
                <a:spcPts val="5"/>
              </a:spcBef>
              <a:tabLst>
                <a:tab pos="19558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5085" y="421894"/>
            <a:ext cx="3976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Market Segmentation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674" y="2991738"/>
            <a:ext cx="25660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5325" marR="5080" indent="-6832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Segmenting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Market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2437" y="1595437"/>
            <a:ext cx="4352925" cy="4352925"/>
            <a:chOff x="4262437" y="1595437"/>
            <a:chExt cx="4352925" cy="4352925"/>
          </a:xfrm>
        </p:grpSpPr>
        <p:sp>
          <p:nvSpPr>
            <p:cNvPr id="7" name="object 7"/>
            <p:cNvSpPr/>
            <p:nvPr/>
          </p:nvSpPr>
          <p:spPr>
            <a:xfrm>
              <a:off x="4267200" y="1600200"/>
              <a:ext cx="4343400" cy="4343400"/>
            </a:xfrm>
            <a:custGeom>
              <a:avLst/>
              <a:gdLst/>
              <a:ahLst/>
              <a:cxnLst/>
              <a:rect l="l" t="t" r="r" b="b"/>
              <a:pathLst>
                <a:path w="4343400" h="4343400">
                  <a:moveTo>
                    <a:pt x="4343400" y="0"/>
                  </a:moveTo>
                  <a:lnTo>
                    <a:pt x="0" y="0"/>
                  </a:lnTo>
                  <a:lnTo>
                    <a:pt x="0" y="4343400"/>
                  </a:lnTo>
                  <a:lnTo>
                    <a:pt x="4343400" y="43434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67200" y="1600200"/>
              <a:ext cx="4343400" cy="4343400"/>
            </a:xfrm>
            <a:custGeom>
              <a:avLst/>
              <a:gdLst/>
              <a:ahLst/>
              <a:cxnLst/>
              <a:rect l="l" t="t" r="r" b="b"/>
              <a:pathLst>
                <a:path w="4343400" h="4343400">
                  <a:moveTo>
                    <a:pt x="0" y="4343400"/>
                  </a:moveTo>
                  <a:lnTo>
                    <a:pt x="4343400" y="4343400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434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22775" y="1591944"/>
            <a:ext cx="3867785" cy="4098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marR="112395" indent="-152400">
              <a:lnSpc>
                <a:spcPct val="111100"/>
              </a:lnSpc>
              <a:spcBef>
                <a:spcPts val="5"/>
              </a:spcBef>
              <a:buFont typeface="Arial MT"/>
              <a:buChar char="•"/>
              <a:tabLst>
                <a:tab pos="195580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Markets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segmented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spc="-5" dirty="0">
                <a:latin typeface="Times New Roman"/>
                <a:cs typeface="Times New Roman"/>
              </a:rPr>
              <a:t>ways, </a:t>
            </a:r>
            <a:r>
              <a:rPr sz="2400" dirty="0">
                <a:latin typeface="Times New Roman"/>
                <a:cs typeface="Times New Roman"/>
              </a:rPr>
              <a:t> including</a:t>
            </a:r>
          </a:p>
          <a:p>
            <a:pPr marL="342900" lvl="1" indent="-178435">
              <a:lnSpc>
                <a:spcPct val="100000"/>
              </a:lnSpc>
              <a:spcBef>
                <a:spcPts val="325"/>
              </a:spcBef>
              <a:buChar char="-"/>
              <a:tabLst>
                <a:tab pos="3435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Geography</a:t>
            </a:r>
          </a:p>
          <a:p>
            <a:pPr marL="342900" lvl="1" indent="-178435">
              <a:lnSpc>
                <a:spcPct val="100000"/>
              </a:lnSpc>
              <a:spcBef>
                <a:spcPts val="325"/>
              </a:spcBef>
              <a:buChar char="-"/>
              <a:tabLst>
                <a:tab pos="3435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Demographic variables</a:t>
            </a:r>
          </a:p>
          <a:p>
            <a:pPr marL="342900" lvl="1" indent="-178435">
              <a:spcBef>
                <a:spcPts val="325"/>
              </a:spcBef>
              <a:buFontTx/>
              <a:buChar char="-"/>
              <a:tabLst>
                <a:tab pos="3435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Psychographic variables</a:t>
            </a:r>
          </a:p>
          <a:p>
            <a:pPr marL="342900" lvl="1" indent="-178435">
              <a:spcBef>
                <a:spcPts val="325"/>
              </a:spcBef>
              <a:buFontTx/>
              <a:buChar char="-"/>
              <a:tabLst>
                <a:tab pos="3435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Behavioral variables</a:t>
            </a:r>
          </a:p>
          <a:p>
            <a:pPr marL="342900" lvl="1" indent="-178435">
              <a:spcBef>
                <a:spcPts val="325"/>
              </a:spcBef>
              <a:buFontTx/>
              <a:buChar char="-"/>
              <a:tabLst>
                <a:tab pos="3435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Product type</a:t>
            </a:r>
            <a:endParaRPr sz="2400" dirty="0">
              <a:latin typeface="Times New Roman"/>
              <a:cs typeface="Times New Roman"/>
            </a:endParaRPr>
          </a:p>
          <a:p>
            <a:pPr marL="342900" lvl="1" indent="-178435">
              <a:lnSpc>
                <a:spcPct val="100000"/>
              </a:lnSpc>
              <a:spcBef>
                <a:spcPts val="310"/>
              </a:spcBef>
              <a:buChar char="-"/>
              <a:tabLst>
                <a:tab pos="343535" algn="l"/>
              </a:tabLst>
            </a:pPr>
            <a:r>
              <a:rPr sz="2400" dirty="0">
                <a:latin typeface="Times New Roman"/>
                <a:cs typeface="Times New Roman"/>
              </a:rPr>
              <a:t>Price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</a:p>
          <a:p>
            <a:pPr marL="342900" lvl="1" indent="-178435">
              <a:lnSpc>
                <a:spcPct val="100000"/>
              </a:lnSpc>
              <a:spcBef>
                <a:spcPts val="330"/>
              </a:spcBef>
              <a:buChar char="-"/>
              <a:tabLst>
                <a:tab pos="343535" algn="l"/>
              </a:tabLst>
            </a:pPr>
            <a:r>
              <a:rPr sz="2400" spc="-5" dirty="0">
                <a:latin typeface="Times New Roman"/>
                <a:cs typeface="Times New Roman"/>
              </a:rPr>
              <a:t>Customers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served</a:t>
            </a:r>
          </a:p>
        </p:txBody>
      </p:sp>
    </p:spTree>
    <p:extLst>
      <p:ext uri="{BB962C8B-B14F-4D97-AF65-F5344CB8AC3E}">
        <p14:creationId xmlns:p14="http://schemas.microsoft.com/office/powerpoint/2010/main" val="240454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1345565" marR="5080" indent="-9906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Example: Segmenting</a:t>
            </a:r>
            <a:r>
              <a:rPr dirty="0"/>
              <a:t> the </a:t>
            </a:r>
            <a:r>
              <a:rPr spc="-5" dirty="0"/>
              <a:t>Computer </a:t>
            </a:r>
            <a:r>
              <a:rPr spc="-885" dirty="0"/>
              <a:t> </a:t>
            </a:r>
            <a:r>
              <a:rPr spc="-5" dirty="0"/>
              <a:t>Industry</a:t>
            </a:r>
            <a:r>
              <a:rPr dirty="0"/>
              <a:t> </a:t>
            </a:r>
            <a:r>
              <a:rPr spc="-5" dirty="0"/>
              <a:t>by</a:t>
            </a:r>
            <a:r>
              <a:rPr dirty="0"/>
              <a:t> </a:t>
            </a:r>
            <a:r>
              <a:rPr spc="-5" dirty="0"/>
              <a:t>Product</a:t>
            </a:r>
            <a:r>
              <a:rPr dirty="0"/>
              <a:t> </a:t>
            </a:r>
            <a:r>
              <a:rPr spc="-5" dirty="0"/>
              <a:t>Type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3723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19200" y="2057400"/>
            <a:ext cx="2895600" cy="914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6416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2080"/>
              </a:spcBef>
            </a:pPr>
            <a:r>
              <a:rPr sz="2400" dirty="0">
                <a:latin typeface="Times New Roman"/>
                <a:cs typeface="Times New Roman"/>
              </a:rPr>
              <a:t>Handheld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400" y="2057400"/>
            <a:ext cx="2895600" cy="914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880"/>
              </a:spcBef>
            </a:pPr>
            <a:r>
              <a:rPr sz="2400" spc="-5" dirty="0">
                <a:latin typeface="Times New Roman"/>
                <a:cs typeface="Times New Roman"/>
              </a:rPr>
              <a:t>Netbooks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(new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category)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200" y="3429000"/>
            <a:ext cx="2895600" cy="914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641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80"/>
              </a:spcBef>
            </a:pPr>
            <a:r>
              <a:rPr sz="2400" spc="-5" dirty="0">
                <a:latin typeface="Times New Roman"/>
                <a:cs typeface="Times New Roman"/>
              </a:rPr>
              <a:t>PCs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4400" y="3429000"/>
            <a:ext cx="2895600" cy="914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6416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2080"/>
              </a:spcBef>
            </a:pPr>
            <a:r>
              <a:rPr sz="2400" spc="-5" dirty="0">
                <a:latin typeface="Times New Roman"/>
                <a:cs typeface="Times New Roman"/>
              </a:rPr>
              <a:t>Minicomputers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200" y="4800600"/>
            <a:ext cx="2895600" cy="9144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64160" rIns="0" bIns="0" rtlCol="0">
            <a:spAutoFit/>
          </a:bodyPr>
          <a:lstStyle/>
          <a:p>
            <a:pPr marL="710565">
              <a:lnSpc>
                <a:spcPct val="100000"/>
              </a:lnSpc>
              <a:spcBef>
                <a:spcPts val="2080"/>
              </a:spcBef>
            </a:pPr>
            <a:r>
              <a:rPr sz="2400" spc="-5" dirty="0">
                <a:latin typeface="Times New Roman"/>
                <a:cs typeface="Times New Roman"/>
              </a:rPr>
              <a:t>Mainframes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Market Segmentation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8064500" cy="4717958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90"/>
              </a:spcBef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To test whether you have segmented your market successfully, the requirements for successful market segmentation are as follows: </a:t>
            </a: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Homogeneity of needs and wants appears within the segment.</a:t>
            </a: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Heterogeneity of needs and wants exists between the segments.</a:t>
            </a: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Differences within the segment should be small compared to differences across segments.</a:t>
            </a: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The segment should be distinct enough so that its members can be easily identified.</a:t>
            </a: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It should be possible to determine the size of the segment.</a:t>
            </a: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The segment should be large enough to be profitable.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359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8176" y="421894"/>
            <a:ext cx="4785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Selecting</a:t>
            </a:r>
            <a:r>
              <a:rPr spc="1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Target</a:t>
            </a:r>
            <a:r>
              <a:rPr spc="-15" dirty="0"/>
              <a:t> </a:t>
            </a:r>
            <a:r>
              <a:rPr spc="-5" dirty="0"/>
              <a:t>Market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2070" y="2991738"/>
            <a:ext cx="23279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0" dirty="0">
                <a:latin typeface="Times New Roman"/>
                <a:cs typeface="Times New Roman"/>
              </a:rPr>
              <a:t>Target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Market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2437" y="1595437"/>
            <a:ext cx="4429125" cy="4429125"/>
            <a:chOff x="4262437" y="1595437"/>
            <a:chExt cx="4429125" cy="4429125"/>
          </a:xfrm>
        </p:grpSpPr>
        <p:sp>
          <p:nvSpPr>
            <p:cNvPr id="7" name="object 7"/>
            <p:cNvSpPr/>
            <p:nvPr/>
          </p:nvSpPr>
          <p:spPr>
            <a:xfrm>
              <a:off x="4267200" y="1600200"/>
              <a:ext cx="4419600" cy="4419600"/>
            </a:xfrm>
            <a:custGeom>
              <a:avLst/>
              <a:gdLst/>
              <a:ahLst/>
              <a:cxnLst/>
              <a:rect l="l" t="t" r="r" b="b"/>
              <a:pathLst>
                <a:path w="4419600" h="4419600">
                  <a:moveTo>
                    <a:pt x="4419600" y="0"/>
                  </a:moveTo>
                  <a:lnTo>
                    <a:pt x="0" y="0"/>
                  </a:lnTo>
                  <a:lnTo>
                    <a:pt x="0" y="4419600"/>
                  </a:lnTo>
                  <a:lnTo>
                    <a:pt x="4419600" y="4419600"/>
                  </a:lnTo>
                  <a:lnTo>
                    <a:pt x="44196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67200" y="1600200"/>
              <a:ext cx="4419600" cy="4419600"/>
            </a:xfrm>
            <a:custGeom>
              <a:avLst/>
              <a:gdLst/>
              <a:ahLst/>
              <a:cxnLst/>
              <a:rect l="l" t="t" r="r" b="b"/>
              <a:pathLst>
                <a:path w="4419600" h="4419600">
                  <a:moveTo>
                    <a:pt x="0" y="4419600"/>
                  </a:moveTo>
                  <a:lnTo>
                    <a:pt x="4419600" y="4419600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441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96435" y="1786232"/>
            <a:ext cx="4190365" cy="41099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 marR="671195" indent="-152400" algn="just">
              <a:lnSpc>
                <a:spcPct val="111300"/>
              </a:lnSpc>
              <a:spcBef>
                <a:spcPts val="95"/>
              </a:spcBef>
              <a:buFont typeface="Arial MT"/>
              <a:buChar char="•"/>
              <a:tabLst>
                <a:tab pos="195580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Once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segmented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market,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target </a:t>
            </a:r>
            <a:r>
              <a:rPr sz="2400" spc="-5" dirty="0">
                <a:latin typeface="Times New Roman"/>
                <a:cs typeface="Times New Roman"/>
              </a:rPr>
              <a:t>market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chosen.</a:t>
            </a:r>
          </a:p>
          <a:p>
            <a:pPr marL="165100" marR="5080" indent="-152400">
              <a:lnSpc>
                <a:spcPts val="3200"/>
              </a:lnSpc>
              <a:spcBef>
                <a:spcPts val="105"/>
              </a:spcBef>
              <a:buFont typeface="Arial MT"/>
              <a:buChar char="•"/>
              <a:tabLst>
                <a:tab pos="189865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market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sufficiently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attractive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firm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capability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  <a:endParaRPr lang="en-US" sz="2400" dirty="0">
              <a:latin typeface="Times New Roman"/>
              <a:cs typeface="Times New Roman"/>
            </a:endParaRPr>
          </a:p>
          <a:p>
            <a:pPr marL="165100" marR="5080" indent="-152400">
              <a:lnSpc>
                <a:spcPts val="3200"/>
              </a:lnSpc>
              <a:spcBef>
                <a:spcPts val="105"/>
              </a:spcBef>
              <a:buFont typeface="Arial MT"/>
              <a:buChar char="•"/>
              <a:tabLst>
                <a:tab pos="18986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b="1" dirty="0">
                <a:latin typeface="Times New Roman"/>
                <a:cs typeface="Times New Roman"/>
              </a:rPr>
              <a:t>niche market </a:t>
            </a:r>
            <a:r>
              <a:rPr lang="en-US" sz="2400" dirty="0">
                <a:latin typeface="Times New Roman"/>
                <a:cs typeface="Times New Roman"/>
              </a:rPr>
              <a:t>is a place within a market segment that represents a narrow group of customers with similar interests. 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Selecting</a:t>
            </a:r>
            <a:r>
              <a:rPr lang="en-US" spc="10" dirty="0"/>
              <a:t> </a:t>
            </a:r>
            <a:r>
              <a:rPr lang="en-US" spc="-5" dirty="0"/>
              <a:t>a</a:t>
            </a:r>
            <a:r>
              <a:rPr lang="en-US" dirty="0"/>
              <a:t> </a:t>
            </a:r>
            <a:r>
              <a:rPr lang="en-US" spc="-5" dirty="0"/>
              <a:t>Target</a:t>
            </a:r>
            <a:r>
              <a:rPr lang="en-US" spc="-15" dirty="0"/>
              <a:t> </a:t>
            </a:r>
            <a:r>
              <a:rPr lang="en-US" spc="-5" dirty="0"/>
              <a:t>Market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495664" y="1423266"/>
            <a:ext cx="8064500" cy="4533292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90"/>
              </a:spcBef>
              <a:tabLst>
                <a:tab pos="354965" algn="l"/>
                <a:tab pos="3556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By focusing on a clearly defined market, a firm can become an expert in that market and then be able to provide its customers with high levels of value and service. </a:t>
            </a:r>
          </a:p>
          <a:p>
            <a:pPr marL="469900" indent="-4572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firm’s choice of target markets must also be in sync with its business model and the backgrounds and skills of its founders and other employees. </a:t>
            </a:r>
          </a:p>
          <a:p>
            <a:pPr marL="469900" indent="-457200" algn="just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ü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firm must also continually monitor the attractiveness of its target market. Societal preferences change, sometimes causes a target market to lose its attractiveness and the product or service it has to offer customers.</a:t>
            </a:r>
          </a:p>
          <a:p>
            <a:pPr marL="12700" algn="just">
              <a:lnSpc>
                <a:spcPct val="100000"/>
              </a:lnSpc>
              <a:spcBef>
                <a:spcPts val="790"/>
              </a:spcBef>
              <a:tabLst>
                <a:tab pos="354965" algn="l"/>
                <a:tab pos="355600" algn="l"/>
              </a:tabLst>
            </a:pP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510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1164985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Establishing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15" dirty="0"/>
              <a:t> </a:t>
            </a:r>
            <a:r>
              <a:rPr spc="-5" dirty="0"/>
              <a:t>Unique</a:t>
            </a:r>
            <a:r>
              <a:rPr spc="5" dirty="0"/>
              <a:t> </a:t>
            </a:r>
            <a:r>
              <a:rPr spc="-5" dirty="0"/>
              <a:t>Positio</a:t>
            </a:r>
            <a:r>
              <a:rPr lang="en-US" spc="-5" dirty="0"/>
              <a:t>n</a:t>
            </a: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endParaRPr lang="en-US" sz="2000" dirty="0"/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4549" y="2991738"/>
            <a:ext cx="18796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Positioning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957637" y="1595437"/>
            <a:ext cx="4733925" cy="4581525"/>
            <a:chOff x="3957637" y="1595437"/>
            <a:chExt cx="4733925" cy="4581525"/>
          </a:xfrm>
        </p:grpSpPr>
        <p:sp>
          <p:nvSpPr>
            <p:cNvPr id="7" name="object 7"/>
            <p:cNvSpPr/>
            <p:nvPr/>
          </p:nvSpPr>
          <p:spPr>
            <a:xfrm>
              <a:off x="3962400" y="1600200"/>
              <a:ext cx="4724400" cy="4572000"/>
            </a:xfrm>
            <a:custGeom>
              <a:avLst/>
              <a:gdLst/>
              <a:ahLst/>
              <a:cxnLst/>
              <a:rect l="l" t="t" r="r" b="b"/>
              <a:pathLst>
                <a:path w="4724400" h="4572000">
                  <a:moveTo>
                    <a:pt x="4724400" y="0"/>
                  </a:moveTo>
                  <a:lnTo>
                    <a:pt x="0" y="0"/>
                  </a:lnTo>
                  <a:lnTo>
                    <a:pt x="0" y="4572000"/>
                  </a:lnTo>
                  <a:lnTo>
                    <a:pt x="4724400" y="45720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62400" y="1600200"/>
              <a:ext cx="4724400" cy="4572000"/>
            </a:xfrm>
            <a:custGeom>
              <a:avLst/>
              <a:gdLst/>
              <a:ahLst/>
              <a:cxnLst/>
              <a:rect l="l" t="t" r="r" b="b"/>
              <a:pathLst>
                <a:path w="4724400" h="4572000">
                  <a:moveTo>
                    <a:pt x="0" y="4572000"/>
                  </a:moveTo>
                  <a:lnTo>
                    <a:pt x="4724400" y="4572000"/>
                  </a:lnTo>
                  <a:lnTo>
                    <a:pt x="4724400" y="0"/>
                  </a:lnTo>
                  <a:lnTo>
                    <a:pt x="0" y="0"/>
                  </a:lnTo>
                  <a:lnTo>
                    <a:pt x="0" y="4572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17975" y="1667859"/>
            <a:ext cx="4470400" cy="35073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78435" indent="-166370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17907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</a:t>
            </a:r>
            <a:r>
              <a:rPr lang="en-US" sz="2400" dirty="0">
                <a:latin typeface="Times New Roman"/>
                <a:cs typeface="Times New Roman"/>
              </a:rPr>
              <a:t> f</a:t>
            </a:r>
            <a:r>
              <a:rPr sz="2400" spc="-25" dirty="0">
                <a:latin typeface="Times New Roman"/>
                <a:cs typeface="Times New Roman"/>
              </a:rPr>
              <a:t>irm’s </a:t>
            </a:r>
            <a:r>
              <a:rPr sz="2400" dirty="0">
                <a:latin typeface="Times New Roman"/>
                <a:cs typeface="Times New Roman"/>
              </a:rPr>
              <a:t>next </a:t>
            </a:r>
            <a:r>
              <a:rPr sz="2400" spc="-5" dirty="0">
                <a:latin typeface="Times New Roman"/>
                <a:cs typeface="Times New Roman"/>
              </a:rPr>
              <a:t>step </a:t>
            </a:r>
            <a:r>
              <a:rPr sz="2400" dirty="0">
                <a:latin typeface="Times New Roman"/>
                <a:cs typeface="Times New Roman"/>
              </a:rPr>
              <a:t>is to establish 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“position”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market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differentiates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competitors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  <a:p>
            <a:pPr marL="178435" indent="-166370" algn="just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1790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Position is concerned with how the firm is situated relative to competitors.</a:t>
            </a:r>
            <a:endParaRPr sz="2400" dirty="0">
              <a:latin typeface="Times New Roman"/>
              <a:cs typeface="Times New Roman"/>
            </a:endParaRPr>
          </a:p>
          <a:p>
            <a:pPr marL="178435" indent="-166370" algn="just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17907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“position”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market</a:t>
            </a:r>
            <a:endParaRPr sz="2400" dirty="0">
              <a:latin typeface="Times New Roman"/>
              <a:cs typeface="Times New Roman"/>
            </a:endParaRPr>
          </a:p>
          <a:p>
            <a:pPr marL="165100" algn="just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claiming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1164985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Establishing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15" dirty="0"/>
              <a:t> </a:t>
            </a:r>
            <a:r>
              <a:rPr spc="-5" dirty="0"/>
              <a:t>Unique</a:t>
            </a:r>
            <a:r>
              <a:rPr spc="5" dirty="0"/>
              <a:t> </a:t>
            </a:r>
            <a:r>
              <a:rPr spc="-5" dirty="0"/>
              <a:t>Position</a:t>
            </a: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8064500" cy="477951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469265" marR="5080" lvl="1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A firm establishing a unique position in its customers’ minds  by drawing attention to two or three of the product’s attributes.</a:t>
            </a: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A firm’s position is defined by its products or services.</a:t>
            </a: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Determining which position to occupy and compete in is a strategic call on the part of a company based on its mission, its overall approach to the marketplace, and its competitive landscape.</a:t>
            </a: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Once a company has identified its position and primary points of differentiation, a helpful technique is to develop a </a:t>
            </a:r>
            <a:r>
              <a:rPr lang="en-US" sz="2400" b="1" spc="-10" dirty="0">
                <a:latin typeface="Times New Roman"/>
                <a:cs typeface="Times New Roman"/>
              </a:rPr>
              <a:t>product attribute map</a:t>
            </a:r>
            <a:r>
              <a:rPr lang="en-US" sz="2400" spc="-10" dirty="0">
                <a:latin typeface="Times New Roman"/>
                <a:cs typeface="Times New Roman"/>
              </a:rPr>
              <a:t>, which illustrates a firm’s positioning strategy relative to its major rivals. </a:t>
            </a:r>
          </a:p>
          <a:p>
            <a:pPr marL="469265" marR="5080" lvl="1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0" marR="5080" indent="-83248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Product Attribute Map for </a:t>
            </a:r>
            <a:br>
              <a:rPr lang="en-US" spc="-5" dirty="0"/>
            </a:br>
            <a:r>
              <a:rPr lang="en-US" spc="-5" dirty="0"/>
              <a:t>Snap-Fitness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761" y="13723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CB421A-AC55-6C18-473E-4F9917D9C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7630"/>
            <a:ext cx="7467600" cy="544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7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1164985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Establishing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15" dirty="0"/>
              <a:t> </a:t>
            </a:r>
            <a:r>
              <a:rPr spc="-5" dirty="0"/>
              <a:t>Unique</a:t>
            </a:r>
            <a:r>
              <a:rPr spc="5" dirty="0"/>
              <a:t> </a:t>
            </a:r>
            <a:r>
              <a:rPr spc="-5" dirty="0"/>
              <a:t>Position</a:t>
            </a: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8064500" cy="352019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469265" marR="5080" lvl="1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r>
              <a:rPr sz="2400" spc="-10" dirty="0">
                <a:latin typeface="Times New Roman"/>
                <a:cs typeface="Times New Roman"/>
              </a:rPr>
              <a:t>Firms </a:t>
            </a:r>
            <a:r>
              <a:rPr sz="2400" dirty="0">
                <a:latin typeface="Times New Roman"/>
                <a:cs typeface="Times New Roman"/>
              </a:rPr>
              <a:t>often develop a “tagline” to reinforce the position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staked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market</a:t>
            </a:r>
            <a:r>
              <a:rPr lang="en-US" sz="2400" spc="-5" dirty="0">
                <a:latin typeface="Times New Roman"/>
                <a:cs typeface="Times New Roman"/>
              </a:rPr>
              <a:t>.</a:t>
            </a: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b="1" dirty="0">
                <a:latin typeface="Times New Roman"/>
                <a:cs typeface="Times New Roman"/>
              </a:rPr>
              <a:t>tagline</a:t>
            </a:r>
            <a:r>
              <a:rPr lang="en-US" sz="2400" dirty="0">
                <a:latin typeface="Times New Roman"/>
                <a:cs typeface="Times New Roman"/>
              </a:rPr>
              <a:t> is catchy phrase that’s used consistently in a company’s literature, advertisements, stationery, and even invoices and thus becomes associated with that company to reinforce the position they have staked out in their market. </a:t>
            </a:r>
            <a:endParaRPr sz="2400" dirty="0">
              <a:latin typeface="Times New Roman"/>
              <a:cs typeface="Times New Roman"/>
            </a:endParaRPr>
          </a:p>
          <a:p>
            <a:pPr marL="469265" lvl="1">
              <a:lnSpc>
                <a:spcPct val="100000"/>
              </a:lnSpc>
              <a:spcBef>
                <a:spcPts val="580"/>
              </a:spcBef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An example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Nike’s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familiar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tagline,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“Just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it.”</a:t>
            </a:r>
          </a:p>
          <a:p>
            <a:pPr marL="1155700" marR="323215" lvl="2" indent="-228600">
              <a:lnSpc>
                <a:spcPct val="100000"/>
              </a:lnSpc>
              <a:spcBef>
                <a:spcPts val="495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beauty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simple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three-word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applies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21-year-old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athlete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65-year-old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mall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walker.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5655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0" marR="5080" indent="-8324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Taglines—Developed</a:t>
            </a:r>
            <a:r>
              <a:rPr spc="1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5" dirty="0"/>
              <a:t>Reinforce</a:t>
            </a:r>
            <a:r>
              <a:rPr spc="5" dirty="0"/>
              <a:t> </a:t>
            </a:r>
            <a:r>
              <a:rPr dirty="0"/>
              <a:t>a </a:t>
            </a:r>
            <a:r>
              <a:rPr spc="-885" dirty="0"/>
              <a:t> </a:t>
            </a:r>
            <a:r>
              <a:rPr spc="-5" dirty="0"/>
              <a:t>Firm’s</a:t>
            </a:r>
            <a:r>
              <a:rPr spc="-15" dirty="0"/>
              <a:t> </a:t>
            </a:r>
            <a:r>
              <a:rPr spc="-5" dirty="0"/>
              <a:t>Positioning</a:t>
            </a:r>
            <a:r>
              <a:rPr spc="-10" dirty="0"/>
              <a:t> </a:t>
            </a:r>
            <a:r>
              <a:rPr spc="-5" dirty="0"/>
              <a:t>Strategy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3723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133600"/>
            <a:ext cx="7315200" cy="41544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73248" y="1470405"/>
            <a:ext cx="416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Match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Company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Tagline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Selling Benefits</a:t>
            </a:r>
            <a:r>
              <a:rPr dirty="0"/>
              <a:t> </a:t>
            </a:r>
            <a:r>
              <a:rPr spc="-5" dirty="0"/>
              <a:t>Rather</a:t>
            </a:r>
            <a:r>
              <a:rPr dirty="0"/>
              <a:t> Than</a:t>
            </a:r>
            <a:r>
              <a:rPr spc="-10" dirty="0"/>
              <a:t> </a:t>
            </a:r>
            <a:r>
              <a:rPr dirty="0"/>
              <a:t>Features</a:t>
            </a: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2000" dirty="0"/>
              <a:t>1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dirty="0"/>
              <a:t>2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8006715" cy="3209853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56285" marR="300355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00355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entrepreneur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mistake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positioning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company’s </a:t>
            </a:r>
            <a:r>
              <a:rPr sz="2400" dirty="0">
                <a:latin typeface="Times New Roman"/>
                <a:cs typeface="Times New Roman"/>
              </a:rPr>
              <a:t>products or </a:t>
            </a:r>
            <a:r>
              <a:rPr sz="2400" spc="-5" dirty="0">
                <a:latin typeface="Times New Roman"/>
                <a:cs typeface="Times New Roman"/>
              </a:rPr>
              <a:t>services </a:t>
            </a:r>
            <a:r>
              <a:rPr sz="2400" dirty="0">
                <a:latin typeface="Times New Roman"/>
                <a:cs typeface="Times New Roman"/>
              </a:rPr>
              <a:t>on features rather than benefits.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A positioning or </a:t>
            </a:r>
            <a:r>
              <a:rPr sz="2400" spc="-5" dirty="0">
                <a:latin typeface="Times New Roman"/>
                <a:cs typeface="Times New Roman"/>
              </a:rPr>
              <a:t>marketing </a:t>
            </a:r>
            <a:r>
              <a:rPr sz="2400" dirty="0">
                <a:latin typeface="Times New Roman"/>
                <a:cs typeface="Times New Roman"/>
              </a:rPr>
              <a:t>strategy that </a:t>
            </a:r>
            <a:r>
              <a:rPr sz="2400" spc="-5" dirty="0">
                <a:latin typeface="Times New Roman"/>
                <a:cs typeface="Times New Roman"/>
              </a:rPr>
              <a:t>focuses </a:t>
            </a:r>
            <a:r>
              <a:rPr sz="2400" dirty="0">
                <a:latin typeface="Times New Roman"/>
                <a:cs typeface="Times New Roman"/>
              </a:rPr>
              <a:t>on 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product,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merits, 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usually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much </a:t>
            </a:r>
            <a:r>
              <a:rPr sz="2400" dirty="0">
                <a:latin typeface="Times New Roman"/>
                <a:cs typeface="Times New Roman"/>
              </a:rPr>
              <a:t>less </a:t>
            </a:r>
            <a:r>
              <a:rPr sz="2400" spc="-5" dirty="0">
                <a:latin typeface="Times New Roman"/>
                <a:cs typeface="Times New Roman"/>
              </a:rPr>
              <a:t>effective </a:t>
            </a:r>
            <a:r>
              <a:rPr sz="2400" dirty="0">
                <a:latin typeface="Times New Roman"/>
                <a:cs typeface="Times New Roman"/>
              </a:rPr>
              <a:t>than a </a:t>
            </a:r>
            <a:r>
              <a:rPr sz="2400" spc="-5" dirty="0">
                <a:latin typeface="Times New Roman"/>
                <a:cs typeface="Times New Roman"/>
              </a:rPr>
              <a:t>campaign focusing </a:t>
            </a:r>
            <a:r>
              <a:rPr sz="2400" dirty="0">
                <a:latin typeface="Times New Roman"/>
                <a:cs typeface="Times New Roman"/>
              </a:rPr>
              <a:t>on what 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merits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do.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206" y="269494"/>
            <a:ext cx="70078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Selling</a:t>
            </a:r>
            <a:r>
              <a:rPr spc="-10" dirty="0"/>
              <a:t> </a:t>
            </a:r>
            <a:r>
              <a:rPr spc="-5" dirty="0"/>
              <a:t>Benefits</a:t>
            </a:r>
            <a:r>
              <a:rPr dirty="0"/>
              <a:t> </a:t>
            </a:r>
            <a:r>
              <a:rPr spc="-5" dirty="0"/>
              <a:t>Rather</a:t>
            </a:r>
            <a:r>
              <a:rPr dirty="0"/>
              <a:t> Than</a:t>
            </a:r>
            <a:r>
              <a:rPr spc="-10" dirty="0"/>
              <a:t> </a:t>
            </a:r>
            <a:r>
              <a:rPr dirty="0"/>
              <a:t>Features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13941" y="824230"/>
            <a:ext cx="5437505" cy="90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74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/>
                <a:cs typeface="Times New Roman"/>
              </a:rPr>
              <a:t>Two</a:t>
            </a:r>
            <a:r>
              <a:rPr sz="2000" spc="-5" dirty="0">
                <a:latin typeface="Times New Roman"/>
                <a:cs typeface="Times New Roman"/>
              </a:rPr>
              <a:t> differen</a:t>
            </a:r>
            <a:r>
              <a:rPr lang="en-US" sz="2000" spc="-5" dirty="0">
                <a:latin typeface="Times New Roman"/>
                <a:cs typeface="Times New Roman"/>
              </a:rPr>
              <a:t>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promoting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cell </a:t>
            </a:r>
            <a:r>
              <a:rPr sz="2000" spc="5" dirty="0">
                <a:latin typeface="Times New Roman"/>
                <a:cs typeface="Times New Roman"/>
              </a:rPr>
              <a:t>phone</a:t>
            </a:r>
            <a:endParaRPr sz="2000" dirty="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430449"/>
              </p:ext>
            </p:extLst>
          </p:nvPr>
        </p:nvGraphicFramePr>
        <p:xfrm>
          <a:off x="604837" y="1900237"/>
          <a:ext cx="8153400" cy="441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50495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10235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Illustration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113155" marR="692785" indent="-2609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“Our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cell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phones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equipped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sufficient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1,000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numbers.”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7366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Benefits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19050" indent="-63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600" spc="5" dirty="0">
                          <a:latin typeface="Times New Roman"/>
                          <a:cs typeface="Times New Roman"/>
                        </a:rPr>
                        <a:t>“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Our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cell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phones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let you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store up to 1,000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phone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numbers,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providing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family,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friends,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contacts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instantly.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76200"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Conclusion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72745" marR="365125" indent="-127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 first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statement tells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 prospect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many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phone 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cell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hold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doesn’t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say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why</a:t>
                      </a:r>
                    </a:p>
                    <a:p>
                      <a:pPr marL="302895" marR="295910" algn="ctr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that’s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important.</a:t>
                      </a:r>
                      <a:r>
                        <a:rPr lang="en-US" sz="200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 second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tells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 prospect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buying the product will enhance his or her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life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business.</a:t>
                      </a:r>
                    </a:p>
                  </a:txBody>
                  <a:tcPr marL="0" marR="0" marT="1143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BRANDING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400" y="1323793"/>
            <a:ext cx="8763000" cy="5200783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756285" marR="5080" lvl="1" indent="-287020" algn="just">
              <a:lnSpc>
                <a:spcPts val="2590"/>
              </a:lnSpc>
              <a:spcBef>
                <a:spcPts val="63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attributes—positive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negative—that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associate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company.</a:t>
            </a:r>
            <a:endParaRPr sz="2400" dirty="0">
              <a:latin typeface="Times New Roman"/>
              <a:cs typeface="Times New Roman"/>
            </a:endParaRPr>
          </a:p>
          <a:p>
            <a:pPr marL="1155700" marR="102870" lvl="2" indent="-228600" algn="just">
              <a:lnSpc>
                <a:spcPts val="2160"/>
              </a:lnSpc>
              <a:spcBef>
                <a:spcPts val="49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5" dirty="0">
                <a:latin typeface="Times New Roman"/>
                <a:cs typeface="Times New Roman"/>
              </a:rPr>
              <a:t> attributes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be positive,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trustworthy,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dependable,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deal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with.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negative,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cheap,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unreliable,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difficult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with.</a:t>
            </a:r>
          </a:p>
          <a:p>
            <a:pPr marL="756285" marR="81915" lvl="1" indent="-287020" algn="just">
              <a:lnSpc>
                <a:spcPts val="2590"/>
              </a:lnSpc>
              <a:spcBef>
                <a:spcPts val="60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</a:t>
            </a:r>
            <a:r>
              <a:rPr sz="2400" dirty="0">
                <a:latin typeface="Times New Roman"/>
                <a:cs typeface="Times New Roman"/>
              </a:rPr>
              <a:t> loyalty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one of 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valuable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assets.</a:t>
            </a:r>
            <a:endParaRPr sz="2800" dirty="0">
              <a:latin typeface="Times New Roman"/>
              <a:cs typeface="Times New Roman"/>
            </a:endParaRPr>
          </a:p>
          <a:p>
            <a:pPr marL="756285" marR="631190" lvl="1" indent="-287020" algn="just">
              <a:lnSpc>
                <a:spcPts val="2590"/>
              </a:lnSpc>
              <a:spcBef>
                <a:spcPts val="63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10" dirty="0">
                <a:latin typeface="Times New Roman"/>
                <a:cs typeface="Times New Roman"/>
              </a:rPr>
              <a:t>Some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companies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monitor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brands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“</a:t>
            </a:r>
            <a:r>
              <a:rPr lang="en-US" sz="2400" b="1" dirty="0">
                <a:latin typeface="Times New Roman"/>
                <a:cs typeface="Times New Roman"/>
              </a:rPr>
              <a:t>B</a:t>
            </a:r>
            <a:r>
              <a:rPr sz="2400" b="1" dirty="0">
                <a:latin typeface="Times New Roman"/>
                <a:cs typeface="Times New Roman"/>
              </a:rPr>
              <a:t>rand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M</a:t>
            </a:r>
            <a:r>
              <a:rPr sz="2400" b="1" spc="-5" dirty="0">
                <a:latin typeface="Times New Roman"/>
                <a:cs typeface="Times New Roman"/>
              </a:rPr>
              <a:t>anagement”</a:t>
            </a: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which is a program used to protect the image and value of an organization’s brand in consumers’ minds.</a:t>
            </a:r>
          </a:p>
          <a:p>
            <a:pPr marL="469265" marR="631190" lvl="1" algn="just">
              <a:lnSpc>
                <a:spcPts val="2590"/>
              </a:lnSpc>
              <a:spcBef>
                <a:spcPts val="635"/>
              </a:spcBef>
              <a:tabLst>
                <a:tab pos="756285" algn="l"/>
                <a:tab pos="7569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Start-ups must build a brand from scratch; this process begins with selecting the company’s name. One of the keys to effective branding is to create a strong personality for a firm, designed to appeal to the chosen target market.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199794" y="147015"/>
            <a:ext cx="6744411" cy="690496"/>
          </a:xfrm>
          <a:prstGeom prst="rect">
            <a:avLst/>
          </a:prstGeom>
        </p:spPr>
        <p:txBody>
          <a:bodyPr vert="horz" wrap="square" lIns="0" tIns="135178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BRANDING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8438" y="1470405"/>
            <a:ext cx="7181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lang="en-US" sz="2400" spc="-55" dirty="0">
                <a:latin typeface="Times New Roman"/>
                <a:cs typeface="Times New Roman"/>
              </a:rPr>
              <a:t>W</a:t>
            </a:r>
            <a:r>
              <a:rPr sz="2400" spc="-55" dirty="0">
                <a:latin typeface="Times New Roman"/>
                <a:cs typeface="Times New Roman"/>
              </a:rPr>
              <a:t>ays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Thinking</a:t>
            </a:r>
            <a:r>
              <a:rPr lang="en-US" sz="2400" spc="-1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bout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eaning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Brand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133600"/>
            <a:ext cx="8304276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BRANDING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4800" y="1532797"/>
            <a:ext cx="8534400" cy="517257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45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5" dirty="0">
                <a:latin typeface="Times New Roman"/>
                <a:cs typeface="Times New Roman"/>
              </a:rPr>
              <a:t> does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new </a:t>
            </a:r>
            <a:r>
              <a:rPr sz="2400" dirty="0">
                <a:latin typeface="Times New Roman"/>
                <a:cs typeface="Times New Roman"/>
              </a:rPr>
              <a:t>firm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brand?</a:t>
            </a:r>
          </a:p>
          <a:p>
            <a:pPr marL="1155700" lvl="2" indent="-229235" algn="just">
              <a:lnSpc>
                <a:spcPts val="2280"/>
              </a:lnSpc>
              <a:spcBef>
                <a:spcPts val="259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On 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philosophical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level,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firm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dirty="0">
                <a:latin typeface="Times New Roman"/>
                <a:cs typeface="Times New Roman"/>
              </a:rPr>
              <a:t> 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meaning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its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customers’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lives.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create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value—something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pay.</a:t>
            </a:r>
          </a:p>
          <a:p>
            <a:pPr marL="1155700" marR="24765" lvl="2" indent="-228600" algn="just">
              <a:lnSpc>
                <a:spcPts val="216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On a </a:t>
            </a:r>
            <a:r>
              <a:rPr sz="2000" spc="-5" dirty="0">
                <a:latin typeface="Times New Roman"/>
                <a:cs typeface="Times New Roman"/>
              </a:rPr>
              <a:t>more </a:t>
            </a:r>
            <a:r>
              <a:rPr sz="2000" dirty="0">
                <a:latin typeface="Times New Roman"/>
                <a:cs typeface="Times New Roman"/>
              </a:rPr>
              <a:t>practical level, brands are built through a </a:t>
            </a:r>
            <a:r>
              <a:rPr sz="2000" spc="-5" dirty="0">
                <a:latin typeface="Times New Roman"/>
                <a:cs typeface="Times New Roman"/>
              </a:rPr>
              <a:t>number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techniques,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advertising,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sponsorships,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social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social media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performance.</a:t>
            </a:r>
            <a:endParaRPr sz="2000" dirty="0">
              <a:latin typeface="Times New Roman"/>
              <a:cs typeface="Times New Roman"/>
            </a:endParaRPr>
          </a:p>
          <a:p>
            <a:pPr marL="1155700" marR="5080" lvl="2" indent="-228600" algn="just">
              <a:lnSpc>
                <a:spcPts val="216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firm’s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name,</a:t>
            </a:r>
            <a:r>
              <a:rPr sz="2000" dirty="0">
                <a:latin typeface="Times New Roman"/>
                <a:cs typeface="Times New Roman"/>
              </a:rPr>
              <a:t> logo,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Web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lang="en-US" sz="2000" spc="-30" dirty="0">
                <a:latin typeface="Times New Roman"/>
                <a:cs typeface="Times New Roman"/>
              </a:rPr>
              <a:t>Facebook page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5" dirty="0">
                <a:latin typeface="Times New Roman"/>
                <a:cs typeface="Times New Roman"/>
              </a:rPr>
              <a:t> 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letterhead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brand.</a:t>
            </a:r>
            <a:endParaRPr lang="en-US" sz="2000" dirty="0">
              <a:latin typeface="Times New Roman"/>
              <a:cs typeface="Times New Roman"/>
            </a:endParaRP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000" spc="-5" dirty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kumimoji="0" lang="en-US" sz="2000" b="0" i="0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xperts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warn against placing an overreliance on advertising to build brand. A more affordable approach is to rely on word of mouth, media, and ingenuity to create a positive buzz about a company. </a:t>
            </a: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Creating </a:t>
            </a: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buzz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means creating awareness and a sense of anticipation about a company and its offerings. This process can start during feasibility analysis, when a company shows its concept statement or prototype to prospective buyers or industry experts.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BRANDING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52400" y="1380730"/>
            <a:ext cx="8839200" cy="5256567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469265" marR="77470" lvl="1" algn="just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Ultimately,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strong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powerful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asset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>
                <a:latin typeface="Times New Roman"/>
                <a:cs typeface="Times New Roman"/>
              </a:rPr>
              <a:t>for a</a:t>
            </a:r>
            <a:r>
              <a:rPr sz="2200" spc="-5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firm.</a:t>
            </a:r>
            <a:r>
              <a:rPr lang="en-US" sz="2200" spc="-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As a result, a brand allows a company to charge a price for its products that is consistent with its image.</a:t>
            </a:r>
          </a:p>
          <a:p>
            <a:pPr marL="756285" marR="77470" lvl="1" indent="-287020" algn="just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b="1" dirty="0">
                <a:latin typeface="Times New Roman"/>
                <a:cs typeface="Times New Roman"/>
              </a:rPr>
              <a:t>Brand equity </a:t>
            </a:r>
            <a:r>
              <a:rPr lang="en-US" sz="2200" dirty="0">
                <a:latin typeface="Times New Roman"/>
                <a:cs typeface="Times New Roman"/>
              </a:rPr>
              <a:t>is the term that denotes the set of assets and liabilities that are linked to a brand and enable it to raise a firm’s valuation. </a:t>
            </a:r>
          </a:p>
          <a:p>
            <a:pPr marL="469265" marR="77470" lvl="1" algn="just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It is important for firms to understand brand equity and how to use it to create value. Although the assets and liabilities that make up a firm’s brand equity vary from context to context, they usually are grouped into the five categories:</a:t>
            </a:r>
          </a:p>
          <a:p>
            <a:pPr marL="755015" marR="77470" lvl="1" indent="-285750" algn="just">
              <a:lnSpc>
                <a:spcPct val="100000"/>
              </a:lnSpc>
              <a:spcBef>
                <a:spcPts val="595"/>
              </a:spcBef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loyalty</a:t>
            </a:r>
          </a:p>
          <a:p>
            <a:pPr marL="755015" marR="77470" lvl="1" indent="-285750" algn="just">
              <a:lnSpc>
                <a:spcPct val="100000"/>
              </a:lnSpc>
              <a:spcBef>
                <a:spcPts val="595"/>
              </a:spcBef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recognition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55015" marR="77470" lvl="1" indent="-285750" algn="just">
              <a:lnSpc>
                <a:spcPct val="100000"/>
              </a:lnSpc>
              <a:spcBef>
                <a:spcPts val="595"/>
              </a:spcBef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Perceived quality (of a firm’s products and services)</a:t>
            </a:r>
          </a:p>
          <a:p>
            <a:pPr marL="755015" marR="77470" lvl="1" indent="-285750" algn="just">
              <a:lnSpc>
                <a:spcPct val="100000"/>
              </a:lnSpc>
              <a:spcBef>
                <a:spcPts val="595"/>
              </a:spcBef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 associations in addition to quality (e.g., good service)</a:t>
            </a:r>
          </a:p>
          <a:p>
            <a:pPr marL="755015" marR="77470" lvl="1" indent="-285750" algn="just">
              <a:lnSpc>
                <a:spcPct val="100000"/>
              </a:lnSpc>
              <a:spcBef>
                <a:spcPts val="595"/>
              </a:spcBef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proprietary assets, such as patents, trademarks, and high-quality partnerships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2" y="-5384"/>
            <a:ext cx="7378395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BRANDING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80730"/>
            <a:ext cx="8002905" cy="52873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Cobranding</a:t>
            </a: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technique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that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companies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use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strengthen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their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brands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is </a:t>
            </a:r>
            <a:r>
              <a:rPr lang="en-US" sz="2400" dirty="0">
                <a:latin typeface="Times New Roman"/>
                <a:cs typeface="Times New Roman"/>
              </a:rPr>
              <a:t>to enter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into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cobranding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arrangements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with other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firms.</a:t>
            </a: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Cobranding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refers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relationship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between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two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or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more </a:t>
            </a:r>
            <a:r>
              <a:rPr lang="en-US" sz="2400" spc="-58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firms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where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5" dirty="0">
                <a:latin typeface="Times New Roman"/>
                <a:cs typeface="Times New Roman"/>
              </a:rPr>
              <a:t> firm’s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brands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promote </a:t>
            </a:r>
            <a:r>
              <a:rPr lang="en-US" sz="2400" dirty="0">
                <a:latin typeface="Times New Roman"/>
                <a:cs typeface="Times New Roman"/>
              </a:rPr>
              <a:t>each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another.</a:t>
            </a: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8AF471-BE59-6BFB-5981-32D211394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779623"/>
            <a:ext cx="2895600" cy="28521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01FE1-28BB-1209-D6C0-52758633A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69" y="3872207"/>
            <a:ext cx="2183067" cy="26669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A7DDC3-102C-9E4B-40D6-1875DAA7A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02" y="4440528"/>
            <a:ext cx="2701347" cy="13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18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-5384"/>
            <a:ext cx="8839200" cy="844384"/>
          </a:xfrm>
          <a:prstGeom prst="rect">
            <a:avLst/>
          </a:prstGeom>
        </p:spPr>
        <p:txBody>
          <a:bodyPr vert="horz" wrap="square" lIns="0" tIns="287578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The</a:t>
            </a:r>
            <a:r>
              <a:rPr lang="en-US" spc="-15" dirty="0"/>
              <a:t> </a:t>
            </a:r>
            <a:r>
              <a:rPr lang="en-US" dirty="0"/>
              <a:t>Four</a:t>
            </a:r>
            <a:r>
              <a:rPr lang="en-US" spc="-10" dirty="0"/>
              <a:t> </a:t>
            </a:r>
            <a:r>
              <a:rPr lang="en-US" spc="-5" dirty="0"/>
              <a:t>Ps</a:t>
            </a:r>
            <a:r>
              <a:rPr lang="en-US" spc="-10" dirty="0"/>
              <a:t> </a:t>
            </a:r>
            <a:r>
              <a:rPr lang="en-US" dirty="0"/>
              <a:t>of</a:t>
            </a:r>
            <a:r>
              <a:rPr lang="en-US" spc="-10" dirty="0"/>
              <a:t> </a:t>
            </a:r>
            <a:r>
              <a:rPr lang="en-US" dirty="0"/>
              <a:t>Marketing</a:t>
            </a:r>
            <a:r>
              <a:rPr lang="en-US" spc="-10" dirty="0"/>
              <a:t> </a:t>
            </a:r>
            <a:r>
              <a:rPr lang="en-US" dirty="0"/>
              <a:t>for</a:t>
            </a:r>
            <a:r>
              <a:rPr lang="en-US" spc="-10" dirty="0"/>
              <a:t> </a:t>
            </a:r>
            <a:r>
              <a:rPr lang="en-US" spc="-5" dirty="0"/>
              <a:t>New</a:t>
            </a:r>
            <a:r>
              <a:rPr lang="en-US" spc="-15" dirty="0"/>
              <a:t> </a:t>
            </a:r>
            <a:r>
              <a:rPr lang="en-US" dirty="0"/>
              <a:t>Ventures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80730"/>
            <a:ext cx="8002905" cy="685700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Next step: </a:t>
            </a:r>
            <a:r>
              <a:rPr lang="en-US" sz="2600" b="1" dirty="0">
                <a:latin typeface="Times New Roman"/>
                <a:cs typeface="Times New Roman"/>
              </a:rPr>
              <a:t>Marketing Mix  </a:t>
            </a: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firm’s marketing mix is the set of controllable, tactical marketing tools that it uses to produce the response it wants in the target market.</a:t>
            </a:r>
          </a:p>
          <a:p>
            <a:pPr marL="756285" marR="339090" lvl="1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Most marketers organize their marketing mix into four categories commonly referred to as the 4Ps.</a:t>
            </a:r>
          </a:p>
          <a:p>
            <a:pPr marL="756285" marR="339090" lvl="1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The way a firm sells and distributes its product dramatically affects a company’s marketing program. This effect means that the first decision a firm has to make is its overall approach to selling its product or service. </a:t>
            </a:r>
          </a:p>
          <a:p>
            <a:pPr marL="756285" marR="339090" lvl="1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 firm’s marketing program should be consistent with its business model and its overall business </a:t>
            </a:r>
            <a:r>
              <a:rPr lang="en-US" sz="2200">
                <a:latin typeface="Times New Roman"/>
                <a:cs typeface="Times New Roman"/>
              </a:rPr>
              <a:t>plan. </a:t>
            </a:r>
            <a:endParaRPr lang="en-US" sz="2200" dirty="0">
              <a:latin typeface="Times New Roman"/>
              <a:cs typeface="Times New Roman"/>
            </a:endParaRPr>
          </a:p>
          <a:p>
            <a:pPr marL="756285" marR="339090" lvl="1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2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33909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2502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05" y="421894"/>
            <a:ext cx="8164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Four</a:t>
            </a:r>
            <a:r>
              <a:rPr spc="-10" dirty="0"/>
              <a:t> </a:t>
            </a:r>
            <a:r>
              <a:rPr spc="-5" dirty="0"/>
              <a:t>Ps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Marketing</a:t>
            </a:r>
            <a:r>
              <a:rPr spc="-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spc="-5" dirty="0"/>
              <a:t>New</a:t>
            </a:r>
            <a:r>
              <a:rPr spc="-15" dirty="0"/>
              <a:t> </a:t>
            </a:r>
            <a:r>
              <a:rPr dirty="0"/>
              <a:t>Ventures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738437" y="3043237"/>
            <a:ext cx="2981325" cy="1685925"/>
            <a:chOff x="2738437" y="3043237"/>
            <a:chExt cx="2981325" cy="1685925"/>
          </a:xfrm>
        </p:grpSpPr>
        <p:sp>
          <p:nvSpPr>
            <p:cNvPr id="6" name="object 6"/>
            <p:cNvSpPr/>
            <p:nvPr/>
          </p:nvSpPr>
          <p:spPr>
            <a:xfrm>
              <a:off x="2743200" y="3048000"/>
              <a:ext cx="2971800" cy="1676400"/>
            </a:xfrm>
            <a:custGeom>
              <a:avLst/>
              <a:gdLst/>
              <a:ahLst/>
              <a:cxnLst/>
              <a:rect l="l" t="t" r="r" b="b"/>
              <a:pathLst>
                <a:path w="2971800" h="1676400">
                  <a:moveTo>
                    <a:pt x="1485900" y="0"/>
                  </a:moveTo>
                  <a:lnTo>
                    <a:pt x="1424648" y="699"/>
                  </a:lnTo>
                  <a:lnTo>
                    <a:pt x="1364028" y="2778"/>
                  </a:lnTo>
                  <a:lnTo>
                    <a:pt x="1304086" y="6211"/>
                  </a:lnTo>
                  <a:lnTo>
                    <a:pt x="1244871" y="10970"/>
                  </a:lnTo>
                  <a:lnTo>
                    <a:pt x="1186429" y="17029"/>
                  </a:lnTo>
                  <a:lnTo>
                    <a:pt x="1128809" y="24360"/>
                  </a:lnTo>
                  <a:lnTo>
                    <a:pt x="1072060" y="32937"/>
                  </a:lnTo>
                  <a:lnTo>
                    <a:pt x="1016227" y="42732"/>
                  </a:lnTo>
                  <a:lnTo>
                    <a:pt x="961360" y="53719"/>
                  </a:lnTo>
                  <a:lnTo>
                    <a:pt x="907506" y="65871"/>
                  </a:lnTo>
                  <a:lnTo>
                    <a:pt x="854713" y="79160"/>
                  </a:lnTo>
                  <a:lnTo>
                    <a:pt x="803028" y="93560"/>
                  </a:lnTo>
                  <a:lnTo>
                    <a:pt x="752500" y="109043"/>
                  </a:lnTo>
                  <a:lnTo>
                    <a:pt x="703176" y="125584"/>
                  </a:lnTo>
                  <a:lnTo>
                    <a:pt x="655104" y="143154"/>
                  </a:lnTo>
                  <a:lnTo>
                    <a:pt x="608332" y="161726"/>
                  </a:lnTo>
                  <a:lnTo>
                    <a:pt x="562907" y="181275"/>
                  </a:lnTo>
                  <a:lnTo>
                    <a:pt x="518878" y="201773"/>
                  </a:lnTo>
                  <a:lnTo>
                    <a:pt x="476292" y="223192"/>
                  </a:lnTo>
                  <a:lnTo>
                    <a:pt x="435197" y="245506"/>
                  </a:lnTo>
                  <a:lnTo>
                    <a:pt x="395640" y="268689"/>
                  </a:lnTo>
                  <a:lnTo>
                    <a:pt x="357671" y="292712"/>
                  </a:lnTo>
                  <a:lnTo>
                    <a:pt x="321335" y="317549"/>
                  </a:lnTo>
                  <a:lnTo>
                    <a:pt x="286682" y="343174"/>
                  </a:lnTo>
                  <a:lnTo>
                    <a:pt x="253759" y="369558"/>
                  </a:lnTo>
                  <a:lnTo>
                    <a:pt x="222613" y="396676"/>
                  </a:lnTo>
                  <a:lnTo>
                    <a:pt x="193293" y="424500"/>
                  </a:lnTo>
                  <a:lnTo>
                    <a:pt x="165847" y="453003"/>
                  </a:lnTo>
                  <a:lnTo>
                    <a:pt x="140321" y="482158"/>
                  </a:lnTo>
                  <a:lnTo>
                    <a:pt x="95224" y="542317"/>
                  </a:lnTo>
                  <a:lnTo>
                    <a:pt x="58385" y="604762"/>
                  </a:lnTo>
                  <a:lnTo>
                    <a:pt x="30186" y="669276"/>
                  </a:lnTo>
                  <a:lnTo>
                    <a:pt x="11010" y="735644"/>
                  </a:lnTo>
                  <a:lnTo>
                    <a:pt x="1239" y="803650"/>
                  </a:lnTo>
                  <a:lnTo>
                    <a:pt x="0" y="838200"/>
                  </a:lnTo>
                  <a:lnTo>
                    <a:pt x="1239" y="872749"/>
                  </a:lnTo>
                  <a:lnTo>
                    <a:pt x="11010" y="940755"/>
                  </a:lnTo>
                  <a:lnTo>
                    <a:pt x="30186" y="1007123"/>
                  </a:lnTo>
                  <a:lnTo>
                    <a:pt x="58385" y="1071637"/>
                  </a:lnTo>
                  <a:lnTo>
                    <a:pt x="95224" y="1134082"/>
                  </a:lnTo>
                  <a:lnTo>
                    <a:pt x="140321" y="1194241"/>
                  </a:lnTo>
                  <a:lnTo>
                    <a:pt x="165847" y="1223396"/>
                  </a:lnTo>
                  <a:lnTo>
                    <a:pt x="193293" y="1251899"/>
                  </a:lnTo>
                  <a:lnTo>
                    <a:pt x="222613" y="1279723"/>
                  </a:lnTo>
                  <a:lnTo>
                    <a:pt x="253759" y="1306841"/>
                  </a:lnTo>
                  <a:lnTo>
                    <a:pt x="286682" y="1333225"/>
                  </a:lnTo>
                  <a:lnTo>
                    <a:pt x="321335" y="1358850"/>
                  </a:lnTo>
                  <a:lnTo>
                    <a:pt x="357671" y="1383687"/>
                  </a:lnTo>
                  <a:lnTo>
                    <a:pt x="395640" y="1407710"/>
                  </a:lnTo>
                  <a:lnTo>
                    <a:pt x="435197" y="1430893"/>
                  </a:lnTo>
                  <a:lnTo>
                    <a:pt x="476292" y="1453207"/>
                  </a:lnTo>
                  <a:lnTo>
                    <a:pt x="518878" y="1474626"/>
                  </a:lnTo>
                  <a:lnTo>
                    <a:pt x="562907" y="1495124"/>
                  </a:lnTo>
                  <a:lnTo>
                    <a:pt x="608332" y="1514673"/>
                  </a:lnTo>
                  <a:lnTo>
                    <a:pt x="655104" y="1533245"/>
                  </a:lnTo>
                  <a:lnTo>
                    <a:pt x="703176" y="1550815"/>
                  </a:lnTo>
                  <a:lnTo>
                    <a:pt x="752500" y="1567356"/>
                  </a:lnTo>
                  <a:lnTo>
                    <a:pt x="803028" y="1582839"/>
                  </a:lnTo>
                  <a:lnTo>
                    <a:pt x="854713" y="1597239"/>
                  </a:lnTo>
                  <a:lnTo>
                    <a:pt x="907506" y="1610528"/>
                  </a:lnTo>
                  <a:lnTo>
                    <a:pt x="961360" y="1622680"/>
                  </a:lnTo>
                  <a:lnTo>
                    <a:pt x="1016227" y="1633667"/>
                  </a:lnTo>
                  <a:lnTo>
                    <a:pt x="1072060" y="1643462"/>
                  </a:lnTo>
                  <a:lnTo>
                    <a:pt x="1128809" y="1652039"/>
                  </a:lnTo>
                  <a:lnTo>
                    <a:pt x="1186429" y="1659370"/>
                  </a:lnTo>
                  <a:lnTo>
                    <a:pt x="1244871" y="1665429"/>
                  </a:lnTo>
                  <a:lnTo>
                    <a:pt x="1304086" y="1670188"/>
                  </a:lnTo>
                  <a:lnTo>
                    <a:pt x="1364028" y="1673621"/>
                  </a:lnTo>
                  <a:lnTo>
                    <a:pt x="1424648" y="1675700"/>
                  </a:lnTo>
                  <a:lnTo>
                    <a:pt x="1485900" y="1676400"/>
                  </a:lnTo>
                  <a:lnTo>
                    <a:pt x="1547151" y="1675700"/>
                  </a:lnTo>
                  <a:lnTo>
                    <a:pt x="1607771" y="1673621"/>
                  </a:lnTo>
                  <a:lnTo>
                    <a:pt x="1667713" y="1670188"/>
                  </a:lnTo>
                  <a:lnTo>
                    <a:pt x="1726928" y="1665429"/>
                  </a:lnTo>
                  <a:lnTo>
                    <a:pt x="1785370" y="1659370"/>
                  </a:lnTo>
                  <a:lnTo>
                    <a:pt x="1842990" y="1652039"/>
                  </a:lnTo>
                  <a:lnTo>
                    <a:pt x="1899739" y="1643462"/>
                  </a:lnTo>
                  <a:lnTo>
                    <a:pt x="1955572" y="1633667"/>
                  </a:lnTo>
                  <a:lnTo>
                    <a:pt x="2010439" y="1622680"/>
                  </a:lnTo>
                  <a:lnTo>
                    <a:pt x="2064293" y="1610528"/>
                  </a:lnTo>
                  <a:lnTo>
                    <a:pt x="2117086" y="1597239"/>
                  </a:lnTo>
                  <a:lnTo>
                    <a:pt x="2168771" y="1582839"/>
                  </a:lnTo>
                  <a:lnTo>
                    <a:pt x="2219299" y="1567356"/>
                  </a:lnTo>
                  <a:lnTo>
                    <a:pt x="2268623" y="1550815"/>
                  </a:lnTo>
                  <a:lnTo>
                    <a:pt x="2316695" y="1533245"/>
                  </a:lnTo>
                  <a:lnTo>
                    <a:pt x="2363467" y="1514673"/>
                  </a:lnTo>
                  <a:lnTo>
                    <a:pt x="2408892" y="1495124"/>
                  </a:lnTo>
                  <a:lnTo>
                    <a:pt x="2452921" y="1474626"/>
                  </a:lnTo>
                  <a:lnTo>
                    <a:pt x="2495507" y="1453207"/>
                  </a:lnTo>
                  <a:lnTo>
                    <a:pt x="2536602" y="1430893"/>
                  </a:lnTo>
                  <a:lnTo>
                    <a:pt x="2576159" y="1407710"/>
                  </a:lnTo>
                  <a:lnTo>
                    <a:pt x="2614128" y="1383687"/>
                  </a:lnTo>
                  <a:lnTo>
                    <a:pt x="2650464" y="1358850"/>
                  </a:lnTo>
                  <a:lnTo>
                    <a:pt x="2685117" y="1333225"/>
                  </a:lnTo>
                  <a:lnTo>
                    <a:pt x="2718040" y="1306841"/>
                  </a:lnTo>
                  <a:lnTo>
                    <a:pt x="2749186" y="1279723"/>
                  </a:lnTo>
                  <a:lnTo>
                    <a:pt x="2778506" y="1251899"/>
                  </a:lnTo>
                  <a:lnTo>
                    <a:pt x="2805952" y="1223396"/>
                  </a:lnTo>
                  <a:lnTo>
                    <a:pt x="2831478" y="1194241"/>
                  </a:lnTo>
                  <a:lnTo>
                    <a:pt x="2876575" y="1134082"/>
                  </a:lnTo>
                  <a:lnTo>
                    <a:pt x="2913414" y="1071637"/>
                  </a:lnTo>
                  <a:lnTo>
                    <a:pt x="2941613" y="1007123"/>
                  </a:lnTo>
                  <a:lnTo>
                    <a:pt x="2960789" y="940755"/>
                  </a:lnTo>
                  <a:lnTo>
                    <a:pt x="2970560" y="872749"/>
                  </a:lnTo>
                  <a:lnTo>
                    <a:pt x="2971800" y="838200"/>
                  </a:lnTo>
                  <a:lnTo>
                    <a:pt x="2970560" y="803650"/>
                  </a:lnTo>
                  <a:lnTo>
                    <a:pt x="2960789" y="735644"/>
                  </a:lnTo>
                  <a:lnTo>
                    <a:pt x="2941613" y="669276"/>
                  </a:lnTo>
                  <a:lnTo>
                    <a:pt x="2913414" y="604762"/>
                  </a:lnTo>
                  <a:lnTo>
                    <a:pt x="2876575" y="542317"/>
                  </a:lnTo>
                  <a:lnTo>
                    <a:pt x="2831478" y="482158"/>
                  </a:lnTo>
                  <a:lnTo>
                    <a:pt x="2805952" y="453003"/>
                  </a:lnTo>
                  <a:lnTo>
                    <a:pt x="2778506" y="424500"/>
                  </a:lnTo>
                  <a:lnTo>
                    <a:pt x="2749186" y="396676"/>
                  </a:lnTo>
                  <a:lnTo>
                    <a:pt x="2718040" y="369558"/>
                  </a:lnTo>
                  <a:lnTo>
                    <a:pt x="2685117" y="343174"/>
                  </a:lnTo>
                  <a:lnTo>
                    <a:pt x="2650464" y="317549"/>
                  </a:lnTo>
                  <a:lnTo>
                    <a:pt x="2614128" y="292712"/>
                  </a:lnTo>
                  <a:lnTo>
                    <a:pt x="2576159" y="268689"/>
                  </a:lnTo>
                  <a:lnTo>
                    <a:pt x="2536602" y="245506"/>
                  </a:lnTo>
                  <a:lnTo>
                    <a:pt x="2495507" y="223192"/>
                  </a:lnTo>
                  <a:lnTo>
                    <a:pt x="2452921" y="201773"/>
                  </a:lnTo>
                  <a:lnTo>
                    <a:pt x="2408892" y="181275"/>
                  </a:lnTo>
                  <a:lnTo>
                    <a:pt x="2363467" y="161726"/>
                  </a:lnTo>
                  <a:lnTo>
                    <a:pt x="2316695" y="143154"/>
                  </a:lnTo>
                  <a:lnTo>
                    <a:pt x="2268623" y="125584"/>
                  </a:lnTo>
                  <a:lnTo>
                    <a:pt x="2219299" y="109043"/>
                  </a:lnTo>
                  <a:lnTo>
                    <a:pt x="2168771" y="93560"/>
                  </a:lnTo>
                  <a:lnTo>
                    <a:pt x="2117086" y="79160"/>
                  </a:lnTo>
                  <a:lnTo>
                    <a:pt x="2064293" y="65871"/>
                  </a:lnTo>
                  <a:lnTo>
                    <a:pt x="2010439" y="53719"/>
                  </a:lnTo>
                  <a:lnTo>
                    <a:pt x="1955572" y="42732"/>
                  </a:lnTo>
                  <a:lnTo>
                    <a:pt x="1899739" y="32937"/>
                  </a:lnTo>
                  <a:lnTo>
                    <a:pt x="1842990" y="24360"/>
                  </a:lnTo>
                  <a:lnTo>
                    <a:pt x="1785370" y="17029"/>
                  </a:lnTo>
                  <a:lnTo>
                    <a:pt x="1726928" y="10970"/>
                  </a:lnTo>
                  <a:lnTo>
                    <a:pt x="1667713" y="6211"/>
                  </a:lnTo>
                  <a:lnTo>
                    <a:pt x="1607771" y="2778"/>
                  </a:lnTo>
                  <a:lnTo>
                    <a:pt x="1547151" y="699"/>
                  </a:lnTo>
                  <a:lnTo>
                    <a:pt x="14859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0" y="3048000"/>
              <a:ext cx="2971800" cy="1676400"/>
            </a:xfrm>
            <a:custGeom>
              <a:avLst/>
              <a:gdLst/>
              <a:ahLst/>
              <a:cxnLst/>
              <a:rect l="l" t="t" r="r" b="b"/>
              <a:pathLst>
                <a:path w="2971800" h="1676400">
                  <a:moveTo>
                    <a:pt x="0" y="838200"/>
                  </a:moveTo>
                  <a:lnTo>
                    <a:pt x="4925" y="769455"/>
                  </a:lnTo>
                  <a:lnTo>
                    <a:pt x="19447" y="702242"/>
                  </a:lnTo>
                  <a:lnTo>
                    <a:pt x="43182" y="636774"/>
                  </a:lnTo>
                  <a:lnTo>
                    <a:pt x="75748" y="573267"/>
                  </a:lnTo>
                  <a:lnTo>
                    <a:pt x="116764" y="511938"/>
                  </a:lnTo>
                  <a:lnTo>
                    <a:pt x="165847" y="453003"/>
                  </a:lnTo>
                  <a:lnTo>
                    <a:pt x="193293" y="424500"/>
                  </a:lnTo>
                  <a:lnTo>
                    <a:pt x="222613" y="396676"/>
                  </a:lnTo>
                  <a:lnTo>
                    <a:pt x="253759" y="369558"/>
                  </a:lnTo>
                  <a:lnTo>
                    <a:pt x="286682" y="343174"/>
                  </a:lnTo>
                  <a:lnTo>
                    <a:pt x="321335" y="317549"/>
                  </a:lnTo>
                  <a:lnTo>
                    <a:pt x="357671" y="292712"/>
                  </a:lnTo>
                  <a:lnTo>
                    <a:pt x="395640" y="268689"/>
                  </a:lnTo>
                  <a:lnTo>
                    <a:pt x="435197" y="245506"/>
                  </a:lnTo>
                  <a:lnTo>
                    <a:pt x="476292" y="223192"/>
                  </a:lnTo>
                  <a:lnTo>
                    <a:pt x="518878" y="201773"/>
                  </a:lnTo>
                  <a:lnTo>
                    <a:pt x="562907" y="181275"/>
                  </a:lnTo>
                  <a:lnTo>
                    <a:pt x="608332" y="161726"/>
                  </a:lnTo>
                  <a:lnTo>
                    <a:pt x="655104" y="143154"/>
                  </a:lnTo>
                  <a:lnTo>
                    <a:pt x="703176" y="125584"/>
                  </a:lnTo>
                  <a:lnTo>
                    <a:pt x="752500" y="109043"/>
                  </a:lnTo>
                  <a:lnTo>
                    <a:pt x="803028" y="93560"/>
                  </a:lnTo>
                  <a:lnTo>
                    <a:pt x="854713" y="79160"/>
                  </a:lnTo>
                  <a:lnTo>
                    <a:pt x="907506" y="65871"/>
                  </a:lnTo>
                  <a:lnTo>
                    <a:pt x="961360" y="53719"/>
                  </a:lnTo>
                  <a:lnTo>
                    <a:pt x="1016227" y="42732"/>
                  </a:lnTo>
                  <a:lnTo>
                    <a:pt x="1072060" y="32937"/>
                  </a:lnTo>
                  <a:lnTo>
                    <a:pt x="1128809" y="24360"/>
                  </a:lnTo>
                  <a:lnTo>
                    <a:pt x="1186429" y="17029"/>
                  </a:lnTo>
                  <a:lnTo>
                    <a:pt x="1244871" y="10970"/>
                  </a:lnTo>
                  <a:lnTo>
                    <a:pt x="1304086" y="6211"/>
                  </a:lnTo>
                  <a:lnTo>
                    <a:pt x="1364028" y="2778"/>
                  </a:lnTo>
                  <a:lnTo>
                    <a:pt x="1424648" y="699"/>
                  </a:lnTo>
                  <a:lnTo>
                    <a:pt x="1485900" y="0"/>
                  </a:lnTo>
                  <a:lnTo>
                    <a:pt x="1547151" y="699"/>
                  </a:lnTo>
                  <a:lnTo>
                    <a:pt x="1607771" y="2778"/>
                  </a:lnTo>
                  <a:lnTo>
                    <a:pt x="1667713" y="6211"/>
                  </a:lnTo>
                  <a:lnTo>
                    <a:pt x="1726928" y="10970"/>
                  </a:lnTo>
                  <a:lnTo>
                    <a:pt x="1785370" y="17029"/>
                  </a:lnTo>
                  <a:lnTo>
                    <a:pt x="1842990" y="24360"/>
                  </a:lnTo>
                  <a:lnTo>
                    <a:pt x="1899739" y="32937"/>
                  </a:lnTo>
                  <a:lnTo>
                    <a:pt x="1955572" y="42732"/>
                  </a:lnTo>
                  <a:lnTo>
                    <a:pt x="2010439" y="53719"/>
                  </a:lnTo>
                  <a:lnTo>
                    <a:pt x="2064293" y="65871"/>
                  </a:lnTo>
                  <a:lnTo>
                    <a:pt x="2117086" y="79160"/>
                  </a:lnTo>
                  <a:lnTo>
                    <a:pt x="2168771" y="93560"/>
                  </a:lnTo>
                  <a:lnTo>
                    <a:pt x="2219299" y="109043"/>
                  </a:lnTo>
                  <a:lnTo>
                    <a:pt x="2268623" y="125584"/>
                  </a:lnTo>
                  <a:lnTo>
                    <a:pt x="2316695" y="143154"/>
                  </a:lnTo>
                  <a:lnTo>
                    <a:pt x="2363467" y="161726"/>
                  </a:lnTo>
                  <a:lnTo>
                    <a:pt x="2408892" y="181275"/>
                  </a:lnTo>
                  <a:lnTo>
                    <a:pt x="2452921" y="201773"/>
                  </a:lnTo>
                  <a:lnTo>
                    <a:pt x="2495507" y="223192"/>
                  </a:lnTo>
                  <a:lnTo>
                    <a:pt x="2536602" y="245506"/>
                  </a:lnTo>
                  <a:lnTo>
                    <a:pt x="2576159" y="268689"/>
                  </a:lnTo>
                  <a:lnTo>
                    <a:pt x="2614128" y="292712"/>
                  </a:lnTo>
                  <a:lnTo>
                    <a:pt x="2650464" y="317549"/>
                  </a:lnTo>
                  <a:lnTo>
                    <a:pt x="2685117" y="343174"/>
                  </a:lnTo>
                  <a:lnTo>
                    <a:pt x="2718040" y="369558"/>
                  </a:lnTo>
                  <a:lnTo>
                    <a:pt x="2749186" y="396676"/>
                  </a:lnTo>
                  <a:lnTo>
                    <a:pt x="2778506" y="424500"/>
                  </a:lnTo>
                  <a:lnTo>
                    <a:pt x="2805952" y="453003"/>
                  </a:lnTo>
                  <a:lnTo>
                    <a:pt x="2831478" y="482158"/>
                  </a:lnTo>
                  <a:lnTo>
                    <a:pt x="2876575" y="542317"/>
                  </a:lnTo>
                  <a:lnTo>
                    <a:pt x="2913414" y="604762"/>
                  </a:lnTo>
                  <a:lnTo>
                    <a:pt x="2941613" y="669276"/>
                  </a:lnTo>
                  <a:lnTo>
                    <a:pt x="2960789" y="735644"/>
                  </a:lnTo>
                  <a:lnTo>
                    <a:pt x="2970560" y="803650"/>
                  </a:lnTo>
                  <a:lnTo>
                    <a:pt x="2971800" y="838200"/>
                  </a:lnTo>
                  <a:lnTo>
                    <a:pt x="2970560" y="872749"/>
                  </a:lnTo>
                  <a:lnTo>
                    <a:pt x="2960789" y="940755"/>
                  </a:lnTo>
                  <a:lnTo>
                    <a:pt x="2941613" y="1007123"/>
                  </a:lnTo>
                  <a:lnTo>
                    <a:pt x="2913414" y="1071637"/>
                  </a:lnTo>
                  <a:lnTo>
                    <a:pt x="2876575" y="1134082"/>
                  </a:lnTo>
                  <a:lnTo>
                    <a:pt x="2831478" y="1194241"/>
                  </a:lnTo>
                  <a:lnTo>
                    <a:pt x="2805952" y="1223396"/>
                  </a:lnTo>
                  <a:lnTo>
                    <a:pt x="2778506" y="1251899"/>
                  </a:lnTo>
                  <a:lnTo>
                    <a:pt x="2749186" y="1279723"/>
                  </a:lnTo>
                  <a:lnTo>
                    <a:pt x="2718040" y="1306841"/>
                  </a:lnTo>
                  <a:lnTo>
                    <a:pt x="2685117" y="1333225"/>
                  </a:lnTo>
                  <a:lnTo>
                    <a:pt x="2650464" y="1358850"/>
                  </a:lnTo>
                  <a:lnTo>
                    <a:pt x="2614128" y="1383687"/>
                  </a:lnTo>
                  <a:lnTo>
                    <a:pt x="2576159" y="1407710"/>
                  </a:lnTo>
                  <a:lnTo>
                    <a:pt x="2536602" y="1430893"/>
                  </a:lnTo>
                  <a:lnTo>
                    <a:pt x="2495507" y="1453207"/>
                  </a:lnTo>
                  <a:lnTo>
                    <a:pt x="2452921" y="1474626"/>
                  </a:lnTo>
                  <a:lnTo>
                    <a:pt x="2408892" y="1495124"/>
                  </a:lnTo>
                  <a:lnTo>
                    <a:pt x="2363467" y="1514673"/>
                  </a:lnTo>
                  <a:lnTo>
                    <a:pt x="2316695" y="1533245"/>
                  </a:lnTo>
                  <a:lnTo>
                    <a:pt x="2268623" y="1550815"/>
                  </a:lnTo>
                  <a:lnTo>
                    <a:pt x="2219299" y="1567356"/>
                  </a:lnTo>
                  <a:lnTo>
                    <a:pt x="2168771" y="1582839"/>
                  </a:lnTo>
                  <a:lnTo>
                    <a:pt x="2117086" y="1597239"/>
                  </a:lnTo>
                  <a:lnTo>
                    <a:pt x="2064293" y="1610528"/>
                  </a:lnTo>
                  <a:lnTo>
                    <a:pt x="2010439" y="1622680"/>
                  </a:lnTo>
                  <a:lnTo>
                    <a:pt x="1955572" y="1633667"/>
                  </a:lnTo>
                  <a:lnTo>
                    <a:pt x="1899739" y="1643462"/>
                  </a:lnTo>
                  <a:lnTo>
                    <a:pt x="1842990" y="1652039"/>
                  </a:lnTo>
                  <a:lnTo>
                    <a:pt x="1785370" y="1659370"/>
                  </a:lnTo>
                  <a:lnTo>
                    <a:pt x="1726928" y="1665429"/>
                  </a:lnTo>
                  <a:lnTo>
                    <a:pt x="1667713" y="1670188"/>
                  </a:lnTo>
                  <a:lnTo>
                    <a:pt x="1607771" y="1673621"/>
                  </a:lnTo>
                  <a:lnTo>
                    <a:pt x="1547151" y="1675700"/>
                  </a:lnTo>
                  <a:lnTo>
                    <a:pt x="1485900" y="1676400"/>
                  </a:lnTo>
                  <a:lnTo>
                    <a:pt x="1424648" y="1675700"/>
                  </a:lnTo>
                  <a:lnTo>
                    <a:pt x="1364028" y="1673621"/>
                  </a:lnTo>
                  <a:lnTo>
                    <a:pt x="1304086" y="1670188"/>
                  </a:lnTo>
                  <a:lnTo>
                    <a:pt x="1244871" y="1665429"/>
                  </a:lnTo>
                  <a:lnTo>
                    <a:pt x="1186429" y="1659370"/>
                  </a:lnTo>
                  <a:lnTo>
                    <a:pt x="1128809" y="1652039"/>
                  </a:lnTo>
                  <a:lnTo>
                    <a:pt x="1072060" y="1643462"/>
                  </a:lnTo>
                  <a:lnTo>
                    <a:pt x="1016227" y="1633667"/>
                  </a:lnTo>
                  <a:lnTo>
                    <a:pt x="961360" y="1622680"/>
                  </a:lnTo>
                  <a:lnTo>
                    <a:pt x="907506" y="1610528"/>
                  </a:lnTo>
                  <a:lnTo>
                    <a:pt x="854713" y="1597239"/>
                  </a:lnTo>
                  <a:lnTo>
                    <a:pt x="803028" y="1582839"/>
                  </a:lnTo>
                  <a:lnTo>
                    <a:pt x="752500" y="1567356"/>
                  </a:lnTo>
                  <a:lnTo>
                    <a:pt x="703176" y="1550815"/>
                  </a:lnTo>
                  <a:lnTo>
                    <a:pt x="655104" y="1533245"/>
                  </a:lnTo>
                  <a:lnTo>
                    <a:pt x="608332" y="1514673"/>
                  </a:lnTo>
                  <a:lnTo>
                    <a:pt x="562907" y="1495124"/>
                  </a:lnTo>
                  <a:lnTo>
                    <a:pt x="518878" y="1474626"/>
                  </a:lnTo>
                  <a:lnTo>
                    <a:pt x="476292" y="1453207"/>
                  </a:lnTo>
                  <a:lnTo>
                    <a:pt x="435197" y="1430893"/>
                  </a:lnTo>
                  <a:lnTo>
                    <a:pt x="395640" y="1407710"/>
                  </a:lnTo>
                  <a:lnTo>
                    <a:pt x="357671" y="1383687"/>
                  </a:lnTo>
                  <a:lnTo>
                    <a:pt x="321335" y="1358850"/>
                  </a:lnTo>
                  <a:lnTo>
                    <a:pt x="286682" y="1333225"/>
                  </a:lnTo>
                  <a:lnTo>
                    <a:pt x="253759" y="1306841"/>
                  </a:lnTo>
                  <a:lnTo>
                    <a:pt x="222613" y="1279723"/>
                  </a:lnTo>
                  <a:lnTo>
                    <a:pt x="193293" y="1251899"/>
                  </a:lnTo>
                  <a:lnTo>
                    <a:pt x="165847" y="1223396"/>
                  </a:lnTo>
                  <a:lnTo>
                    <a:pt x="140321" y="1194241"/>
                  </a:lnTo>
                  <a:lnTo>
                    <a:pt x="95224" y="1134082"/>
                  </a:lnTo>
                  <a:lnTo>
                    <a:pt x="58385" y="1071637"/>
                  </a:lnTo>
                  <a:lnTo>
                    <a:pt x="30186" y="1007123"/>
                  </a:lnTo>
                  <a:lnTo>
                    <a:pt x="11010" y="940755"/>
                  </a:lnTo>
                  <a:lnTo>
                    <a:pt x="1239" y="872749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45509" y="3712845"/>
            <a:ext cx="1566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Marketing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000" y="1905000"/>
            <a:ext cx="2209800" cy="6858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708025">
              <a:lnSpc>
                <a:spcPct val="100000"/>
              </a:lnSpc>
              <a:spcBef>
                <a:spcPts val="895"/>
              </a:spcBef>
            </a:pPr>
            <a:r>
              <a:rPr sz="2000" dirty="0">
                <a:latin typeface="Times New Roman"/>
                <a:cs typeface="Times New Roman"/>
              </a:rPr>
              <a:t>Product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86400" y="1905000"/>
            <a:ext cx="2209800" cy="6858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95"/>
              </a:spcBef>
            </a:pPr>
            <a:r>
              <a:rPr sz="2000" dirty="0">
                <a:latin typeface="Times New Roman"/>
                <a:cs typeface="Times New Roman"/>
              </a:rPr>
              <a:t>Price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000" y="5105400"/>
            <a:ext cx="2209800" cy="6858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567690">
              <a:lnSpc>
                <a:spcPct val="100000"/>
              </a:lnSpc>
              <a:spcBef>
                <a:spcPts val="900"/>
              </a:spcBef>
            </a:pPr>
            <a:r>
              <a:rPr sz="2000" spc="-5" dirty="0">
                <a:latin typeface="Times New Roman"/>
                <a:cs typeface="Times New Roman"/>
              </a:rPr>
              <a:t>Promotion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86400" y="5105400"/>
            <a:ext cx="2209800" cy="6858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76884" marR="469265" indent="172085">
              <a:lnSpc>
                <a:spcPct val="100000"/>
              </a:lnSpc>
              <a:spcBef>
                <a:spcPts val="300"/>
              </a:spcBef>
            </a:pPr>
            <a:r>
              <a:rPr sz="2000" spc="-5" dirty="0">
                <a:latin typeface="Times New Roman"/>
                <a:cs typeface="Times New Roman"/>
              </a:rPr>
              <a:t>Place </a:t>
            </a:r>
            <a:r>
              <a:rPr sz="2000" dirty="0">
                <a:latin typeface="Times New Roman"/>
                <a:cs typeface="Times New Roman"/>
              </a:rPr>
              <a:t>(or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49298" y="2585211"/>
            <a:ext cx="5035550" cy="2526030"/>
          </a:xfrm>
          <a:custGeom>
            <a:avLst/>
            <a:gdLst/>
            <a:ahLst/>
            <a:cxnLst/>
            <a:rect l="l" t="t" r="r" b="b"/>
            <a:pathLst>
              <a:path w="5035550" h="2526029">
                <a:moveTo>
                  <a:pt x="1146302" y="1834388"/>
                </a:moveTo>
                <a:lnTo>
                  <a:pt x="1061339" y="1840865"/>
                </a:lnTo>
                <a:lnTo>
                  <a:pt x="1077696" y="1868144"/>
                </a:lnTo>
                <a:lnTo>
                  <a:pt x="0" y="2514727"/>
                </a:lnTo>
                <a:lnTo>
                  <a:pt x="6604" y="2525649"/>
                </a:lnTo>
                <a:lnTo>
                  <a:pt x="1084224" y="1879028"/>
                </a:lnTo>
                <a:lnTo>
                  <a:pt x="1100582" y="1906270"/>
                </a:lnTo>
                <a:lnTo>
                  <a:pt x="1129004" y="1861566"/>
                </a:lnTo>
                <a:lnTo>
                  <a:pt x="1146302" y="1834388"/>
                </a:lnTo>
                <a:close/>
              </a:path>
              <a:path w="5035550" h="2526029">
                <a:moveTo>
                  <a:pt x="1298702" y="691388"/>
                </a:moveTo>
                <a:lnTo>
                  <a:pt x="1281341" y="665734"/>
                </a:lnTo>
                <a:lnTo>
                  <a:pt x="1250950" y="620776"/>
                </a:lnTo>
                <a:lnTo>
                  <a:pt x="1235392" y="648449"/>
                </a:lnTo>
                <a:lnTo>
                  <a:pt x="82677" y="0"/>
                </a:lnTo>
                <a:lnTo>
                  <a:pt x="76327" y="11176"/>
                </a:lnTo>
                <a:lnTo>
                  <a:pt x="1229182" y="659498"/>
                </a:lnTo>
                <a:lnTo>
                  <a:pt x="1213612" y="687197"/>
                </a:lnTo>
                <a:lnTo>
                  <a:pt x="1298702" y="691388"/>
                </a:lnTo>
                <a:close/>
              </a:path>
              <a:path w="5035550" h="2526029">
                <a:moveTo>
                  <a:pt x="4807204" y="11049"/>
                </a:moveTo>
                <a:lnTo>
                  <a:pt x="4800600" y="127"/>
                </a:lnTo>
                <a:lnTo>
                  <a:pt x="3722967" y="646760"/>
                </a:lnTo>
                <a:lnTo>
                  <a:pt x="3706622" y="619506"/>
                </a:lnTo>
                <a:lnTo>
                  <a:pt x="3660902" y="691388"/>
                </a:lnTo>
                <a:lnTo>
                  <a:pt x="3745865" y="684911"/>
                </a:lnTo>
                <a:lnTo>
                  <a:pt x="3733444" y="664210"/>
                </a:lnTo>
                <a:lnTo>
                  <a:pt x="3729494" y="657644"/>
                </a:lnTo>
                <a:lnTo>
                  <a:pt x="4807204" y="11049"/>
                </a:lnTo>
                <a:close/>
              </a:path>
              <a:path w="5035550" h="2526029">
                <a:moveTo>
                  <a:pt x="5035423" y="2514600"/>
                </a:moveTo>
                <a:lnTo>
                  <a:pt x="3807434" y="1864499"/>
                </a:lnTo>
                <a:lnTo>
                  <a:pt x="3810597" y="1858518"/>
                </a:lnTo>
                <a:lnTo>
                  <a:pt x="3822319" y="1836420"/>
                </a:lnTo>
                <a:lnTo>
                  <a:pt x="3737102" y="1834388"/>
                </a:lnTo>
                <a:lnTo>
                  <a:pt x="3786632" y="1903730"/>
                </a:lnTo>
                <a:lnTo>
                  <a:pt x="3801491" y="1875688"/>
                </a:lnTo>
                <a:lnTo>
                  <a:pt x="5029581" y="2525776"/>
                </a:lnTo>
                <a:lnTo>
                  <a:pt x="5035423" y="2514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8861" y="421894"/>
            <a:ext cx="144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Product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7215" y="1364531"/>
            <a:ext cx="7989570" cy="53489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 </a:t>
            </a:r>
            <a:r>
              <a:rPr lang="en-US" sz="2200" b="1" dirty="0">
                <a:latin typeface="Times New Roman"/>
                <a:cs typeface="Times New Roman"/>
              </a:rPr>
              <a:t>p</a:t>
            </a:r>
            <a:r>
              <a:rPr sz="2200" b="1" dirty="0">
                <a:latin typeface="Times New Roman"/>
                <a:cs typeface="Times New Roman"/>
              </a:rPr>
              <a:t>roduct</a:t>
            </a:r>
            <a:r>
              <a:rPr lang="en-US" sz="2200" b="1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i</a:t>
            </a:r>
            <a:r>
              <a:rPr sz="2200" spc="-5" dirty="0">
                <a:latin typeface="Times New Roman"/>
                <a:cs typeface="Times New Roman"/>
              </a:rPr>
              <a:t>s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firm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offers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target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market.</a:t>
            </a:r>
            <a:endParaRPr lang="en-US" sz="2200" spc="-5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 </a:t>
            </a:r>
            <a:r>
              <a:rPr lang="en-US" sz="2200" b="1" dirty="0">
                <a:latin typeface="Times New Roman"/>
                <a:cs typeface="Times New Roman"/>
              </a:rPr>
              <a:t>service</a:t>
            </a:r>
            <a:r>
              <a:rPr lang="en-US" sz="2200" dirty="0">
                <a:latin typeface="Times New Roman"/>
                <a:cs typeface="Times New Roman"/>
              </a:rPr>
              <a:t> is an activity or benefit that is intangible and does not take on a physical form.</a:t>
            </a:r>
            <a:endParaRPr sz="2200" dirty="0">
              <a:latin typeface="Times New Roman"/>
              <a:cs typeface="Times New Roman"/>
            </a:endParaRPr>
          </a:p>
          <a:p>
            <a:pPr marL="756285" marR="426084" lvl="1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The most important attribute of a product is that it adds value in the minds of its target customers. </a:t>
            </a:r>
          </a:p>
          <a:p>
            <a:pPr marL="756285" marR="426084" lvl="1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firms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face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challenge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 </a:t>
            </a:r>
            <a:r>
              <a:rPr sz="2200" spc="-5" dirty="0">
                <a:latin typeface="Times New Roman"/>
                <a:cs typeface="Times New Roman"/>
              </a:rPr>
              <a:t>unknown</a:t>
            </a:r>
            <a:r>
              <a:rPr sz="2200" dirty="0">
                <a:latin typeface="Times New Roman"/>
                <a:cs typeface="Times New Roman"/>
              </a:rPr>
              <a:t> and that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 takes a leap of </a:t>
            </a:r>
            <a:r>
              <a:rPr sz="2200" spc="-5" dirty="0">
                <a:latin typeface="Times New Roman"/>
                <a:cs typeface="Times New Roman"/>
              </a:rPr>
              <a:t>faith </a:t>
            </a:r>
            <a:r>
              <a:rPr sz="2200" dirty="0">
                <a:latin typeface="Times New Roman"/>
                <a:cs typeface="Times New Roman"/>
              </a:rPr>
              <a:t>for the </a:t>
            </a:r>
            <a:r>
              <a:rPr sz="2200" spc="-5" dirty="0">
                <a:latin typeface="Times New Roman"/>
                <a:cs typeface="Times New Roman"/>
              </a:rPr>
              <a:t>first customers </a:t>
            </a:r>
            <a:r>
              <a:rPr sz="2200" dirty="0">
                <a:latin typeface="Times New Roman"/>
                <a:cs typeface="Times New Roman"/>
              </a:rPr>
              <a:t>to buy their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products.</a:t>
            </a:r>
          </a:p>
          <a:p>
            <a:pPr marL="1155700" lvl="2" indent="-229235" algn="just">
              <a:lnSpc>
                <a:spcPct val="100000"/>
              </a:lnSpc>
              <a:spcBef>
                <a:spcPts val="495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Some </a:t>
            </a:r>
            <a:r>
              <a:rPr sz="2000" dirty="0">
                <a:latin typeface="Times New Roman"/>
                <a:cs typeface="Times New Roman"/>
              </a:rPr>
              <a:t>startups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meet</a:t>
            </a:r>
            <a:r>
              <a:rPr sz="2000" dirty="0">
                <a:latin typeface="Times New Roman"/>
                <a:cs typeface="Times New Roman"/>
              </a:rPr>
              <a:t> 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challenge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reference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accounts</a:t>
            </a:r>
            <a:r>
              <a:rPr lang="en-US" sz="2000" b="1" dirty="0">
                <a:latin typeface="Times New Roman"/>
                <a:cs typeface="Times New Roman"/>
              </a:rPr>
              <a:t>: </a:t>
            </a:r>
            <a:r>
              <a:rPr lang="en-US" sz="2000" dirty="0">
                <a:latin typeface="Times New Roman"/>
                <a:cs typeface="Times New Roman"/>
              </a:rPr>
              <a:t>an early user of a firm’s product who is willing to give a testimonial regarding his or her experience with the product. </a:t>
            </a:r>
          </a:p>
          <a:p>
            <a:pPr marL="1155700" lvl="2" indent="-229235" algn="just">
              <a:lnSpc>
                <a:spcPct val="100000"/>
              </a:lnSpc>
              <a:spcBef>
                <a:spcPts val="495"/>
              </a:spcBef>
              <a:buChar char="•"/>
              <a:tabLst>
                <a:tab pos="1155700" algn="l"/>
                <a:tab pos="115633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To obtain reference accounts, new firms must often offer their product to an initial group of customers for free or at a reduced price in exchange for their willingness to try the product and for their feedback. 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4485" y="421894"/>
            <a:ext cx="5955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spc="-25" dirty="0"/>
              <a:t> </a:t>
            </a:r>
            <a:r>
              <a:rPr dirty="0"/>
              <a:t>Product</a:t>
            </a:r>
            <a:r>
              <a:rPr spc="-20" dirty="0"/>
              <a:t> </a:t>
            </a:r>
            <a:r>
              <a:rPr spc="-5" dirty="0"/>
              <a:t>vs.</a:t>
            </a:r>
            <a:r>
              <a:rPr spc="-20" dirty="0"/>
              <a:t> </a:t>
            </a:r>
            <a:r>
              <a:rPr dirty="0"/>
              <a:t>Actual</a:t>
            </a:r>
            <a:r>
              <a:rPr spc="-25" dirty="0"/>
              <a:t> </a:t>
            </a:r>
            <a:r>
              <a:rPr dirty="0"/>
              <a:t>Product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" y="1600200"/>
            <a:ext cx="3429000" cy="4191000"/>
          </a:xfrm>
          <a:custGeom>
            <a:avLst/>
            <a:gdLst/>
            <a:ahLst/>
            <a:cxnLst/>
            <a:rect l="l" t="t" r="r" b="b"/>
            <a:pathLst>
              <a:path w="3429000" h="4191000">
                <a:moveTo>
                  <a:pt x="3429000" y="0"/>
                </a:moveTo>
                <a:lnTo>
                  <a:pt x="0" y="0"/>
                </a:lnTo>
                <a:lnTo>
                  <a:pt x="0" y="4191000"/>
                </a:lnTo>
                <a:lnTo>
                  <a:pt x="3429000" y="4191000"/>
                </a:lnTo>
                <a:lnTo>
                  <a:pt x="3429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3000" y="1600200"/>
            <a:ext cx="3429000" cy="4191000"/>
          </a:xfrm>
          <a:custGeom>
            <a:avLst/>
            <a:gdLst/>
            <a:ahLst/>
            <a:cxnLst/>
            <a:rect l="l" t="t" r="r" b="b"/>
            <a:pathLst>
              <a:path w="3429000" h="4191000">
                <a:moveTo>
                  <a:pt x="3429000" y="0"/>
                </a:moveTo>
                <a:lnTo>
                  <a:pt x="0" y="0"/>
                </a:lnTo>
                <a:lnTo>
                  <a:pt x="0" y="4191000"/>
                </a:lnTo>
                <a:lnTo>
                  <a:pt x="3429000" y="4191000"/>
                </a:lnTo>
                <a:lnTo>
                  <a:pt x="3429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9600" y="1600200"/>
            <a:ext cx="3429000" cy="68707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875"/>
              </a:spcBef>
            </a:pPr>
            <a:r>
              <a:rPr sz="2400" spc="-5" dirty="0">
                <a:latin typeface="Times New Roman"/>
                <a:cs typeface="Times New Roman"/>
              </a:rPr>
              <a:t>Core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0" y="1600200"/>
            <a:ext cx="3429000" cy="68707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87325" rIns="0" bIns="0" rtlCol="0">
            <a:spAutoFit/>
          </a:bodyPr>
          <a:lstStyle/>
          <a:p>
            <a:pPr marL="79692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Actual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" y="2286825"/>
            <a:ext cx="3429000" cy="3504565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271780" marR="265430" indent="-635" algn="ctr">
              <a:lnSpc>
                <a:spcPct val="100000"/>
              </a:lnSpc>
              <a:spcBef>
                <a:spcPts val="207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itself,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antivirus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3000" y="2286825"/>
            <a:ext cx="3429000" cy="3504565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63525" rIns="0" bIns="0" rtlCol="0">
            <a:spAutoFit/>
          </a:bodyPr>
          <a:lstStyle/>
          <a:p>
            <a:pPr marL="191770" marR="337820" algn="ctr">
              <a:lnSpc>
                <a:spcPct val="100000"/>
              </a:lnSpc>
              <a:spcBef>
                <a:spcPts val="207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attributes that </a:t>
            </a:r>
            <a:r>
              <a:rPr sz="2400" spc="-5" dirty="0">
                <a:latin typeface="Times New Roman"/>
                <a:cs typeface="Times New Roman"/>
              </a:rPr>
              <a:t>come </a:t>
            </a:r>
            <a:r>
              <a:rPr sz="2400" dirty="0">
                <a:latin typeface="Times New Roman"/>
                <a:cs typeface="Times New Roman"/>
              </a:rPr>
              <a:t> with it such as quality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level, features, design,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packaging, and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warranty.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9653" y="421894"/>
            <a:ext cx="96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5633"/>
            <a:ext cx="7961630" cy="2715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amount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money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consumers</a:t>
            </a:r>
            <a:r>
              <a:rPr sz="2400" dirty="0">
                <a:latin typeface="Times New Roman"/>
                <a:cs typeface="Times New Roman"/>
              </a:rPr>
              <a:t> pay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buy 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product.</a:t>
            </a:r>
            <a:endParaRPr lang="en-US" sz="2400" dirty="0">
              <a:latin typeface="Times New Roman"/>
              <a:cs typeface="Times New Roman"/>
            </a:endParaRPr>
          </a:p>
          <a:p>
            <a:pPr marL="756285" algn="just">
              <a:lnSpc>
                <a:spcPts val="2595"/>
              </a:lnSpc>
            </a:pPr>
            <a:endParaRPr lang="en-US" sz="2200" dirty="0">
              <a:latin typeface="Times New Roman"/>
              <a:cs typeface="Times New Roman"/>
            </a:endParaRP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It is the only element in the marketing mix that produces revenue; all other elements represent costs.</a:t>
            </a: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FontTx/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The</a:t>
            </a:r>
            <a:r>
              <a:rPr lang="en-US" sz="2200" spc="-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price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</a:t>
            </a:r>
            <a:r>
              <a:rPr lang="en-US" sz="2200" spc="-5" dirty="0">
                <a:latin typeface="Times New Roman"/>
                <a:cs typeface="Times New Roman"/>
              </a:rPr>
              <a:t> company </a:t>
            </a:r>
            <a:r>
              <a:rPr lang="en-US" sz="2200" dirty="0">
                <a:latin typeface="Times New Roman"/>
                <a:cs typeface="Times New Roman"/>
              </a:rPr>
              <a:t>charges</a:t>
            </a:r>
            <a:r>
              <a:rPr lang="en-US" sz="2200" spc="-1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for</a:t>
            </a:r>
            <a:r>
              <a:rPr lang="en-US" sz="2200" spc="-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its</a:t>
            </a:r>
            <a:r>
              <a:rPr lang="en-US" sz="2200" spc="-1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products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sends </a:t>
            </a:r>
            <a:r>
              <a:rPr lang="en-US" sz="2200" dirty="0">
                <a:latin typeface="Times New Roman"/>
                <a:cs typeface="Times New Roman"/>
              </a:rPr>
              <a:t>an </a:t>
            </a:r>
            <a:r>
              <a:rPr lang="en-US" sz="2200" spc="-5" dirty="0">
                <a:latin typeface="Times New Roman"/>
                <a:cs typeface="Times New Roman"/>
              </a:rPr>
              <a:t>important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message</a:t>
            </a:r>
            <a:r>
              <a:rPr lang="en-US" sz="2200" dirty="0">
                <a:latin typeface="Times New Roman"/>
                <a:cs typeface="Times New Roman"/>
              </a:rPr>
              <a:t> to </a:t>
            </a:r>
            <a:r>
              <a:rPr lang="en-US" sz="2200" spc="-5" dirty="0">
                <a:latin typeface="Times New Roman"/>
                <a:cs typeface="Times New Roman"/>
              </a:rPr>
              <a:t>its</a:t>
            </a:r>
            <a:r>
              <a:rPr lang="en-US" sz="2200" dirty="0">
                <a:latin typeface="Times New Roman"/>
                <a:cs typeface="Times New Roman"/>
              </a:rPr>
              <a:t> target</a:t>
            </a:r>
            <a:r>
              <a:rPr lang="en-US" sz="2200" spc="-3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market.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ts val="2595"/>
              </a:lnSpc>
              <a:spcBef>
                <a:spcPts val="2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Most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entrepreneurs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5" dirty="0">
                <a:latin typeface="Times New Roman"/>
                <a:cs typeface="Times New Roman"/>
              </a:rPr>
              <a:t> methods </a:t>
            </a:r>
            <a:r>
              <a:rPr sz="2200" dirty="0">
                <a:latin typeface="Times New Roman"/>
                <a:cs typeface="Times New Roman"/>
              </a:rPr>
              <a:t>to set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price</a:t>
            </a:r>
          </a:p>
          <a:p>
            <a:pPr marL="756285" algn="just">
              <a:lnSpc>
                <a:spcPts val="2595"/>
              </a:lnSpc>
            </a:pP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products</a:t>
            </a:r>
            <a:r>
              <a:rPr lang="en-US" sz="2200" dirty="0">
                <a:latin typeface="Times New Roman"/>
                <a:cs typeface="Times New Roman"/>
              </a:rPr>
              <a:t>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cost-based pricing or value-based pricing.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3600" y="337468"/>
            <a:ext cx="558825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Cost-Based Pricing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5633"/>
            <a:ext cx="7961630" cy="313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 list price is determined by adding a  markup percentage to a  product’s cost.</a:t>
            </a:r>
          </a:p>
          <a:p>
            <a:pPr marL="35560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The markup percentage may be standard for the industry or may be arbitrarily determined by the entrepreneur.</a:t>
            </a: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Advantage: straightforward, relatively easy to justify the price.</a:t>
            </a: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Disadvantage: not always easy to estimate what the costs of a product will be.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6883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9800" y="337468"/>
            <a:ext cx="51447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Value-Based Pricing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5633"/>
            <a:ext cx="7961630" cy="46365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 list price is determined by estimating what consumers are willing to pay for a product.</a:t>
            </a:r>
          </a:p>
          <a:p>
            <a:pPr marL="756285" algn="just">
              <a:lnSpc>
                <a:spcPts val="2595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What a customer is willing to pay is determined by the perceived value of the product and by the number of choices available in the marketplace.</a:t>
            </a: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 firm influences its customer’s perception of the value through positioning, branding, and the other elements of the marketing mix. </a:t>
            </a: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Most consumers make a </a:t>
            </a:r>
            <a:r>
              <a:rPr lang="en-US" sz="2200" b="1" dirty="0">
                <a:latin typeface="Times New Roman"/>
                <a:cs typeface="Times New Roman"/>
              </a:rPr>
              <a:t>price-quality attribution </a:t>
            </a:r>
            <a:r>
              <a:rPr lang="en-US" sz="2200" dirty="0">
                <a:latin typeface="Times New Roman"/>
                <a:cs typeface="Times New Roman"/>
              </a:rPr>
              <a:t>when looking at the price of a product means that consumers naturally assume that the higher-priced product is also the better-quality product.</a:t>
            </a:r>
          </a:p>
          <a:p>
            <a:pPr marL="756285" marR="591820" lvl="1" indent="-287020" algn="just">
              <a:lnSpc>
                <a:spcPts val="2300"/>
              </a:lnSpc>
              <a:spcBef>
                <a:spcPts val="560"/>
              </a:spcBef>
              <a:buChar char="–"/>
              <a:tabLst>
                <a:tab pos="756285" algn="l"/>
                <a:tab pos="756920" algn="l"/>
              </a:tabLst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5534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4353" y="421894"/>
            <a:ext cx="1956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7983855" cy="3671518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rice a company is able to charge is largely a function of </a:t>
            </a:r>
          </a:p>
          <a:p>
            <a:pPr marL="527050" indent="-514350">
              <a:lnSpc>
                <a:spcPct val="100000"/>
              </a:lnSpc>
              <a:spcBef>
                <a:spcPts val="790"/>
              </a:spcBef>
              <a:buAutoNum type="arabicParenBoth"/>
              <a:tabLst>
                <a:tab pos="354965" algn="l"/>
                <a:tab pos="3556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the objective quality of a product or service</a:t>
            </a:r>
          </a:p>
          <a:p>
            <a:pPr marL="527050" indent="-514350">
              <a:lnSpc>
                <a:spcPct val="100000"/>
              </a:lnSpc>
              <a:spcBef>
                <a:spcPts val="790"/>
              </a:spcBef>
              <a:buAutoNum type="arabicParenBoth"/>
              <a:tabLst>
                <a:tab pos="354965" algn="l"/>
                <a:tab pos="3556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the perception of value that you create in the minds of your customers relative to competing products in the marketplace. 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  <a:tab pos="3556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These are issues a firm should consider when developing its positioning and branding strategies.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4353" y="421894"/>
            <a:ext cx="1956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Promotion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7983855" cy="30534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Promotion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re</a:t>
            </a:r>
            <a:r>
              <a:rPr sz="2400" spc="-5" dirty="0">
                <a:latin typeface="Times New Roman"/>
                <a:cs typeface="Times New Roman"/>
              </a:rPr>
              <a:t>fers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activities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merits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market.</a:t>
            </a:r>
            <a:endParaRPr sz="2400" dirty="0">
              <a:latin typeface="Times New Roman"/>
              <a:cs typeface="Times New Roman"/>
            </a:endParaRPr>
          </a:p>
          <a:p>
            <a:pPr marL="756285" marR="64769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common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activities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entrepreneurs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promote</a:t>
            </a:r>
            <a:r>
              <a:rPr sz="2400" dirty="0">
                <a:latin typeface="Times New Roman"/>
                <a:cs typeface="Times New Roman"/>
              </a:rPr>
              <a:t> their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products 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services.</a:t>
            </a: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Advertising</a:t>
            </a:r>
          </a:p>
          <a:p>
            <a:pPr marL="756285" marR="5080" lvl="1" indent="-287020">
              <a:lnSpc>
                <a:spcPct val="100000"/>
              </a:lnSpc>
              <a:spcBef>
                <a:spcPts val="59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Advertising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making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hopes of persuading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180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1980" y="421894"/>
            <a:ext cx="6400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Pluses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spc="-5" dirty="0"/>
              <a:t>Minuses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Advertising</a:t>
            </a:r>
          </a:p>
        </p:txBody>
      </p:sp>
      <p:sp>
        <p:nvSpPr>
          <p:cNvPr id="6" name="object 6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800" y="18288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" y="3810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3540" y="1318005"/>
            <a:ext cx="8097520" cy="5039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Pluses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271780" indent="-182880">
              <a:lnSpc>
                <a:spcPct val="100000"/>
              </a:lnSpc>
              <a:buFont typeface="Arial MT"/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Raise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 awareness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product.</a:t>
            </a:r>
          </a:p>
          <a:p>
            <a:pPr marL="271780" indent="-182880">
              <a:lnSpc>
                <a:spcPct val="100000"/>
              </a:lnSpc>
              <a:buFont typeface="Arial MT"/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Explain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product’s </a:t>
            </a:r>
            <a:r>
              <a:rPr sz="2400" spc="-5" dirty="0">
                <a:latin typeface="Times New Roman"/>
                <a:cs typeface="Times New Roman"/>
              </a:rPr>
              <a:t>comparative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benefits.</a:t>
            </a:r>
            <a:endParaRPr sz="2400" dirty="0">
              <a:latin typeface="Times New Roman"/>
              <a:cs typeface="Times New Roman"/>
            </a:endParaRPr>
          </a:p>
          <a:p>
            <a:pPr marL="271780" indent="-182880">
              <a:lnSpc>
                <a:spcPct val="100000"/>
              </a:lnSpc>
              <a:buFont typeface="Arial MT"/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associations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product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lifestyle.</a:t>
            </a: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400" dirty="0">
                <a:latin typeface="Times New Roman"/>
                <a:cs typeface="Times New Roman"/>
              </a:rPr>
              <a:t>Minuses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271780" indent="-182880">
              <a:lnSpc>
                <a:spcPct val="100000"/>
              </a:lnSpc>
              <a:buFont typeface="Arial MT"/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credibility.</a:t>
            </a:r>
            <a:endParaRPr sz="2400" dirty="0">
              <a:latin typeface="Times New Roman"/>
              <a:cs typeface="Times New Roman"/>
            </a:endParaRPr>
          </a:p>
          <a:p>
            <a:pPr marL="241300" marR="5080" indent="-152400">
              <a:lnSpc>
                <a:spcPct val="100000"/>
              </a:lnSpc>
              <a:buFont typeface="Arial MT"/>
              <a:buChar char="•"/>
              <a:tabLst>
                <a:tab pos="2660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possibility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percentage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5" dirty="0">
                <a:latin typeface="Times New Roman"/>
                <a:cs typeface="Times New Roman"/>
              </a:rPr>
              <a:t> see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ad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 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interested.</a:t>
            </a:r>
          </a:p>
          <a:p>
            <a:pPr marL="271780" indent="-1828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71780" algn="l"/>
              </a:tabLst>
            </a:pPr>
            <a:r>
              <a:rPr sz="2400" spc="-5" dirty="0">
                <a:latin typeface="Times New Roman"/>
                <a:cs typeface="Times New Roman"/>
              </a:rPr>
              <a:t>Message</a:t>
            </a:r>
            <a:r>
              <a:rPr sz="2400" spc="-20" dirty="0">
                <a:latin typeface="Times New Roman"/>
                <a:cs typeface="Times New Roman"/>
              </a:rPr>
              <a:t> clutter.</a:t>
            </a:r>
            <a:endParaRPr lang="en-US" sz="2400" spc="-20" dirty="0">
              <a:latin typeface="Times New Roman"/>
              <a:cs typeface="Times New Roman"/>
            </a:endParaRPr>
          </a:p>
          <a:p>
            <a:pPr marL="271780" indent="-1828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71780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Costliness.</a:t>
            </a:r>
          </a:p>
          <a:p>
            <a:pPr marL="271780" indent="-1828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71780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The perception that advertising is intrusive.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4353" y="421894"/>
            <a:ext cx="1956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7983855" cy="444095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  <a:tab pos="3556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Along with engaging in hybrid promotional campaigns, many start-ups advertise in trade journals or utilize highly focused pay-per-click advertising provided by Google, Bing, or another online firm to economize the advertising dollars.</a:t>
            </a: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Pay-per-click advertising represents a major innovation in advertising and has been embraced by firms of all sizes. Google has two pay-per-click programs—AdWords and AdSense.</a:t>
            </a: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Another medium for advertising is advertising through social media sites, like Facebook.</a:t>
            </a: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7693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-14068" y="147015"/>
            <a:ext cx="9172136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0" marR="5080" indent="-832485"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-5" dirty="0"/>
              <a:t>Description of Google AdWords and AdSense Programs for Advertisers and Website Owners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3723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3A2B0-3F93-5ED2-DB5F-9966DFCFC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" y="1417345"/>
            <a:ext cx="9142828" cy="544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8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5494" y="147015"/>
            <a:ext cx="69710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Steps </a:t>
            </a:r>
            <a:r>
              <a:rPr spc="-5" dirty="0"/>
              <a:t>Involved</a:t>
            </a:r>
            <a:r>
              <a:rPr dirty="0"/>
              <a:t> in </a:t>
            </a:r>
            <a:r>
              <a:rPr spc="-5" dirty="0"/>
              <a:t>Putting</a:t>
            </a:r>
            <a:r>
              <a:rPr dirty="0"/>
              <a:t> </a:t>
            </a:r>
            <a:r>
              <a:rPr spc="-5" dirty="0"/>
              <a:t>Together</a:t>
            </a:r>
            <a:r>
              <a:rPr dirty="0"/>
              <a:t> 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-11937" y="696214"/>
            <a:ext cx="916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39135" algn="l"/>
                <a:tab pos="9156065" algn="l"/>
              </a:tabLst>
            </a:pPr>
            <a:r>
              <a:rPr sz="3600" u="heavy" dirty="0">
                <a:uFill>
                  <a:solidFill>
                    <a:srgbClr val="9933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600" u="heavy" spc="-5" dirty="0">
                <a:uFill>
                  <a:solidFill>
                    <a:srgbClr val="993300"/>
                  </a:solidFill>
                </a:uFill>
                <a:latin typeface="Times New Roman"/>
                <a:cs typeface="Times New Roman"/>
              </a:rPr>
              <a:t>Advertisement	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723" y="1752600"/>
            <a:ext cx="7847076" cy="44180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4857" y="421894"/>
            <a:ext cx="3033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Public</a:t>
            </a:r>
            <a:r>
              <a:rPr spc="-40" dirty="0"/>
              <a:t> </a:t>
            </a:r>
            <a:r>
              <a:rPr spc="-5" dirty="0"/>
              <a:t>Relations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7984490" cy="332295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Relations</a:t>
            </a:r>
          </a:p>
          <a:p>
            <a:pPr marL="756285" marR="18923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10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cost-effective </a:t>
            </a:r>
            <a:r>
              <a:rPr sz="2400" spc="-5" dirty="0">
                <a:latin typeface="Times New Roman"/>
                <a:cs typeface="Times New Roman"/>
              </a:rPr>
              <a:t>ways </a:t>
            </a:r>
            <a:r>
              <a:rPr sz="2400" dirty="0">
                <a:latin typeface="Times New Roman"/>
                <a:cs typeface="Times New Roman"/>
              </a:rPr>
              <a:t>to increase 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awareness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company </a:t>
            </a:r>
            <a:r>
              <a:rPr lang="en-US" sz="2400" spc="-5" dirty="0">
                <a:latin typeface="Times New Roman"/>
                <a:cs typeface="Times New Roman"/>
              </a:rPr>
              <a:t>sells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through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relations.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b="1" dirty="0">
                <a:latin typeface="Times New Roman"/>
                <a:cs typeface="Times New Roman"/>
              </a:rPr>
              <a:t>Public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relations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efforts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maintain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company’s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public.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major difference </a:t>
            </a:r>
            <a:r>
              <a:rPr sz="2400" dirty="0">
                <a:latin typeface="Times New Roman"/>
                <a:cs typeface="Times New Roman"/>
              </a:rPr>
              <a:t>between public relations and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advertising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for—directly.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3480" y="269494"/>
            <a:ext cx="5255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Public</a:t>
            </a:r>
            <a:r>
              <a:rPr dirty="0"/>
              <a:t> </a:t>
            </a:r>
            <a:r>
              <a:rPr spc="-5" dirty="0"/>
              <a:t>Relations</a:t>
            </a:r>
            <a:r>
              <a:rPr spc="5" dirty="0"/>
              <a:t> </a:t>
            </a:r>
            <a:r>
              <a:rPr spc="-5" dirty="0"/>
              <a:t>Techniques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10675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3000" y="1600200"/>
            <a:ext cx="2590800" cy="7620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19710" rIns="0" bIns="0" rtlCol="0">
            <a:spAutoFit/>
          </a:bodyPr>
          <a:lstStyle/>
          <a:p>
            <a:pPr marL="641985">
              <a:lnSpc>
                <a:spcPct val="100000"/>
              </a:lnSpc>
              <a:spcBef>
                <a:spcPts val="1730"/>
              </a:spcBef>
            </a:pPr>
            <a:r>
              <a:rPr sz="2000" dirty="0">
                <a:latin typeface="Times New Roman"/>
                <a:cs typeface="Times New Roman"/>
              </a:rPr>
              <a:t>Press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release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3000" y="2743200"/>
            <a:ext cx="2590800" cy="7620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29235" marR="224154" indent="85090">
              <a:lnSpc>
                <a:spcPct val="100000"/>
              </a:lnSpc>
              <a:spcBef>
                <a:spcPts val="535"/>
              </a:spcBef>
            </a:pPr>
            <a:r>
              <a:rPr sz="2000" spc="-5" dirty="0">
                <a:latin typeface="Times New Roman"/>
                <a:cs typeface="Times New Roman"/>
              </a:rPr>
              <a:t>Articles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industry </a:t>
            </a:r>
            <a:r>
              <a:rPr sz="2000" dirty="0">
                <a:latin typeface="Times New Roman"/>
                <a:cs typeface="Times New Roman"/>
              </a:rPr>
              <a:t> press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periodicals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3000" y="3886200"/>
            <a:ext cx="2590800" cy="7620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20345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735"/>
              </a:spcBef>
            </a:pPr>
            <a:r>
              <a:rPr sz="2000" dirty="0">
                <a:latin typeface="Times New Roman"/>
                <a:cs typeface="Times New Roman"/>
              </a:rPr>
              <a:t>Monthly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newsletter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4600" y="5105400"/>
            <a:ext cx="3581400" cy="7620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 marL="1154430" marR="287655" indent="-854075">
              <a:lnSpc>
                <a:spcPct val="100000"/>
              </a:lnSpc>
              <a:spcBef>
                <a:spcPts val="540"/>
              </a:spcBef>
            </a:pPr>
            <a:r>
              <a:rPr sz="2000" dirty="0">
                <a:latin typeface="Times New Roman"/>
                <a:cs typeface="Times New Roman"/>
              </a:rPr>
              <a:t>Civic,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social,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community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involvement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3000" y="1600200"/>
            <a:ext cx="2590800" cy="7620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19710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730"/>
              </a:spcBef>
            </a:pPr>
            <a:r>
              <a:rPr sz="2000" dirty="0">
                <a:latin typeface="Times New Roman"/>
                <a:cs typeface="Times New Roman"/>
              </a:rPr>
              <a:t>Media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coverage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3000" y="2743200"/>
            <a:ext cx="2590800" cy="7620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20345" rIns="0" bIns="0" rtlCol="0">
            <a:spAutoFit/>
          </a:bodyPr>
          <a:lstStyle/>
          <a:p>
            <a:pPr marL="821055">
              <a:lnSpc>
                <a:spcPct val="100000"/>
              </a:lnSpc>
              <a:spcBef>
                <a:spcPts val="1735"/>
              </a:spcBef>
            </a:pPr>
            <a:r>
              <a:rPr sz="2000" dirty="0">
                <a:latin typeface="Times New Roman"/>
                <a:cs typeface="Times New Roman"/>
              </a:rPr>
              <a:t>Blogging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3000" y="3886200"/>
            <a:ext cx="2590800" cy="83805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220345" rIns="0" bIns="0" rtlCol="0">
            <a:spAutoFit/>
          </a:bodyPr>
          <a:lstStyle/>
          <a:p>
            <a:pPr marL="415925">
              <a:lnSpc>
                <a:spcPct val="100000"/>
              </a:lnSpc>
              <a:spcBef>
                <a:spcPts val="1735"/>
              </a:spcBef>
            </a:pPr>
            <a:r>
              <a:rPr lang="en-US" sz="2000" dirty="0">
                <a:latin typeface="Times New Roman"/>
                <a:cs typeface="Times New Roman"/>
              </a:rPr>
              <a:t>Social Media coverage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4857" y="421894"/>
            <a:ext cx="3033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Public</a:t>
            </a:r>
            <a:r>
              <a:rPr spc="-40" dirty="0"/>
              <a:t> </a:t>
            </a:r>
            <a:r>
              <a:rPr spc="-5" dirty="0"/>
              <a:t>Relations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7984490" cy="4610236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There are many ways in which a start-up can enhance its chances of getting noticed by the press, a blogger, or someone who is influential in social media. 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One technique is to prepare a </a:t>
            </a:r>
            <a:r>
              <a:rPr lang="en-US" sz="2200" b="1" dirty="0">
                <a:latin typeface="Times New Roman"/>
                <a:cs typeface="Times New Roman"/>
              </a:rPr>
              <a:t>press kit</a:t>
            </a:r>
            <a:r>
              <a:rPr lang="en-US" sz="2200" dirty="0">
                <a:latin typeface="Times New Roman"/>
                <a:cs typeface="Times New Roman"/>
              </a:rPr>
              <a:t>, which is a folder that contains background information about the company and includes a list of its most recent accomplishments.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Another technique is to be present at industry trade shows and other events. A </a:t>
            </a:r>
            <a:r>
              <a:rPr lang="en-US" sz="2200" b="1" dirty="0">
                <a:latin typeface="Times New Roman"/>
                <a:cs typeface="Times New Roman"/>
              </a:rPr>
              <a:t>trade show </a:t>
            </a:r>
            <a:r>
              <a:rPr lang="en-US" sz="2200" dirty="0">
                <a:latin typeface="Times New Roman"/>
                <a:cs typeface="Times New Roman"/>
              </a:rPr>
              <a:t>is an event at which the goods or services in a specific industry are exhibited and demonstrated. </a:t>
            </a:r>
          </a:p>
          <a:p>
            <a:pPr marL="812165" marR="5080" lvl="1" indent="-342900">
              <a:lnSpc>
                <a:spcPct val="10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2200" b="1" dirty="0">
                <a:latin typeface="Times New Roman"/>
                <a:cs typeface="Times New Roman"/>
              </a:rPr>
              <a:t>Social Media: </a:t>
            </a:r>
            <a:r>
              <a:rPr lang="en-US" sz="2200" dirty="0">
                <a:latin typeface="Times New Roman"/>
                <a:cs typeface="Times New Roman"/>
              </a:rPr>
              <a:t>Social media consists primarily of blogging and establishing a presence and connecting with customers and others through social networking sites like Facebook or Twitter. 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1908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751" y="347315"/>
            <a:ext cx="885062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Other Promotion-Related Activities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7984490" cy="470256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There are many other activities that help a firm promote and sell its products.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Some firms, for example, give away free samples of their products.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A similar technique is to offer free trials such as </a:t>
            </a:r>
            <a:r>
              <a:rPr lang="en-US" sz="2200">
                <a:latin typeface="Times New Roman"/>
                <a:cs typeface="Times New Roman"/>
              </a:rPr>
              <a:t>a three-month subscription </a:t>
            </a:r>
            <a:r>
              <a:rPr lang="en-US" sz="2200" dirty="0">
                <a:latin typeface="Times New Roman"/>
                <a:cs typeface="Times New Roman"/>
              </a:rPr>
              <a:t>to a magazine etc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b="1" dirty="0">
                <a:latin typeface="Times New Roman"/>
                <a:cs typeface="Times New Roman"/>
              </a:rPr>
              <a:t>Viral marketing</a:t>
            </a:r>
            <a:r>
              <a:rPr lang="en-US" sz="2200" dirty="0">
                <a:latin typeface="Times New Roman"/>
                <a:cs typeface="Times New Roman"/>
              </a:rPr>
              <a:t>, which facilitates and encourages people to pass along a marketing message about a particular product.</a:t>
            </a: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b="1" dirty="0">
                <a:latin typeface="Times New Roman"/>
                <a:cs typeface="Times New Roman"/>
              </a:rPr>
              <a:t>Guerrilla marketing </a:t>
            </a:r>
            <a:r>
              <a:rPr lang="en-US" sz="2200" dirty="0">
                <a:latin typeface="Times New Roman"/>
                <a:cs typeface="Times New Roman"/>
              </a:rPr>
              <a:t>is a low-budget approach to marketing that relies on ingenuity, cleverness, and surprise rather than traditional techniques. The point is to create awareness of a firm and its products, often in unconventional and memorable ways. 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2199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0015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2789" y="421894"/>
            <a:ext cx="41389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Place (or Distribution)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2820"/>
            <a:ext cx="8020050" cy="4087016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Encompasses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activities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move</a:t>
            </a:r>
            <a:r>
              <a:rPr sz="2400" dirty="0">
                <a:latin typeface="Times New Roman"/>
                <a:cs typeface="Times New Roman"/>
              </a:rPr>
              <a:t> a </a:t>
            </a:r>
            <a:r>
              <a:rPr sz="2400" spc="-5" dirty="0">
                <a:latin typeface="Times New Roman"/>
                <a:cs typeface="Times New Roman"/>
              </a:rPr>
              <a:t>firm’s</a:t>
            </a:r>
            <a:r>
              <a:rPr sz="2400" dirty="0">
                <a:latin typeface="Times New Roman"/>
                <a:cs typeface="Times New Roman"/>
              </a:rPr>
              <a:t> product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consumer.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756285" marR="291465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b="1" dirty="0">
                <a:latin typeface="Times New Roman"/>
                <a:cs typeface="Times New Roman"/>
              </a:rPr>
              <a:t>distribution channel </a:t>
            </a:r>
            <a:r>
              <a:rPr lang="en-US" sz="2400" dirty="0">
                <a:latin typeface="Times New Roman"/>
                <a:cs typeface="Times New Roman"/>
              </a:rPr>
              <a:t>is the route a product takes from the place it is made to the customer who is the end user.</a:t>
            </a:r>
            <a:endParaRPr sz="24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choice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regarding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distribution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whether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sell its products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consumers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intermediaries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(such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wholesalers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retailers).</a:t>
            </a:r>
          </a:p>
          <a:p>
            <a:pPr marL="756285" marR="26034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Within </a:t>
            </a:r>
            <a:r>
              <a:rPr sz="2400" spc="-10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industries, both choices are available, </a:t>
            </a:r>
            <a:r>
              <a:rPr sz="2400" spc="-5" dirty="0">
                <a:latin typeface="Times New Roman"/>
                <a:cs typeface="Times New Roman"/>
              </a:rPr>
              <a:t>so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typically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believes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market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wants 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buy its </a:t>
            </a:r>
            <a:r>
              <a:rPr sz="2400" spc="-5" dirty="0">
                <a:latin typeface="Times New Roman"/>
                <a:cs typeface="Times New Roman"/>
              </a:rPr>
              <a:t>product.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13723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Selling</a:t>
            </a:r>
            <a:r>
              <a:rPr spc="-10" dirty="0"/>
              <a:t> </a:t>
            </a:r>
            <a:r>
              <a:rPr dirty="0"/>
              <a:t>Direct</a:t>
            </a:r>
            <a:r>
              <a:rPr spc="-15" dirty="0"/>
              <a:t> </a:t>
            </a:r>
            <a:r>
              <a:rPr dirty="0"/>
              <a:t>Versus</a:t>
            </a:r>
            <a:r>
              <a:rPr spc="-10" dirty="0"/>
              <a:t> </a:t>
            </a:r>
            <a:r>
              <a:rPr spc="-5" dirty="0"/>
              <a:t>Selling </a:t>
            </a:r>
            <a:r>
              <a:rPr dirty="0"/>
              <a:t>Through</a:t>
            </a:r>
            <a:r>
              <a:rPr spc="-10" dirty="0"/>
              <a:t> </a:t>
            </a:r>
            <a:r>
              <a:rPr dirty="0"/>
              <a:t>a </a:t>
            </a:r>
            <a:r>
              <a:rPr spc="-885" dirty="0"/>
              <a:t> </a:t>
            </a:r>
            <a:r>
              <a:rPr spc="-5" dirty="0"/>
              <a:t>Intermediary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000" dirty="0"/>
              <a:t>2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dirty="0"/>
              <a:t>2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761" y="15247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828800"/>
            <a:ext cx="8423148" cy="25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452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marR="508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Selling</a:t>
            </a:r>
            <a:r>
              <a:rPr spc="-10" dirty="0"/>
              <a:t> </a:t>
            </a:r>
            <a:r>
              <a:rPr dirty="0"/>
              <a:t>Direct</a:t>
            </a:r>
            <a:r>
              <a:rPr spc="-15" dirty="0"/>
              <a:t> </a:t>
            </a:r>
            <a:r>
              <a:rPr dirty="0"/>
              <a:t>Vs.</a:t>
            </a:r>
            <a:r>
              <a:rPr spc="-10" dirty="0"/>
              <a:t> </a:t>
            </a:r>
            <a:r>
              <a:rPr spc="-5" dirty="0"/>
              <a:t>Selling</a:t>
            </a:r>
            <a:r>
              <a:rPr spc="-10" dirty="0"/>
              <a:t> </a:t>
            </a:r>
            <a:r>
              <a:rPr dirty="0"/>
              <a:t>Through</a:t>
            </a:r>
            <a:r>
              <a:rPr spc="-5" dirty="0"/>
              <a:t> </a:t>
            </a:r>
            <a:r>
              <a:rPr dirty="0"/>
              <a:t>an </a:t>
            </a:r>
            <a:r>
              <a:rPr spc="-885" dirty="0"/>
              <a:t> </a:t>
            </a:r>
            <a:r>
              <a:rPr spc="-5" dirty="0"/>
              <a:t>Intermediary</a:t>
            </a:r>
          </a:p>
          <a:p>
            <a:pPr marL="635" algn="ctr">
              <a:lnSpc>
                <a:spcPct val="100000"/>
              </a:lnSpc>
              <a:spcBef>
                <a:spcPts val="55"/>
              </a:spcBef>
            </a:pPr>
            <a:r>
              <a:rPr sz="2000" dirty="0"/>
              <a:t>1</a:t>
            </a:r>
            <a:r>
              <a:rPr sz="2000" spc="-30" dirty="0"/>
              <a:t> </a:t>
            </a:r>
            <a:r>
              <a:rPr sz="2000" dirty="0"/>
              <a:t>of</a:t>
            </a:r>
            <a:r>
              <a:rPr sz="2000" spc="-45" dirty="0"/>
              <a:t> </a:t>
            </a:r>
            <a:r>
              <a:rPr sz="2000" dirty="0"/>
              <a:t>2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761" y="14485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968584"/>
              </p:ext>
            </p:extLst>
          </p:nvPr>
        </p:nvGraphicFramePr>
        <p:xfrm>
          <a:off x="300037" y="2052637"/>
          <a:ext cx="8534400" cy="4380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825">
                <a:tc>
                  <a:txBody>
                    <a:bodyPr/>
                    <a:lstStyle/>
                    <a:p>
                      <a:pPr marL="413384" marR="313055" indent="-1714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000" spc="-48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Distribution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07391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lang="en-US" sz="28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Selling</a:t>
                      </a: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Direct</a:t>
                      </a: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lang="en-US" sz="2300" dirty="0">
                        <a:latin typeface="Times New Roman"/>
                        <a:cs typeface="Times New Roman"/>
                      </a:endParaRPr>
                    </a:p>
                    <a:p>
                      <a:pPr marR="2978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firms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sell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lang="en-US" sz="2000" spc="-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control</a:t>
                      </a:r>
                    </a:p>
                    <a:p>
                      <a:pPr marR="297180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distribution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instead of relying on third parties is a major advantage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Disadvantage is that a firm has more of its capital tied up in fixed assets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8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00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Through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Intermediaries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29565" marR="768350" indent="-12065"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lang="en-US" sz="2000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irms </a:t>
                      </a:r>
                      <a:r>
                        <a:rPr lang="en-US" sz="2000" spc="-5" dirty="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through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intermediaries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 pass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lang="en-US"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products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wholesalers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 place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retail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outlets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 sold.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Advantage is firm does not need to own as much of the distribution channel. Disadvantage is a firm loses a certain amount of control of its product.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892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000" y="402770"/>
            <a:ext cx="7619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Sales Process and related issues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81000" y="1583383"/>
            <a:ext cx="8020050" cy="4871847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A firm’s sales process (or sales funnel) depicts the steps it goes through to identify prospects and close sales.</a:t>
            </a:r>
          </a:p>
          <a:p>
            <a:pPr marL="756285" marR="291465" lvl="1" indent="-287020" algn="just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It enables a firm to fine-tune its approach to sales and build uniformity into the process.</a:t>
            </a:r>
          </a:p>
          <a:p>
            <a:pPr marL="756285" marR="291465" lvl="1" indent="-287020" algn="just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It helps a firm qualify leads, so the firm can spend its time and money pursuing the most likely buyers of its products or services.</a:t>
            </a:r>
          </a:p>
          <a:p>
            <a:pPr marL="469265" marR="291465" lvl="1" algn="just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Some new ventures include this material in their business plan, to provide the reader confidence that they’ve thought through how they’ll close sales. </a:t>
            </a:r>
          </a:p>
          <a:p>
            <a:pPr marL="469265" marR="291465" lvl="1" algn="just">
              <a:lnSpc>
                <a:spcPct val="100000"/>
              </a:lnSpc>
              <a:spcBef>
                <a:spcPts val="595"/>
              </a:spcBef>
              <a:tabLst>
                <a:tab pos="756285" algn="l"/>
                <a:tab pos="75692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Having a well-thought-out sales process, with accompanying action steps and appropriate employee training, can dramatically improve a company’s sales performance.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13723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383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801" y="395232"/>
            <a:ext cx="73783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Sales Process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761" y="15247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C361A9-68C1-08BE-0E10-CBFC30BE4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524761"/>
            <a:ext cx="7924800" cy="535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44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2632</TotalTime>
  <Words>3049</Words>
  <Application>Microsoft Office PowerPoint</Application>
  <PresentationFormat>On-screen Show (4:3)</PresentationFormat>
  <Paragraphs>264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 MT</vt:lpstr>
      <vt:lpstr>Calibri</vt:lpstr>
      <vt:lpstr>Times New Roman</vt:lpstr>
      <vt:lpstr>Wingdings</vt:lpstr>
      <vt:lpstr>Office Theme</vt:lpstr>
      <vt:lpstr>Chapter 11</vt:lpstr>
      <vt:lpstr>Chapter Objectives 1 of 2</vt:lpstr>
      <vt:lpstr>Chapter Objectives 2 of 2</vt:lpstr>
      <vt:lpstr>Selecting a Market and Establishing a Position</vt:lpstr>
      <vt:lpstr>The Process of Selecting a Target Market  and Positioning Strategy</vt:lpstr>
      <vt:lpstr>Market Segmentation</vt:lpstr>
      <vt:lpstr>Market Segmentation</vt:lpstr>
      <vt:lpstr>Example: Segmenting the Computer  Industry by Product Type</vt:lpstr>
      <vt:lpstr>Market Segmentation</vt:lpstr>
      <vt:lpstr>Selecting a Target Market</vt:lpstr>
      <vt:lpstr>Selecting a Target Market</vt:lpstr>
      <vt:lpstr>Establishing a Unique Position </vt:lpstr>
      <vt:lpstr>Establishing a Unique Position </vt:lpstr>
      <vt:lpstr>Product Attribute Map for  Snap-Fitness</vt:lpstr>
      <vt:lpstr>Establishing a Unique Position </vt:lpstr>
      <vt:lpstr>Taglines—Developed to Reinforce a  Firm’s Positioning Strategy</vt:lpstr>
      <vt:lpstr>Selling Benefits Rather Than Features 1 of 2</vt:lpstr>
      <vt:lpstr>Selling Benefits Rather Than Features</vt:lpstr>
      <vt:lpstr>BRANDING</vt:lpstr>
      <vt:lpstr>BRANDING</vt:lpstr>
      <vt:lpstr>BRANDING</vt:lpstr>
      <vt:lpstr>BRANDING</vt:lpstr>
      <vt:lpstr>BRANDING</vt:lpstr>
      <vt:lpstr>The Four Ps of Marketing for New Ventures</vt:lpstr>
      <vt:lpstr>The Four Ps of Marketing for New Ventures</vt:lpstr>
      <vt:lpstr>Product</vt:lpstr>
      <vt:lpstr>Core Product vs. Actual Product</vt:lpstr>
      <vt:lpstr>Price</vt:lpstr>
      <vt:lpstr>Cost-Based Pricing</vt:lpstr>
      <vt:lpstr>Value-Based Pricing</vt:lpstr>
      <vt:lpstr>PowerPoint Presentation</vt:lpstr>
      <vt:lpstr>Promotion</vt:lpstr>
      <vt:lpstr>Pluses and Minuses of Advertising</vt:lpstr>
      <vt:lpstr>PowerPoint Presentation</vt:lpstr>
      <vt:lpstr>Description of Google AdWords and AdSense Programs for Advertisers and Website Owners</vt:lpstr>
      <vt:lpstr>Steps Involved in Putting Together an</vt:lpstr>
      <vt:lpstr>Public Relations</vt:lpstr>
      <vt:lpstr>Public Relations Techniques</vt:lpstr>
      <vt:lpstr>Public Relations</vt:lpstr>
      <vt:lpstr>Other Promotion-Related Activities</vt:lpstr>
      <vt:lpstr>Place (or Distribution)</vt:lpstr>
      <vt:lpstr>Selling Direct Versus Selling Through a  Intermediary 2 of 2</vt:lpstr>
      <vt:lpstr>Selling Direct Vs. Selling Through an  Intermediary 1 of 2</vt:lpstr>
      <vt:lpstr>Sales Process and related issues</vt:lpstr>
      <vt:lpstr>Sales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bbarringer</dc:creator>
  <cp:lastModifiedBy>ramsha</cp:lastModifiedBy>
  <cp:revision>74</cp:revision>
  <dcterms:created xsi:type="dcterms:W3CDTF">2023-01-17T09:40:36Z</dcterms:created>
  <dcterms:modified xsi:type="dcterms:W3CDTF">2023-04-02T17:20:50Z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2023-01-17T00:00:00Z</vt:filetime>
  </property>
</Properties>
</file>