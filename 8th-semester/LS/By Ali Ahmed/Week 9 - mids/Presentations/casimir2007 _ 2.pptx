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Arial Bold" charset="1" panose="020B0802020202020204"/>
      <p:regular r:id="rId27"/>
    </p:embeddedFont>
    <p:embeddedFont>
      <p:font typeface="Arial" charset="1" panose="020B0502020202020204"/>
      <p:regular r:id="rId28"/>
    </p:embeddedFont>
    <p:embeddedFont>
      <p:font typeface="Open Sans Bold" charset="1" panose="020B0806030504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Masters/notesMaster1.xml" Type="http://schemas.openxmlformats.org/officeDocument/2006/relationships/notesMaster"/><Relationship Id="rId31" Target="theme/theme2.xml" Type="http://schemas.openxmlformats.org/officeDocument/2006/relationships/theme"/><Relationship Id="rId32" Target="notesSlides/notesSlide1.xml" Type="http://schemas.openxmlformats.org/officeDocument/2006/relationships/notesSlide"/><Relationship Id="rId33" Target="notesSlides/notesSlide2.xml" Type="http://schemas.openxmlformats.org/officeDocument/2006/relationships/notesSlide"/><Relationship Id="rId34" Target="notesSlides/notesSlide3.xml" Type="http://schemas.openxmlformats.org/officeDocument/2006/relationships/notesSlide"/><Relationship Id="rId35" Target="notesSlides/notesSlide4.xml" Type="http://schemas.openxmlformats.org/officeDocument/2006/relationships/notesSlide"/><Relationship Id="rId36" Target="notesSlides/notesSlide5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14" Target="../media/image49.png" Type="http://schemas.openxmlformats.org/officeDocument/2006/relationships/image"/><Relationship Id="rId15" Target="../media/image50.svg" Type="http://schemas.openxmlformats.org/officeDocument/2006/relationships/image"/><Relationship Id="rId16" Target="../media/image51.png" Type="http://schemas.openxmlformats.org/officeDocument/2006/relationships/image"/><Relationship Id="rId17" Target="../media/image52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42.pn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64909" y="0"/>
            <a:ext cx="3465888" cy="10287000"/>
            <a:chOff x="0" y="0"/>
            <a:chExt cx="4621184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310592" y="0"/>
              <a:ext cx="2310592" cy="13716000"/>
              <a:chOff x="0" y="0"/>
              <a:chExt cx="456413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641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456413">
                    <a:moveTo>
                      <a:pt x="0" y="0"/>
                    </a:moveTo>
                    <a:lnTo>
                      <a:pt x="456413" y="0"/>
                    </a:lnTo>
                    <a:lnTo>
                      <a:pt x="45641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5641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155296" y="0"/>
              <a:ext cx="2310592" cy="13716000"/>
              <a:chOff x="0" y="0"/>
              <a:chExt cx="456413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5641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456413">
                    <a:moveTo>
                      <a:pt x="0" y="0"/>
                    </a:moveTo>
                    <a:lnTo>
                      <a:pt x="456413" y="0"/>
                    </a:lnTo>
                    <a:lnTo>
                      <a:pt x="45641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5641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310592" cy="13716000"/>
              <a:chOff x="0" y="0"/>
              <a:chExt cx="456413" cy="270933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5641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456413">
                    <a:moveTo>
                      <a:pt x="0" y="0"/>
                    </a:moveTo>
                    <a:lnTo>
                      <a:pt x="456413" y="0"/>
                    </a:lnTo>
                    <a:lnTo>
                      <a:pt x="45641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45641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3288211" y="3280086"/>
            <a:ext cx="13689669" cy="2897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b="true" sz="560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 CROSS CULTURAL </a:t>
            </a:r>
            <a:r>
              <a:rPr lang="en-US" b="true" sz="5601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COMPARISON</a:t>
            </a:r>
            <a:r>
              <a:rPr lang="en-US" b="true" sz="560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OF THE IMPORTANCE OF LEADERSHIP TRAITS FOR </a:t>
            </a:r>
            <a:r>
              <a:rPr lang="en-US" b="true" sz="5601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EFFECTIVE</a:t>
            </a:r>
            <a:r>
              <a:rPr lang="en-US" b="true" sz="560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LOW-LEVEL AND HIGH-LEVEL LEADERS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656423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357390" y="7025119"/>
            <a:ext cx="3741793" cy="731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2"/>
              </a:lnSpc>
            </a:pPr>
            <a:r>
              <a:rPr lang="en-US" b="true" sz="383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Author Name: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08913" y="7699348"/>
            <a:ext cx="14999789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Gian Casimir</a:t>
            </a: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(Newcastle Graduate School of Business, Australia)</a:t>
            </a:r>
          </a:p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David A. Waldman </a:t>
            </a: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(School of Global Management and Leadership, Arizona State University, USA)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073969" y="-6355032"/>
            <a:ext cx="4058932" cy="18288000"/>
            <a:chOff x="0" y="0"/>
            <a:chExt cx="5411910" cy="24384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705955" y="0"/>
              <a:ext cx="2705955" cy="24384000"/>
              <a:chOff x="0" y="0"/>
              <a:chExt cx="534510" cy="481659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34510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534510">
                    <a:moveTo>
                      <a:pt x="0" y="0"/>
                    </a:moveTo>
                    <a:lnTo>
                      <a:pt x="534510" y="0"/>
                    </a:lnTo>
                    <a:lnTo>
                      <a:pt x="534510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34510" cy="48642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352977" y="0"/>
              <a:ext cx="2705955" cy="24384000"/>
              <a:chOff x="0" y="0"/>
              <a:chExt cx="534510" cy="481659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34510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534510">
                    <a:moveTo>
                      <a:pt x="0" y="0"/>
                    </a:moveTo>
                    <a:lnTo>
                      <a:pt x="534510" y="0"/>
                    </a:lnTo>
                    <a:lnTo>
                      <a:pt x="534510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534510" cy="48642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705955" cy="24384000"/>
              <a:chOff x="0" y="0"/>
              <a:chExt cx="534510" cy="481659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34510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534510">
                    <a:moveTo>
                      <a:pt x="0" y="0"/>
                    </a:moveTo>
                    <a:lnTo>
                      <a:pt x="534510" y="0"/>
                    </a:lnTo>
                    <a:lnTo>
                      <a:pt x="534510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534510" cy="48642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1809291" y="1187771"/>
            <a:ext cx="5434753" cy="95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b="true" sz="5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PRESENTED TO: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52766" y="2114777"/>
            <a:ext cx="10869506" cy="861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81"/>
              </a:lnSpc>
            </a:pPr>
            <a:r>
              <a:rPr lang="en-US" sz="3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Miss Samina Yaqoob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09291" y="3383220"/>
            <a:ext cx="5226351" cy="95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b="true" sz="5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PRESENTED BY: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2766" y="4313487"/>
            <a:ext cx="7962295" cy="346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81"/>
              </a:lnSpc>
            </a:pPr>
            <a:r>
              <a:rPr lang="en-US" sz="3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Samia Liaqat         2021-CS-128</a:t>
            </a:r>
          </a:p>
          <a:p>
            <a:pPr algn="just">
              <a:lnSpc>
                <a:spcPts val="6881"/>
              </a:lnSpc>
            </a:pPr>
            <a:r>
              <a:rPr lang="en-US" sz="3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Iqra Rafiq              2021-CS-134</a:t>
            </a:r>
          </a:p>
          <a:p>
            <a:pPr algn="just">
              <a:lnSpc>
                <a:spcPts val="6881"/>
              </a:lnSpc>
            </a:pPr>
            <a:r>
              <a:rPr lang="en-US" sz="3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Eman Zubair         2021-CS-138</a:t>
            </a:r>
          </a:p>
          <a:p>
            <a:pPr algn="just">
              <a:lnSpc>
                <a:spcPts val="6881"/>
              </a:lnSpc>
            </a:pPr>
            <a:r>
              <a:rPr lang="en-US" sz="3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Umm-E-Farwa      2021-CS-158</a:t>
            </a:r>
          </a:p>
        </p:txBody>
      </p:sp>
      <p:sp>
        <p:nvSpPr>
          <p:cNvPr name="Freeform 16" id="16"/>
          <p:cNvSpPr/>
          <p:nvPr/>
        </p:nvSpPr>
        <p:spPr>
          <a:xfrm flipH="true" flipV="false" rot="0">
            <a:off x="-2076367" y="805147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7315200" y="0"/>
                </a:moveTo>
                <a:lnTo>
                  <a:pt x="0" y="0"/>
                </a:lnTo>
                <a:lnTo>
                  <a:pt x="0" y="2477783"/>
                </a:lnTo>
                <a:lnTo>
                  <a:pt x="7315200" y="2477783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857891" y="-8513438"/>
            <a:ext cx="2572218" cy="18288000"/>
            <a:chOff x="0" y="0"/>
            <a:chExt cx="3429624" cy="24384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714812" y="0"/>
              <a:ext cx="1714812" cy="24384000"/>
              <a:chOff x="0" y="0"/>
              <a:chExt cx="338728" cy="481659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38728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338728">
                    <a:moveTo>
                      <a:pt x="0" y="0"/>
                    </a:moveTo>
                    <a:lnTo>
                      <a:pt x="338728" y="0"/>
                    </a:lnTo>
                    <a:lnTo>
                      <a:pt x="338728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338728" cy="48642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57406" y="0"/>
              <a:ext cx="1714812" cy="24384000"/>
              <a:chOff x="0" y="0"/>
              <a:chExt cx="338728" cy="481659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38728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338728">
                    <a:moveTo>
                      <a:pt x="0" y="0"/>
                    </a:moveTo>
                    <a:lnTo>
                      <a:pt x="338728" y="0"/>
                    </a:lnTo>
                    <a:lnTo>
                      <a:pt x="338728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338728" cy="48642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1714812" cy="24384000"/>
              <a:chOff x="0" y="0"/>
              <a:chExt cx="338728" cy="481659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38728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338728">
                    <a:moveTo>
                      <a:pt x="0" y="0"/>
                    </a:moveTo>
                    <a:lnTo>
                      <a:pt x="338728" y="0"/>
                    </a:lnTo>
                    <a:lnTo>
                      <a:pt x="338728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338728" cy="48642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1028700" y="3315007"/>
            <a:ext cx="11954589" cy="6530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7375" indent="-498688" lvl="1">
              <a:lnSpc>
                <a:spcPts val="8592"/>
              </a:lnSpc>
              <a:buAutoNum type="arabicPeriod" startAt="1"/>
            </a:pPr>
            <a:r>
              <a:rPr lang="en-US" sz="46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</a:p>
          <a:p>
            <a:pPr algn="l" marL="997375" indent="-498688" lvl="1">
              <a:lnSpc>
                <a:spcPts val="8592"/>
              </a:lnSpc>
              <a:buAutoNum type="arabicPeriod" startAt="1"/>
            </a:pPr>
            <a:r>
              <a:rPr lang="en-US" sz="46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 &amp; Cultural Differences</a:t>
            </a:r>
          </a:p>
          <a:p>
            <a:pPr algn="l" marL="997375" indent="-498688" lvl="1">
              <a:lnSpc>
                <a:spcPts val="8592"/>
              </a:lnSpc>
              <a:buAutoNum type="arabicPeriod" startAt="1"/>
            </a:pPr>
            <a:r>
              <a:rPr lang="en-US" sz="46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Leader-Level Differences &amp; Analysis</a:t>
            </a:r>
          </a:p>
          <a:p>
            <a:pPr algn="l" marL="997375" indent="-498688" lvl="1">
              <a:lnSpc>
                <a:spcPts val="8592"/>
              </a:lnSpc>
              <a:buAutoNum type="arabicPeriod" startAt="1"/>
            </a:pPr>
            <a:r>
              <a:rPr lang="en-US" sz="46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Cross-Cultural Similarities</a:t>
            </a:r>
          </a:p>
          <a:p>
            <a:pPr algn="l" marL="997375" indent="-498688" lvl="1">
              <a:lnSpc>
                <a:spcPts val="8592"/>
              </a:lnSpc>
              <a:buAutoNum type="arabicPeriod" startAt="1"/>
            </a:pPr>
            <a:r>
              <a:rPr lang="en-US" sz="46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Study</a:t>
            </a:r>
          </a:p>
          <a:p>
            <a:pPr algn="l" marL="997375" indent="-498688" lvl="1">
              <a:lnSpc>
                <a:spcPts val="8592"/>
              </a:lnSpc>
              <a:buAutoNum type="arabicPeriod" startAt="1"/>
            </a:pPr>
            <a:r>
              <a:rPr lang="en-US" sz="46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 &amp; Future Directions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66164" y="1929441"/>
            <a:ext cx="4355672" cy="146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b="true" sz="7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AGENDA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53980" y="464494"/>
            <a:ext cx="13180039" cy="13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INTRODUCTION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466846" y="-80455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53" y="9852583"/>
            <a:ext cx="18287847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597073" y="2058344"/>
            <a:ext cx="10139490" cy="739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Title:</a:t>
            </a: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Cross-Cultural Comparison of the Importance of Leadership Traits for Effective Low-Level and High-Level Leaders</a:t>
            </a:r>
          </a:p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Brief Introduction: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Leadership effectiveness is influenced by cultural differences.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 leadership traits are valued at low-level and high-level positions.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study focuses on Australia and China to compare leadership expectations.</a:t>
            </a:r>
          </a:p>
          <a:p>
            <a:pPr algn="l">
              <a:lnSpc>
                <a:spcPts val="4452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248718" y="1782989"/>
            <a:ext cx="8039282" cy="3782229"/>
          </a:xfrm>
          <a:custGeom>
            <a:avLst/>
            <a:gdLst/>
            <a:ahLst/>
            <a:cxnLst/>
            <a:rect r="r" b="b" t="t" l="l"/>
            <a:pathLst>
              <a:path h="3782229" w="8039282">
                <a:moveTo>
                  <a:pt x="0" y="0"/>
                </a:moveTo>
                <a:lnTo>
                  <a:pt x="8039282" y="0"/>
                </a:lnTo>
                <a:lnTo>
                  <a:pt x="8039282" y="3782229"/>
                </a:lnTo>
                <a:lnTo>
                  <a:pt x="0" y="37822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847450" y="2744781"/>
            <a:ext cx="5156028" cy="5021406"/>
          </a:xfrm>
          <a:custGeom>
            <a:avLst/>
            <a:gdLst/>
            <a:ahLst/>
            <a:cxnLst/>
            <a:rect r="r" b="b" t="t" l="l"/>
            <a:pathLst>
              <a:path h="5021406" w="5156028">
                <a:moveTo>
                  <a:pt x="0" y="0"/>
                </a:moveTo>
                <a:lnTo>
                  <a:pt x="5156028" y="0"/>
                </a:lnTo>
                <a:lnTo>
                  <a:pt x="5156028" y="5021406"/>
                </a:lnTo>
                <a:lnTo>
                  <a:pt x="0" y="5021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2013714">
            <a:off x="13601582" y="4092232"/>
            <a:ext cx="1168179" cy="1149956"/>
          </a:xfrm>
          <a:custGeom>
            <a:avLst/>
            <a:gdLst/>
            <a:ahLst/>
            <a:cxnLst/>
            <a:rect r="r" b="b" t="t" l="l"/>
            <a:pathLst>
              <a:path h="1149956" w="1168179">
                <a:moveTo>
                  <a:pt x="0" y="0"/>
                </a:moveTo>
                <a:lnTo>
                  <a:pt x="1168179" y="0"/>
                </a:lnTo>
                <a:lnTo>
                  <a:pt x="1168179" y="1149956"/>
                </a:lnTo>
                <a:lnTo>
                  <a:pt x="0" y="11499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015" t="0" r="-2015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965145" y="5350970"/>
            <a:ext cx="1149646" cy="935148"/>
          </a:xfrm>
          <a:custGeom>
            <a:avLst/>
            <a:gdLst/>
            <a:ahLst/>
            <a:cxnLst/>
            <a:rect r="r" b="b" t="t" l="l"/>
            <a:pathLst>
              <a:path h="935148" w="1149646">
                <a:moveTo>
                  <a:pt x="0" y="0"/>
                </a:moveTo>
                <a:lnTo>
                  <a:pt x="1149645" y="0"/>
                </a:lnTo>
                <a:lnTo>
                  <a:pt x="1149645" y="935148"/>
                </a:lnTo>
                <a:lnTo>
                  <a:pt x="0" y="9351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167571" y="5674981"/>
            <a:ext cx="372396" cy="287126"/>
          </a:xfrm>
          <a:custGeom>
            <a:avLst/>
            <a:gdLst/>
            <a:ahLst/>
            <a:cxnLst/>
            <a:rect r="r" b="b" t="t" l="l"/>
            <a:pathLst>
              <a:path h="287126" w="372396">
                <a:moveTo>
                  <a:pt x="0" y="0"/>
                </a:moveTo>
                <a:lnTo>
                  <a:pt x="372396" y="0"/>
                </a:lnTo>
                <a:lnTo>
                  <a:pt x="372396" y="287126"/>
                </a:lnTo>
                <a:lnTo>
                  <a:pt x="0" y="28712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106530" b="-78465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368031" y="7651887"/>
            <a:ext cx="4339105" cy="79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b="true" sz="3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AUSTRALIA &amp; CHINA</a:t>
            </a:r>
          </a:p>
          <a:p>
            <a:pPr algn="ctr">
              <a:lnSpc>
                <a:spcPts val="800"/>
              </a:lnSpc>
            </a:pPr>
            <a:r>
              <a:rPr lang="en-US" sz="1600">
                <a:solidFill>
                  <a:srgbClr val="5C808D"/>
                </a:solidFill>
                <a:latin typeface="Arial"/>
                <a:ea typeface="Arial"/>
                <a:cs typeface="Arial"/>
                <a:sym typeface="Arial"/>
              </a:rPr>
              <a:t>A CROSS CULTURAL LEADERSHIP STUDY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405874"/>
            <a:ext cx="15611761" cy="725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Purpose:</a:t>
            </a:r>
          </a:p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Explore leadership traits across different cultural contexts.</a:t>
            </a:r>
          </a:p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expectations for low-level and high-level leaders in Australia and China.</a:t>
            </a:r>
          </a:p>
          <a:p>
            <a:pPr algn="l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Scope:</a:t>
            </a:r>
          </a:p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Focuses on two culturally distinct nations: Australia (individualistic) and China (collectivistic).</a:t>
            </a:r>
          </a:p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amines how cultural norms shape leadership effectiveness.</a:t>
            </a:r>
          </a:p>
          <a:p>
            <a:pPr algn="l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</a:t>
            </a:r>
            <a:r>
              <a:rPr lang="en-US" sz="3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ortance:</a:t>
            </a:r>
          </a:p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nderstanding cultural variations helps improve leadership development.</a:t>
            </a:r>
          </a:p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insights for multinational organizations and global leadership strategies.</a:t>
            </a:r>
          </a:p>
        </p:txBody>
      </p:sp>
      <p:sp>
        <p:nvSpPr>
          <p:cNvPr name="AutoShape 3" id="3"/>
          <p:cNvSpPr/>
          <p:nvPr/>
        </p:nvSpPr>
        <p:spPr>
          <a:xfrm>
            <a:off x="153" y="9852583"/>
            <a:ext cx="18287847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3849434" y="-71501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02198" y="266700"/>
            <a:ext cx="13683604" cy="246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b="true" sz="6699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OVERVIEW</a:t>
            </a:r>
            <a:r>
              <a:rPr lang="en-US" b="true" sz="66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OF THE </a:t>
            </a:r>
          </a:p>
          <a:p>
            <a:pPr algn="ctr">
              <a:lnSpc>
                <a:spcPts val="9379"/>
              </a:lnSpc>
            </a:pPr>
            <a:r>
              <a:rPr lang="en-US" b="true" sz="66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RESEARCH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4635" y="1773238"/>
            <a:ext cx="16727132" cy="2769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Cognitive Prototypes &amp; Leadership Traits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eadership traits are shaped by cultural mental models.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People categorize leaders based on culturally accepted attributes.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Role of Culture in Leadership Perceptions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Cultural valu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influence how leadership is perceived and exercised.</a:t>
            </a:r>
          </a:p>
        </p:txBody>
      </p:sp>
      <p:sp>
        <p:nvSpPr>
          <p:cNvPr name="AutoShape 3" id="3"/>
          <p:cNvSpPr/>
          <p:nvPr/>
        </p:nvSpPr>
        <p:spPr>
          <a:xfrm>
            <a:off x="0" y="9791956"/>
            <a:ext cx="18287847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553980" y="346075"/>
            <a:ext cx="13180039" cy="13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KEY</a:t>
            </a:r>
            <a:r>
              <a:rPr lang="en-US" b="true" sz="6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CONCEPTS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4113206" y="-80455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943552" y="4850099"/>
          <a:ext cx="14541029" cy="4733925"/>
        </p:xfrm>
        <a:graphic>
          <a:graphicData uri="http://schemas.openxmlformats.org/drawingml/2006/table">
            <a:tbl>
              <a:tblPr/>
              <a:tblGrid>
                <a:gridCol w="7331649"/>
                <a:gridCol w="7209380"/>
              </a:tblGrid>
              <a:tr h="11138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Australia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86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86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86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86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7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China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86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86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86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86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7C6"/>
                    </a:solidFill>
                  </a:tcPr>
                </a:tc>
              </a:tr>
              <a:tr h="3620060">
                <a:tc>
                  <a:txBody>
                    <a:bodyPr anchor="t" rtlCol="false"/>
                    <a:lstStyle/>
                    <a:p>
                      <a:pPr algn="l" marL="647694" indent="-323847" lvl="1">
                        <a:lnSpc>
                          <a:spcPts val="41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Values independence, innovation, and assertiveness.</a:t>
                      </a:r>
                      <a:endParaRPr lang="en-US" sz="1100"/>
                    </a:p>
                    <a:p>
                      <a:pPr algn="l" marL="647694" indent="-323847" lvl="1">
                        <a:lnSpc>
                          <a:spcPts val="4199"/>
                        </a:lnSpc>
                        <a:buFont typeface="Arial"/>
                        <a:buChar char="•"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Leaders and employees are seen as equals.</a:t>
                      </a:r>
                    </a:p>
                    <a:p>
                      <a:pPr algn="l" marL="647694" indent="-323847" lvl="1">
                        <a:lnSpc>
                          <a:spcPts val="4199"/>
                        </a:lnSpc>
                        <a:buFont typeface="Arial"/>
                        <a:buChar char="•"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 communication and friendliness are highly valued.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5C8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5C8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86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5C8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3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647690" indent="-323845" lvl="1">
                        <a:lnSpc>
                          <a:spcPts val="41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Emphasizes hierarchy, harmony, and collective success.</a:t>
                      </a:r>
                      <a:endParaRPr lang="en-US" sz="1100"/>
                    </a:p>
                    <a:p>
                      <a:pPr algn="l" marL="647690" indent="-323845" lvl="1">
                        <a:lnSpc>
                          <a:spcPts val="4199"/>
                        </a:lnSpc>
                        <a:buFont typeface="Arial"/>
                        <a:buChar char="•"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Clear distinction between senior and junior roles.</a:t>
                      </a:r>
                    </a:p>
                    <a:p>
                      <a:pPr algn="l" marL="647690" indent="-323845" lvl="1">
                        <a:lnSpc>
                          <a:spcPts val="4199"/>
                        </a:lnSpc>
                        <a:buFont typeface="Arial"/>
                        <a:buChar char="•"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Leadership is more authoritative and structured.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5C8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5C8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86F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5C8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3D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3" y="9852583"/>
            <a:ext cx="18287847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679116" y="876300"/>
            <a:ext cx="13180039" cy="13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RESEARCH </a:t>
            </a:r>
            <a:r>
              <a:rPr lang="en-US" b="true" sz="6999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OBJECTIVE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657447" y="-80455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136887">
            <a:off x="10490643" y="3243508"/>
            <a:ext cx="5352422" cy="3464477"/>
          </a:xfrm>
          <a:custGeom>
            <a:avLst/>
            <a:gdLst/>
            <a:ahLst/>
            <a:cxnLst/>
            <a:rect r="r" b="b" t="t" l="l"/>
            <a:pathLst>
              <a:path h="3464477" w="5352422">
                <a:moveTo>
                  <a:pt x="0" y="0"/>
                </a:moveTo>
                <a:lnTo>
                  <a:pt x="5352422" y="0"/>
                </a:lnTo>
                <a:lnTo>
                  <a:pt x="5352422" y="3464476"/>
                </a:lnTo>
                <a:lnTo>
                  <a:pt x="0" y="3464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97687" y="2420506"/>
            <a:ext cx="8956256" cy="649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Main Objective:</a:t>
            </a:r>
          </a:p>
          <a:p>
            <a:pPr algn="l">
              <a:lnSpc>
                <a:spcPts val="4452"/>
              </a:lnSpc>
            </a:pPr>
            <a:r>
              <a:rPr lang="en-US" sz="31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Investigate how cultural differences influence leadership traits at different levels.</a:t>
            </a:r>
          </a:p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</a:t>
            </a:r>
            <a:r>
              <a:rPr lang="en-US" sz="39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ey Research Questions:</a:t>
            </a:r>
          </a:p>
          <a:p>
            <a:pPr algn="l" marL="686651" indent="-343326" lvl="1">
              <a:lnSpc>
                <a:spcPts val="4452"/>
              </a:lnSpc>
              <a:buAutoNum type="arabicPeriod" startAt="1"/>
            </a:pPr>
            <a:r>
              <a:rPr lang="en-US" sz="31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leadership traits are considered effective in Australia and China?</a:t>
            </a:r>
          </a:p>
          <a:p>
            <a:pPr algn="l" marL="686651" indent="-343326" lvl="1">
              <a:lnSpc>
                <a:spcPts val="4452"/>
              </a:lnSpc>
              <a:buAutoNum type="arabicPeriod" startAt="1"/>
            </a:pPr>
            <a:r>
              <a:rPr lang="en-US" sz="31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1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ow do leadership expectations differ between low-level and high-level positions?</a:t>
            </a:r>
          </a:p>
          <a:p>
            <a:pPr algn="l" marL="686651" indent="-343326" lvl="1">
              <a:lnSpc>
                <a:spcPts val="4452"/>
              </a:lnSpc>
              <a:buAutoNum type="arabicPeriod" startAt="1"/>
            </a:pPr>
            <a:r>
              <a:rPr lang="en-US" sz="31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 cultural values impact leadership perceptions and effectiveness?</a:t>
            </a:r>
          </a:p>
          <a:p>
            <a:pPr algn="l">
              <a:lnSpc>
                <a:spcPts val="4452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990583">
            <a:off x="10693736" y="3347863"/>
            <a:ext cx="6405890" cy="6560968"/>
          </a:xfrm>
          <a:custGeom>
            <a:avLst/>
            <a:gdLst/>
            <a:ahLst/>
            <a:cxnLst/>
            <a:rect r="r" b="b" t="t" l="l"/>
            <a:pathLst>
              <a:path h="6560968" w="6405890">
                <a:moveTo>
                  <a:pt x="0" y="0"/>
                </a:moveTo>
                <a:lnTo>
                  <a:pt x="6405891" y="0"/>
                </a:lnTo>
                <a:lnTo>
                  <a:pt x="6405891" y="6560968"/>
                </a:lnTo>
                <a:lnTo>
                  <a:pt x="0" y="65609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3" y="9852583"/>
            <a:ext cx="18287847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993670" y="167634"/>
            <a:ext cx="13180039" cy="256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KEY FINDINGS</a:t>
            </a:r>
          </a:p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 CULTURAL DIFFERENCES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2963281" y="-80455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027085" y="5506444"/>
            <a:ext cx="6260915" cy="4172446"/>
          </a:xfrm>
          <a:custGeom>
            <a:avLst/>
            <a:gdLst/>
            <a:ahLst/>
            <a:cxnLst/>
            <a:rect r="r" b="b" t="t" l="l"/>
            <a:pathLst>
              <a:path h="4172446" w="6260915">
                <a:moveTo>
                  <a:pt x="0" y="0"/>
                </a:moveTo>
                <a:lnTo>
                  <a:pt x="6260915" y="0"/>
                </a:lnTo>
                <a:lnTo>
                  <a:pt x="6260915" y="4172446"/>
                </a:lnTo>
                <a:lnTo>
                  <a:pt x="0" y="41724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94" t="0" r="-4302" b="-3587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53" y="5506444"/>
            <a:ext cx="6554516" cy="4111771"/>
          </a:xfrm>
          <a:custGeom>
            <a:avLst/>
            <a:gdLst/>
            <a:ahLst/>
            <a:cxnLst/>
            <a:rect r="r" b="b" t="t" l="l"/>
            <a:pathLst>
              <a:path h="4111771" w="6554516">
                <a:moveTo>
                  <a:pt x="6554516" y="0"/>
                </a:moveTo>
                <a:lnTo>
                  <a:pt x="0" y="0"/>
                </a:lnTo>
                <a:lnTo>
                  <a:pt x="0" y="4111771"/>
                </a:lnTo>
                <a:lnTo>
                  <a:pt x="6554516" y="4111771"/>
                </a:lnTo>
                <a:lnTo>
                  <a:pt x="6554516" y="0"/>
                </a:lnTo>
                <a:close/>
              </a:path>
            </a:pathLst>
          </a:custGeom>
          <a:blipFill>
            <a:blip r:embed="rId5"/>
            <a:stretch>
              <a:fillRect l="0" t="-467" r="-2018" b="-5874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669078" y="4760817"/>
            <a:ext cx="2949844" cy="2831851"/>
          </a:xfrm>
          <a:custGeom>
            <a:avLst/>
            <a:gdLst/>
            <a:ahLst/>
            <a:cxnLst/>
            <a:rect r="r" b="b" t="t" l="l"/>
            <a:pathLst>
              <a:path h="2831851" w="2949844">
                <a:moveTo>
                  <a:pt x="0" y="0"/>
                </a:moveTo>
                <a:lnTo>
                  <a:pt x="2949844" y="0"/>
                </a:lnTo>
                <a:lnTo>
                  <a:pt x="2949844" y="2831850"/>
                </a:lnTo>
                <a:lnTo>
                  <a:pt x="0" y="28318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37676" y="2670906"/>
            <a:ext cx="6192683" cy="3647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32"/>
              </a:lnSpc>
            </a:pPr>
          </a:p>
          <a:p>
            <a:pPr algn="just">
              <a:lnSpc>
                <a:spcPts val="4732"/>
              </a:lnSpc>
            </a:pPr>
            <a:r>
              <a:rPr lang="en-US" b="true" sz="33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Australians Preferred Leaders</a:t>
            </a:r>
          </a:p>
          <a:p>
            <a:pPr algn="just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Friendly</a:t>
            </a:r>
          </a:p>
          <a:p>
            <a:pPr algn="just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Communicative</a:t>
            </a:r>
          </a:p>
          <a:p>
            <a:pPr algn="just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Respectful</a:t>
            </a:r>
          </a:p>
          <a:p>
            <a:pPr algn="just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Humorous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65147" y="3381444"/>
            <a:ext cx="7775314" cy="3047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32"/>
              </a:lnSpc>
            </a:pPr>
            <a:r>
              <a:rPr lang="en-US" b="true" sz="33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Chinese Preferred Leaders</a:t>
            </a:r>
          </a:p>
          <a:p>
            <a:pPr algn="r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Team-oriented</a:t>
            </a:r>
          </a:p>
          <a:p>
            <a:pPr algn="r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Concerned</a:t>
            </a:r>
          </a:p>
          <a:p>
            <a:pPr algn="r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Modest</a:t>
            </a:r>
          </a:p>
          <a:p>
            <a:pPr algn="r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Hierarchical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3" y="9852583"/>
            <a:ext cx="18287847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3273424" y="91625"/>
            <a:ext cx="12216370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AUSTRALIANS</a:t>
            </a: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VS</a:t>
            </a:r>
            <a:r>
              <a:rPr lang="en-US" b="true" sz="6000">
                <a:solidFill>
                  <a:srgbClr val="9FC3D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6000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CHINESE</a:t>
            </a: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HYPOTHESES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814039" y="-734794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156439" y="1966416"/>
            <a:ext cx="5271519" cy="873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Hypothesis 1a: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4506" y="2706828"/>
            <a:ext cx="17931826" cy="12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Australians will value traits that reduce power differences (e.g., friendly, respectful) more than the Chinese.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8087" y="6601327"/>
            <a:ext cx="16449808" cy="12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Transformational traits (e.g., visionary, inspirational) will be more important for high-level leaders.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4506" y="8594724"/>
            <a:ext cx="17592669" cy="12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Operational traits (e.g., participative, team-player) will be more important for low-level leaders.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156439" y="3808554"/>
            <a:ext cx="5271519" cy="873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Hypothesis 1b: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8087" y="4759189"/>
            <a:ext cx="17931826" cy="12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Chinese will value traits that enhance collective orientation (e.g., modest, team-player) more than Australians.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156439" y="5860915"/>
            <a:ext cx="5271519" cy="873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Hypothesis 2a: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0" y="7649077"/>
            <a:ext cx="5271519" cy="873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Hypothesis 2b: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3" y="9852583"/>
            <a:ext cx="18287847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553980" y="762000"/>
            <a:ext cx="13180039" cy="13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METHODOLOGY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7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02457" y="2891234"/>
            <a:ext cx="14638004" cy="5605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2"/>
              </a:lnSpc>
            </a:pPr>
            <a:r>
              <a:rPr lang="en-US" sz="388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Participants:</a:t>
            </a:r>
          </a:p>
          <a:p>
            <a:pPr algn="l" marL="708241" indent="-354120" lvl="1">
              <a:lnSpc>
                <a:spcPts val="4592"/>
              </a:lnSpc>
              <a:buFont typeface="Arial"/>
              <a:buChar char="•"/>
            </a:pPr>
            <a:r>
              <a:rPr lang="en-US" b="true" sz="32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280">
                <a:solidFill>
                  <a:srgbClr val="D86F6D"/>
                </a:solidFill>
                <a:latin typeface="Arial"/>
                <a:ea typeface="Arial"/>
                <a:cs typeface="Arial"/>
                <a:sym typeface="Arial"/>
              </a:rPr>
              <a:t>84</a:t>
            </a:r>
            <a:r>
              <a:rPr lang="en-US" sz="32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Australian white-collar employees</a:t>
            </a:r>
          </a:p>
          <a:p>
            <a:pPr algn="l" marL="708241" indent="-354120" lvl="1">
              <a:lnSpc>
                <a:spcPts val="4592"/>
              </a:lnSpc>
              <a:buFont typeface="Arial"/>
              <a:buChar char="•"/>
            </a:pPr>
            <a:r>
              <a:rPr lang="en-US" sz="32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80">
                <a:solidFill>
                  <a:srgbClr val="5C808D"/>
                </a:solidFill>
                <a:latin typeface="Arial"/>
                <a:ea typeface="Arial"/>
                <a:cs typeface="Arial"/>
                <a:sym typeface="Arial"/>
              </a:rPr>
              <a:t>244</a:t>
            </a:r>
            <a:r>
              <a:rPr lang="en-US" sz="32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Chinese white-collar employees</a:t>
            </a:r>
          </a:p>
          <a:p>
            <a:pPr algn="l" marL="708241" indent="-354120" lvl="1">
              <a:lnSpc>
                <a:spcPts val="4592"/>
              </a:lnSpc>
              <a:buFont typeface="Arial"/>
              <a:buChar char="•"/>
            </a:pPr>
            <a:r>
              <a:rPr lang="en-US" sz="32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Rated </a:t>
            </a:r>
            <a:r>
              <a:rPr lang="en-US" sz="3280">
                <a:solidFill>
                  <a:srgbClr val="D86F6D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r>
              <a:rPr lang="en-US" sz="32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leadership traits for low-level and high-level leaders</a:t>
            </a:r>
          </a:p>
          <a:p>
            <a:pPr algn="l">
              <a:lnSpc>
                <a:spcPts val="5432"/>
              </a:lnSpc>
            </a:pPr>
            <a:r>
              <a:rPr lang="en-US" sz="388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Measures</a:t>
            </a:r>
            <a:r>
              <a:rPr lang="en-US" sz="388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</a:p>
          <a:p>
            <a:pPr algn="l" marL="708241" indent="-354120" lvl="1">
              <a:lnSpc>
                <a:spcPts val="4592"/>
              </a:lnSpc>
              <a:buFont typeface="Arial"/>
              <a:buChar char="•"/>
            </a:pPr>
            <a:r>
              <a:rPr lang="en-US" sz="32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Traits included inspirational, visionary, communicative, team-player, etc.</a:t>
            </a:r>
          </a:p>
          <a:p>
            <a:pPr algn="l" marL="708241" indent="-354120" lvl="1">
              <a:lnSpc>
                <a:spcPts val="4592"/>
              </a:lnSpc>
              <a:buFont typeface="Arial"/>
              <a:buChar char="•"/>
            </a:pPr>
            <a:r>
              <a:rPr lang="en-US" sz="32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Rated on a 5-point scale (1 = not important, 5 = absolutely necessary).</a:t>
            </a:r>
          </a:p>
          <a:p>
            <a:pPr algn="l">
              <a:lnSpc>
                <a:spcPts val="5432"/>
              </a:lnSpc>
            </a:pPr>
            <a:r>
              <a:rPr lang="en-US" sz="388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Data Analysis:</a:t>
            </a:r>
          </a:p>
          <a:p>
            <a:pPr algn="l" marL="708153" indent="-354077" lvl="1">
              <a:lnSpc>
                <a:spcPts val="4592"/>
              </a:lnSpc>
              <a:buFont typeface="Arial"/>
              <a:buChar char="•"/>
            </a:pPr>
            <a:r>
              <a:rPr lang="en-US" b="true" sz="32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2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Multivariate Analysis of Variance </a:t>
            </a:r>
            <a:r>
              <a:rPr lang="en-US" sz="3280">
                <a:solidFill>
                  <a:srgbClr val="5C808D"/>
                </a:solidFill>
                <a:latin typeface="Arial"/>
                <a:ea typeface="Arial"/>
                <a:cs typeface="Arial"/>
                <a:sym typeface="Arial"/>
              </a:rPr>
              <a:t>(MANOVA)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3" y="9852583"/>
            <a:ext cx="18287847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707240" y="225339"/>
            <a:ext cx="12484641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LOW-LEVEL</a:t>
            </a: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VS </a:t>
            </a:r>
            <a:r>
              <a:rPr lang="en-US" b="true" sz="6000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HIGH-LEVEL</a:t>
            </a: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LEADERSHIP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801476" y="-544294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954756" y="6248542"/>
            <a:ext cx="3804650" cy="3604041"/>
          </a:xfrm>
          <a:custGeom>
            <a:avLst/>
            <a:gdLst/>
            <a:ahLst/>
            <a:cxnLst/>
            <a:rect r="r" b="b" t="t" l="l"/>
            <a:pathLst>
              <a:path h="3604041" w="3804650">
                <a:moveTo>
                  <a:pt x="0" y="0"/>
                </a:moveTo>
                <a:lnTo>
                  <a:pt x="3804651" y="0"/>
                </a:lnTo>
                <a:lnTo>
                  <a:pt x="3804651" y="3604041"/>
                </a:lnTo>
                <a:lnTo>
                  <a:pt x="0" y="3604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802438" y="6214647"/>
            <a:ext cx="4512927" cy="3593931"/>
          </a:xfrm>
          <a:custGeom>
            <a:avLst/>
            <a:gdLst/>
            <a:ahLst/>
            <a:cxnLst/>
            <a:rect r="r" b="b" t="t" l="l"/>
            <a:pathLst>
              <a:path h="3593931" w="4512927">
                <a:moveTo>
                  <a:pt x="0" y="0"/>
                </a:moveTo>
                <a:lnTo>
                  <a:pt x="4512927" y="0"/>
                </a:lnTo>
                <a:lnTo>
                  <a:pt x="4512927" y="3593931"/>
                </a:lnTo>
                <a:lnTo>
                  <a:pt x="0" y="3593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073857" y="6306048"/>
            <a:ext cx="3417973" cy="3546535"/>
          </a:xfrm>
          <a:custGeom>
            <a:avLst/>
            <a:gdLst/>
            <a:ahLst/>
            <a:cxnLst/>
            <a:rect r="r" b="b" t="t" l="l"/>
            <a:pathLst>
              <a:path h="3546535" w="3417973">
                <a:moveTo>
                  <a:pt x="0" y="0"/>
                </a:moveTo>
                <a:lnTo>
                  <a:pt x="3417973" y="0"/>
                </a:lnTo>
                <a:lnTo>
                  <a:pt x="3417973" y="3546535"/>
                </a:lnTo>
                <a:lnTo>
                  <a:pt x="0" y="35465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0419" y="2619729"/>
            <a:ext cx="6417632" cy="873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High-Level Leaders: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419" y="3602545"/>
            <a:ext cx="17931010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Visionary:</a:t>
            </a: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They think about where the company should go in 5 or 10 years.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419" y="4429170"/>
            <a:ext cx="15584886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Courageous:</a:t>
            </a: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They take risks to make big changes.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572" y="5255796"/>
            <a:ext cx="15584733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Inspirational: </a:t>
            </a: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energize and motivate people.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3" y="9852583"/>
            <a:ext cx="18287847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3357286" y="265973"/>
            <a:ext cx="11573429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LOW-LEVEL</a:t>
            </a: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VS </a:t>
            </a:r>
            <a:r>
              <a:rPr lang="en-US" b="true" sz="6000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HIGH-LEVEL</a:t>
            </a: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LEADERSHIP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9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814039" y="-734794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5481" y="6158763"/>
            <a:ext cx="4691918" cy="3693819"/>
          </a:xfrm>
          <a:custGeom>
            <a:avLst/>
            <a:gdLst/>
            <a:ahLst/>
            <a:cxnLst/>
            <a:rect r="r" b="b" t="t" l="l"/>
            <a:pathLst>
              <a:path h="3693819" w="4691918">
                <a:moveTo>
                  <a:pt x="0" y="0"/>
                </a:moveTo>
                <a:lnTo>
                  <a:pt x="4691919" y="0"/>
                </a:lnTo>
                <a:lnTo>
                  <a:pt x="4691919" y="3693820"/>
                </a:lnTo>
                <a:lnTo>
                  <a:pt x="0" y="369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406751" y="6158763"/>
            <a:ext cx="3342907" cy="3693819"/>
          </a:xfrm>
          <a:custGeom>
            <a:avLst/>
            <a:gdLst/>
            <a:ahLst/>
            <a:cxnLst/>
            <a:rect r="r" b="b" t="t" l="l"/>
            <a:pathLst>
              <a:path h="3693819" w="3342907">
                <a:moveTo>
                  <a:pt x="0" y="0"/>
                </a:moveTo>
                <a:lnTo>
                  <a:pt x="3342907" y="0"/>
                </a:lnTo>
                <a:lnTo>
                  <a:pt x="3342907" y="3693820"/>
                </a:lnTo>
                <a:lnTo>
                  <a:pt x="0" y="36938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733444" y="6909284"/>
            <a:ext cx="4747256" cy="2943299"/>
          </a:xfrm>
          <a:custGeom>
            <a:avLst/>
            <a:gdLst/>
            <a:ahLst/>
            <a:cxnLst/>
            <a:rect r="r" b="b" t="t" l="l"/>
            <a:pathLst>
              <a:path h="2943299" w="4747256">
                <a:moveTo>
                  <a:pt x="0" y="0"/>
                </a:moveTo>
                <a:lnTo>
                  <a:pt x="4747257" y="0"/>
                </a:lnTo>
                <a:lnTo>
                  <a:pt x="4747257" y="2943299"/>
                </a:lnTo>
                <a:lnTo>
                  <a:pt x="0" y="29432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4928" y="2620995"/>
            <a:ext cx="6417632" cy="873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Low-Level Leaders: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928" y="3603812"/>
            <a:ext cx="17316839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Team-Player: </a:t>
            </a: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work closely with their team to solve problems</a:t>
            </a:r>
            <a:r>
              <a:rPr lang="en-US" b="true" sz="3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928" y="4430437"/>
            <a:ext cx="16449808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Respectful: </a:t>
            </a: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treat everyone equally and value opinions.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081" y="5257062"/>
            <a:ext cx="17592669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Humorous: </a:t>
            </a: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create a friendly and stress-free atmosphere.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3" y="9852583"/>
            <a:ext cx="18287847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3304949" y="444500"/>
            <a:ext cx="11261699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LEADER-LEVEL</a:t>
            </a:r>
            <a:r>
              <a:rPr lang="en-US" b="true" sz="6000">
                <a:solidFill>
                  <a:srgbClr val="97BFC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6000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INTERACTION </a:t>
            </a: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EFFECTS  </a:t>
            </a:r>
            <a:r>
              <a:rPr lang="en-US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 </a:t>
            </a:r>
            <a:r>
              <a:rPr lang="en-US" b="true" sz="6000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VS</a:t>
            </a: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232746" y="-80455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3" y="3238872"/>
            <a:ext cx="9143847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Australian Leadership Style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1560" y="4029536"/>
            <a:ext cx="15728738" cy="1847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1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High-Level Focus </a:t>
            </a:r>
            <a:r>
              <a:rPr lang="en-US" b="true" sz="3399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Focus on Strategy &amp; Innovation</a:t>
            </a:r>
          </a:p>
          <a:p>
            <a:pPr algn="l" marL="734051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Low-Level Focus </a:t>
            </a:r>
            <a:r>
              <a:rPr lang="en-US" b="true" sz="3399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  <a:r>
              <a:rPr lang="en-US" b="true" sz="3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 on Team Collaboration</a:t>
            </a:r>
          </a:p>
          <a:p>
            <a:pPr algn="l" marL="734051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Power Distance </a:t>
            </a:r>
            <a:r>
              <a:rPr lang="en-US" b="true" sz="3399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  <a:r>
              <a:rPr lang="en-US" b="true" sz="3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(Leaders &amp; employees are close)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6003840"/>
            <a:ext cx="8935799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Chinese Leadership Style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1560" y="6826165"/>
            <a:ext cx="15237595" cy="1847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1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High-Level Focus </a:t>
            </a:r>
            <a:r>
              <a:rPr lang="en-US" b="true" sz="3399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  <a:r>
              <a:rPr lang="en-US" b="true" sz="3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Leadership remains the same at all levels</a:t>
            </a:r>
          </a:p>
          <a:p>
            <a:pPr algn="l" marL="734051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Low-Level Focus </a:t>
            </a:r>
            <a:r>
              <a:rPr lang="en-US" b="true" sz="3399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  <a:r>
              <a:rPr lang="en-US" b="true" sz="3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Leadership is about hierarchy, harmony &amp; respect</a:t>
            </a:r>
          </a:p>
          <a:p>
            <a:pPr algn="l" marL="734051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Power Distance </a:t>
            </a:r>
            <a:r>
              <a:rPr lang="en-US" b="true" sz="3399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  <a:r>
              <a:rPr lang="en-US" b="true" sz="3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(Hierarchy is respected)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3" y="9852583"/>
            <a:ext cx="18287847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3776923" y="593434"/>
            <a:ext cx="10734155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4"/>
              </a:lnSpc>
            </a:pPr>
            <a:r>
              <a:rPr lang="en-US" b="true" sz="5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LEADERSHIP TRAIT RATINGS  </a:t>
            </a:r>
            <a:r>
              <a:rPr lang="en-US" b="true" sz="5499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AUSTRALIA</a:t>
            </a:r>
            <a:r>
              <a:rPr lang="en-US" b="true" sz="5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VS </a:t>
            </a:r>
            <a:r>
              <a:rPr lang="en-US" b="true" sz="5499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CHINA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11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657447" y="-54625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006439" y="2351749"/>
            <a:ext cx="12579716" cy="7356139"/>
          </a:xfrm>
          <a:custGeom>
            <a:avLst/>
            <a:gdLst/>
            <a:ahLst/>
            <a:cxnLst/>
            <a:rect r="r" b="b" t="t" l="l"/>
            <a:pathLst>
              <a:path h="7356139" w="12579716">
                <a:moveTo>
                  <a:pt x="0" y="0"/>
                </a:moveTo>
                <a:lnTo>
                  <a:pt x="12579716" y="0"/>
                </a:lnTo>
                <a:lnTo>
                  <a:pt x="12579716" y="7356138"/>
                </a:lnTo>
                <a:lnTo>
                  <a:pt x="0" y="7356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10" t="-2946" r="-1904" b="-3537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3" y="9852583"/>
            <a:ext cx="18287847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3720058" y="154491"/>
            <a:ext cx="10949968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CROSS-CULTURAL </a:t>
            </a:r>
            <a:r>
              <a:rPr lang="en-US" b="true" sz="6000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SIMILARITIES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12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299742" y="-50329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69873" y="5169171"/>
            <a:ext cx="3900369" cy="1071842"/>
            <a:chOff x="0" y="0"/>
            <a:chExt cx="1027258" cy="2822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7258" cy="282296"/>
            </a:xfrm>
            <a:custGeom>
              <a:avLst/>
              <a:gdLst/>
              <a:ahLst/>
              <a:cxnLst/>
              <a:rect r="r" b="b" t="t" l="l"/>
              <a:pathLst>
                <a:path h="282296" w="1027258">
                  <a:moveTo>
                    <a:pt x="0" y="0"/>
                  </a:moveTo>
                  <a:lnTo>
                    <a:pt x="1027258" y="0"/>
                  </a:lnTo>
                  <a:lnTo>
                    <a:pt x="1027258" y="282296"/>
                  </a:lnTo>
                  <a:lnTo>
                    <a:pt x="0" y="282296"/>
                  </a:lnTo>
                  <a:close/>
                </a:path>
              </a:pathLst>
            </a:custGeom>
            <a:solidFill>
              <a:srgbClr val="FFB4B2"/>
            </a:solidFill>
            <a:ln w="38100" cap="sq">
              <a:solidFill>
                <a:srgbClr val="97BFC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1027258" cy="396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Innovative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40340" y="5953979"/>
            <a:ext cx="2880754" cy="1606699"/>
            <a:chOff x="0" y="0"/>
            <a:chExt cx="1139409" cy="6354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9409" cy="635489"/>
            </a:xfrm>
            <a:custGeom>
              <a:avLst/>
              <a:gdLst/>
              <a:ahLst/>
              <a:cxnLst/>
              <a:rect r="r" b="b" t="t" l="l"/>
              <a:pathLst>
                <a:path h="635489" w="1139409">
                  <a:moveTo>
                    <a:pt x="569705" y="0"/>
                  </a:moveTo>
                  <a:cubicBezTo>
                    <a:pt x="255065" y="0"/>
                    <a:pt x="0" y="142259"/>
                    <a:pt x="0" y="317744"/>
                  </a:cubicBezTo>
                  <a:cubicBezTo>
                    <a:pt x="0" y="493230"/>
                    <a:pt x="255065" y="635489"/>
                    <a:pt x="569705" y="635489"/>
                  </a:cubicBezTo>
                  <a:cubicBezTo>
                    <a:pt x="884344" y="635489"/>
                    <a:pt x="1139409" y="493230"/>
                    <a:pt x="1139409" y="317744"/>
                  </a:cubicBezTo>
                  <a:cubicBezTo>
                    <a:pt x="1139409" y="142259"/>
                    <a:pt x="884344" y="0"/>
                    <a:pt x="569705" y="0"/>
                  </a:cubicBezTo>
                  <a:close/>
                </a:path>
              </a:pathLst>
            </a:custGeom>
            <a:solidFill>
              <a:srgbClr val="97BFCD"/>
            </a:solidFill>
            <a:ln w="38100" cap="sq">
              <a:solidFill>
                <a:srgbClr val="FFB4B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6820" y="-64248"/>
              <a:ext cx="925770" cy="640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Similarities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5670242" y="5705092"/>
            <a:ext cx="2710475" cy="2488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9821095" y="6757328"/>
            <a:ext cx="2087026" cy="1871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>
            <a:off x="5489634" y="7560678"/>
            <a:ext cx="2891083" cy="13240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1908121" y="6408520"/>
            <a:ext cx="4515839" cy="1071842"/>
            <a:chOff x="0" y="0"/>
            <a:chExt cx="1189357" cy="2822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89357" cy="282296"/>
            </a:xfrm>
            <a:custGeom>
              <a:avLst/>
              <a:gdLst/>
              <a:ahLst/>
              <a:cxnLst/>
              <a:rect r="r" b="b" t="t" l="l"/>
              <a:pathLst>
                <a:path h="282296" w="1189357">
                  <a:moveTo>
                    <a:pt x="0" y="0"/>
                  </a:moveTo>
                  <a:lnTo>
                    <a:pt x="1189357" y="0"/>
                  </a:lnTo>
                  <a:lnTo>
                    <a:pt x="1189357" y="282296"/>
                  </a:lnTo>
                  <a:lnTo>
                    <a:pt x="0" y="282296"/>
                  </a:lnTo>
                  <a:close/>
                </a:path>
              </a:pathLst>
            </a:custGeom>
            <a:solidFill>
              <a:srgbClr val="FFB4B2"/>
            </a:solidFill>
            <a:ln w="38100" cap="sq">
              <a:solidFill>
                <a:srgbClr val="97BFCD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14300"/>
              <a:ext cx="1189357" cy="396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Team-Oriented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937728" y="8186458"/>
            <a:ext cx="3732514" cy="1071842"/>
            <a:chOff x="0" y="0"/>
            <a:chExt cx="983049" cy="2822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83049" cy="282296"/>
            </a:xfrm>
            <a:custGeom>
              <a:avLst/>
              <a:gdLst/>
              <a:ahLst/>
              <a:cxnLst/>
              <a:rect r="r" b="b" t="t" l="l"/>
              <a:pathLst>
                <a:path h="282296" w="983049">
                  <a:moveTo>
                    <a:pt x="0" y="0"/>
                  </a:moveTo>
                  <a:lnTo>
                    <a:pt x="983049" y="0"/>
                  </a:lnTo>
                  <a:lnTo>
                    <a:pt x="983049" y="282296"/>
                  </a:lnTo>
                  <a:lnTo>
                    <a:pt x="0" y="282296"/>
                  </a:lnTo>
                  <a:close/>
                </a:path>
              </a:pathLst>
            </a:custGeom>
            <a:solidFill>
              <a:srgbClr val="FFB4B2"/>
            </a:solidFill>
            <a:ln w="38100" cap="sq">
              <a:solidFill>
                <a:srgbClr val="97BFCD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114300"/>
              <a:ext cx="983049" cy="396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Trustworthy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065786" y="8370851"/>
            <a:ext cx="703056" cy="703056"/>
          </a:xfrm>
          <a:custGeom>
            <a:avLst/>
            <a:gdLst/>
            <a:ahLst/>
            <a:cxnLst/>
            <a:rect r="r" b="b" t="t" l="l"/>
            <a:pathLst>
              <a:path h="703056" w="703056">
                <a:moveTo>
                  <a:pt x="0" y="0"/>
                </a:moveTo>
                <a:lnTo>
                  <a:pt x="703055" y="0"/>
                </a:lnTo>
                <a:lnTo>
                  <a:pt x="703055" y="703056"/>
                </a:lnTo>
                <a:lnTo>
                  <a:pt x="0" y="703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078694" y="6623032"/>
            <a:ext cx="644586" cy="642818"/>
          </a:xfrm>
          <a:custGeom>
            <a:avLst/>
            <a:gdLst/>
            <a:ahLst/>
            <a:cxnLst/>
            <a:rect r="r" b="b" t="t" l="l"/>
            <a:pathLst>
              <a:path h="642818" w="644586">
                <a:moveTo>
                  <a:pt x="0" y="0"/>
                </a:moveTo>
                <a:lnTo>
                  <a:pt x="644586" y="0"/>
                </a:lnTo>
                <a:lnTo>
                  <a:pt x="644586" y="642818"/>
                </a:lnTo>
                <a:lnTo>
                  <a:pt x="0" y="6428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937728" y="5297732"/>
            <a:ext cx="761393" cy="814720"/>
          </a:xfrm>
          <a:custGeom>
            <a:avLst/>
            <a:gdLst/>
            <a:ahLst/>
            <a:cxnLst/>
            <a:rect r="r" b="b" t="t" l="l"/>
            <a:pathLst>
              <a:path h="814720" w="761393">
                <a:moveTo>
                  <a:pt x="0" y="0"/>
                </a:moveTo>
                <a:lnTo>
                  <a:pt x="761393" y="0"/>
                </a:lnTo>
                <a:lnTo>
                  <a:pt x="761393" y="814720"/>
                </a:lnTo>
                <a:lnTo>
                  <a:pt x="0" y="8147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57858" y="2555510"/>
            <a:ext cx="14800659" cy="196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0" indent="-388615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Innovative: </a:t>
            </a:r>
            <a:r>
              <a:rPr lang="en-US" sz="3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Leaders must bring new ideas to solve problems.</a:t>
            </a:r>
          </a:p>
          <a:p>
            <a:pPr algn="l" marL="777230" indent="-388615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Trustworthy: </a:t>
            </a:r>
            <a:r>
              <a:rPr lang="en-US" sz="3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Leaders must gain the trust of their team.</a:t>
            </a:r>
          </a:p>
          <a:p>
            <a:pPr algn="l" marL="777230" indent="-388615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Team-Oriented: </a:t>
            </a:r>
            <a:r>
              <a:rPr lang="en-US" sz="3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 cultures value leaders who promote teamwork.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3" y="9852583"/>
            <a:ext cx="18287847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13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021985" y="4327705"/>
            <a:ext cx="2893870" cy="2173033"/>
          </a:xfrm>
          <a:custGeom>
            <a:avLst/>
            <a:gdLst/>
            <a:ahLst/>
            <a:cxnLst/>
            <a:rect r="r" b="b" t="t" l="l"/>
            <a:pathLst>
              <a:path h="2173033" w="2893870">
                <a:moveTo>
                  <a:pt x="0" y="0"/>
                </a:moveTo>
                <a:lnTo>
                  <a:pt x="2893870" y="0"/>
                </a:lnTo>
                <a:lnTo>
                  <a:pt x="2893870" y="2173034"/>
                </a:lnTo>
                <a:lnTo>
                  <a:pt x="0" y="21730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74814" y="4232009"/>
            <a:ext cx="2386413" cy="2386413"/>
          </a:xfrm>
          <a:custGeom>
            <a:avLst/>
            <a:gdLst/>
            <a:ahLst/>
            <a:cxnLst/>
            <a:rect r="r" b="b" t="t" l="l"/>
            <a:pathLst>
              <a:path h="2386413" w="2386413">
                <a:moveTo>
                  <a:pt x="0" y="0"/>
                </a:moveTo>
                <a:lnTo>
                  <a:pt x="2386412" y="0"/>
                </a:lnTo>
                <a:lnTo>
                  <a:pt x="2386412" y="2386413"/>
                </a:lnTo>
                <a:lnTo>
                  <a:pt x="0" y="23864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1834" y="3348631"/>
            <a:ext cx="10690056" cy="499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Leadership traits are </a:t>
            </a: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culturally contingent and role-specific.</a:t>
            </a:r>
          </a:p>
          <a:p>
            <a:pPr algn="l" marL="755649" indent="-377824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Australia</a:t>
            </a:r>
            <a:r>
              <a:rPr lang="en-US" sz="3499">
                <a:solidFill>
                  <a:srgbClr val="1D106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</a:t>
            </a:r>
            <a:r>
              <a:rPr lang="en-US" sz="3499">
                <a:solidFill>
                  <a:srgbClr val="1D106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friendly, approachable leaders.</a:t>
            </a:r>
          </a:p>
          <a:p>
            <a:pPr algn="l" marL="755649" indent="-377824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China</a:t>
            </a:r>
            <a:r>
              <a:rPr lang="en-US" b="true" sz="3499">
                <a:solidFill>
                  <a:srgbClr val="1D106B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prefers</a:t>
            </a:r>
            <a:r>
              <a:rPr lang="en-US" b="true" sz="3499">
                <a:solidFill>
                  <a:srgbClr val="1D106B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hierarchical, modest leadership.</a:t>
            </a:r>
          </a:p>
          <a:p>
            <a:pPr algn="l" marL="755649" indent="-377824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High-level leaders</a:t>
            </a: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expected to be</a:t>
            </a:r>
            <a:r>
              <a:rPr lang="en-US" sz="3499">
                <a:solidFill>
                  <a:srgbClr val="540C5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visionary and courageous.</a:t>
            </a:r>
          </a:p>
          <a:p>
            <a:pPr algn="l" marL="755649" indent="-377824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Low-level leaders</a:t>
            </a:r>
            <a:r>
              <a:rPr lang="en-US" sz="3499">
                <a:solidFill>
                  <a:srgbClr val="D86F6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expected to be </a:t>
            </a: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players and participative.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98210" y="771525"/>
            <a:ext cx="13180039" cy="1261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b="true" sz="6600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SUMMARY </a:t>
            </a:r>
            <a:r>
              <a:rPr lang="en-US" b="true" sz="6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OF</a:t>
            </a:r>
            <a:r>
              <a:rPr lang="en-US" b="true" sz="6600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6600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FINDINGS</a:t>
            </a:r>
            <a:r>
              <a:rPr lang="en-US" b="true" sz="6600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6193519">
            <a:off x="15465341" y="5592492"/>
            <a:ext cx="2587231" cy="3312350"/>
          </a:xfrm>
          <a:custGeom>
            <a:avLst/>
            <a:gdLst/>
            <a:ahLst/>
            <a:cxnLst/>
            <a:rect r="r" b="b" t="t" l="l"/>
            <a:pathLst>
              <a:path h="3312350" w="2587231">
                <a:moveTo>
                  <a:pt x="0" y="0"/>
                </a:moveTo>
                <a:lnTo>
                  <a:pt x="2587230" y="0"/>
                </a:lnTo>
                <a:lnTo>
                  <a:pt x="2587230" y="3312350"/>
                </a:lnTo>
                <a:lnTo>
                  <a:pt x="0" y="33123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56120" t="-147994" r="-141473" b="-230078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363574" y="5098407"/>
            <a:ext cx="2268621" cy="3040029"/>
          </a:xfrm>
          <a:custGeom>
            <a:avLst/>
            <a:gdLst/>
            <a:ahLst/>
            <a:cxnLst/>
            <a:rect r="r" b="b" t="t" l="l"/>
            <a:pathLst>
              <a:path h="3040029" w="2268621">
                <a:moveTo>
                  <a:pt x="0" y="0"/>
                </a:moveTo>
                <a:lnTo>
                  <a:pt x="2268621" y="0"/>
                </a:lnTo>
                <a:lnTo>
                  <a:pt x="2268621" y="3040029"/>
                </a:lnTo>
                <a:lnTo>
                  <a:pt x="0" y="30400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3" y="9852583"/>
            <a:ext cx="18287847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679116" y="275288"/>
            <a:ext cx="13180039" cy="163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0"/>
              </a:lnSpc>
            </a:pPr>
            <a:r>
              <a:rPr lang="en-US" b="true" sz="6000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IMPLICATIONS</a:t>
            </a:r>
            <a:r>
              <a:rPr lang="en-US" b="true" sz="6000">
                <a:solidFill>
                  <a:srgbClr val="0A501E"/>
                </a:solidFill>
                <a:latin typeface="Arial Bold"/>
                <a:ea typeface="Arial Bold"/>
                <a:cs typeface="Arial Bold"/>
                <a:sym typeface="Arial Bold"/>
              </a:rPr>
              <a:t>  </a:t>
            </a: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FOR</a:t>
            </a:r>
            <a:r>
              <a:rPr lang="en-US" b="true" sz="6000">
                <a:solidFill>
                  <a:srgbClr val="0A501E"/>
                </a:solidFill>
                <a:latin typeface="Arial Bold"/>
                <a:ea typeface="Arial Bold"/>
                <a:cs typeface="Arial Bold"/>
                <a:sym typeface="Arial Bold"/>
              </a:rPr>
              <a:t>  </a:t>
            </a:r>
          </a:p>
          <a:p>
            <a:pPr algn="ctr">
              <a:lnSpc>
                <a:spcPts val="5820"/>
              </a:lnSpc>
            </a:pPr>
            <a:r>
              <a:rPr lang="en-US" b="true" sz="6000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ORGANIZATIONS</a:t>
            </a:r>
            <a:r>
              <a:rPr lang="en-US" b="true" sz="6000">
                <a:solidFill>
                  <a:srgbClr val="0A501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14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657447" y="-80455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032904" y="2246963"/>
            <a:ext cx="8039282" cy="3782229"/>
          </a:xfrm>
          <a:custGeom>
            <a:avLst/>
            <a:gdLst/>
            <a:ahLst/>
            <a:cxnLst/>
            <a:rect r="r" b="b" t="t" l="l"/>
            <a:pathLst>
              <a:path h="3782229" w="8039282">
                <a:moveTo>
                  <a:pt x="0" y="0"/>
                </a:moveTo>
                <a:lnTo>
                  <a:pt x="8039283" y="0"/>
                </a:lnTo>
                <a:lnTo>
                  <a:pt x="8039283" y="3782228"/>
                </a:lnTo>
                <a:lnTo>
                  <a:pt x="0" y="37822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59842" y="2113613"/>
            <a:ext cx="11807455" cy="765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Adapt Leadership Styles: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Leaders should adjust their approach to fit cultural expectations.</a:t>
            </a:r>
          </a:p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Training Programs: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Offer cross-cultural leadership workshops.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 on adapting to both hierarchical and egalitarian structures.</a:t>
            </a:r>
          </a:p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Real Life Examples:</a:t>
            </a:r>
            <a:r>
              <a:rPr lang="en-US" sz="3400" b="true">
                <a:solidFill>
                  <a:srgbClr val="1D106B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Successful global companies like </a:t>
            </a:r>
            <a:r>
              <a:rPr lang="en-US" b="true" sz="3300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Apple, McDonald's, Google, Unilever, and Coca-Cola</a:t>
            </a: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adapt leadership styles to fit cultural expectations—embracing hierarchy in Asia, decentralization in west, and local empowerment worldwide to ensure effective leadership across markets.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478137" y="4168757"/>
            <a:ext cx="4063737" cy="4114800"/>
          </a:xfrm>
          <a:custGeom>
            <a:avLst/>
            <a:gdLst/>
            <a:ahLst/>
            <a:cxnLst/>
            <a:rect r="r" b="b" t="t" l="l"/>
            <a:pathLst>
              <a:path h="4114800" w="4063737">
                <a:moveTo>
                  <a:pt x="0" y="0"/>
                </a:moveTo>
                <a:lnTo>
                  <a:pt x="4063737" y="0"/>
                </a:lnTo>
                <a:lnTo>
                  <a:pt x="4063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579432" y="4967082"/>
            <a:ext cx="1055556" cy="1158794"/>
          </a:xfrm>
          <a:custGeom>
            <a:avLst/>
            <a:gdLst/>
            <a:ahLst/>
            <a:cxnLst/>
            <a:rect r="r" b="b" t="t" l="l"/>
            <a:pathLst>
              <a:path h="1158794" w="1055556">
                <a:moveTo>
                  <a:pt x="0" y="0"/>
                </a:moveTo>
                <a:lnTo>
                  <a:pt x="1055556" y="0"/>
                </a:lnTo>
                <a:lnTo>
                  <a:pt x="1055556" y="1158794"/>
                </a:lnTo>
                <a:lnTo>
                  <a:pt x="0" y="11587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370255" y="5054086"/>
            <a:ext cx="1069782" cy="1172072"/>
          </a:xfrm>
          <a:custGeom>
            <a:avLst/>
            <a:gdLst/>
            <a:ahLst/>
            <a:cxnLst/>
            <a:rect r="r" b="b" t="t" l="l"/>
            <a:pathLst>
              <a:path h="1172072" w="1069782">
                <a:moveTo>
                  <a:pt x="0" y="0"/>
                </a:moveTo>
                <a:lnTo>
                  <a:pt x="1069782" y="0"/>
                </a:lnTo>
                <a:lnTo>
                  <a:pt x="1069782" y="1172071"/>
                </a:lnTo>
                <a:lnTo>
                  <a:pt x="0" y="11720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478137" y="3166057"/>
            <a:ext cx="1091612" cy="1570665"/>
          </a:xfrm>
          <a:custGeom>
            <a:avLst/>
            <a:gdLst/>
            <a:ahLst/>
            <a:cxnLst/>
            <a:rect r="r" b="b" t="t" l="l"/>
            <a:pathLst>
              <a:path h="1570665" w="1091612">
                <a:moveTo>
                  <a:pt x="0" y="0"/>
                </a:moveTo>
                <a:lnTo>
                  <a:pt x="1091612" y="0"/>
                </a:lnTo>
                <a:lnTo>
                  <a:pt x="1091612" y="1570665"/>
                </a:lnTo>
                <a:lnTo>
                  <a:pt x="0" y="15706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052545" y="3166057"/>
            <a:ext cx="914920" cy="914920"/>
          </a:xfrm>
          <a:custGeom>
            <a:avLst/>
            <a:gdLst/>
            <a:ahLst/>
            <a:cxnLst/>
            <a:rect r="r" b="b" t="t" l="l"/>
            <a:pathLst>
              <a:path h="914920" w="914920">
                <a:moveTo>
                  <a:pt x="0" y="0"/>
                </a:moveTo>
                <a:lnTo>
                  <a:pt x="914921" y="0"/>
                </a:lnTo>
                <a:lnTo>
                  <a:pt x="914921" y="914920"/>
                </a:lnTo>
                <a:lnTo>
                  <a:pt x="0" y="9149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720657" y="3623517"/>
            <a:ext cx="1066984" cy="1029120"/>
          </a:xfrm>
          <a:custGeom>
            <a:avLst/>
            <a:gdLst/>
            <a:ahLst/>
            <a:cxnLst/>
            <a:rect r="r" b="b" t="t" l="l"/>
            <a:pathLst>
              <a:path h="1029120" w="1066984">
                <a:moveTo>
                  <a:pt x="0" y="0"/>
                </a:moveTo>
                <a:lnTo>
                  <a:pt x="1066984" y="0"/>
                </a:lnTo>
                <a:lnTo>
                  <a:pt x="1066984" y="1029120"/>
                </a:lnTo>
                <a:lnTo>
                  <a:pt x="0" y="102912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7876" y="3014355"/>
            <a:ext cx="15256843" cy="7071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Challenge: Leadership Mismatch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Uber expanded into </a:t>
            </a:r>
            <a:r>
              <a:rPr lang="en-US" b="true" sz="3600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China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but faced cultural and leadership challenges.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Applied </a:t>
            </a:r>
            <a:r>
              <a:rPr lang="en-US" b="true" sz="3600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Silicon Valley-style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decentralized leadership, focusing on aggressive expansion and driver incentives.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China, business success relies on government relationships and hierarchical leadership.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Uber lacked strong leadership ties with key stakeholders, causing </a:t>
            </a:r>
            <a:r>
              <a:rPr lang="en-US" b="true" sz="3600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operational</a:t>
            </a:r>
            <a:r>
              <a:rPr lang="en-US" b="true" sz="3600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b="true" sz="3600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3600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regulatory</a:t>
            </a:r>
            <a:r>
              <a:rPr lang="en-US" b="true" sz="3600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setbacks</a:t>
            </a:r>
            <a:r>
              <a:rPr lang="en-US" b="true" sz="3600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153" y="9852583"/>
            <a:ext cx="18287847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055655" y="473075"/>
            <a:ext cx="13803500" cy="1977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b="true" sz="5400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CASE STUDY:  </a:t>
            </a:r>
            <a:r>
              <a:rPr lang="en-US" b="true" sz="5400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UBER’S LEADERSHIP CHALLENGES IN CHINA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15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4538228" y="-80455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606" y="2750944"/>
            <a:ext cx="16030855" cy="604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Solution: Adaptation and Leadership Shift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Partnered with local companies (e.g., Baidu).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Appointed local executives.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Adjusted leadership approach.</a:t>
            </a:r>
          </a:p>
          <a:p>
            <a:pPr algn="l">
              <a:lnSpc>
                <a:spcPts val="4760"/>
              </a:lnSpc>
            </a:pPr>
          </a:p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Outcome: Partial Success, But Strategic Exit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Despite improvements, Uber couldn’t compete with </a:t>
            </a:r>
            <a:r>
              <a:rPr lang="en-US" sz="3400">
                <a:solidFill>
                  <a:srgbClr val="D86F6D"/>
                </a:solidFill>
                <a:latin typeface="Arial"/>
                <a:ea typeface="Arial"/>
                <a:cs typeface="Arial"/>
                <a:sym typeface="Arial"/>
              </a:rPr>
              <a:t>Didi Chuxing</a:t>
            </a: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which had government support and local leadership expertise.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3400">
                <a:solidFill>
                  <a:srgbClr val="D86F6D"/>
                </a:solidFill>
                <a:latin typeface="Arial"/>
                <a:ea typeface="Arial"/>
                <a:cs typeface="Arial"/>
                <a:sym typeface="Arial"/>
              </a:rPr>
              <a:t>2016</a:t>
            </a: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Uber sold its China operations to Did</a:t>
            </a:r>
            <a:r>
              <a:rPr lang="en-US" sz="3400">
                <a:solidFill>
                  <a:srgbClr val="D86F6D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after recognizing the challenges of adapting to the local leadership culture.</a:t>
            </a:r>
          </a:p>
        </p:txBody>
      </p:sp>
      <p:sp>
        <p:nvSpPr>
          <p:cNvPr name="AutoShape 3" id="3"/>
          <p:cNvSpPr/>
          <p:nvPr/>
        </p:nvSpPr>
        <p:spPr>
          <a:xfrm>
            <a:off x="153" y="9852583"/>
            <a:ext cx="18287847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757804" y="343485"/>
            <a:ext cx="12772392" cy="1803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4"/>
              </a:lnSpc>
            </a:pPr>
            <a:r>
              <a:rPr lang="en-US" b="true" sz="5300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CASE STUDY:  </a:t>
            </a:r>
            <a:r>
              <a:rPr lang="en-US" b="true" sz="5300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UBER’S LEADERSHIP CHALLENGES IN CHINA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16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4194071" y="-593615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4471" y="1510665"/>
            <a:ext cx="16599681" cy="7747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Cultural Awareness is Key: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Effective leaders understand and adapt to different cultures.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Blend Leadership Styles: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 universal principles with cultural nuances.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Embrace Diversity: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Diverse teams foster innovation and collaboration.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Take Action: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Invest in cross-cultural training to stay competitive. </a:t>
            </a:r>
          </a:p>
          <a:p>
            <a:pPr algn="l">
              <a:lnSpc>
                <a:spcPts val="5040"/>
              </a:lnSpc>
            </a:pPr>
          </a:p>
          <a:p>
            <a:pPr algn="ctr">
              <a:lnSpc>
                <a:spcPts val="5179"/>
              </a:lnSpc>
            </a:pPr>
          </a:p>
          <a:p>
            <a:pPr algn="ctr">
              <a:lnSpc>
                <a:spcPts val="5179"/>
              </a:lnSpc>
            </a:pPr>
            <a:r>
              <a:rPr lang="en-US" sz="36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“</a:t>
            </a:r>
            <a:r>
              <a:rPr lang="en-US" sz="36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Great leaders don’t just lead; they adapt.”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153" y="9852583"/>
            <a:ext cx="18287847" cy="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679116" y="269561"/>
            <a:ext cx="13180039" cy="1261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b="true" sz="6600">
                <a:solidFill>
                  <a:srgbClr val="D86F6D"/>
                </a:solidFill>
                <a:latin typeface="Arial Bold"/>
                <a:ea typeface="Arial Bold"/>
                <a:cs typeface="Arial Bold"/>
                <a:sym typeface="Arial Bold"/>
              </a:rPr>
              <a:t>CLOSING  </a:t>
            </a:r>
            <a:r>
              <a:rPr lang="en-US" b="true" sz="6600">
                <a:solidFill>
                  <a:srgbClr val="5C808D"/>
                </a:solidFill>
                <a:latin typeface="Arial Bold"/>
                <a:ea typeface="Arial Bold"/>
                <a:cs typeface="Arial Bold"/>
                <a:sym typeface="Arial Bold"/>
              </a:rPr>
              <a:t>THOUGHTS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17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4114503" y="-40227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54977" y="3498886"/>
            <a:ext cx="11627497" cy="243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4"/>
              </a:lnSpc>
            </a:pPr>
            <a:r>
              <a:rPr lang="en-US" b="true" sz="1279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33857" y="6109446"/>
            <a:ext cx="10669737" cy="7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3"/>
              </a:lnSpc>
            </a:pPr>
            <a:r>
              <a:rPr lang="en-US" b="true" sz="411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Any Questions?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798407" y="0"/>
            <a:ext cx="4239083" cy="10287000"/>
            <a:chOff x="0" y="0"/>
            <a:chExt cx="5652111" cy="13716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4" id="14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DAGdgcodF58</dc:identifier>
  <dcterms:modified xsi:type="dcterms:W3CDTF">2011-08-01T06:04:30Z</dcterms:modified>
  <cp:revision>1</cp:revision>
  <dc:title>Beige Pastel Minimalist Thesis Defense Presentation</dc:title>
</cp:coreProperties>
</file>