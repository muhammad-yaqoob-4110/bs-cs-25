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8229600" cx="14630400"/>
  <p:notesSz cx="8229600" cy="14630400"/>
  <p:embeddedFontLst>
    <p:embeddedFont>
      <p:font typeface="Roboto Medium"/>
      <p:regular r:id="rId14"/>
      <p:bold r:id="rId15"/>
      <p:italic r:id="rId16"/>
      <p:boldItalic r:id="rId17"/>
    </p:embeddedFon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Medium-bold.fntdata"/><Relationship Id="rId14" Type="http://schemas.openxmlformats.org/officeDocument/2006/relationships/font" Target="fonts/RobotoMedium-regular.fntdata"/><Relationship Id="rId17" Type="http://schemas.openxmlformats.org/officeDocument/2006/relationships/font" Target="fonts/RobotoMedium-boldItalic.fntdata"/><Relationship Id="rId16" Type="http://schemas.openxmlformats.org/officeDocument/2006/relationships/font" Target="fonts/RobotoMedium-italic.fntdata"/><Relationship Id="rId5" Type="http://schemas.openxmlformats.org/officeDocument/2006/relationships/slide" Target="slides/slide1.xml"/><Relationship Id="rId19" Type="http://schemas.openxmlformats.org/officeDocument/2006/relationships/font" Target="fonts/Roboto-bold.fntdata"/><Relationship Id="rId6" Type="http://schemas.openxmlformats.org/officeDocument/2006/relationships/slide" Target="slides/slide2.xml"/><Relationship Id="rId18" Type="http://schemas.openxmlformats.org/officeDocument/2006/relationships/font" Target="fonts/Robot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image" Target="../media/image35.png"/><Relationship Id="rId6" Type="http://schemas.openxmlformats.org/officeDocument/2006/relationships/image" Target="../media/image3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3.png"/><Relationship Id="rId4" Type="http://schemas.openxmlformats.org/officeDocument/2006/relationships/image" Target="../media/image18.png"/><Relationship Id="rId5" Type="http://schemas.openxmlformats.org/officeDocument/2006/relationships/image" Target="../media/image27.png"/><Relationship Id="rId6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1.png"/><Relationship Id="rId4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2"/>
          <p:cNvSpPr/>
          <p:nvPr/>
        </p:nvSpPr>
        <p:spPr>
          <a:xfrm>
            <a:off x="793790" y="2728436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Roboto Medium"/>
              <a:buNone/>
            </a:pPr>
            <a:r>
              <a:rPr b="0" i="0" lang="en-US" sz="44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Ethical Leadership</a:t>
            </a:r>
            <a:endParaRPr sz="445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Roboto Medium"/>
              <a:buNone/>
            </a:pPr>
            <a:r>
              <a:rPr b="0" i="0" lang="en-US" sz="3250" u="none" cap="none" strike="noStrike">
                <a:solidFill>
                  <a:srgbClr val="5D76F1"/>
                </a:solidFill>
                <a:latin typeface="Roboto Medium"/>
                <a:ea typeface="Roboto Medium"/>
                <a:cs typeface="Roboto Medium"/>
                <a:sym typeface="Roboto Medium"/>
              </a:rPr>
              <a:t>Leading with Integrity</a:t>
            </a:r>
            <a:endParaRPr b="0" i="0" sz="3250" u="none" cap="none" strike="noStrike">
              <a:solidFill>
                <a:srgbClr val="5D76F1"/>
              </a:solidFill>
            </a:endParaRPr>
          </a:p>
        </p:txBody>
      </p:sp>
      <p:sp>
        <p:nvSpPr>
          <p:cNvPr id="54" name="Google Shape;54;p12"/>
          <p:cNvSpPr/>
          <p:nvPr/>
        </p:nvSpPr>
        <p:spPr>
          <a:xfrm>
            <a:off x="793790" y="4486156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Building Trust, Inspiring Change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/>
          <p:nvPr/>
        </p:nvSpPr>
        <p:spPr>
          <a:xfrm>
            <a:off x="793790" y="2902863"/>
            <a:ext cx="696741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Roboto Medium"/>
              <a:buNone/>
            </a:pPr>
            <a:r>
              <a:rPr b="0" i="0" lang="en-US" sz="44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What is Ethical Leadership?</a:t>
            </a:r>
            <a:endParaRPr b="0" i="0" sz="4450" u="none" cap="none" strike="noStrike"/>
          </a:p>
        </p:txBody>
      </p:sp>
      <p:sp>
        <p:nvSpPr>
          <p:cNvPr id="61" name="Google Shape;61;p13"/>
          <p:cNvSpPr/>
          <p:nvPr/>
        </p:nvSpPr>
        <p:spPr>
          <a:xfrm>
            <a:off x="793790" y="417861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Roboto Medium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Definition</a:t>
            </a:r>
            <a:endParaRPr b="0" i="0" sz="2200" u="none" cap="none" strike="noStrike"/>
          </a:p>
        </p:txBody>
      </p:sp>
      <p:sp>
        <p:nvSpPr>
          <p:cNvPr id="62" name="Google Shape;62;p13"/>
          <p:cNvSpPr/>
          <p:nvPr/>
        </p:nvSpPr>
        <p:spPr>
          <a:xfrm>
            <a:off x="793790" y="4759762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Leading with integrity, fairness, and responsibility.</a:t>
            </a:r>
            <a:endParaRPr b="0" i="0" sz="1750" u="none" cap="none" strike="noStrike"/>
          </a:p>
        </p:txBody>
      </p:sp>
      <p:sp>
        <p:nvSpPr>
          <p:cNvPr id="63" name="Google Shape;63;p13"/>
          <p:cNvSpPr/>
          <p:nvPr/>
        </p:nvSpPr>
        <p:spPr>
          <a:xfrm>
            <a:off x="7599521" y="417861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Roboto Medium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Why It Matters</a:t>
            </a:r>
            <a:endParaRPr b="0" i="0" sz="2200" u="none" cap="none" strike="noStrike"/>
          </a:p>
        </p:txBody>
      </p:sp>
      <p:sp>
        <p:nvSpPr>
          <p:cNvPr id="64" name="Google Shape;64;p13"/>
          <p:cNvSpPr/>
          <p:nvPr/>
        </p:nvSpPr>
        <p:spPr>
          <a:xfrm>
            <a:off x="7599521" y="4759762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Builds trust, fosters a positive culture, and ensures success.</a:t>
            </a:r>
            <a:endParaRPr b="0" i="0" sz="1750" u="none" cap="none" strike="noStrike">
              <a:solidFill>
                <a:srgbClr val="CFD0D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Prevents Scandals &amp; Corruption</a:t>
            </a:r>
            <a:endParaRPr sz="1750">
              <a:solidFill>
                <a:srgbClr val="CFD0D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Bo</a:t>
            </a:r>
            <a:r>
              <a:rPr lang="en-US" sz="175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osts</a:t>
            </a:r>
            <a:r>
              <a:rPr lang="en-US" sz="175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Organizational Reputation</a:t>
            </a:r>
            <a:endParaRPr sz="1750">
              <a:solidFill>
                <a:srgbClr val="CFD0D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Improve Employee Trust &amp; Productivity</a:t>
            </a:r>
            <a:endParaRPr sz="1750">
              <a:solidFill>
                <a:srgbClr val="CFD0D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Long Term Succes</a:t>
            </a:r>
            <a:endParaRPr sz="1750">
              <a:solidFill>
                <a:srgbClr val="CFD0D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t/>
            </a:r>
            <a:endParaRPr sz="1750">
              <a:solidFill>
                <a:srgbClr val="CFD0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12607900" y="7662050"/>
            <a:ext cx="2022600" cy="567600"/>
          </a:xfrm>
          <a:prstGeom prst="rect">
            <a:avLst/>
          </a:prstGeom>
          <a:solidFill>
            <a:srgbClr val="000017"/>
          </a:solidFill>
          <a:ln cap="flat" cmpd="sng" w="9525">
            <a:solidFill>
              <a:srgbClr val="000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1" name="Google Shape;7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/>
          <p:nvPr/>
        </p:nvSpPr>
        <p:spPr>
          <a:xfrm>
            <a:off x="6280190" y="1033105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Roboto Medium"/>
              <a:buNone/>
            </a:pPr>
            <a:r>
              <a:rPr b="0" i="0" lang="en-US" sz="44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Core Principles</a:t>
            </a:r>
            <a:endParaRPr b="0" i="0" sz="4450" u="none" cap="none" strike="noStrike"/>
          </a:p>
        </p:txBody>
      </p:sp>
      <p:sp>
        <p:nvSpPr>
          <p:cNvPr id="73" name="Google Shape;73;p14"/>
          <p:cNvSpPr/>
          <p:nvPr/>
        </p:nvSpPr>
        <p:spPr>
          <a:xfrm>
            <a:off x="6280190" y="2337197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6438662" y="2422208"/>
            <a:ext cx="193358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650"/>
              <a:buFont typeface="Roboto Medium"/>
              <a:buNone/>
            </a:pPr>
            <a:r>
              <a:rPr b="0" i="0" lang="en-US" sz="26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1</a:t>
            </a:r>
            <a:endParaRPr b="0" i="0" sz="2650" u="none" cap="none" strike="noStrike"/>
          </a:p>
        </p:txBody>
      </p:sp>
      <p:sp>
        <p:nvSpPr>
          <p:cNvPr id="75" name="Google Shape;75;p14"/>
          <p:cNvSpPr/>
          <p:nvPr/>
        </p:nvSpPr>
        <p:spPr>
          <a:xfrm>
            <a:off x="7017306" y="233719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 Medium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Integrity</a:t>
            </a:r>
            <a:endParaRPr b="0" i="0" sz="2200" u="none" cap="none" strike="noStrike"/>
          </a:p>
        </p:txBody>
      </p:sp>
      <p:sp>
        <p:nvSpPr>
          <p:cNvPr id="76" name="Google Shape;76;p14"/>
          <p:cNvSpPr/>
          <p:nvPr/>
        </p:nvSpPr>
        <p:spPr>
          <a:xfrm>
            <a:off x="7017306" y="2827615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Leading by example, being honest and transparent.</a:t>
            </a:r>
            <a:endParaRPr b="0" i="0" sz="1750" u="none" cap="none" strike="noStrike"/>
          </a:p>
        </p:txBody>
      </p:sp>
      <p:sp>
        <p:nvSpPr>
          <p:cNvPr id="77" name="Google Shape;77;p14"/>
          <p:cNvSpPr/>
          <p:nvPr/>
        </p:nvSpPr>
        <p:spPr>
          <a:xfrm>
            <a:off x="6280190" y="3672483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6438662" y="3757493"/>
            <a:ext cx="193358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650"/>
              <a:buFont typeface="Roboto Medium"/>
              <a:buNone/>
            </a:pPr>
            <a:r>
              <a:rPr b="0" i="0" lang="en-US" sz="26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2</a:t>
            </a:r>
            <a:endParaRPr b="0" i="0" sz="2650" u="none" cap="none" strike="noStrike"/>
          </a:p>
        </p:txBody>
      </p:sp>
      <p:sp>
        <p:nvSpPr>
          <p:cNvPr id="79" name="Google Shape;79;p14"/>
          <p:cNvSpPr/>
          <p:nvPr/>
        </p:nvSpPr>
        <p:spPr>
          <a:xfrm>
            <a:off x="7017306" y="367248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 Medium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Fairness</a:t>
            </a:r>
            <a:endParaRPr b="0" i="0" sz="2200" u="none" cap="none" strike="noStrike"/>
          </a:p>
        </p:txBody>
      </p:sp>
      <p:sp>
        <p:nvSpPr>
          <p:cNvPr id="80" name="Google Shape;80;p14"/>
          <p:cNvSpPr/>
          <p:nvPr/>
        </p:nvSpPr>
        <p:spPr>
          <a:xfrm>
            <a:off x="7017306" y="4162901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Treating all stakeholders justly, without bias.</a:t>
            </a:r>
            <a:endParaRPr b="0" i="0" sz="1750" u="none" cap="none" strike="noStrike"/>
          </a:p>
        </p:txBody>
      </p:sp>
      <p:sp>
        <p:nvSpPr>
          <p:cNvPr id="81" name="Google Shape;81;p14"/>
          <p:cNvSpPr/>
          <p:nvPr/>
        </p:nvSpPr>
        <p:spPr>
          <a:xfrm>
            <a:off x="6280190" y="5007769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/>
          <p:nvPr/>
        </p:nvSpPr>
        <p:spPr>
          <a:xfrm>
            <a:off x="6438662" y="5092779"/>
            <a:ext cx="193358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650"/>
              <a:buFont typeface="Roboto Medium"/>
              <a:buNone/>
            </a:pPr>
            <a:r>
              <a:rPr b="0" i="0" lang="en-US" sz="26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endParaRPr b="0" i="0" sz="2650" u="none" cap="none" strike="noStrike"/>
          </a:p>
        </p:txBody>
      </p:sp>
      <p:sp>
        <p:nvSpPr>
          <p:cNvPr id="83" name="Google Shape;83;p14"/>
          <p:cNvSpPr/>
          <p:nvPr/>
        </p:nvSpPr>
        <p:spPr>
          <a:xfrm>
            <a:off x="7017306" y="500776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 Medium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Accountability</a:t>
            </a:r>
            <a:endParaRPr b="0" i="0" sz="2200" u="none" cap="none" strike="noStrike"/>
          </a:p>
        </p:txBody>
      </p:sp>
      <p:sp>
        <p:nvSpPr>
          <p:cNvPr id="84" name="Google Shape;84;p14"/>
          <p:cNvSpPr/>
          <p:nvPr/>
        </p:nvSpPr>
        <p:spPr>
          <a:xfrm>
            <a:off x="7017306" y="5498187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Taking responsibility for decisions and actions.</a:t>
            </a:r>
            <a:endParaRPr b="0" i="0" sz="1750" u="none" cap="none" strike="noStrike"/>
          </a:p>
        </p:txBody>
      </p:sp>
      <p:sp>
        <p:nvSpPr>
          <p:cNvPr id="85" name="Google Shape;85;p14"/>
          <p:cNvSpPr/>
          <p:nvPr/>
        </p:nvSpPr>
        <p:spPr>
          <a:xfrm>
            <a:off x="6280190" y="6343055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4"/>
          <p:cNvSpPr/>
          <p:nvPr/>
        </p:nvSpPr>
        <p:spPr>
          <a:xfrm>
            <a:off x="6438662" y="6428065"/>
            <a:ext cx="193358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650"/>
              <a:buFont typeface="Roboto Medium"/>
              <a:buNone/>
            </a:pPr>
            <a:r>
              <a:rPr b="0" i="0" lang="en-US" sz="26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4</a:t>
            </a:r>
            <a:endParaRPr b="0" i="0" sz="2650" u="none" cap="none" strike="noStrike"/>
          </a:p>
        </p:txBody>
      </p:sp>
      <p:sp>
        <p:nvSpPr>
          <p:cNvPr id="87" name="Google Shape;87;p14"/>
          <p:cNvSpPr/>
          <p:nvPr/>
        </p:nvSpPr>
        <p:spPr>
          <a:xfrm>
            <a:off x="7017306" y="634305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 Medium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Respect</a:t>
            </a:r>
            <a:endParaRPr b="0" i="0" sz="2200" u="none" cap="none" strike="noStrike"/>
          </a:p>
        </p:txBody>
      </p:sp>
      <p:sp>
        <p:nvSpPr>
          <p:cNvPr id="88" name="Google Shape;88;p14"/>
          <p:cNvSpPr/>
          <p:nvPr/>
        </p:nvSpPr>
        <p:spPr>
          <a:xfrm>
            <a:off x="7017306" y="6833473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Valuing employees, customers, and community.</a:t>
            </a:r>
            <a:endParaRPr b="0" i="0" sz="1750" u="none" cap="none" strike="noStrike"/>
          </a:p>
        </p:txBody>
      </p:sp>
      <p:sp>
        <p:nvSpPr>
          <p:cNvPr id="89" name="Google Shape;89;p14"/>
          <p:cNvSpPr/>
          <p:nvPr/>
        </p:nvSpPr>
        <p:spPr>
          <a:xfrm>
            <a:off x="12607900" y="7662050"/>
            <a:ext cx="2022600" cy="567600"/>
          </a:xfrm>
          <a:prstGeom prst="rect">
            <a:avLst/>
          </a:prstGeom>
          <a:solidFill>
            <a:srgbClr val="000017"/>
          </a:solidFill>
          <a:ln cap="flat" cmpd="sng" w="9525">
            <a:solidFill>
              <a:srgbClr val="000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/>
          <p:nvPr/>
        </p:nvSpPr>
        <p:spPr>
          <a:xfrm>
            <a:off x="793790" y="2049423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Roboto Medium"/>
              <a:buNone/>
            </a:pPr>
            <a:r>
              <a:rPr b="0" i="0" lang="en-US" sz="44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Why Ethical Leadership Matters</a:t>
            </a:r>
            <a:endParaRPr b="0" i="0" sz="4450" u="none" cap="none" strike="noStrike"/>
          </a:p>
        </p:txBody>
      </p:sp>
      <p:pic>
        <p:nvPicPr>
          <p:cNvPr descr="preencoded.png" id="96" name="Google Shape;9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807143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/>
          <p:nvPr/>
        </p:nvSpPr>
        <p:spPr>
          <a:xfrm>
            <a:off x="793790" y="4600932"/>
            <a:ext cx="229195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 Medium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Builds Trust</a:t>
            </a:r>
            <a:endParaRPr b="0" i="0" sz="2200" u="none" cap="none" strike="noStrike"/>
          </a:p>
        </p:txBody>
      </p:sp>
      <p:sp>
        <p:nvSpPr>
          <p:cNvPr id="98" name="Google Shape;98;p15"/>
          <p:cNvSpPr/>
          <p:nvPr/>
        </p:nvSpPr>
        <p:spPr>
          <a:xfrm>
            <a:off x="793790" y="5091351"/>
            <a:ext cx="2291953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Employees and stakeholders feel secure.</a:t>
            </a:r>
            <a:endParaRPr b="0" i="0" sz="1750" u="none" cap="none" strike="noStrike"/>
          </a:p>
        </p:txBody>
      </p:sp>
      <p:pic>
        <p:nvPicPr>
          <p:cNvPr descr="preencoded.png" id="99" name="Google Shape;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5904" y="3807143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/>
          <p:nvPr/>
        </p:nvSpPr>
        <p:spPr>
          <a:xfrm>
            <a:off x="3425904" y="4600932"/>
            <a:ext cx="229207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 Medium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Enhances Culture</a:t>
            </a:r>
            <a:endParaRPr b="0" i="0" sz="2200" u="none" cap="none" strike="noStrike"/>
          </a:p>
        </p:txBody>
      </p:sp>
      <p:sp>
        <p:nvSpPr>
          <p:cNvPr id="101" name="Google Shape;101;p15"/>
          <p:cNvSpPr/>
          <p:nvPr/>
        </p:nvSpPr>
        <p:spPr>
          <a:xfrm>
            <a:off x="3425904" y="5091351"/>
            <a:ext cx="229207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Promotes teamwork and morale.</a:t>
            </a:r>
            <a:endParaRPr b="0" i="0" sz="1750" u="none" cap="none" strike="noStrike"/>
          </a:p>
        </p:txBody>
      </p:sp>
      <p:pic>
        <p:nvPicPr>
          <p:cNvPr descr="preencoded.png" id="102" name="Google Shape;1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58138" y="3807143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/>
          <p:nvPr/>
        </p:nvSpPr>
        <p:spPr>
          <a:xfrm>
            <a:off x="6058138" y="4600932"/>
            <a:ext cx="2291953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 Medium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Long-Term Success</a:t>
            </a:r>
            <a:endParaRPr b="0" i="0" sz="2200" u="none" cap="none" strike="noStrike"/>
          </a:p>
        </p:txBody>
      </p:sp>
      <p:sp>
        <p:nvSpPr>
          <p:cNvPr id="104" name="Google Shape;104;p15"/>
          <p:cNvSpPr/>
          <p:nvPr/>
        </p:nvSpPr>
        <p:spPr>
          <a:xfrm>
            <a:off x="6058138" y="5445681"/>
            <a:ext cx="229195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Ethical firms perform better.</a:t>
            </a:r>
            <a:endParaRPr b="0" i="0" sz="1750" u="none" cap="none" strike="noStrike"/>
          </a:p>
        </p:txBody>
      </p:sp>
      <p:pic>
        <p:nvPicPr>
          <p:cNvPr id="105" name="Google Shape;105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94450" y="0"/>
            <a:ext cx="6035951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/>
          <p:nvPr/>
        </p:nvSpPr>
        <p:spPr>
          <a:xfrm>
            <a:off x="6280190" y="1549003"/>
            <a:ext cx="753963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Roboto Medium"/>
              <a:buNone/>
            </a:pPr>
            <a:r>
              <a:rPr b="0" i="0" lang="en-US" sz="44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Navigating Ethical Challenges</a:t>
            </a:r>
            <a:endParaRPr b="0" i="0" sz="4450" u="none" cap="none" strike="noStrike"/>
          </a:p>
        </p:txBody>
      </p:sp>
      <p:pic>
        <p:nvPicPr>
          <p:cNvPr descr="preencoded.png" id="113" name="Google Shape;1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0190" y="2597944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/>
          <p:nvPr/>
        </p:nvSpPr>
        <p:spPr>
          <a:xfrm>
            <a:off x="7754422" y="282475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 Medium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Conflicts of Interest</a:t>
            </a:r>
            <a:endParaRPr b="0" i="0" sz="2200" u="none" cap="none" strike="noStrike"/>
          </a:p>
        </p:txBody>
      </p:sp>
      <p:sp>
        <p:nvSpPr>
          <p:cNvPr id="115" name="Google Shape;115;p16"/>
          <p:cNvSpPr/>
          <p:nvPr/>
        </p:nvSpPr>
        <p:spPr>
          <a:xfrm>
            <a:off x="7754422" y="3315176"/>
            <a:ext cx="60821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Balancing personal and professional ethics.</a:t>
            </a:r>
            <a:endParaRPr b="0" i="0" sz="1750" u="none" cap="none" strike="noStrike"/>
          </a:p>
        </p:txBody>
      </p:sp>
      <p:pic>
        <p:nvPicPr>
          <p:cNvPr descr="preencoded.png" id="116" name="Google Shape;11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0190" y="3958828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/>
          <p:nvPr/>
        </p:nvSpPr>
        <p:spPr>
          <a:xfrm>
            <a:off x="7754422" y="4185642"/>
            <a:ext cx="318837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 Medium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Pressure to Meet Targets</a:t>
            </a:r>
            <a:endParaRPr b="0" i="0" sz="2200" u="none" cap="none" strike="noStrike"/>
          </a:p>
        </p:txBody>
      </p:sp>
      <p:sp>
        <p:nvSpPr>
          <p:cNvPr id="118" name="Google Shape;118;p16"/>
          <p:cNvSpPr/>
          <p:nvPr/>
        </p:nvSpPr>
        <p:spPr>
          <a:xfrm>
            <a:off x="7754422" y="4676061"/>
            <a:ext cx="60821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Ethical dilemmas in profit-driven environments.</a:t>
            </a:r>
            <a:endParaRPr b="0" i="0" sz="1750" u="none" cap="none" strike="noStrike"/>
          </a:p>
        </p:txBody>
      </p:sp>
      <p:pic>
        <p:nvPicPr>
          <p:cNvPr descr="preencoded.png" id="119" name="Google Shape;11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0190" y="5319713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/>
          <p:nvPr/>
        </p:nvSpPr>
        <p:spPr>
          <a:xfrm>
            <a:off x="7754422" y="554652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 Medium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Lack of Accountability</a:t>
            </a:r>
            <a:endParaRPr b="0" i="0" sz="2200" u="none" cap="none" strike="noStrike"/>
          </a:p>
        </p:txBody>
      </p:sp>
      <p:sp>
        <p:nvSpPr>
          <p:cNvPr id="121" name="Google Shape;121;p16"/>
          <p:cNvSpPr/>
          <p:nvPr/>
        </p:nvSpPr>
        <p:spPr>
          <a:xfrm>
            <a:off x="7754422" y="6036945"/>
            <a:ext cx="60821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Leaders fail to take responsibility.</a:t>
            </a:r>
            <a:endParaRPr b="0" i="0" sz="1750" u="none" cap="none" strike="noStrike"/>
          </a:p>
        </p:txBody>
      </p:sp>
      <p:sp>
        <p:nvSpPr>
          <p:cNvPr id="122" name="Google Shape;122;p16"/>
          <p:cNvSpPr/>
          <p:nvPr/>
        </p:nvSpPr>
        <p:spPr>
          <a:xfrm>
            <a:off x="12607900" y="7662050"/>
            <a:ext cx="2022600" cy="567600"/>
          </a:xfrm>
          <a:prstGeom prst="rect">
            <a:avLst/>
          </a:prstGeom>
          <a:solidFill>
            <a:srgbClr val="000017"/>
          </a:solidFill>
          <a:ln cap="flat" cmpd="sng" w="9525">
            <a:solidFill>
              <a:srgbClr val="000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/>
          <p:nvPr/>
        </p:nvSpPr>
        <p:spPr>
          <a:xfrm>
            <a:off x="1094772" y="1482475"/>
            <a:ext cx="125385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Roboto Medium"/>
              <a:buNone/>
            </a:pPr>
            <a:r>
              <a:rPr b="0" i="0" lang="en-US" sz="44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Ethical Case Studies</a:t>
            </a:r>
            <a:endParaRPr b="0" i="0" sz="4450" u="none" cap="none" strike="noStrike"/>
          </a:p>
        </p:txBody>
      </p:sp>
      <p:sp>
        <p:nvSpPr>
          <p:cNvPr id="129" name="Google Shape;129;p17"/>
          <p:cNvSpPr/>
          <p:nvPr/>
        </p:nvSpPr>
        <p:spPr>
          <a:xfrm>
            <a:off x="1094778" y="2758217"/>
            <a:ext cx="32349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Roboto Medium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Satya Nadella (Microsoft)</a:t>
            </a:r>
            <a:endParaRPr b="0" i="0" sz="2200" u="none" cap="none" strike="noStrike"/>
          </a:p>
        </p:txBody>
      </p:sp>
      <p:sp>
        <p:nvSpPr>
          <p:cNvPr id="130" name="Google Shape;130;p17"/>
          <p:cNvSpPr/>
          <p:nvPr/>
        </p:nvSpPr>
        <p:spPr>
          <a:xfrm>
            <a:off x="1094778" y="3339362"/>
            <a:ext cx="6244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Focus on empathy, inclusion, and integrity.</a:t>
            </a:r>
            <a:endParaRPr b="0" i="0" sz="1750" u="none" cap="none" strike="noStrike"/>
          </a:p>
        </p:txBody>
      </p:sp>
      <p:sp>
        <p:nvSpPr>
          <p:cNvPr id="131" name="Google Shape;131;p17"/>
          <p:cNvSpPr/>
          <p:nvPr/>
        </p:nvSpPr>
        <p:spPr>
          <a:xfrm>
            <a:off x="7900509" y="2758217"/>
            <a:ext cx="3999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Roboto Medium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Volkswagen Emissions Scandal</a:t>
            </a:r>
            <a:endParaRPr b="0" i="0" sz="2200" u="none" cap="none" strike="noStrike"/>
          </a:p>
        </p:txBody>
      </p:sp>
      <p:sp>
        <p:nvSpPr>
          <p:cNvPr id="132" name="Google Shape;132;p17"/>
          <p:cNvSpPr/>
          <p:nvPr/>
        </p:nvSpPr>
        <p:spPr>
          <a:xfrm>
            <a:off x="7900502" y="3339350"/>
            <a:ext cx="48291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Lack of transparency and accountability.</a:t>
            </a:r>
            <a:endParaRPr b="0" i="0" sz="1750" u="none" cap="none" strike="noStrike"/>
          </a:p>
        </p:txBody>
      </p:sp>
      <p:sp>
        <p:nvSpPr>
          <p:cNvPr id="133" name="Google Shape;133;p17"/>
          <p:cNvSpPr/>
          <p:nvPr/>
        </p:nvSpPr>
        <p:spPr>
          <a:xfrm>
            <a:off x="12607900" y="7662050"/>
            <a:ext cx="2022600" cy="567600"/>
          </a:xfrm>
          <a:prstGeom prst="rect">
            <a:avLst/>
          </a:prstGeom>
          <a:solidFill>
            <a:srgbClr val="000017"/>
          </a:solidFill>
          <a:ln cap="flat" cmpd="sng" w="9525">
            <a:solidFill>
              <a:srgbClr val="000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6564" y="4319650"/>
            <a:ext cx="2550425" cy="255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1400" y="4314203"/>
            <a:ext cx="2550426" cy="2561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/>
          <p:nvPr/>
        </p:nvSpPr>
        <p:spPr>
          <a:xfrm>
            <a:off x="793790" y="1251109"/>
            <a:ext cx="897481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Roboto Medium"/>
              <a:buNone/>
            </a:pPr>
            <a:r>
              <a:rPr b="0" i="0" lang="en-US" sz="44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How to Cultivate Ethical Leadership</a:t>
            </a:r>
            <a:endParaRPr b="0" i="0" sz="4450" u="none" cap="none" strike="noStrike"/>
          </a:p>
        </p:txBody>
      </p:sp>
      <p:sp>
        <p:nvSpPr>
          <p:cNvPr id="142" name="Google Shape;142;p18"/>
          <p:cNvSpPr/>
          <p:nvPr/>
        </p:nvSpPr>
        <p:spPr>
          <a:xfrm>
            <a:off x="1743789" y="451877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 Medium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Lead by Example</a:t>
            </a:r>
            <a:endParaRPr b="0" i="0" sz="2200" u="none" cap="none" strike="noStrike"/>
          </a:p>
        </p:txBody>
      </p:sp>
      <p:pic>
        <p:nvPicPr>
          <p:cNvPr descr="preencoded.png"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2653" y="2413516"/>
            <a:ext cx="4564975" cy="456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/>
          <p:nvPr/>
        </p:nvSpPr>
        <p:spPr>
          <a:xfrm>
            <a:off x="5660469" y="4194453"/>
            <a:ext cx="161092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 Medium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1</a:t>
            </a:r>
            <a:endParaRPr b="0" i="0" sz="2200" u="none" cap="none" strike="noStrike"/>
          </a:p>
        </p:txBody>
      </p:sp>
      <p:sp>
        <p:nvSpPr>
          <p:cNvPr id="145" name="Google Shape;145;p18"/>
          <p:cNvSpPr/>
          <p:nvPr/>
        </p:nvSpPr>
        <p:spPr>
          <a:xfrm>
            <a:off x="9937790" y="329255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 Medium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Code of Ethics</a:t>
            </a:r>
            <a:endParaRPr b="0" i="0" sz="2200" u="none" cap="none" strike="noStrike"/>
          </a:p>
        </p:txBody>
      </p:sp>
      <p:pic>
        <p:nvPicPr>
          <p:cNvPr descr="preencoded.png" id="146" name="Google Shape;14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2653" y="2413516"/>
            <a:ext cx="4564975" cy="456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/>
          <p:nvPr/>
        </p:nvSpPr>
        <p:spPr>
          <a:xfrm>
            <a:off x="8259366" y="3243382"/>
            <a:ext cx="161092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 Medium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2</a:t>
            </a:r>
            <a:endParaRPr b="0" i="0" sz="2200" u="none" cap="none" strike="noStrike"/>
          </a:p>
        </p:txBody>
      </p:sp>
      <p:sp>
        <p:nvSpPr>
          <p:cNvPr id="148" name="Google Shape;148;p18"/>
          <p:cNvSpPr/>
          <p:nvPr/>
        </p:nvSpPr>
        <p:spPr>
          <a:xfrm>
            <a:off x="9937790" y="574512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 Medium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Open Communication</a:t>
            </a:r>
            <a:endParaRPr b="0" i="0" sz="2200" u="none" cap="none" strike="noStrike"/>
          </a:p>
        </p:txBody>
      </p:sp>
      <p:pic>
        <p:nvPicPr>
          <p:cNvPr descr="preencoded.png" id="149" name="Google Shape;14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32653" y="2413516"/>
            <a:ext cx="4564975" cy="456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/>
          <p:nvPr/>
        </p:nvSpPr>
        <p:spPr>
          <a:xfrm>
            <a:off x="7783592" y="5969556"/>
            <a:ext cx="161092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 Medium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endParaRPr b="0" i="0" sz="2200" u="none" cap="none" strike="noStrike"/>
          </a:p>
        </p:txBody>
      </p:sp>
      <p:sp>
        <p:nvSpPr>
          <p:cNvPr id="151" name="Google Shape;151;p18"/>
          <p:cNvSpPr/>
          <p:nvPr/>
        </p:nvSpPr>
        <p:spPr>
          <a:xfrm>
            <a:off x="12607900" y="7662050"/>
            <a:ext cx="2022600" cy="567600"/>
          </a:xfrm>
          <a:prstGeom prst="rect">
            <a:avLst/>
          </a:prstGeom>
          <a:solidFill>
            <a:srgbClr val="000017"/>
          </a:solidFill>
          <a:ln cap="flat" cmpd="sng" w="9525">
            <a:solidFill>
              <a:srgbClr val="000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/>
          <p:nvPr/>
        </p:nvSpPr>
        <p:spPr>
          <a:xfrm>
            <a:off x="6280190" y="2169914"/>
            <a:ext cx="716399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Roboto Medium"/>
              <a:buNone/>
            </a:pPr>
            <a:r>
              <a:rPr b="0" i="0" lang="en-US" sz="44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Ethics Training and Rewards</a:t>
            </a:r>
            <a:endParaRPr b="0" i="0" sz="4450" u="none" cap="none" strike="noStrike"/>
          </a:p>
        </p:txBody>
      </p:sp>
      <p:sp>
        <p:nvSpPr>
          <p:cNvPr id="159" name="Google Shape;159;p19"/>
          <p:cNvSpPr/>
          <p:nvPr/>
        </p:nvSpPr>
        <p:spPr>
          <a:xfrm>
            <a:off x="6605111" y="3218855"/>
            <a:ext cx="30480" cy="2840712"/>
          </a:xfrm>
          <a:prstGeom prst="roundRect">
            <a:avLst>
              <a:gd fmla="val 312558" name="adj"/>
            </a:avLst>
          </a:prstGeom>
          <a:solidFill>
            <a:srgbClr val="313E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6845022" y="3713917"/>
            <a:ext cx="793790" cy="30480"/>
          </a:xfrm>
          <a:prstGeom prst="roundRect">
            <a:avLst>
              <a:gd fmla="val 312558" name="adj"/>
            </a:avLst>
          </a:prstGeom>
          <a:solidFill>
            <a:srgbClr val="313E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6365200" y="3474006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6523673" y="3559016"/>
            <a:ext cx="193358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650"/>
              <a:buFont typeface="Roboto Medium"/>
              <a:buNone/>
            </a:pPr>
            <a:r>
              <a:rPr b="0" i="0" lang="en-US" sz="26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1</a:t>
            </a:r>
            <a:endParaRPr b="0" i="0" sz="2650" u="none" cap="none" strike="noStrike"/>
          </a:p>
        </p:txBody>
      </p:sp>
      <p:sp>
        <p:nvSpPr>
          <p:cNvPr id="163" name="Google Shape;163;p19"/>
          <p:cNvSpPr/>
          <p:nvPr/>
        </p:nvSpPr>
        <p:spPr>
          <a:xfrm>
            <a:off x="7867888" y="344566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 Medium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Ethics Training</a:t>
            </a:r>
            <a:endParaRPr b="0" i="0" sz="2200" u="none" cap="none" strike="noStrike"/>
          </a:p>
        </p:txBody>
      </p:sp>
      <p:sp>
        <p:nvSpPr>
          <p:cNvPr id="164" name="Google Shape;164;p19"/>
          <p:cNvSpPr/>
          <p:nvPr/>
        </p:nvSpPr>
        <p:spPr>
          <a:xfrm>
            <a:off x="7867888" y="3936087"/>
            <a:ext cx="596872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Educate about ethical decision-making.</a:t>
            </a:r>
            <a:endParaRPr b="0" i="0" sz="1750" u="none" cap="none" strike="noStrike"/>
          </a:p>
        </p:txBody>
      </p:sp>
      <p:sp>
        <p:nvSpPr>
          <p:cNvPr id="165" name="Google Shape;165;p19"/>
          <p:cNvSpPr/>
          <p:nvPr/>
        </p:nvSpPr>
        <p:spPr>
          <a:xfrm>
            <a:off x="6845022" y="5247680"/>
            <a:ext cx="793790" cy="30480"/>
          </a:xfrm>
          <a:prstGeom prst="roundRect">
            <a:avLst>
              <a:gd fmla="val 312558" name="adj"/>
            </a:avLst>
          </a:prstGeom>
          <a:solidFill>
            <a:srgbClr val="313E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6365200" y="5007769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6523673" y="5092779"/>
            <a:ext cx="193358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650"/>
              <a:buFont typeface="Roboto Medium"/>
              <a:buNone/>
            </a:pPr>
            <a:r>
              <a:rPr b="0" i="0" lang="en-US" sz="265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2</a:t>
            </a:r>
            <a:endParaRPr b="0" i="0" sz="2650" u="none" cap="none" strike="noStrike"/>
          </a:p>
        </p:txBody>
      </p:sp>
      <p:sp>
        <p:nvSpPr>
          <p:cNvPr id="168" name="Google Shape;168;p19"/>
          <p:cNvSpPr/>
          <p:nvPr/>
        </p:nvSpPr>
        <p:spPr>
          <a:xfrm>
            <a:off x="7867888" y="497943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 Medium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 Medium"/>
                <a:ea typeface="Roboto Medium"/>
                <a:cs typeface="Roboto Medium"/>
                <a:sym typeface="Roboto Medium"/>
              </a:rPr>
              <a:t>Reward Behavior</a:t>
            </a:r>
            <a:endParaRPr b="0" i="0" sz="2200" u="none" cap="none" strike="noStrike"/>
          </a:p>
        </p:txBody>
      </p:sp>
      <p:sp>
        <p:nvSpPr>
          <p:cNvPr id="169" name="Google Shape;169;p19"/>
          <p:cNvSpPr/>
          <p:nvPr/>
        </p:nvSpPr>
        <p:spPr>
          <a:xfrm>
            <a:off x="7867888" y="5469850"/>
            <a:ext cx="596872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Recognize and incentivize integrity.</a:t>
            </a:r>
            <a:endParaRPr b="0" i="0" sz="1750" u="none" cap="none" strike="noStrike"/>
          </a:p>
        </p:txBody>
      </p:sp>
      <p:sp>
        <p:nvSpPr>
          <p:cNvPr id="170" name="Google Shape;170;p19"/>
          <p:cNvSpPr/>
          <p:nvPr/>
        </p:nvSpPr>
        <p:spPr>
          <a:xfrm>
            <a:off x="12607900" y="7662050"/>
            <a:ext cx="2022600" cy="567600"/>
          </a:xfrm>
          <a:prstGeom prst="rect">
            <a:avLst/>
          </a:prstGeom>
          <a:solidFill>
            <a:srgbClr val="000017"/>
          </a:solidFill>
          <a:ln cap="flat" cmpd="sng" w="9525">
            <a:solidFill>
              <a:srgbClr val="000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6" name="Google Shape;1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/>
          <p:nvPr/>
        </p:nvSpPr>
        <p:spPr>
          <a:xfrm>
            <a:off x="793790" y="2564011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Roboto Medium"/>
              <a:buNone/>
            </a:pPr>
            <a:r>
              <a:rPr b="0" i="0" lang="en-US" sz="44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Conclusion: Lead with Integrity</a:t>
            </a:r>
            <a:endParaRPr b="0" i="0" sz="4450" u="none" cap="none" strike="noStrike"/>
          </a:p>
        </p:txBody>
      </p:sp>
      <p:sp>
        <p:nvSpPr>
          <p:cNvPr id="178" name="Google Shape;178;p20"/>
          <p:cNvSpPr/>
          <p:nvPr/>
        </p:nvSpPr>
        <p:spPr>
          <a:xfrm>
            <a:off x="793790" y="4321731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Ethical leadership is essential for trust, success, and positive impact.</a:t>
            </a:r>
            <a:endParaRPr b="0" i="0" sz="1750" u="none" cap="none" strike="noStrike"/>
          </a:p>
        </p:txBody>
      </p:sp>
      <p:sp>
        <p:nvSpPr>
          <p:cNvPr id="179" name="Google Shape;179;p20"/>
          <p:cNvSpPr/>
          <p:nvPr/>
        </p:nvSpPr>
        <p:spPr>
          <a:xfrm>
            <a:off x="793790" y="4939784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“Leadership is not about being in charge. It is about taking care of those in your charge.” – Simon Sinek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