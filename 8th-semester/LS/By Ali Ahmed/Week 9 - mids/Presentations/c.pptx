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3"/>
  </p:notesMasterIdLst>
  <p:sldIdLst>
    <p:sldId id="256" r:id="rId2"/>
    <p:sldId id="267" r:id="rId3"/>
    <p:sldId id="282" r:id="rId4"/>
    <p:sldId id="257" r:id="rId5"/>
    <p:sldId id="275" r:id="rId6"/>
    <p:sldId id="276" r:id="rId7"/>
    <p:sldId id="277" r:id="rId8"/>
    <p:sldId id="278" r:id="rId9"/>
    <p:sldId id="264" r:id="rId10"/>
    <p:sldId id="265" r:id="rId11"/>
    <p:sldId id="266" r:id="rId12"/>
    <p:sldId id="263" r:id="rId13"/>
    <p:sldId id="261" r:id="rId14"/>
    <p:sldId id="279" r:id="rId15"/>
    <p:sldId id="280" r:id="rId16"/>
    <p:sldId id="281" r:id="rId17"/>
    <p:sldId id="283" r:id="rId18"/>
    <p:sldId id="284" r:id="rId19"/>
    <p:sldId id="285" r:id="rId20"/>
    <p:sldId id="286" r:id="rId21"/>
    <p:sldId id="274" r:id="rId22"/>
  </p:sldIdLst>
  <p:sldSz cx="18288000" cy="10287000"/>
  <p:notesSz cx="6858000" cy="9144000"/>
  <p:embeddedFontLst>
    <p:embeddedFont>
      <p:font typeface="Garet" panose="020B0604020202020204" charset="0"/>
      <p:regular r:id="rId24"/>
    </p:embeddedFont>
    <p:embeddedFont>
      <p:font typeface="Garet Bold" panose="020B0604020202020204" charset="0"/>
      <p:regular r:id="rId25"/>
    </p:embeddedFont>
    <p:embeddedFont>
      <p:font typeface="Garet Bold Italics" panose="020B0604020202020204" charset="0"/>
      <p:regular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EE094A9-6356-4FC9-AFB5-CE8F0B71A0CF}">
          <p14:sldIdLst>
            <p14:sldId id="256"/>
            <p14:sldId id="267"/>
            <p14:sldId id="282"/>
          </p14:sldIdLst>
        </p14:section>
        <p14:section name="Introduction" id="{E7B3C8AE-7F12-469E-8B30-B902EFDE8A80}">
          <p14:sldIdLst>
            <p14:sldId id="257"/>
            <p14:sldId id="275"/>
            <p14:sldId id="276"/>
            <p14:sldId id="277"/>
            <p14:sldId id="278"/>
          </p14:sldIdLst>
        </p14:section>
        <p14:section name="Methodology" id="{0F97E309-063C-44B2-8E1E-C2E41BA25937}">
          <p14:sldIdLst>
            <p14:sldId id="264"/>
            <p14:sldId id="265"/>
            <p14:sldId id="266"/>
          </p14:sldIdLst>
        </p14:section>
        <p14:section name="Analysis" id="{7AACF17E-D1AD-43B3-A137-A973D11FF5E1}">
          <p14:sldIdLst>
            <p14:sldId id="263"/>
            <p14:sldId id="261"/>
            <p14:sldId id="279"/>
            <p14:sldId id="280"/>
            <p14:sldId id="281"/>
          </p14:sldIdLst>
        </p14:section>
        <p14:section name="Conclusion" id="{92BDE34E-A902-4F59-A53E-90BAD992EA84}">
          <p14:sldIdLst>
            <p14:sldId id="283"/>
            <p14:sldId id="284"/>
            <p14:sldId id="285"/>
            <p14:sldId id="286"/>
            <p14:sldId id="274"/>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2941" autoAdjust="0"/>
  </p:normalViewPr>
  <p:slideViewPr>
    <p:cSldViewPr>
      <p:cViewPr varScale="1">
        <p:scale>
          <a:sx n="50" d="100"/>
          <a:sy n="50" d="100"/>
        </p:scale>
        <p:origin x="29" y="43"/>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5AB098B-14ED-40CC-98E9-6987C52708A1}"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F0B9813-B5A3-4A9C-B93A-D95AD2F18E0C}" type="slidenum">
              <a:rPr lang="en-US" smtClean="0"/>
              <a:t>‹#›</a:t>
            </a:fld>
            <a:endParaRPr lang="en-US"/>
          </a:p>
        </p:txBody>
      </p:sp>
    </p:spTree>
    <p:extLst>
      <p:ext uri="{BB962C8B-B14F-4D97-AF65-F5344CB8AC3E}">
        <p14:creationId xmlns:p14="http://schemas.microsoft.com/office/powerpoint/2010/main" val="23283662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Imagine you're leading a team, and you want them to perform at their best. Would you focus on inspiring them to achieve great goals, or would you prioritize serving their needs and supporting their growth? This is the key question our presentation will explore </a:t>
            </a:r>
            <a:r>
              <a:rPr lang="en-US" dirty="0" err="1"/>
              <a:t>today.”Leadership</a:t>
            </a:r>
            <a:r>
              <a:rPr lang="en-US" dirty="0"/>
              <a:t> plays a vital role in shaping how organizations perform, especially in today’s competitive world. this study compares two powerful leadership styles: Transformational Leadership and Servant Leadership, to see which one is more effective in driving </a:t>
            </a:r>
            <a:r>
              <a:rPr lang="en-US" dirty="0" err="1"/>
              <a:t>success.But</a:t>
            </a:r>
            <a:r>
              <a:rPr lang="en-US" dirty="0"/>
              <a:t> why is this comparison important? Because organizations today are not just about profits; they’re about balancing performance and people. This study examines how both styles influence organizational learning—the ability to grow and innovate—and how that learning improves overall performance.</a:t>
            </a:r>
            <a:endParaRPr lang="en-PK" dirty="0"/>
          </a:p>
        </p:txBody>
      </p:sp>
      <p:sp>
        <p:nvSpPr>
          <p:cNvPr id="4" name="Slide Number Placeholder 3"/>
          <p:cNvSpPr>
            <a:spLocks noGrp="1"/>
          </p:cNvSpPr>
          <p:nvPr>
            <p:ph type="sldNum" sz="quarter" idx="5"/>
          </p:nvPr>
        </p:nvSpPr>
        <p:spPr/>
        <p:txBody>
          <a:bodyPr/>
          <a:lstStyle/>
          <a:p>
            <a:fld id="{4F0B9813-B5A3-4A9C-B93A-D95AD2F18E0C}" type="slidenum">
              <a:rPr lang="en-US" smtClean="0"/>
              <a:t>4</a:t>
            </a:fld>
            <a:endParaRPr lang="en-US"/>
          </a:p>
        </p:txBody>
      </p:sp>
    </p:spTree>
    <p:extLst>
      <p:ext uri="{BB962C8B-B14F-4D97-AF65-F5344CB8AC3E}">
        <p14:creationId xmlns:p14="http://schemas.microsoft.com/office/powerpoint/2010/main" val="167414670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a:t>
            </a:r>
            <a:r>
              <a:rPr lang="en-US" dirty="0" err="1"/>
              <a:t>Points“This</a:t>
            </a:r>
            <a:r>
              <a:rPr lang="en-US" dirty="0"/>
              <a:t> study has three main objectives:</a:t>
            </a:r>
          </a:p>
          <a:p>
            <a:endParaRPr lang="en-US" dirty="0"/>
          </a:p>
          <a:p>
            <a:pPr marL="228600" indent="-228600">
              <a:buFont typeface="+mj-lt"/>
              <a:buAutoNum type="arabicPeriod"/>
            </a:pPr>
            <a:r>
              <a:rPr lang="en-US" dirty="0"/>
              <a:t>To analyze the impact of Transformational and Servant Leadership on organizational learning.</a:t>
            </a:r>
          </a:p>
          <a:p>
            <a:pPr marL="228600" indent="-228600">
              <a:buFont typeface="+mj-lt"/>
              <a:buAutoNum type="arabicPeriod"/>
            </a:pPr>
            <a:r>
              <a:rPr lang="en-US" dirty="0"/>
              <a:t>To measure how organizational learning affects overall performance.</a:t>
            </a:r>
          </a:p>
          <a:p>
            <a:pPr marL="228600" indent="-228600">
              <a:buFont typeface="+mj-lt"/>
              <a:buAutoNum type="arabicPeriod"/>
            </a:pPr>
            <a:r>
              <a:rPr lang="en-US" dirty="0"/>
              <a:t>To determine which leadership style—Transformational or Servant—is more effective for maximizing profitability.</a:t>
            </a:r>
          </a:p>
          <a:p>
            <a:endParaRPr lang="en-US" dirty="0"/>
          </a:p>
          <a:p>
            <a:r>
              <a:rPr lang="en-US" dirty="0"/>
              <a:t>In simpler terms, it’s about figuring out which leadership style works best to drive innovation and achieve results.”</a:t>
            </a:r>
            <a:endParaRPr lang="en-PK" dirty="0"/>
          </a:p>
        </p:txBody>
      </p:sp>
      <p:sp>
        <p:nvSpPr>
          <p:cNvPr id="4" name="Slide Number Placeholder 3"/>
          <p:cNvSpPr>
            <a:spLocks noGrp="1"/>
          </p:cNvSpPr>
          <p:nvPr>
            <p:ph type="sldNum" sz="quarter" idx="5"/>
          </p:nvPr>
        </p:nvSpPr>
        <p:spPr/>
        <p:txBody>
          <a:bodyPr/>
          <a:lstStyle/>
          <a:p>
            <a:fld id="{4F0B9813-B5A3-4A9C-B93A-D95AD2F18E0C}" type="slidenum">
              <a:rPr lang="en-US" smtClean="0"/>
              <a:t>5</a:t>
            </a:fld>
            <a:endParaRPr lang="en-US"/>
          </a:p>
        </p:txBody>
      </p:sp>
    </p:spTree>
    <p:extLst>
      <p:ext uri="{BB962C8B-B14F-4D97-AF65-F5344CB8AC3E}">
        <p14:creationId xmlns:p14="http://schemas.microsoft.com/office/powerpoint/2010/main" val="234097498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break it down for you. Transformational leaders inspire their teams through big-picture thinking and innovation. They’re like visionaries who encourage their followers to align with organizational goals and think creatively to solve </a:t>
            </a:r>
            <a:r>
              <a:rPr lang="en-US" dirty="0" err="1"/>
              <a:t>problems.On</a:t>
            </a:r>
            <a:r>
              <a:rPr lang="en-US" dirty="0"/>
              <a:t> the other hand, Servant leaders focus on their team’s personal growth and well-being. These leaders prioritize service over authority, creating a nurturing environment where people feel valued and supported.</a:t>
            </a:r>
          </a:p>
        </p:txBody>
      </p:sp>
      <p:sp>
        <p:nvSpPr>
          <p:cNvPr id="4" name="Slide Number Placeholder 3"/>
          <p:cNvSpPr>
            <a:spLocks noGrp="1"/>
          </p:cNvSpPr>
          <p:nvPr>
            <p:ph type="sldNum" sz="quarter" idx="5"/>
          </p:nvPr>
        </p:nvSpPr>
        <p:spPr/>
        <p:txBody>
          <a:bodyPr/>
          <a:lstStyle/>
          <a:p>
            <a:fld id="{4F0B9813-B5A3-4A9C-B93A-D95AD2F18E0C}" type="slidenum">
              <a:rPr lang="en-US" smtClean="0"/>
              <a:t>6</a:t>
            </a:fld>
            <a:endParaRPr lang="en-US"/>
          </a:p>
        </p:txBody>
      </p:sp>
    </p:spTree>
    <p:extLst>
      <p:ext uri="{BB962C8B-B14F-4D97-AF65-F5344CB8AC3E}">
        <p14:creationId xmlns:p14="http://schemas.microsoft.com/office/powerpoint/2010/main" val="3770701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Transformational Leadership (Senge, 1990):This theory emphasizes inspiring and motivating teams to solve problems creatively and align with the organization’s goals. Servant Leadership (Bass, 2000):This theory highlights the importance of leaders prioritizing their team members’ growth and development. </a:t>
            </a:r>
            <a:endParaRPr lang="en-PK" dirty="0"/>
          </a:p>
        </p:txBody>
      </p:sp>
      <p:sp>
        <p:nvSpPr>
          <p:cNvPr id="4" name="Slide Number Placeholder 3"/>
          <p:cNvSpPr>
            <a:spLocks noGrp="1"/>
          </p:cNvSpPr>
          <p:nvPr>
            <p:ph type="sldNum" sz="quarter" idx="5"/>
          </p:nvPr>
        </p:nvSpPr>
        <p:spPr/>
        <p:txBody>
          <a:bodyPr/>
          <a:lstStyle/>
          <a:p>
            <a:fld id="{4F0B9813-B5A3-4A9C-B93A-D95AD2F18E0C}" type="slidenum">
              <a:rPr lang="en-US" smtClean="0"/>
              <a:t>7</a:t>
            </a:fld>
            <a:endParaRPr lang="en-US"/>
          </a:p>
        </p:txBody>
      </p:sp>
    </p:spTree>
    <p:extLst>
      <p:ext uri="{BB962C8B-B14F-4D97-AF65-F5344CB8AC3E}">
        <p14:creationId xmlns:p14="http://schemas.microsoft.com/office/powerpoint/2010/main" val="84486560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While there has been a lot of research on leadership styles like transformational and servant leadership, most of it focuses on their general impact on organizations. However, there isn’t enough work exploring how these leadership styles specifically promote organizational learning. In simpler terms, we know these leaders inspire teams and support their growth, but how exactly they help organizations learn and adapt better—this is still not fully understood. That’s the gap this study aims to address.</a:t>
            </a:r>
            <a:endParaRPr lang="en-PK" dirty="0"/>
          </a:p>
        </p:txBody>
      </p:sp>
      <p:sp>
        <p:nvSpPr>
          <p:cNvPr id="4" name="Slide Number Placeholder 3"/>
          <p:cNvSpPr>
            <a:spLocks noGrp="1"/>
          </p:cNvSpPr>
          <p:nvPr>
            <p:ph type="sldNum" sz="quarter" idx="5"/>
          </p:nvPr>
        </p:nvSpPr>
        <p:spPr/>
        <p:txBody>
          <a:bodyPr/>
          <a:lstStyle/>
          <a:p>
            <a:fld id="{4F0B9813-B5A3-4A9C-B93A-D95AD2F18E0C}" type="slidenum">
              <a:rPr lang="en-US" smtClean="0"/>
              <a:t>8</a:t>
            </a:fld>
            <a:endParaRPr lang="en-US"/>
          </a:p>
        </p:txBody>
      </p:sp>
    </p:spTree>
    <p:extLst>
      <p:ext uri="{BB962C8B-B14F-4D97-AF65-F5344CB8AC3E}">
        <p14:creationId xmlns:p14="http://schemas.microsoft.com/office/powerpoint/2010/main" val="229213066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key findings about leadership and its impact on organizations.</a:t>
            </a:r>
            <a:endParaRPr lang="en-US" dirty="0"/>
          </a:p>
          <a:p>
            <a:pPr>
              <a:buFont typeface="+mj-lt"/>
              <a:buAutoNum type="arabicPeriod"/>
            </a:pPr>
            <a:r>
              <a:rPr lang="en-US" dirty="0"/>
              <a:t>First, </a:t>
            </a:r>
            <a:r>
              <a:rPr lang="en-US" b="1" dirty="0"/>
              <a:t>ethical leadership</a:t>
            </a:r>
            <a:r>
              <a:rPr lang="en-US" dirty="0"/>
              <a:t> is continuously evolving, and it plays a major role in improving how organizations perform. Leaders who focus on ethics create a positive work environment that helps everyone grow.</a:t>
            </a:r>
          </a:p>
          <a:p>
            <a:pPr>
              <a:buFont typeface="+mj-lt"/>
              <a:buAutoNum type="arabicPeriod"/>
            </a:pPr>
            <a:r>
              <a:rPr lang="en-US" dirty="0"/>
              <a:t>Second, </a:t>
            </a:r>
            <a:r>
              <a:rPr lang="en-US" b="1" dirty="0"/>
              <a:t>there's no single 'perfect' leadership style</a:t>
            </a:r>
            <a:r>
              <a:rPr lang="en-US" dirty="0"/>
              <a:t>. Different situations call for different approaches, so flexibility is important.</a:t>
            </a:r>
          </a:p>
          <a:p>
            <a:pPr>
              <a:buFont typeface="+mj-lt"/>
              <a:buAutoNum type="arabicPeriod"/>
            </a:pPr>
            <a:r>
              <a:rPr lang="en-US" dirty="0"/>
              <a:t>Third, strong leadership </a:t>
            </a:r>
            <a:r>
              <a:rPr lang="en-US" b="1" dirty="0"/>
              <a:t>improves knowledge-sharing</a:t>
            </a:r>
            <a:r>
              <a:rPr lang="en-US" dirty="0"/>
              <a:t> within a team. This helps organizations adapt better and enhances their overall performance.</a:t>
            </a:r>
          </a:p>
          <a:p>
            <a:pPr>
              <a:buFont typeface="+mj-lt"/>
              <a:buAutoNum type="arabicPeriod"/>
            </a:pPr>
            <a:r>
              <a:rPr lang="en-US" dirty="0"/>
              <a:t>Lastly, ethical leadership creates a </a:t>
            </a:r>
            <a:r>
              <a:rPr lang="en-US" b="1" dirty="0"/>
              <a:t>positive relationship with organizational learning</a:t>
            </a:r>
            <a:r>
              <a:rPr lang="en-US" dirty="0"/>
              <a:t>, meaning teams are more open to change and growth, which leads to long-term success.</a:t>
            </a:r>
          </a:p>
          <a:p>
            <a:pPr>
              <a:buFont typeface="+mj-lt"/>
              <a:buAutoNum type="arabicPeriod"/>
            </a:pPr>
            <a:endParaRPr lang="en-US" dirty="0"/>
          </a:p>
          <a:p>
            <a:pPr>
              <a:buFont typeface="+mj-lt"/>
              <a:buNone/>
            </a:pPr>
            <a:r>
              <a:rPr lang="en-US" b="1" dirty="0"/>
              <a:t>In short, leadership isn't one-size-fits-all, but ethical and adaptable leaders can make a huge difference in achieving great results.</a:t>
            </a:r>
            <a:r>
              <a:rPr lang="en-US" dirty="0"/>
              <a:t>"</a:t>
            </a:r>
          </a:p>
          <a:p>
            <a:endParaRPr lang="en-PK" dirty="0"/>
          </a:p>
        </p:txBody>
      </p:sp>
      <p:sp>
        <p:nvSpPr>
          <p:cNvPr id="4" name="Slide Number Placeholder 3"/>
          <p:cNvSpPr>
            <a:spLocks noGrp="1"/>
          </p:cNvSpPr>
          <p:nvPr>
            <p:ph type="sldNum" sz="quarter" idx="5"/>
          </p:nvPr>
        </p:nvSpPr>
        <p:spPr/>
        <p:txBody>
          <a:bodyPr/>
          <a:lstStyle/>
          <a:p>
            <a:fld id="{4F0B9813-B5A3-4A9C-B93A-D95AD2F18E0C}" type="slidenum">
              <a:rPr lang="en-US" smtClean="0"/>
              <a:t>12</a:t>
            </a:fld>
            <a:endParaRPr lang="en-US"/>
          </a:p>
        </p:txBody>
      </p:sp>
    </p:spTree>
    <p:extLst>
      <p:ext uri="{BB962C8B-B14F-4D97-AF65-F5344CB8AC3E}">
        <p14:creationId xmlns:p14="http://schemas.microsoft.com/office/powerpoint/2010/main" val="3948393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framework shows the connection between leadership styles, organizational learning, and organizational performance.</a:t>
            </a:r>
          </a:p>
          <a:p>
            <a:pPr>
              <a:buFont typeface="+mj-lt"/>
              <a:buAutoNum type="arabicPeriod"/>
            </a:pPr>
            <a:r>
              <a:rPr lang="en-US" b="1" dirty="0"/>
              <a:t>Transformational Leadership</a:t>
            </a:r>
            <a:r>
              <a:rPr lang="en-US" dirty="0"/>
              <a:t> and </a:t>
            </a:r>
            <a:r>
              <a:rPr lang="en-US" b="1" dirty="0"/>
              <a:t>Servant Leadership</a:t>
            </a:r>
            <a:r>
              <a:rPr lang="en-US" dirty="0"/>
              <a:t> are the two key leadership styles being analyzed.</a:t>
            </a:r>
          </a:p>
          <a:p>
            <a:pPr marL="742950" lvl="1" indent="-285750">
              <a:buFont typeface="+mj-lt"/>
              <a:buAutoNum type="arabicPeriod"/>
            </a:pPr>
            <a:r>
              <a:rPr lang="en-US" i="1" dirty="0"/>
              <a:t>Transformational Leadership (H1)</a:t>
            </a:r>
            <a:r>
              <a:rPr lang="en-US" dirty="0"/>
              <a:t> focuses on inspiring and motivating employees to achieve more.</a:t>
            </a:r>
          </a:p>
          <a:p>
            <a:pPr marL="742950" lvl="1" indent="-285750">
              <a:buFont typeface="+mj-lt"/>
              <a:buAutoNum type="arabicPeriod"/>
            </a:pPr>
            <a:r>
              <a:rPr lang="en-US" i="1" dirty="0"/>
              <a:t>Servant Leadership (H2)</a:t>
            </a:r>
            <a:r>
              <a:rPr lang="en-US" dirty="0"/>
              <a:t> emphasizes serving employees and their needs to help them perform better.</a:t>
            </a:r>
          </a:p>
          <a:p>
            <a:pPr>
              <a:buFont typeface="+mj-lt"/>
              <a:buAutoNum type="arabicPeriod"/>
            </a:pPr>
            <a:r>
              <a:rPr lang="en-US" dirty="0"/>
              <a:t>Both leadership styles influence </a:t>
            </a:r>
            <a:r>
              <a:rPr lang="en-US" b="1" dirty="0"/>
              <a:t>Organizational Learning</a:t>
            </a:r>
            <a:r>
              <a:rPr lang="en-US" dirty="0"/>
              <a:t>, which is the ability of the organization to learn, adapt, and grow from experiences.</a:t>
            </a:r>
          </a:p>
          <a:p>
            <a:pPr>
              <a:buFont typeface="+mj-lt"/>
              <a:buAutoNum type="arabicPeriod"/>
            </a:pPr>
            <a:r>
              <a:rPr lang="en-US" dirty="0"/>
              <a:t>Finally, </a:t>
            </a:r>
            <a:r>
              <a:rPr lang="en-US" b="1" dirty="0"/>
              <a:t>Organizational Learning (H3)</a:t>
            </a:r>
            <a:r>
              <a:rPr lang="en-US" dirty="0"/>
              <a:t> directly impacts </a:t>
            </a:r>
            <a:r>
              <a:rPr lang="en-US" b="1" dirty="0"/>
              <a:t>Organizational Performance</a:t>
            </a:r>
            <a:r>
              <a:rPr lang="en-US" dirty="0"/>
              <a:t>, meaning how well the organization achieves its goals, efficiency, and success.</a:t>
            </a:r>
          </a:p>
          <a:p>
            <a:r>
              <a:rPr lang="en-US" dirty="0"/>
              <a:t>The framework highlights that leadership styles indirectly improve organizational performance by enhancing learning processes within the organization.”</a:t>
            </a:r>
          </a:p>
          <a:p>
            <a:endParaRPr lang="en-PK" dirty="0"/>
          </a:p>
        </p:txBody>
      </p:sp>
      <p:sp>
        <p:nvSpPr>
          <p:cNvPr id="4" name="Slide Number Placeholder 3"/>
          <p:cNvSpPr>
            <a:spLocks noGrp="1"/>
          </p:cNvSpPr>
          <p:nvPr>
            <p:ph type="sldNum" sz="quarter" idx="5"/>
          </p:nvPr>
        </p:nvSpPr>
        <p:spPr/>
        <p:txBody>
          <a:bodyPr/>
          <a:lstStyle/>
          <a:p>
            <a:fld id="{4F0B9813-B5A3-4A9C-B93A-D95AD2F18E0C}" type="slidenum">
              <a:rPr lang="en-US" smtClean="0"/>
              <a:t>13</a:t>
            </a:fld>
            <a:endParaRPr lang="en-US"/>
          </a:p>
        </p:txBody>
      </p:sp>
    </p:spTree>
    <p:extLst>
      <p:ext uri="{BB962C8B-B14F-4D97-AF65-F5344CB8AC3E}">
        <p14:creationId xmlns:p14="http://schemas.microsoft.com/office/powerpoint/2010/main" val="12642739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4F0B9813-B5A3-4A9C-B93A-D95AD2F18E0C}" type="slidenum">
              <a:rPr lang="en-US" smtClean="0"/>
              <a:t>14</a:t>
            </a:fld>
            <a:endParaRPr lang="en-US"/>
          </a:p>
        </p:txBody>
      </p:sp>
    </p:spTree>
    <p:extLst>
      <p:ext uri="{BB962C8B-B14F-4D97-AF65-F5344CB8AC3E}">
        <p14:creationId xmlns:p14="http://schemas.microsoft.com/office/powerpoint/2010/main" val="1384744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PK" dirty="0"/>
          </a:p>
        </p:txBody>
      </p:sp>
      <p:sp>
        <p:nvSpPr>
          <p:cNvPr id="4" name="Slide Number Placeholder 3"/>
          <p:cNvSpPr>
            <a:spLocks noGrp="1"/>
          </p:cNvSpPr>
          <p:nvPr>
            <p:ph type="sldNum" sz="quarter" idx="5"/>
          </p:nvPr>
        </p:nvSpPr>
        <p:spPr/>
        <p:txBody>
          <a:bodyPr/>
          <a:lstStyle/>
          <a:p>
            <a:fld id="{4F0B9813-B5A3-4A9C-B93A-D95AD2F18E0C}" type="slidenum">
              <a:rPr lang="en-US" smtClean="0"/>
              <a:t>15</a:t>
            </a:fld>
            <a:endParaRPr lang="en-US"/>
          </a:p>
        </p:txBody>
      </p:sp>
    </p:spTree>
    <p:extLst>
      <p:ext uri="{BB962C8B-B14F-4D97-AF65-F5344CB8AC3E}">
        <p14:creationId xmlns:p14="http://schemas.microsoft.com/office/powerpoint/2010/main" val="111773215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404A7C-C06B-6C64-9624-F876D12A9F2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90CFAD-A528-ED46-8550-33CC54DA0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4C40341-FC1C-4C24-2BDA-DB661F926F14}"/>
              </a:ext>
            </a:extLst>
          </p:cNvPr>
          <p:cNvSpPr>
            <a:spLocks noGrp="1"/>
          </p:cNvSpPr>
          <p:nvPr>
            <p:ph type="body" idx="1"/>
          </p:nvPr>
        </p:nvSpPr>
        <p:spPr/>
        <p:txBody>
          <a:bodyPr/>
          <a:lstStyle/>
          <a:p>
            <a:pPr algn="l"/>
            <a:r>
              <a:rPr lang="en-US" sz="1800" b="0" i="0" u="none" strike="noStrike" baseline="0" dirty="0">
                <a:latin typeface="AdvPTimes"/>
              </a:rPr>
              <a:t>Pearson correlation test is used to check the correlation</a:t>
            </a:r>
          </a:p>
          <a:p>
            <a:pPr algn="l"/>
            <a:r>
              <a:rPr lang="en-US" sz="1800" b="0" i="0" u="none" strike="noStrike" baseline="0" dirty="0">
                <a:latin typeface="AdvPTimes"/>
              </a:rPr>
              <a:t>among all the variables, especially two independent variables.</a:t>
            </a:r>
          </a:p>
          <a:p>
            <a:pPr algn="l"/>
            <a:r>
              <a:rPr lang="en-US" sz="1800" b="0" i="0" u="none" strike="noStrike" baseline="0" dirty="0">
                <a:latin typeface="AdvPTimes"/>
              </a:rPr>
              <a:t>Pearson correlation </a:t>
            </a:r>
            <a:r>
              <a:rPr lang="en-US" sz="1800" b="0" i="0" u="none" strike="noStrike" baseline="0" dirty="0">
                <a:latin typeface="AdvTir_symb"/>
              </a:rPr>
              <a:t>-</a:t>
            </a:r>
            <a:r>
              <a:rPr lang="en-US" sz="1800" b="0" i="0" u="none" strike="noStrike" baseline="0" dirty="0">
                <a:latin typeface="AdvPTimes"/>
              </a:rPr>
              <a:t>1 to 0 is negative correlation, 0</a:t>
            </a:r>
          </a:p>
          <a:p>
            <a:pPr algn="l"/>
            <a:r>
              <a:rPr lang="en-US" sz="1800" b="0" i="0" u="none" strike="noStrike" baseline="0" dirty="0">
                <a:latin typeface="AdvPTimes"/>
              </a:rPr>
              <a:t>no correlation, and 0 to </a:t>
            </a:r>
            <a:r>
              <a:rPr lang="en-US" sz="1800" b="0" i="0" u="none" strike="noStrike" baseline="0" dirty="0">
                <a:latin typeface="AdvTir_symb"/>
              </a:rPr>
              <a:t>?</a:t>
            </a:r>
            <a:r>
              <a:rPr lang="en-US" sz="1800" b="0" i="0" u="none" strike="noStrike" baseline="0" dirty="0">
                <a:latin typeface="AdvPTimes"/>
              </a:rPr>
              <a:t>1 positive correlation. </a:t>
            </a:r>
            <a:r>
              <a:rPr lang="en-US" sz="1800" b="0" i="0" u="none" strike="noStrike" baseline="0" dirty="0">
                <a:latin typeface="AdvTir_symb"/>
              </a:rPr>
              <a:t>?</a:t>
            </a:r>
            <a:r>
              <a:rPr lang="en-US" sz="1800" b="0" i="0" u="none" strike="noStrike" baseline="0" dirty="0">
                <a:latin typeface="AdvPTimes"/>
              </a:rPr>
              <a:t>1 is</a:t>
            </a:r>
          </a:p>
          <a:p>
            <a:pPr algn="l"/>
            <a:r>
              <a:rPr lang="en-US" sz="1800" b="0" i="0" u="none" strike="noStrike" baseline="0" dirty="0">
                <a:latin typeface="AdvPTimes"/>
              </a:rPr>
              <a:t>perfect correlation.</a:t>
            </a:r>
            <a:endParaRPr lang="en-PK" dirty="0"/>
          </a:p>
        </p:txBody>
      </p:sp>
      <p:sp>
        <p:nvSpPr>
          <p:cNvPr id="4" name="Slide Number Placeholder 3">
            <a:extLst>
              <a:ext uri="{FF2B5EF4-FFF2-40B4-BE49-F238E27FC236}">
                <a16:creationId xmlns:a16="http://schemas.microsoft.com/office/drawing/2014/main" id="{786FD73F-39C2-E132-7D0F-067FCB19E7E8}"/>
              </a:ext>
            </a:extLst>
          </p:cNvPr>
          <p:cNvSpPr>
            <a:spLocks noGrp="1"/>
          </p:cNvSpPr>
          <p:nvPr>
            <p:ph type="sldNum" sz="quarter" idx="5"/>
          </p:nvPr>
        </p:nvSpPr>
        <p:spPr/>
        <p:txBody>
          <a:bodyPr/>
          <a:lstStyle/>
          <a:p>
            <a:fld id="{4F0B9813-B5A3-4A9C-B93A-D95AD2F18E0C}" type="slidenum">
              <a:rPr lang="en-US" smtClean="0"/>
              <a:t>16</a:t>
            </a:fld>
            <a:endParaRPr lang="en-US"/>
          </a:p>
        </p:txBody>
      </p:sp>
    </p:spTree>
    <p:extLst>
      <p:ext uri="{BB962C8B-B14F-4D97-AF65-F5344CB8AC3E}">
        <p14:creationId xmlns:p14="http://schemas.microsoft.com/office/powerpoint/2010/main" val="25495967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2"/>
        <p:cNvGrpSpPr/>
        <p:nvPr/>
      </p:nvGrpSpPr>
      <p:grpSpPr>
        <a:xfrm>
          <a:off x="0" y="0"/>
          <a:ext cx="0" cy="0"/>
          <a:chOff x="0" y="0"/>
          <a:chExt cx="0" cy="0"/>
        </a:xfrm>
      </p:grpSpPr>
      <p:sp>
        <p:nvSpPr>
          <p:cNvPr id="483" name="Google Shape;483;g328e78de68b_0_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4" name="Google Shape;484;g328e78de68b_0_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g328e78de68b_0_20: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4" name="Google Shape;504;g328e78de68b_0_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2"/>
        <p:cNvGrpSpPr/>
        <p:nvPr/>
      </p:nvGrpSpPr>
      <p:grpSpPr>
        <a:xfrm>
          <a:off x="0" y="0"/>
          <a:ext cx="0" cy="0"/>
          <a:chOff x="0" y="0"/>
          <a:chExt cx="0" cy="0"/>
        </a:xfrm>
      </p:grpSpPr>
      <p:sp>
        <p:nvSpPr>
          <p:cNvPr id="523" name="Google Shape;523;g328e78de68b_0_41: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24" name="Google Shape;524;g328e78de68b_0_4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2"/>
        <p:cNvGrpSpPr/>
        <p:nvPr/>
      </p:nvGrpSpPr>
      <p:grpSpPr>
        <a:xfrm>
          <a:off x="0" y="0"/>
          <a:ext cx="0" cy="0"/>
          <a:chOff x="0" y="0"/>
          <a:chExt cx="0" cy="0"/>
        </a:xfrm>
      </p:grpSpPr>
      <p:sp>
        <p:nvSpPr>
          <p:cNvPr id="543" name="Google Shape;543;g328e78de68b_0_62: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4" name="Google Shape;544;g328e78de68b_0_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1/27/2025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1/27/2025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1/27/2025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1/27/2025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1/27/2025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1/27/2025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9.svg"/><Relationship Id="rId5" Type="http://schemas.openxmlformats.org/officeDocument/2006/relationships/image" Target="../media/image8.png"/><Relationship Id="rId10" Type="http://schemas.openxmlformats.org/officeDocument/2006/relationships/image" Target="../media/image13.svg"/><Relationship Id="rId4" Type="http://schemas.openxmlformats.org/officeDocument/2006/relationships/image" Target="../media/image7.svg"/><Relationship Id="rId9" Type="http://schemas.openxmlformats.org/officeDocument/2006/relationships/image" Target="../media/image12.png"/></Relationships>
</file>

<file path=ppt/slides/_rels/slide8.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5.jpeg"/><Relationship Id="rId7"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svg"/><Relationship Id="rId3" Type="http://schemas.openxmlformats.org/officeDocument/2006/relationships/image" Target="../media/image11.svg"/><Relationship Id="rId7" Type="http://schemas.openxmlformats.org/officeDocument/2006/relationships/image" Target="../media/image17.svg"/><Relationship Id="rId12"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10.xml.rels><?xml version="1.0" encoding="UTF-8" standalone="yes"?>
<Relationships xmlns="http://schemas.openxmlformats.org/package/2006/relationships"><Relationship Id="rId8" Type="http://schemas.openxmlformats.org/officeDocument/2006/relationships/image" Target="../media/image18.png"/><Relationship Id="rId13" Type="http://schemas.openxmlformats.org/officeDocument/2006/relationships/image" Target="../media/image23.svg"/><Relationship Id="rId3" Type="http://schemas.openxmlformats.org/officeDocument/2006/relationships/image" Target="../media/image11.svg"/><Relationship Id="rId7" Type="http://schemas.openxmlformats.org/officeDocument/2006/relationships/image" Target="../media/image17.svg"/><Relationship Id="rId12" Type="http://schemas.openxmlformats.org/officeDocument/2006/relationships/image" Target="../media/image22.png"/><Relationship Id="rId2" Type="http://schemas.openxmlformats.org/officeDocument/2006/relationships/image" Target="../media/image10.png"/><Relationship Id="rId1" Type="http://schemas.openxmlformats.org/officeDocument/2006/relationships/slideLayout" Target="../slideLayouts/slideLayout7.xml"/><Relationship Id="rId6" Type="http://schemas.openxmlformats.org/officeDocument/2006/relationships/image" Target="../media/image16.png"/><Relationship Id="rId11" Type="http://schemas.openxmlformats.org/officeDocument/2006/relationships/image" Target="../media/image21.svg"/><Relationship Id="rId5" Type="http://schemas.openxmlformats.org/officeDocument/2006/relationships/image" Target="../media/image15.svg"/><Relationship Id="rId10" Type="http://schemas.openxmlformats.org/officeDocument/2006/relationships/image" Target="../media/image20.png"/><Relationship Id="rId4" Type="http://schemas.openxmlformats.org/officeDocument/2006/relationships/image" Target="../media/image14.png"/><Relationship Id="rId9" Type="http://schemas.openxmlformats.org/officeDocument/2006/relationships/image" Target="../media/image19.svg"/></Relationships>
</file>

<file path=ppt/slides/_rels/slide11.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png"/><Relationship Id="rId7" Type="http://schemas.openxmlformats.org/officeDocument/2006/relationships/image" Target="../media/image28.svg"/><Relationship Id="rId2" Type="http://schemas.openxmlformats.org/officeDocument/2006/relationships/image" Target="../media/image24.jpeg"/><Relationship Id="rId1" Type="http://schemas.openxmlformats.org/officeDocument/2006/relationships/slideLayout" Target="../slideLayouts/slideLayout7.xml"/><Relationship Id="rId6" Type="http://schemas.openxmlformats.org/officeDocument/2006/relationships/image" Target="../media/image27.png"/><Relationship Id="rId11" Type="http://schemas.openxmlformats.org/officeDocument/2006/relationships/image" Target="../media/image32.svg"/><Relationship Id="rId5" Type="http://schemas.openxmlformats.org/officeDocument/2006/relationships/image" Target="../media/image26.sv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svg"/></Relationships>
</file>

<file path=ppt/slides/_rels/slide12.xml.rels><?xml version="1.0" encoding="UTF-8" standalone="yes"?>
<Relationships xmlns="http://schemas.openxmlformats.org/package/2006/relationships"><Relationship Id="rId8" Type="http://schemas.openxmlformats.org/officeDocument/2006/relationships/image" Target="../media/image28.svg"/><Relationship Id="rId3" Type="http://schemas.openxmlformats.org/officeDocument/2006/relationships/image" Target="../media/image24.jpeg"/><Relationship Id="rId7" Type="http://schemas.openxmlformats.org/officeDocument/2006/relationships/image" Target="../media/image27.png"/><Relationship Id="rId12" Type="http://schemas.openxmlformats.org/officeDocument/2006/relationships/image" Target="../media/image32.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26.sv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svg"/><Relationship Id="rId4" Type="http://schemas.openxmlformats.org/officeDocument/2006/relationships/image" Target="../media/image2.png"/><Relationship Id="rId9"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7.sv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34.jp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700000">
            <a:off x="7977732" y="-6524474"/>
            <a:ext cx="17310228" cy="14279050"/>
            <a:chOff x="0" y="0"/>
            <a:chExt cx="4559072" cy="3760737"/>
          </a:xfrm>
        </p:grpSpPr>
        <p:sp>
          <p:nvSpPr>
            <p:cNvPr id="3" name="Freeform 3"/>
            <p:cNvSpPr/>
            <p:nvPr/>
          </p:nvSpPr>
          <p:spPr>
            <a:xfrm>
              <a:off x="0" y="0"/>
              <a:ext cx="4559072" cy="3760738"/>
            </a:xfrm>
            <a:custGeom>
              <a:avLst/>
              <a:gdLst/>
              <a:ahLst/>
              <a:cxnLst/>
              <a:rect l="l" t="t" r="r" b="b"/>
              <a:pathLst>
                <a:path w="4559072" h="3760738">
                  <a:moveTo>
                    <a:pt x="0" y="0"/>
                  </a:moveTo>
                  <a:lnTo>
                    <a:pt x="4559072" y="0"/>
                  </a:lnTo>
                  <a:lnTo>
                    <a:pt x="4559072" y="3760738"/>
                  </a:lnTo>
                  <a:lnTo>
                    <a:pt x="0" y="3760738"/>
                  </a:lnTo>
                  <a:close/>
                </a:path>
              </a:pathLst>
            </a:custGeom>
            <a:solidFill>
              <a:srgbClr val="1468A2"/>
            </a:solidFill>
          </p:spPr>
          <p:txBody>
            <a:bodyPr/>
            <a:lstStyle/>
            <a:p>
              <a:endParaRPr lang="en-PK"/>
            </a:p>
          </p:txBody>
        </p:sp>
        <p:sp>
          <p:nvSpPr>
            <p:cNvPr id="4" name="TextBox 4"/>
            <p:cNvSpPr txBox="1"/>
            <p:nvPr/>
          </p:nvSpPr>
          <p:spPr>
            <a:xfrm>
              <a:off x="0" y="-38100"/>
              <a:ext cx="4559072" cy="37988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2700000">
            <a:off x="10594367" y="6437389"/>
            <a:ext cx="6899924" cy="7822663"/>
            <a:chOff x="0" y="0"/>
            <a:chExt cx="1817264" cy="2060290"/>
          </a:xfrm>
        </p:grpSpPr>
        <p:sp>
          <p:nvSpPr>
            <p:cNvPr id="6" name="Freeform 6"/>
            <p:cNvSpPr/>
            <p:nvPr/>
          </p:nvSpPr>
          <p:spPr>
            <a:xfrm>
              <a:off x="0" y="0"/>
              <a:ext cx="1817264" cy="2060290"/>
            </a:xfrm>
            <a:custGeom>
              <a:avLst/>
              <a:gdLst/>
              <a:ahLst/>
              <a:cxnLst/>
              <a:rect l="l" t="t" r="r" b="b"/>
              <a:pathLst>
                <a:path w="1817264" h="2060290">
                  <a:moveTo>
                    <a:pt x="0" y="0"/>
                  </a:moveTo>
                  <a:lnTo>
                    <a:pt x="1817264" y="0"/>
                  </a:lnTo>
                  <a:lnTo>
                    <a:pt x="1817264" y="2060290"/>
                  </a:lnTo>
                  <a:lnTo>
                    <a:pt x="0" y="2060290"/>
                  </a:lnTo>
                  <a:close/>
                </a:path>
              </a:pathLst>
            </a:custGeom>
            <a:solidFill>
              <a:srgbClr val="1468A2"/>
            </a:solidFill>
          </p:spPr>
          <p:txBody>
            <a:bodyPr/>
            <a:lstStyle/>
            <a:p>
              <a:endParaRPr lang="en-PK"/>
            </a:p>
          </p:txBody>
        </p:sp>
        <p:sp>
          <p:nvSpPr>
            <p:cNvPr id="7" name="TextBox 7"/>
            <p:cNvSpPr txBox="1"/>
            <p:nvPr/>
          </p:nvSpPr>
          <p:spPr>
            <a:xfrm>
              <a:off x="0" y="-38100"/>
              <a:ext cx="1817264" cy="209839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0737289" y="-1988820"/>
            <a:ext cx="11247120" cy="11247120"/>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2"/>
              <a:stretch>
                <a:fillRect l="-27052" r="-23041"/>
              </a:stretch>
            </a:blipFill>
          </p:spPr>
          <p:txBody>
            <a:bodyPr/>
            <a:lstStyle/>
            <a:p>
              <a:endParaRPr lang="en-PK"/>
            </a:p>
          </p:txBody>
        </p:sp>
      </p:grpSp>
      <p:sp>
        <p:nvSpPr>
          <p:cNvPr id="10" name="Freeform 10"/>
          <p:cNvSpPr/>
          <p:nvPr/>
        </p:nvSpPr>
        <p:spPr>
          <a:xfrm>
            <a:off x="9500694" y="-764605"/>
            <a:ext cx="4282420" cy="8229600"/>
          </a:xfrm>
          <a:custGeom>
            <a:avLst/>
            <a:gdLst/>
            <a:ahLst/>
            <a:cxnLst/>
            <a:rect l="l" t="t" r="r" b="b"/>
            <a:pathLst>
              <a:path w="4282420" h="8229600">
                <a:moveTo>
                  <a:pt x="0" y="0"/>
                </a:moveTo>
                <a:lnTo>
                  <a:pt x="4282420" y="0"/>
                </a:lnTo>
                <a:lnTo>
                  <a:pt x="4282420" y="8229600"/>
                </a:lnTo>
                <a:lnTo>
                  <a:pt x="0" y="8229600"/>
                </a:lnTo>
                <a:lnTo>
                  <a:pt x="0" y="0"/>
                </a:lnTo>
                <a:close/>
              </a:path>
            </a:pathLst>
          </a:custGeom>
          <a:blipFill>
            <a:blip r:embed="rId3"/>
            <a:stretch>
              <a:fillRect/>
            </a:stretch>
          </a:blipFill>
        </p:spPr>
        <p:txBody>
          <a:bodyPr/>
          <a:lstStyle/>
          <a:p>
            <a:endParaRPr lang="en-PK"/>
          </a:p>
        </p:txBody>
      </p:sp>
      <p:sp>
        <p:nvSpPr>
          <p:cNvPr id="11" name="Freeform 11"/>
          <p:cNvSpPr/>
          <p:nvPr/>
        </p:nvSpPr>
        <p:spPr>
          <a:xfrm>
            <a:off x="13783114" y="5753894"/>
            <a:ext cx="4282420" cy="8229600"/>
          </a:xfrm>
          <a:custGeom>
            <a:avLst/>
            <a:gdLst/>
            <a:ahLst/>
            <a:cxnLst/>
            <a:rect l="l" t="t" r="r" b="b"/>
            <a:pathLst>
              <a:path w="4282420" h="8229600">
                <a:moveTo>
                  <a:pt x="0" y="0"/>
                </a:moveTo>
                <a:lnTo>
                  <a:pt x="4282420" y="0"/>
                </a:lnTo>
                <a:lnTo>
                  <a:pt x="4282420" y="8229600"/>
                </a:lnTo>
                <a:lnTo>
                  <a:pt x="0" y="8229600"/>
                </a:lnTo>
                <a:lnTo>
                  <a:pt x="0" y="0"/>
                </a:lnTo>
                <a:close/>
              </a:path>
            </a:pathLst>
          </a:custGeom>
          <a:blipFill>
            <a:blip r:embed="rId3"/>
            <a:stretch>
              <a:fillRect/>
            </a:stretch>
          </a:blipFill>
        </p:spPr>
        <p:txBody>
          <a:bodyPr/>
          <a:lstStyle/>
          <a:p>
            <a:endParaRPr lang="en-PK"/>
          </a:p>
        </p:txBody>
      </p:sp>
      <p:sp>
        <p:nvSpPr>
          <p:cNvPr id="12" name="Freeform 12"/>
          <p:cNvSpPr/>
          <p:nvPr/>
        </p:nvSpPr>
        <p:spPr>
          <a:xfrm flipH="1">
            <a:off x="7978798" y="6664398"/>
            <a:ext cx="4282420" cy="4251612"/>
          </a:xfrm>
          <a:custGeom>
            <a:avLst/>
            <a:gdLst/>
            <a:ahLst/>
            <a:cxnLst/>
            <a:rect l="l" t="t" r="r" b="b"/>
            <a:pathLst>
              <a:path w="4282420" h="4251612">
                <a:moveTo>
                  <a:pt x="4282420" y="0"/>
                </a:moveTo>
                <a:lnTo>
                  <a:pt x="0" y="0"/>
                </a:lnTo>
                <a:lnTo>
                  <a:pt x="0" y="4251612"/>
                </a:lnTo>
                <a:lnTo>
                  <a:pt x="4282420" y="4251612"/>
                </a:lnTo>
                <a:lnTo>
                  <a:pt x="4282420" y="0"/>
                </a:lnTo>
                <a:close/>
              </a:path>
            </a:pathLst>
          </a:custGeom>
          <a:blipFill>
            <a:blip r:embed="rId3"/>
            <a:stretch>
              <a:fillRect t="-35629" b="-57934"/>
            </a:stretch>
          </a:blipFill>
        </p:spPr>
        <p:txBody>
          <a:bodyPr/>
          <a:lstStyle/>
          <a:p>
            <a:endParaRPr lang="en-PK"/>
          </a:p>
        </p:txBody>
      </p:sp>
      <p:grpSp>
        <p:nvGrpSpPr>
          <p:cNvPr id="13" name="Group 13"/>
          <p:cNvGrpSpPr/>
          <p:nvPr/>
        </p:nvGrpSpPr>
        <p:grpSpPr>
          <a:xfrm>
            <a:off x="-936172" y="8748609"/>
            <a:ext cx="8867554" cy="814491"/>
            <a:chOff x="0" y="0"/>
            <a:chExt cx="2335487" cy="214516"/>
          </a:xfrm>
        </p:grpSpPr>
        <p:sp>
          <p:nvSpPr>
            <p:cNvPr id="14" name="Freeform 14"/>
            <p:cNvSpPr/>
            <p:nvPr/>
          </p:nvSpPr>
          <p:spPr>
            <a:xfrm>
              <a:off x="0" y="0"/>
              <a:ext cx="2335487" cy="214516"/>
            </a:xfrm>
            <a:custGeom>
              <a:avLst/>
              <a:gdLst/>
              <a:ahLst/>
              <a:cxnLst/>
              <a:rect l="l" t="t" r="r" b="b"/>
              <a:pathLst>
                <a:path w="2335487" h="214516">
                  <a:moveTo>
                    <a:pt x="203200" y="0"/>
                  </a:moveTo>
                  <a:lnTo>
                    <a:pt x="2335487" y="0"/>
                  </a:lnTo>
                  <a:lnTo>
                    <a:pt x="2132287" y="214516"/>
                  </a:lnTo>
                  <a:lnTo>
                    <a:pt x="0" y="214516"/>
                  </a:lnTo>
                  <a:lnTo>
                    <a:pt x="203200" y="0"/>
                  </a:lnTo>
                  <a:close/>
                </a:path>
              </a:pathLst>
            </a:custGeom>
            <a:solidFill>
              <a:srgbClr val="1468A2"/>
            </a:solidFill>
          </p:spPr>
          <p:txBody>
            <a:bodyPr/>
            <a:lstStyle/>
            <a:p>
              <a:endParaRPr lang="en-PK"/>
            </a:p>
          </p:txBody>
        </p:sp>
        <p:sp>
          <p:nvSpPr>
            <p:cNvPr id="15" name="TextBox 15"/>
            <p:cNvSpPr txBox="1"/>
            <p:nvPr/>
          </p:nvSpPr>
          <p:spPr>
            <a:xfrm>
              <a:off x="101600" y="-38100"/>
              <a:ext cx="2132287" cy="252616"/>
            </a:xfrm>
            <a:prstGeom prst="rect">
              <a:avLst/>
            </a:prstGeom>
          </p:spPr>
          <p:txBody>
            <a:bodyPr lIns="50800" tIns="50800" rIns="50800" bIns="50800" rtlCol="0" anchor="ctr"/>
            <a:lstStyle/>
            <a:p>
              <a:pPr algn="ctr">
                <a:lnSpc>
                  <a:spcPts val="2659"/>
                </a:lnSpc>
              </a:pPr>
              <a:endParaRPr/>
            </a:p>
          </p:txBody>
        </p:sp>
      </p:grpSp>
      <p:sp>
        <p:nvSpPr>
          <p:cNvPr id="16" name="AutoShape 16"/>
          <p:cNvSpPr/>
          <p:nvPr/>
        </p:nvSpPr>
        <p:spPr>
          <a:xfrm flipV="1">
            <a:off x="7657041" y="6826631"/>
            <a:ext cx="4525147" cy="4525147"/>
          </a:xfrm>
          <a:prstGeom prst="line">
            <a:avLst/>
          </a:prstGeom>
          <a:ln w="38100" cap="flat">
            <a:solidFill>
              <a:srgbClr val="1468A2"/>
            </a:solidFill>
            <a:prstDash val="solid"/>
            <a:headEnd type="none" w="sm" len="sm"/>
            <a:tailEnd type="none" w="sm" len="sm"/>
          </a:ln>
        </p:spPr>
        <p:txBody>
          <a:bodyPr/>
          <a:lstStyle/>
          <a:p>
            <a:endParaRPr lang="en-PK"/>
          </a:p>
        </p:txBody>
      </p:sp>
      <p:sp>
        <p:nvSpPr>
          <p:cNvPr id="17" name="AutoShape 17"/>
          <p:cNvSpPr/>
          <p:nvPr/>
        </p:nvSpPr>
        <p:spPr>
          <a:xfrm>
            <a:off x="3390789" y="-1975350"/>
            <a:ext cx="5007503" cy="5007503"/>
          </a:xfrm>
          <a:prstGeom prst="line">
            <a:avLst/>
          </a:prstGeom>
          <a:ln w="38100" cap="flat">
            <a:solidFill>
              <a:srgbClr val="1468A2"/>
            </a:solidFill>
            <a:prstDash val="solid"/>
            <a:headEnd type="none" w="sm" len="sm"/>
            <a:tailEnd type="none" w="sm" len="sm"/>
          </a:ln>
        </p:spPr>
        <p:txBody>
          <a:bodyPr/>
          <a:lstStyle/>
          <a:p>
            <a:endParaRPr lang="en-PK"/>
          </a:p>
        </p:txBody>
      </p:sp>
      <p:sp>
        <p:nvSpPr>
          <p:cNvPr id="18" name="AutoShape 18"/>
          <p:cNvSpPr/>
          <p:nvPr/>
        </p:nvSpPr>
        <p:spPr>
          <a:xfrm>
            <a:off x="9216089" y="3817613"/>
            <a:ext cx="3647382" cy="3647382"/>
          </a:xfrm>
          <a:prstGeom prst="line">
            <a:avLst/>
          </a:prstGeom>
          <a:ln w="38100" cap="flat">
            <a:solidFill>
              <a:srgbClr val="1468A2"/>
            </a:solidFill>
            <a:prstDash val="solid"/>
            <a:headEnd type="none" w="sm" len="sm"/>
            <a:tailEnd type="none" w="sm" len="sm"/>
          </a:ln>
        </p:spPr>
        <p:txBody>
          <a:bodyPr/>
          <a:lstStyle/>
          <a:p>
            <a:endParaRPr lang="en-PK"/>
          </a:p>
        </p:txBody>
      </p:sp>
      <p:sp>
        <p:nvSpPr>
          <p:cNvPr id="22" name="TextBox 22"/>
          <p:cNvSpPr txBox="1"/>
          <p:nvPr/>
        </p:nvSpPr>
        <p:spPr>
          <a:xfrm>
            <a:off x="776067" y="2857500"/>
            <a:ext cx="9587133" cy="5411738"/>
          </a:xfrm>
          <a:prstGeom prst="rect">
            <a:avLst/>
          </a:prstGeom>
        </p:spPr>
        <p:txBody>
          <a:bodyPr wrap="square" lIns="0" tIns="0" rIns="0" bIns="0" rtlCol="0" anchor="t">
            <a:spAutoFit/>
          </a:bodyPr>
          <a:lstStyle/>
          <a:p>
            <a:pPr algn="l">
              <a:lnSpc>
                <a:spcPts val="8586"/>
              </a:lnSpc>
            </a:pPr>
            <a:r>
              <a:rPr lang="en-US" sz="4500" b="1" i="1" dirty="0">
                <a:solidFill>
                  <a:srgbClr val="000000"/>
                </a:solidFill>
                <a:latin typeface="Garet Bold Italics"/>
                <a:ea typeface="Garet Bold Italics"/>
                <a:cs typeface="Garet Bold Italics"/>
                <a:sym typeface="Garet Bold Italics"/>
              </a:rPr>
              <a:t>Impact of Transformational and Servant Leadership</a:t>
            </a:r>
          </a:p>
          <a:p>
            <a:pPr algn="l">
              <a:lnSpc>
                <a:spcPts val="8586"/>
              </a:lnSpc>
            </a:pPr>
            <a:r>
              <a:rPr lang="en-US" sz="4500" b="1" i="1" dirty="0">
                <a:solidFill>
                  <a:srgbClr val="000000"/>
                </a:solidFill>
                <a:latin typeface="Garet Bold Italics"/>
                <a:ea typeface="Garet Bold Italics"/>
                <a:cs typeface="Garet Bold Italics"/>
                <a:sym typeface="Garet Bold Italics"/>
              </a:rPr>
              <a:t>on Organizational Performance: A Comparative Analysis</a:t>
            </a:r>
          </a:p>
        </p:txBody>
      </p:sp>
      <p:sp>
        <p:nvSpPr>
          <p:cNvPr id="23" name="TextBox 23"/>
          <p:cNvSpPr txBox="1"/>
          <p:nvPr/>
        </p:nvSpPr>
        <p:spPr>
          <a:xfrm>
            <a:off x="917221" y="8870105"/>
            <a:ext cx="6459324" cy="577915"/>
          </a:xfrm>
          <a:prstGeom prst="rect">
            <a:avLst/>
          </a:prstGeom>
        </p:spPr>
        <p:txBody>
          <a:bodyPr wrap="square" lIns="0" tIns="0" rIns="0" bIns="0" rtlCol="0" anchor="t">
            <a:spAutoFit/>
          </a:bodyPr>
          <a:lstStyle/>
          <a:p>
            <a:pPr algn="l">
              <a:lnSpc>
                <a:spcPts val="4527"/>
              </a:lnSpc>
            </a:pPr>
            <a:r>
              <a:rPr lang="en-US" sz="3773" b="1" dirty="0">
                <a:solidFill>
                  <a:srgbClr val="FFFFFF"/>
                </a:solidFill>
                <a:latin typeface="Garet Bold"/>
                <a:ea typeface="Garet Bold"/>
                <a:cs typeface="Garet Bold"/>
                <a:sym typeface="Garet Bold"/>
              </a:rPr>
              <a:t>LEADERSHIP STRATEGIES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BF2F1"/>
        </a:solidFill>
        <a:effectLst/>
      </p:bgPr>
    </p:bg>
    <p:spTree>
      <p:nvGrpSpPr>
        <p:cNvPr id="1" name=""/>
        <p:cNvGrpSpPr/>
        <p:nvPr/>
      </p:nvGrpSpPr>
      <p:grpSpPr>
        <a:xfrm>
          <a:off x="0" y="0"/>
          <a:ext cx="0" cy="0"/>
          <a:chOff x="0" y="0"/>
          <a:chExt cx="0" cy="0"/>
        </a:xfrm>
      </p:grpSpPr>
      <p:grpSp>
        <p:nvGrpSpPr>
          <p:cNvPr id="5" name="Group 5"/>
          <p:cNvGrpSpPr/>
          <p:nvPr/>
        </p:nvGrpSpPr>
        <p:grpSpPr>
          <a:xfrm>
            <a:off x="9923459" y="-789028"/>
            <a:ext cx="9510939" cy="10597414"/>
            <a:chOff x="0" y="0"/>
            <a:chExt cx="2504939" cy="2791089"/>
          </a:xfrm>
        </p:grpSpPr>
        <p:sp>
          <p:nvSpPr>
            <p:cNvPr id="6" name="Freeform 6"/>
            <p:cNvSpPr/>
            <p:nvPr/>
          </p:nvSpPr>
          <p:spPr>
            <a:xfrm>
              <a:off x="0" y="0"/>
              <a:ext cx="2504939" cy="2791089"/>
            </a:xfrm>
            <a:custGeom>
              <a:avLst/>
              <a:gdLst/>
              <a:ahLst/>
              <a:cxnLst/>
              <a:rect l="l" t="t" r="r" b="b"/>
              <a:pathLst>
                <a:path w="2504939" h="2791089">
                  <a:moveTo>
                    <a:pt x="0" y="0"/>
                  </a:moveTo>
                  <a:lnTo>
                    <a:pt x="2504939" y="0"/>
                  </a:lnTo>
                  <a:lnTo>
                    <a:pt x="2504939" y="2791089"/>
                  </a:lnTo>
                  <a:lnTo>
                    <a:pt x="0" y="2791089"/>
                  </a:lnTo>
                  <a:close/>
                </a:path>
              </a:pathLst>
            </a:custGeom>
            <a:solidFill>
              <a:srgbClr val="FFFFFF"/>
            </a:solidFill>
          </p:spPr>
          <p:txBody>
            <a:bodyPr/>
            <a:lstStyle/>
            <a:p>
              <a:endParaRPr lang="en-PK"/>
            </a:p>
          </p:txBody>
        </p:sp>
        <p:sp>
          <p:nvSpPr>
            <p:cNvPr id="7" name="TextBox 7"/>
            <p:cNvSpPr txBox="1"/>
            <p:nvPr/>
          </p:nvSpPr>
          <p:spPr>
            <a:xfrm>
              <a:off x="0" y="-38100"/>
              <a:ext cx="2504939" cy="2829189"/>
            </a:xfrm>
            <a:prstGeom prst="rect">
              <a:avLst/>
            </a:prstGeom>
          </p:spPr>
          <p:txBody>
            <a:bodyPr lIns="50800" tIns="50800" rIns="50800" bIns="50800" rtlCol="0" anchor="ctr"/>
            <a:lstStyle/>
            <a:p>
              <a:pPr algn="ctr">
                <a:lnSpc>
                  <a:spcPts val="2659"/>
                </a:lnSpc>
              </a:pPr>
              <a:endParaRPr/>
            </a:p>
          </p:txBody>
        </p:sp>
      </p:grpSp>
      <p:grpSp>
        <p:nvGrpSpPr>
          <p:cNvPr id="2" name="Group 2"/>
          <p:cNvGrpSpPr/>
          <p:nvPr/>
        </p:nvGrpSpPr>
        <p:grpSpPr>
          <a:xfrm>
            <a:off x="-848883" y="1149118"/>
            <a:ext cx="7668562" cy="814491"/>
            <a:chOff x="0" y="0"/>
            <a:chExt cx="2019704" cy="214516"/>
          </a:xfrm>
        </p:grpSpPr>
        <p:sp>
          <p:nvSpPr>
            <p:cNvPr id="3" name="Freeform 3"/>
            <p:cNvSpPr/>
            <p:nvPr/>
          </p:nvSpPr>
          <p:spPr>
            <a:xfrm>
              <a:off x="0" y="0"/>
              <a:ext cx="2019704" cy="214516"/>
            </a:xfrm>
            <a:custGeom>
              <a:avLst/>
              <a:gdLst/>
              <a:ahLst/>
              <a:cxnLst/>
              <a:rect l="l" t="t" r="r" b="b"/>
              <a:pathLst>
                <a:path w="2019704" h="214516">
                  <a:moveTo>
                    <a:pt x="203200" y="0"/>
                  </a:moveTo>
                  <a:lnTo>
                    <a:pt x="2019704" y="0"/>
                  </a:lnTo>
                  <a:lnTo>
                    <a:pt x="1816504" y="214516"/>
                  </a:lnTo>
                  <a:lnTo>
                    <a:pt x="0" y="214516"/>
                  </a:lnTo>
                  <a:lnTo>
                    <a:pt x="203200" y="0"/>
                  </a:lnTo>
                  <a:close/>
                </a:path>
              </a:pathLst>
            </a:custGeom>
            <a:solidFill>
              <a:srgbClr val="1468A2">
                <a:alpha val="7843"/>
              </a:srgbClr>
            </a:solidFill>
          </p:spPr>
          <p:txBody>
            <a:bodyPr/>
            <a:lstStyle/>
            <a:p>
              <a:endParaRPr lang="en-PK"/>
            </a:p>
          </p:txBody>
        </p:sp>
        <p:sp>
          <p:nvSpPr>
            <p:cNvPr id="4" name="TextBox 4"/>
            <p:cNvSpPr txBox="1"/>
            <p:nvPr/>
          </p:nvSpPr>
          <p:spPr>
            <a:xfrm>
              <a:off x="101600" y="-38100"/>
              <a:ext cx="1816504" cy="252616"/>
            </a:xfrm>
            <a:prstGeom prst="rect">
              <a:avLst/>
            </a:prstGeom>
          </p:spPr>
          <p:txBody>
            <a:bodyPr lIns="50800" tIns="50800" rIns="50800" bIns="50800" rtlCol="0" anchor="ctr"/>
            <a:lstStyle/>
            <a:p>
              <a:pPr algn="ctr">
                <a:lnSpc>
                  <a:spcPts val="2659"/>
                </a:lnSpc>
              </a:pPr>
              <a:endParaRPr/>
            </a:p>
          </p:txBody>
        </p:sp>
      </p:grpSp>
      <p:sp>
        <p:nvSpPr>
          <p:cNvPr id="8" name="Freeform 8"/>
          <p:cNvSpPr/>
          <p:nvPr/>
        </p:nvSpPr>
        <p:spPr>
          <a:xfrm>
            <a:off x="10687575" y="1701389"/>
            <a:ext cx="1175007" cy="1236850"/>
          </a:xfrm>
          <a:custGeom>
            <a:avLst/>
            <a:gdLst/>
            <a:ahLst/>
            <a:cxnLst/>
            <a:rect l="l" t="t" r="r" b="b"/>
            <a:pathLst>
              <a:path w="1175007" h="1236850">
                <a:moveTo>
                  <a:pt x="0" y="0"/>
                </a:moveTo>
                <a:lnTo>
                  <a:pt x="1175007" y="0"/>
                </a:lnTo>
                <a:lnTo>
                  <a:pt x="1175007" y="1236850"/>
                </a:lnTo>
                <a:lnTo>
                  <a:pt x="0" y="12368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PK"/>
          </a:p>
        </p:txBody>
      </p:sp>
      <p:sp>
        <p:nvSpPr>
          <p:cNvPr id="9" name="Freeform 9"/>
          <p:cNvSpPr/>
          <p:nvPr/>
        </p:nvSpPr>
        <p:spPr>
          <a:xfrm>
            <a:off x="10687575" y="3434628"/>
            <a:ext cx="1175007" cy="1236850"/>
          </a:xfrm>
          <a:custGeom>
            <a:avLst/>
            <a:gdLst/>
            <a:ahLst/>
            <a:cxnLst/>
            <a:rect l="l" t="t" r="r" b="b"/>
            <a:pathLst>
              <a:path w="1175007" h="1236850">
                <a:moveTo>
                  <a:pt x="0" y="0"/>
                </a:moveTo>
                <a:lnTo>
                  <a:pt x="1175007" y="0"/>
                </a:lnTo>
                <a:lnTo>
                  <a:pt x="1175007" y="1236850"/>
                </a:lnTo>
                <a:lnTo>
                  <a:pt x="0" y="12368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PK"/>
          </a:p>
        </p:txBody>
      </p:sp>
      <p:sp>
        <p:nvSpPr>
          <p:cNvPr id="10" name="TextBox 10"/>
          <p:cNvSpPr txBox="1"/>
          <p:nvPr/>
        </p:nvSpPr>
        <p:spPr>
          <a:xfrm>
            <a:off x="1028700" y="1276846"/>
            <a:ext cx="5349189" cy="565732"/>
          </a:xfrm>
          <a:prstGeom prst="rect">
            <a:avLst/>
          </a:prstGeom>
        </p:spPr>
        <p:txBody>
          <a:bodyPr lIns="0" tIns="0" rIns="0" bIns="0" rtlCol="0" anchor="t">
            <a:spAutoFit/>
          </a:bodyPr>
          <a:lstStyle/>
          <a:p>
            <a:pPr algn="l">
              <a:lnSpc>
                <a:spcPts val="4446"/>
              </a:lnSpc>
            </a:pPr>
            <a:r>
              <a:rPr lang="en-US" sz="3705" b="1" dirty="0">
                <a:solidFill>
                  <a:srgbClr val="000000"/>
                </a:solidFill>
                <a:latin typeface="Garet Bold"/>
                <a:ea typeface="Garet Bold"/>
                <a:cs typeface="Garet Bold"/>
                <a:sym typeface="Garet Bold"/>
              </a:rPr>
              <a:t>OUR TEAM</a:t>
            </a:r>
          </a:p>
        </p:txBody>
      </p:sp>
      <p:grpSp>
        <p:nvGrpSpPr>
          <p:cNvPr id="13" name="Group 13"/>
          <p:cNvGrpSpPr/>
          <p:nvPr/>
        </p:nvGrpSpPr>
        <p:grpSpPr>
          <a:xfrm>
            <a:off x="12108965" y="2035521"/>
            <a:ext cx="5387674" cy="471004"/>
            <a:chOff x="0" y="0"/>
            <a:chExt cx="1824570" cy="159509"/>
          </a:xfrm>
        </p:grpSpPr>
        <p:sp>
          <p:nvSpPr>
            <p:cNvPr id="14" name="Freeform 14"/>
            <p:cNvSpPr/>
            <p:nvPr/>
          </p:nvSpPr>
          <p:spPr>
            <a:xfrm>
              <a:off x="0" y="0"/>
              <a:ext cx="1824570" cy="159509"/>
            </a:xfrm>
            <a:custGeom>
              <a:avLst/>
              <a:gdLst/>
              <a:ahLst/>
              <a:cxnLst/>
              <a:rect l="l" t="t" r="r" b="b"/>
              <a:pathLst>
                <a:path w="1824570" h="159509">
                  <a:moveTo>
                    <a:pt x="79754" y="0"/>
                  </a:moveTo>
                  <a:lnTo>
                    <a:pt x="1744816" y="0"/>
                  </a:lnTo>
                  <a:cubicBezTo>
                    <a:pt x="1765968" y="0"/>
                    <a:pt x="1786254" y="8403"/>
                    <a:pt x="1801211" y="23359"/>
                  </a:cubicBezTo>
                  <a:cubicBezTo>
                    <a:pt x="1816168" y="38316"/>
                    <a:pt x="1824570" y="58602"/>
                    <a:pt x="1824570" y="79754"/>
                  </a:cubicBezTo>
                  <a:lnTo>
                    <a:pt x="1824570" y="79754"/>
                  </a:lnTo>
                  <a:cubicBezTo>
                    <a:pt x="1824570" y="100906"/>
                    <a:pt x="1816168" y="121192"/>
                    <a:pt x="1801211" y="136149"/>
                  </a:cubicBezTo>
                  <a:cubicBezTo>
                    <a:pt x="1786254" y="151106"/>
                    <a:pt x="1765968" y="159509"/>
                    <a:pt x="1744816"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15" name="TextBox 15"/>
            <p:cNvSpPr txBox="1"/>
            <p:nvPr/>
          </p:nvSpPr>
          <p:spPr>
            <a:xfrm>
              <a:off x="0" y="-38100"/>
              <a:ext cx="1824570" cy="197609"/>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12108965" y="3796081"/>
            <a:ext cx="5387674" cy="471004"/>
            <a:chOff x="0" y="0"/>
            <a:chExt cx="1824570" cy="159509"/>
          </a:xfrm>
        </p:grpSpPr>
        <p:sp>
          <p:nvSpPr>
            <p:cNvPr id="17" name="Freeform 17"/>
            <p:cNvSpPr/>
            <p:nvPr/>
          </p:nvSpPr>
          <p:spPr>
            <a:xfrm>
              <a:off x="0" y="0"/>
              <a:ext cx="1824570" cy="159509"/>
            </a:xfrm>
            <a:custGeom>
              <a:avLst/>
              <a:gdLst/>
              <a:ahLst/>
              <a:cxnLst/>
              <a:rect l="l" t="t" r="r" b="b"/>
              <a:pathLst>
                <a:path w="1824570" h="159509">
                  <a:moveTo>
                    <a:pt x="79754" y="0"/>
                  </a:moveTo>
                  <a:lnTo>
                    <a:pt x="1744816" y="0"/>
                  </a:lnTo>
                  <a:cubicBezTo>
                    <a:pt x="1765968" y="0"/>
                    <a:pt x="1786254" y="8403"/>
                    <a:pt x="1801211" y="23359"/>
                  </a:cubicBezTo>
                  <a:cubicBezTo>
                    <a:pt x="1816168" y="38316"/>
                    <a:pt x="1824570" y="58602"/>
                    <a:pt x="1824570" y="79754"/>
                  </a:cubicBezTo>
                  <a:lnTo>
                    <a:pt x="1824570" y="79754"/>
                  </a:lnTo>
                  <a:cubicBezTo>
                    <a:pt x="1824570" y="100906"/>
                    <a:pt x="1816168" y="121192"/>
                    <a:pt x="1801211" y="136149"/>
                  </a:cubicBezTo>
                  <a:cubicBezTo>
                    <a:pt x="1786254" y="151106"/>
                    <a:pt x="1765968" y="159509"/>
                    <a:pt x="1744816"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18" name="TextBox 18"/>
            <p:cNvSpPr txBox="1"/>
            <p:nvPr/>
          </p:nvSpPr>
          <p:spPr>
            <a:xfrm>
              <a:off x="0" y="-38100"/>
              <a:ext cx="1824570" cy="197609"/>
            </a:xfrm>
            <a:prstGeom prst="rect">
              <a:avLst/>
            </a:prstGeom>
          </p:spPr>
          <p:txBody>
            <a:bodyPr lIns="50800" tIns="50800" rIns="50800" bIns="50800" rtlCol="0" anchor="ctr"/>
            <a:lstStyle/>
            <a:p>
              <a:pPr algn="ctr">
                <a:lnSpc>
                  <a:spcPts val="2659"/>
                </a:lnSpc>
              </a:pPr>
              <a:endParaRPr/>
            </a:p>
          </p:txBody>
        </p:sp>
      </p:grpSp>
      <p:sp>
        <p:nvSpPr>
          <p:cNvPr id="19" name="TextBox 19"/>
          <p:cNvSpPr txBox="1"/>
          <p:nvPr/>
        </p:nvSpPr>
        <p:spPr>
          <a:xfrm>
            <a:off x="12108965" y="2616305"/>
            <a:ext cx="4888088" cy="317395"/>
          </a:xfrm>
          <a:prstGeom prst="rect">
            <a:avLst/>
          </a:prstGeom>
        </p:spPr>
        <p:txBody>
          <a:bodyPr lIns="0" tIns="0" rIns="0" bIns="0" rtlCol="0" anchor="t">
            <a:spAutoFit/>
          </a:bodyPr>
          <a:lstStyle/>
          <a:p>
            <a:pPr algn="just">
              <a:lnSpc>
                <a:spcPts val="2100"/>
              </a:lnSpc>
            </a:pPr>
            <a:r>
              <a:rPr lang="en-US" sz="3000" dirty="0">
                <a:solidFill>
                  <a:srgbClr val="000000"/>
                </a:solidFill>
                <a:latin typeface="Garet"/>
                <a:ea typeface="Garet"/>
                <a:cs typeface="Garet"/>
                <a:sym typeface="Garet"/>
              </a:rPr>
              <a:t>2021-CS-170</a:t>
            </a:r>
          </a:p>
        </p:txBody>
      </p:sp>
      <p:sp>
        <p:nvSpPr>
          <p:cNvPr id="20" name="TextBox 20"/>
          <p:cNvSpPr txBox="1"/>
          <p:nvPr/>
        </p:nvSpPr>
        <p:spPr>
          <a:xfrm>
            <a:off x="12108965" y="4376866"/>
            <a:ext cx="4888088" cy="317395"/>
          </a:xfrm>
          <a:prstGeom prst="rect">
            <a:avLst/>
          </a:prstGeom>
        </p:spPr>
        <p:txBody>
          <a:bodyPr lIns="0" tIns="0" rIns="0" bIns="0" rtlCol="0" anchor="t">
            <a:spAutoFit/>
          </a:bodyPr>
          <a:lstStyle/>
          <a:p>
            <a:pPr algn="just">
              <a:lnSpc>
                <a:spcPts val="2100"/>
              </a:lnSpc>
            </a:pPr>
            <a:r>
              <a:rPr lang="en-US" sz="3000" dirty="0">
                <a:solidFill>
                  <a:srgbClr val="000000"/>
                </a:solidFill>
                <a:latin typeface="Garet"/>
                <a:ea typeface="Garet"/>
                <a:cs typeface="Garet"/>
                <a:sym typeface="Garet"/>
              </a:rPr>
              <a:t>2021-CS-207</a:t>
            </a:r>
          </a:p>
        </p:txBody>
      </p:sp>
      <p:sp>
        <p:nvSpPr>
          <p:cNvPr id="21" name="TextBox 21"/>
          <p:cNvSpPr txBox="1"/>
          <p:nvPr/>
        </p:nvSpPr>
        <p:spPr>
          <a:xfrm>
            <a:off x="12289574" y="2118856"/>
            <a:ext cx="4338369" cy="334707"/>
          </a:xfrm>
          <a:prstGeom prst="rect">
            <a:avLst/>
          </a:prstGeom>
        </p:spPr>
        <p:txBody>
          <a:bodyPr lIns="0" tIns="0" rIns="0" bIns="0" rtlCol="0" anchor="t">
            <a:spAutoFit/>
          </a:bodyPr>
          <a:lstStyle/>
          <a:p>
            <a:pPr algn="l">
              <a:lnSpc>
                <a:spcPts val="2158"/>
              </a:lnSpc>
            </a:pPr>
            <a:r>
              <a:rPr lang="en-US" sz="3200" b="1" dirty="0">
                <a:solidFill>
                  <a:srgbClr val="000000"/>
                </a:solidFill>
                <a:latin typeface="Garet Bold"/>
                <a:ea typeface="Garet Bold"/>
                <a:cs typeface="Garet Bold"/>
                <a:sym typeface="Garet Bold"/>
              </a:rPr>
              <a:t>Bisma</a:t>
            </a:r>
          </a:p>
        </p:txBody>
      </p:sp>
      <p:sp>
        <p:nvSpPr>
          <p:cNvPr id="22" name="TextBox 22"/>
          <p:cNvSpPr txBox="1"/>
          <p:nvPr/>
        </p:nvSpPr>
        <p:spPr>
          <a:xfrm>
            <a:off x="12289574" y="3879417"/>
            <a:ext cx="4006455" cy="334707"/>
          </a:xfrm>
          <a:prstGeom prst="rect">
            <a:avLst/>
          </a:prstGeom>
        </p:spPr>
        <p:txBody>
          <a:bodyPr lIns="0" tIns="0" rIns="0" bIns="0" rtlCol="0" anchor="t">
            <a:spAutoFit/>
          </a:bodyPr>
          <a:lstStyle/>
          <a:p>
            <a:pPr algn="l">
              <a:lnSpc>
                <a:spcPts val="2158"/>
              </a:lnSpc>
            </a:pPr>
            <a:r>
              <a:rPr lang="en-US" sz="3200" b="1" dirty="0">
                <a:solidFill>
                  <a:srgbClr val="000000"/>
                </a:solidFill>
                <a:latin typeface="Garet Bold"/>
                <a:ea typeface="Garet Bold"/>
                <a:cs typeface="Garet Bold"/>
                <a:sym typeface="Garet Bold"/>
              </a:rPr>
              <a:t>Muhammad Umair</a:t>
            </a:r>
          </a:p>
        </p:txBody>
      </p:sp>
      <p:sp>
        <p:nvSpPr>
          <p:cNvPr id="23" name="Freeform 23"/>
          <p:cNvSpPr/>
          <p:nvPr/>
        </p:nvSpPr>
        <p:spPr>
          <a:xfrm>
            <a:off x="10687575" y="5592410"/>
            <a:ext cx="1175007" cy="1236850"/>
          </a:xfrm>
          <a:custGeom>
            <a:avLst/>
            <a:gdLst/>
            <a:ahLst/>
            <a:cxnLst/>
            <a:rect l="l" t="t" r="r" b="b"/>
            <a:pathLst>
              <a:path w="1175007" h="1236850">
                <a:moveTo>
                  <a:pt x="0" y="0"/>
                </a:moveTo>
                <a:lnTo>
                  <a:pt x="1175007" y="0"/>
                </a:lnTo>
                <a:lnTo>
                  <a:pt x="1175007" y="1236850"/>
                </a:lnTo>
                <a:lnTo>
                  <a:pt x="0" y="12368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PK"/>
          </a:p>
        </p:txBody>
      </p:sp>
      <p:grpSp>
        <p:nvGrpSpPr>
          <p:cNvPr id="24" name="Group 24"/>
          <p:cNvGrpSpPr/>
          <p:nvPr/>
        </p:nvGrpSpPr>
        <p:grpSpPr>
          <a:xfrm>
            <a:off x="12108965" y="5930781"/>
            <a:ext cx="5387674" cy="471004"/>
            <a:chOff x="0" y="0"/>
            <a:chExt cx="1824570" cy="159509"/>
          </a:xfrm>
        </p:grpSpPr>
        <p:sp>
          <p:nvSpPr>
            <p:cNvPr id="25" name="Freeform 25"/>
            <p:cNvSpPr/>
            <p:nvPr/>
          </p:nvSpPr>
          <p:spPr>
            <a:xfrm>
              <a:off x="0" y="0"/>
              <a:ext cx="1824570" cy="159509"/>
            </a:xfrm>
            <a:custGeom>
              <a:avLst/>
              <a:gdLst/>
              <a:ahLst/>
              <a:cxnLst/>
              <a:rect l="l" t="t" r="r" b="b"/>
              <a:pathLst>
                <a:path w="1824570" h="159509">
                  <a:moveTo>
                    <a:pt x="79754" y="0"/>
                  </a:moveTo>
                  <a:lnTo>
                    <a:pt x="1744816" y="0"/>
                  </a:lnTo>
                  <a:cubicBezTo>
                    <a:pt x="1765968" y="0"/>
                    <a:pt x="1786254" y="8403"/>
                    <a:pt x="1801211" y="23359"/>
                  </a:cubicBezTo>
                  <a:cubicBezTo>
                    <a:pt x="1816168" y="38316"/>
                    <a:pt x="1824570" y="58602"/>
                    <a:pt x="1824570" y="79754"/>
                  </a:cubicBezTo>
                  <a:lnTo>
                    <a:pt x="1824570" y="79754"/>
                  </a:lnTo>
                  <a:cubicBezTo>
                    <a:pt x="1824570" y="100906"/>
                    <a:pt x="1816168" y="121192"/>
                    <a:pt x="1801211" y="136149"/>
                  </a:cubicBezTo>
                  <a:cubicBezTo>
                    <a:pt x="1786254" y="151106"/>
                    <a:pt x="1765968" y="159509"/>
                    <a:pt x="1744816"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26" name="TextBox 26"/>
            <p:cNvSpPr txBox="1"/>
            <p:nvPr/>
          </p:nvSpPr>
          <p:spPr>
            <a:xfrm>
              <a:off x="0" y="-38100"/>
              <a:ext cx="1824570" cy="197609"/>
            </a:xfrm>
            <a:prstGeom prst="rect">
              <a:avLst/>
            </a:prstGeom>
          </p:spPr>
          <p:txBody>
            <a:bodyPr lIns="50800" tIns="50800" rIns="50800" bIns="50800" rtlCol="0" anchor="ctr"/>
            <a:lstStyle/>
            <a:p>
              <a:pPr algn="ctr">
                <a:lnSpc>
                  <a:spcPts val="2659"/>
                </a:lnSpc>
              </a:pPr>
              <a:endParaRPr/>
            </a:p>
          </p:txBody>
        </p:sp>
      </p:grpSp>
      <p:sp>
        <p:nvSpPr>
          <p:cNvPr id="27" name="TextBox 27"/>
          <p:cNvSpPr txBox="1"/>
          <p:nvPr/>
        </p:nvSpPr>
        <p:spPr>
          <a:xfrm>
            <a:off x="12108965" y="6534647"/>
            <a:ext cx="4888088" cy="317395"/>
          </a:xfrm>
          <a:prstGeom prst="rect">
            <a:avLst/>
          </a:prstGeom>
        </p:spPr>
        <p:txBody>
          <a:bodyPr lIns="0" tIns="0" rIns="0" bIns="0" rtlCol="0" anchor="t">
            <a:spAutoFit/>
          </a:bodyPr>
          <a:lstStyle/>
          <a:p>
            <a:pPr algn="just">
              <a:lnSpc>
                <a:spcPts val="2100"/>
              </a:lnSpc>
            </a:pPr>
            <a:r>
              <a:rPr lang="en-US" sz="3000" dirty="0">
                <a:solidFill>
                  <a:srgbClr val="000000"/>
                </a:solidFill>
                <a:latin typeface="Garet"/>
                <a:ea typeface="Garet"/>
                <a:cs typeface="Garet"/>
                <a:sym typeface="Garet"/>
              </a:rPr>
              <a:t>2021-CS-118</a:t>
            </a:r>
          </a:p>
        </p:txBody>
      </p:sp>
      <p:sp>
        <p:nvSpPr>
          <p:cNvPr id="28" name="TextBox 28"/>
          <p:cNvSpPr txBox="1"/>
          <p:nvPr/>
        </p:nvSpPr>
        <p:spPr>
          <a:xfrm>
            <a:off x="12289574" y="6014116"/>
            <a:ext cx="5026456" cy="334707"/>
          </a:xfrm>
          <a:prstGeom prst="rect">
            <a:avLst/>
          </a:prstGeom>
        </p:spPr>
        <p:txBody>
          <a:bodyPr lIns="0" tIns="0" rIns="0" bIns="0" rtlCol="0" anchor="t">
            <a:spAutoFit/>
          </a:bodyPr>
          <a:lstStyle/>
          <a:p>
            <a:pPr algn="l">
              <a:lnSpc>
                <a:spcPts val="2158"/>
              </a:lnSpc>
            </a:pPr>
            <a:r>
              <a:rPr lang="en-US" sz="3200" b="1" dirty="0">
                <a:solidFill>
                  <a:srgbClr val="000000"/>
                </a:solidFill>
                <a:latin typeface="Garet Bold"/>
                <a:ea typeface="Garet Bold"/>
                <a:cs typeface="Garet Bold"/>
                <a:sym typeface="Garet Bold"/>
              </a:rPr>
              <a:t>Muhammad Yaqoob</a:t>
            </a:r>
          </a:p>
        </p:txBody>
      </p:sp>
      <p:sp>
        <p:nvSpPr>
          <p:cNvPr id="29" name="Freeform 29"/>
          <p:cNvSpPr/>
          <p:nvPr/>
        </p:nvSpPr>
        <p:spPr>
          <a:xfrm>
            <a:off x="10687575" y="7750191"/>
            <a:ext cx="1175007" cy="1236850"/>
          </a:xfrm>
          <a:custGeom>
            <a:avLst/>
            <a:gdLst/>
            <a:ahLst/>
            <a:cxnLst/>
            <a:rect l="l" t="t" r="r" b="b"/>
            <a:pathLst>
              <a:path w="1175007" h="1236850">
                <a:moveTo>
                  <a:pt x="0" y="0"/>
                </a:moveTo>
                <a:lnTo>
                  <a:pt x="1175007" y="0"/>
                </a:lnTo>
                <a:lnTo>
                  <a:pt x="1175007" y="1236850"/>
                </a:lnTo>
                <a:lnTo>
                  <a:pt x="0" y="12368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PK"/>
          </a:p>
        </p:txBody>
      </p:sp>
      <p:grpSp>
        <p:nvGrpSpPr>
          <p:cNvPr id="30" name="Group 30"/>
          <p:cNvGrpSpPr/>
          <p:nvPr/>
        </p:nvGrpSpPr>
        <p:grpSpPr>
          <a:xfrm>
            <a:off x="12108965" y="8111645"/>
            <a:ext cx="5387674" cy="471004"/>
            <a:chOff x="0" y="0"/>
            <a:chExt cx="1824570" cy="159509"/>
          </a:xfrm>
        </p:grpSpPr>
        <p:sp>
          <p:nvSpPr>
            <p:cNvPr id="31" name="Freeform 31"/>
            <p:cNvSpPr/>
            <p:nvPr/>
          </p:nvSpPr>
          <p:spPr>
            <a:xfrm>
              <a:off x="0" y="0"/>
              <a:ext cx="1824570" cy="159509"/>
            </a:xfrm>
            <a:custGeom>
              <a:avLst/>
              <a:gdLst/>
              <a:ahLst/>
              <a:cxnLst/>
              <a:rect l="l" t="t" r="r" b="b"/>
              <a:pathLst>
                <a:path w="1824570" h="159509">
                  <a:moveTo>
                    <a:pt x="79754" y="0"/>
                  </a:moveTo>
                  <a:lnTo>
                    <a:pt x="1744816" y="0"/>
                  </a:lnTo>
                  <a:cubicBezTo>
                    <a:pt x="1765968" y="0"/>
                    <a:pt x="1786254" y="8403"/>
                    <a:pt x="1801211" y="23359"/>
                  </a:cubicBezTo>
                  <a:cubicBezTo>
                    <a:pt x="1816168" y="38316"/>
                    <a:pt x="1824570" y="58602"/>
                    <a:pt x="1824570" y="79754"/>
                  </a:cubicBezTo>
                  <a:lnTo>
                    <a:pt x="1824570" y="79754"/>
                  </a:lnTo>
                  <a:cubicBezTo>
                    <a:pt x="1824570" y="100906"/>
                    <a:pt x="1816168" y="121192"/>
                    <a:pt x="1801211" y="136149"/>
                  </a:cubicBezTo>
                  <a:cubicBezTo>
                    <a:pt x="1786254" y="151106"/>
                    <a:pt x="1765968" y="159509"/>
                    <a:pt x="1744816"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32" name="TextBox 32"/>
            <p:cNvSpPr txBox="1"/>
            <p:nvPr/>
          </p:nvSpPr>
          <p:spPr>
            <a:xfrm>
              <a:off x="0" y="-38100"/>
              <a:ext cx="1824570" cy="197609"/>
            </a:xfrm>
            <a:prstGeom prst="rect">
              <a:avLst/>
            </a:prstGeom>
          </p:spPr>
          <p:txBody>
            <a:bodyPr lIns="50800" tIns="50800" rIns="50800" bIns="50800" rtlCol="0" anchor="ctr"/>
            <a:lstStyle/>
            <a:p>
              <a:pPr algn="ctr">
                <a:lnSpc>
                  <a:spcPts val="2659"/>
                </a:lnSpc>
              </a:pPr>
              <a:endParaRPr/>
            </a:p>
          </p:txBody>
        </p:sp>
      </p:grpSp>
      <p:sp>
        <p:nvSpPr>
          <p:cNvPr id="33" name="TextBox 33"/>
          <p:cNvSpPr txBox="1"/>
          <p:nvPr/>
        </p:nvSpPr>
        <p:spPr>
          <a:xfrm>
            <a:off x="12108965" y="8692429"/>
            <a:ext cx="4888088" cy="317395"/>
          </a:xfrm>
          <a:prstGeom prst="rect">
            <a:avLst/>
          </a:prstGeom>
        </p:spPr>
        <p:txBody>
          <a:bodyPr lIns="0" tIns="0" rIns="0" bIns="0" rtlCol="0" anchor="t">
            <a:spAutoFit/>
          </a:bodyPr>
          <a:lstStyle/>
          <a:p>
            <a:pPr algn="just">
              <a:lnSpc>
                <a:spcPts val="2100"/>
              </a:lnSpc>
            </a:pPr>
            <a:r>
              <a:rPr lang="en-US" sz="3000" dirty="0">
                <a:solidFill>
                  <a:srgbClr val="000000"/>
                </a:solidFill>
                <a:latin typeface="Garet"/>
                <a:ea typeface="Garet"/>
                <a:cs typeface="Garet"/>
                <a:sym typeface="Garet"/>
              </a:rPr>
              <a:t>2021-CS-161</a:t>
            </a:r>
          </a:p>
        </p:txBody>
      </p:sp>
      <p:sp>
        <p:nvSpPr>
          <p:cNvPr id="34" name="TextBox 34"/>
          <p:cNvSpPr txBox="1"/>
          <p:nvPr/>
        </p:nvSpPr>
        <p:spPr>
          <a:xfrm>
            <a:off x="12289574" y="8194980"/>
            <a:ext cx="4338369" cy="334707"/>
          </a:xfrm>
          <a:prstGeom prst="rect">
            <a:avLst/>
          </a:prstGeom>
        </p:spPr>
        <p:txBody>
          <a:bodyPr lIns="0" tIns="0" rIns="0" bIns="0" rtlCol="0" anchor="t">
            <a:spAutoFit/>
          </a:bodyPr>
          <a:lstStyle/>
          <a:p>
            <a:pPr algn="l">
              <a:lnSpc>
                <a:spcPts val="2158"/>
              </a:lnSpc>
            </a:pPr>
            <a:r>
              <a:rPr lang="en-US" sz="3200" b="1" dirty="0">
                <a:solidFill>
                  <a:srgbClr val="000000"/>
                </a:solidFill>
                <a:latin typeface="Garet Bold"/>
                <a:ea typeface="Garet Bold"/>
                <a:cs typeface="Garet Bold"/>
                <a:sym typeface="Garet Bold"/>
              </a:rPr>
              <a:t>Ahmed Raza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BF2F1"/>
        </a:solidFill>
        <a:effectLst/>
      </p:bgPr>
    </p:bg>
    <p:spTree>
      <p:nvGrpSpPr>
        <p:cNvPr id="1" name="">
          <a:extLst>
            <a:ext uri="{FF2B5EF4-FFF2-40B4-BE49-F238E27FC236}">
              <a16:creationId xmlns:a16="http://schemas.microsoft.com/office/drawing/2014/main" id="{B25AF572-D767-EABA-7EE5-4D0336381F7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8508EBB7-FD87-B5F8-4B4B-A3D988969C83}"/>
              </a:ext>
            </a:extLst>
          </p:cNvPr>
          <p:cNvGrpSpPr/>
          <p:nvPr/>
        </p:nvGrpSpPr>
        <p:grpSpPr>
          <a:xfrm>
            <a:off x="9923459" y="-789028"/>
            <a:ext cx="9510939" cy="10597414"/>
            <a:chOff x="0" y="0"/>
            <a:chExt cx="2504939" cy="2791089"/>
          </a:xfrm>
        </p:grpSpPr>
        <p:sp>
          <p:nvSpPr>
            <p:cNvPr id="6" name="Freeform 6">
              <a:extLst>
                <a:ext uri="{FF2B5EF4-FFF2-40B4-BE49-F238E27FC236}">
                  <a16:creationId xmlns:a16="http://schemas.microsoft.com/office/drawing/2014/main" id="{E1D50B05-8D61-9DED-3342-09D6843C4B5F}"/>
                </a:ext>
              </a:extLst>
            </p:cNvPr>
            <p:cNvSpPr/>
            <p:nvPr/>
          </p:nvSpPr>
          <p:spPr>
            <a:xfrm>
              <a:off x="0" y="0"/>
              <a:ext cx="2504939" cy="2791089"/>
            </a:xfrm>
            <a:custGeom>
              <a:avLst/>
              <a:gdLst/>
              <a:ahLst/>
              <a:cxnLst/>
              <a:rect l="l" t="t" r="r" b="b"/>
              <a:pathLst>
                <a:path w="2504939" h="2791089">
                  <a:moveTo>
                    <a:pt x="0" y="0"/>
                  </a:moveTo>
                  <a:lnTo>
                    <a:pt x="2504939" y="0"/>
                  </a:lnTo>
                  <a:lnTo>
                    <a:pt x="2504939" y="2791089"/>
                  </a:lnTo>
                  <a:lnTo>
                    <a:pt x="0" y="2791089"/>
                  </a:lnTo>
                  <a:close/>
                </a:path>
              </a:pathLst>
            </a:custGeom>
            <a:solidFill>
              <a:srgbClr val="FFFFFF"/>
            </a:solidFill>
          </p:spPr>
          <p:txBody>
            <a:bodyPr/>
            <a:lstStyle/>
            <a:p>
              <a:endParaRPr lang="en-PK"/>
            </a:p>
          </p:txBody>
        </p:sp>
        <p:sp>
          <p:nvSpPr>
            <p:cNvPr id="7" name="TextBox 7">
              <a:extLst>
                <a:ext uri="{FF2B5EF4-FFF2-40B4-BE49-F238E27FC236}">
                  <a16:creationId xmlns:a16="http://schemas.microsoft.com/office/drawing/2014/main" id="{7250D0D6-DA13-EB25-130C-3D079780E9BC}"/>
                </a:ext>
              </a:extLst>
            </p:cNvPr>
            <p:cNvSpPr txBox="1"/>
            <p:nvPr/>
          </p:nvSpPr>
          <p:spPr>
            <a:xfrm>
              <a:off x="0" y="-38100"/>
              <a:ext cx="2504939" cy="2829189"/>
            </a:xfrm>
            <a:prstGeom prst="rect">
              <a:avLst/>
            </a:prstGeom>
          </p:spPr>
          <p:txBody>
            <a:bodyPr lIns="50800" tIns="50800" rIns="50800" bIns="50800" rtlCol="0" anchor="ctr"/>
            <a:lstStyle/>
            <a:p>
              <a:pPr algn="ctr">
                <a:lnSpc>
                  <a:spcPts val="2659"/>
                </a:lnSpc>
              </a:pPr>
              <a:endParaRPr/>
            </a:p>
          </p:txBody>
        </p:sp>
      </p:grpSp>
      <p:grpSp>
        <p:nvGrpSpPr>
          <p:cNvPr id="2" name="Group 2">
            <a:extLst>
              <a:ext uri="{FF2B5EF4-FFF2-40B4-BE49-F238E27FC236}">
                <a16:creationId xmlns:a16="http://schemas.microsoft.com/office/drawing/2014/main" id="{E899BF44-17CC-7AB1-CC71-5394874B5CF0}"/>
              </a:ext>
            </a:extLst>
          </p:cNvPr>
          <p:cNvGrpSpPr/>
          <p:nvPr/>
        </p:nvGrpSpPr>
        <p:grpSpPr>
          <a:xfrm>
            <a:off x="-848883" y="1149118"/>
            <a:ext cx="7668562" cy="814491"/>
            <a:chOff x="0" y="0"/>
            <a:chExt cx="2019704" cy="214516"/>
          </a:xfrm>
        </p:grpSpPr>
        <p:sp>
          <p:nvSpPr>
            <p:cNvPr id="3" name="Freeform 3">
              <a:extLst>
                <a:ext uri="{FF2B5EF4-FFF2-40B4-BE49-F238E27FC236}">
                  <a16:creationId xmlns:a16="http://schemas.microsoft.com/office/drawing/2014/main" id="{DD3059D9-504C-4DC7-9A73-47324EB5D5E1}"/>
                </a:ext>
              </a:extLst>
            </p:cNvPr>
            <p:cNvSpPr/>
            <p:nvPr/>
          </p:nvSpPr>
          <p:spPr>
            <a:xfrm>
              <a:off x="0" y="0"/>
              <a:ext cx="2019704" cy="214516"/>
            </a:xfrm>
            <a:custGeom>
              <a:avLst/>
              <a:gdLst/>
              <a:ahLst/>
              <a:cxnLst/>
              <a:rect l="l" t="t" r="r" b="b"/>
              <a:pathLst>
                <a:path w="2019704" h="214516">
                  <a:moveTo>
                    <a:pt x="203200" y="0"/>
                  </a:moveTo>
                  <a:lnTo>
                    <a:pt x="2019704" y="0"/>
                  </a:lnTo>
                  <a:lnTo>
                    <a:pt x="1816504" y="214516"/>
                  </a:lnTo>
                  <a:lnTo>
                    <a:pt x="0" y="214516"/>
                  </a:lnTo>
                  <a:lnTo>
                    <a:pt x="203200" y="0"/>
                  </a:lnTo>
                  <a:close/>
                </a:path>
              </a:pathLst>
            </a:custGeom>
            <a:solidFill>
              <a:srgbClr val="1468A2">
                <a:alpha val="7843"/>
              </a:srgbClr>
            </a:solidFill>
          </p:spPr>
          <p:txBody>
            <a:bodyPr/>
            <a:lstStyle/>
            <a:p>
              <a:endParaRPr lang="en-PK"/>
            </a:p>
          </p:txBody>
        </p:sp>
        <p:sp>
          <p:nvSpPr>
            <p:cNvPr id="4" name="TextBox 4">
              <a:extLst>
                <a:ext uri="{FF2B5EF4-FFF2-40B4-BE49-F238E27FC236}">
                  <a16:creationId xmlns:a16="http://schemas.microsoft.com/office/drawing/2014/main" id="{304456BC-C9CC-E599-19DE-ABEC2550E91A}"/>
                </a:ext>
              </a:extLst>
            </p:cNvPr>
            <p:cNvSpPr txBox="1"/>
            <p:nvPr/>
          </p:nvSpPr>
          <p:spPr>
            <a:xfrm>
              <a:off x="101600" y="-38100"/>
              <a:ext cx="1816504" cy="252616"/>
            </a:xfrm>
            <a:prstGeom prst="rect">
              <a:avLst/>
            </a:prstGeom>
          </p:spPr>
          <p:txBody>
            <a:bodyPr lIns="50800" tIns="50800" rIns="50800" bIns="50800" rtlCol="0" anchor="ctr"/>
            <a:lstStyle/>
            <a:p>
              <a:pPr algn="ctr">
                <a:lnSpc>
                  <a:spcPts val="2659"/>
                </a:lnSpc>
              </a:pPr>
              <a:endParaRPr/>
            </a:p>
          </p:txBody>
        </p:sp>
      </p:grpSp>
      <p:sp>
        <p:nvSpPr>
          <p:cNvPr id="8" name="Freeform 8">
            <a:extLst>
              <a:ext uri="{FF2B5EF4-FFF2-40B4-BE49-F238E27FC236}">
                <a16:creationId xmlns:a16="http://schemas.microsoft.com/office/drawing/2014/main" id="{F306A8FF-2DBA-4A73-3929-55F2DC24CC2D}"/>
              </a:ext>
            </a:extLst>
          </p:cNvPr>
          <p:cNvSpPr/>
          <p:nvPr/>
        </p:nvSpPr>
        <p:spPr>
          <a:xfrm>
            <a:off x="10687575" y="1701389"/>
            <a:ext cx="1175007" cy="1236850"/>
          </a:xfrm>
          <a:custGeom>
            <a:avLst/>
            <a:gdLst/>
            <a:ahLst/>
            <a:cxnLst/>
            <a:rect l="l" t="t" r="r" b="b"/>
            <a:pathLst>
              <a:path w="1175007" h="1236850">
                <a:moveTo>
                  <a:pt x="0" y="0"/>
                </a:moveTo>
                <a:lnTo>
                  <a:pt x="1175007" y="0"/>
                </a:lnTo>
                <a:lnTo>
                  <a:pt x="1175007" y="1236850"/>
                </a:lnTo>
                <a:lnTo>
                  <a:pt x="0" y="12368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PK"/>
          </a:p>
        </p:txBody>
      </p:sp>
      <p:sp>
        <p:nvSpPr>
          <p:cNvPr id="9" name="Freeform 9">
            <a:extLst>
              <a:ext uri="{FF2B5EF4-FFF2-40B4-BE49-F238E27FC236}">
                <a16:creationId xmlns:a16="http://schemas.microsoft.com/office/drawing/2014/main" id="{6B4F4C6F-B415-EB5F-7875-98E245699574}"/>
              </a:ext>
            </a:extLst>
          </p:cNvPr>
          <p:cNvSpPr/>
          <p:nvPr/>
        </p:nvSpPr>
        <p:spPr>
          <a:xfrm>
            <a:off x="10687575" y="3434628"/>
            <a:ext cx="1175007" cy="1236850"/>
          </a:xfrm>
          <a:custGeom>
            <a:avLst/>
            <a:gdLst/>
            <a:ahLst/>
            <a:cxnLst/>
            <a:rect l="l" t="t" r="r" b="b"/>
            <a:pathLst>
              <a:path w="1175007" h="1236850">
                <a:moveTo>
                  <a:pt x="0" y="0"/>
                </a:moveTo>
                <a:lnTo>
                  <a:pt x="1175007" y="0"/>
                </a:lnTo>
                <a:lnTo>
                  <a:pt x="1175007" y="1236850"/>
                </a:lnTo>
                <a:lnTo>
                  <a:pt x="0" y="12368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PK"/>
          </a:p>
        </p:txBody>
      </p:sp>
      <p:sp>
        <p:nvSpPr>
          <p:cNvPr id="10" name="TextBox 10">
            <a:extLst>
              <a:ext uri="{FF2B5EF4-FFF2-40B4-BE49-F238E27FC236}">
                <a16:creationId xmlns:a16="http://schemas.microsoft.com/office/drawing/2014/main" id="{ABC255DB-BC9B-1A48-A26A-7EF903CFA22E}"/>
              </a:ext>
            </a:extLst>
          </p:cNvPr>
          <p:cNvSpPr txBox="1"/>
          <p:nvPr/>
        </p:nvSpPr>
        <p:spPr>
          <a:xfrm>
            <a:off x="1028700" y="1276846"/>
            <a:ext cx="5349189" cy="565732"/>
          </a:xfrm>
          <a:prstGeom prst="rect">
            <a:avLst/>
          </a:prstGeom>
        </p:spPr>
        <p:txBody>
          <a:bodyPr lIns="0" tIns="0" rIns="0" bIns="0" rtlCol="0" anchor="t">
            <a:spAutoFit/>
          </a:bodyPr>
          <a:lstStyle/>
          <a:p>
            <a:pPr algn="l">
              <a:lnSpc>
                <a:spcPts val="4446"/>
              </a:lnSpc>
            </a:pPr>
            <a:r>
              <a:rPr lang="en-US" sz="3705" b="1" dirty="0">
                <a:solidFill>
                  <a:srgbClr val="000000"/>
                </a:solidFill>
                <a:latin typeface="Garet Bold"/>
                <a:ea typeface="Garet Bold"/>
                <a:cs typeface="Garet Bold"/>
                <a:sym typeface="Garet Bold"/>
              </a:rPr>
              <a:t>WHAT WE WILL SEE</a:t>
            </a:r>
          </a:p>
        </p:txBody>
      </p:sp>
      <p:sp>
        <p:nvSpPr>
          <p:cNvPr id="11" name="TextBox 11">
            <a:extLst>
              <a:ext uri="{FF2B5EF4-FFF2-40B4-BE49-F238E27FC236}">
                <a16:creationId xmlns:a16="http://schemas.microsoft.com/office/drawing/2014/main" id="{C3B32E14-68AD-3288-39AC-D217967EAED6}"/>
              </a:ext>
            </a:extLst>
          </p:cNvPr>
          <p:cNvSpPr txBox="1"/>
          <p:nvPr/>
        </p:nvSpPr>
        <p:spPr>
          <a:xfrm>
            <a:off x="1028700" y="1954084"/>
            <a:ext cx="9658875" cy="872739"/>
          </a:xfrm>
          <a:prstGeom prst="rect">
            <a:avLst/>
          </a:prstGeom>
        </p:spPr>
        <p:txBody>
          <a:bodyPr lIns="0" tIns="0" rIns="0" bIns="0" rtlCol="0" anchor="t">
            <a:spAutoFit/>
          </a:bodyPr>
          <a:lstStyle/>
          <a:p>
            <a:pPr algn="l">
              <a:lnSpc>
                <a:spcPts val="6822"/>
              </a:lnSpc>
            </a:pPr>
            <a:r>
              <a:rPr lang="en-US" sz="5685" b="1" dirty="0">
                <a:solidFill>
                  <a:srgbClr val="000000"/>
                </a:solidFill>
                <a:latin typeface="Garet Bold"/>
                <a:ea typeface="Garet Bold"/>
                <a:cs typeface="Garet Bold"/>
                <a:sym typeface="Garet Bold"/>
              </a:rPr>
              <a:t>AGENDA</a:t>
            </a:r>
          </a:p>
        </p:txBody>
      </p:sp>
      <p:grpSp>
        <p:nvGrpSpPr>
          <p:cNvPr id="13" name="Group 13">
            <a:extLst>
              <a:ext uri="{FF2B5EF4-FFF2-40B4-BE49-F238E27FC236}">
                <a16:creationId xmlns:a16="http://schemas.microsoft.com/office/drawing/2014/main" id="{B7DB7BA5-8607-1E8D-03A9-0232C7A66807}"/>
              </a:ext>
            </a:extLst>
          </p:cNvPr>
          <p:cNvGrpSpPr/>
          <p:nvPr/>
        </p:nvGrpSpPr>
        <p:grpSpPr>
          <a:xfrm>
            <a:off x="12108965" y="1299929"/>
            <a:ext cx="5387674" cy="471004"/>
            <a:chOff x="0" y="0"/>
            <a:chExt cx="1824570" cy="159509"/>
          </a:xfrm>
        </p:grpSpPr>
        <p:sp>
          <p:nvSpPr>
            <p:cNvPr id="14" name="Freeform 14">
              <a:extLst>
                <a:ext uri="{FF2B5EF4-FFF2-40B4-BE49-F238E27FC236}">
                  <a16:creationId xmlns:a16="http://schemas.microsoft.com/office/drawing/2014/main" id="{FA7CF124-4F29-0013-D738-ED662AFDA630}"/>
                </a:ext>
              </a:extLst>
            </p:cNvPr>
            <p:cNvSpPr/>
            <p:nvPr/>
          </p:nvSpPr>
          <p:spPr>
            <a:xfrm>
              <a:off x="0" y="0"/>
              <a:ext cx="1824570" cy="159509"/>
            </a:xfrm>
            <a:custGeom>
              <a:avLst/>
              <a:gdLst/>
              <a:ahLst/>
              <a:cxnLst/>
              <a:rect l="l" t="t" r="r" b="b"/>
              <a:pathLst>
                <a:path w="1824570" h="159509">
                  <a:moveTo>
                    <a:pt x="79754" y="0"/>
                  </a:moveTo>
                  <a:lnTo>
                    <a:pt x="1744816" y="0"/>
                  </a:lnTo>
                  <a:cubicBezTo>
                    <a:pt x="1765968" y="0"/>
                    <a:pt x="1786254" y="8403"/>
                    <a:pt x="1801211" y="23359"/>
                  </a:cubicBezTo>
                  <a:cubicBezTo>
                    <a:pt x="1816168" y="38316"/>
                    <a:pt x="1824570" y="58602"/>
                    <a:pt x="1824570" y="79754"/>
                  </a:cubicBezTo>
                  <a:lnTo>
                    <a:pt x="1824570" y="79754"/>
                  </a:lnTo>
                  <a:cubicBezTo>
                    <a:pt x="1824570" y="100906"/>
                    <a:pt x="1816168" y="121192"/>
                    <a:pt x="1801211" y="136149"/>
                  </a:cubicBezTo>
                  <a:cubicBezTo>
                    <a:pt x="1786254" y="151106"/>
                    <a:pt x="1765968" y="159509"/>
                    <a:pt x="1744816"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15" name="TextBox 15">
              <a:extLst>
                <a:ext uri="{FF2B5EF4-FFF2-40B4-BE49-F238E27FC236}">
                  <a16:creationId xmlns:a16="http://schemas.microsoft.com/office/drawing/2014/main" id="{F5BBCC16-A52E-FAD2-CD69-272423E43263}"/>
                </a:ext>
              </a:extLst>
            </p:cNvPr>
            <p:cNvSpPr txBox="1"/>
            <p:nvPr/>
          </p:nvSpPr>
          <p:spPr>
            <a:xfrm>
              <a:off x="0" y="-38100"/>
              <a:ext cx="1824570" cy="197609"/>
            </a:xfrm>
            <a:prstGeom prst="rect">
              <a:avLst/>
            </a:prstGeom>
          </p:spPr>
          <p:txBody>
            <a:bodyPr lIns="50800" tIns="50800" rIns="50800" bIns="50800" rtlCol="0" anchor="ctr"/>
            <a:lstStyle/>
            <a:p>
              <a:pPr algn="ctr">
                <a:lnSpc>
                  <a:spcPts val="2659"/>
                </a:lnSpc>
              </a:pPr>
              <a:endParaRPr/>
            </a:p>
          </p:txBody>
        </p:sp>
      </p:grpSp>
      <p:grpSp>
        <p:nvGrpSpPr>
          <p:cNvPr id="16" name="Group 16">
            <a:extLst>
              <a:ext uri="{FF2B5EF4-FFF2-40B4-BE49-F238E27FC236}">
                <a16:creationId xmlns:a16="http://schemas.microsoft.com/office/drawing/2014/main" id="{BE7B9409-3637-F68E-DE04-6B08F7FBB9C0}"/>
              </a:ext>
            </a:extLst>
          </p:cNvPr>
          <p:cNvGrpSpPr/>
          <p:nvPr/>
        </p:nvGrpSpPr>
        <p:grpSpPr>
          <a:xfrm>
            <a:off x="12108965" y="3457710"/>
            <a:ext cx="5387674" cy="471004"/>
            <a:chOff x="0" y="0"/>
            <a:chExt cx="1824570" cy="159509"/>
          </a:xfrm>
        </p:grpSpPr>
        <p:sp>
          <p:nvSpPr>
            <p:cNvPr id="17" name="Freeform 17">
              <a:extLst>
                <a:ext uri="{FF2B5EF4-FFF2-40B4-BE49-F238E27FC236}">
                  <a16:creationId xmlns:a16="http://schemas.microsoft.com/office/drawing/2014/main" id="{F5C18006-58D2-9122-C3BD-5C76169149E8}"/>
                </a:ext>
              </a:extLst>
            </p:cNvPr>
            <p:cNvSpPr/>
            <p:nvPr/>
          </p:nvSpPr>
          <p:spPr>
            <a:xfrm>
              <a:off x="0" y="0"/>
              <a:ext cx="1824570" cy="159509"/>
            </a:xfrm>
            <a:custGeom>
              <a:avLst/>
              <a:gdLst/>
              <a:ahLst/>
              <a:cxnLst/>
              <a:rect l="l" t="t" r="r" b="b"/>
              <a:pathLst>
                <a:path w="1824570" h="159509">
                  <a:moveTo>
                    <a:pt x="79754" y="0"/>
                  </a:moveTo>
                  <a:lnTo>
                    <a:pt x="1744816" y="0"/>
                  </a:lnTo>
                  <a:cubicBezTo>
                    <a:pt x="1765968" y="0"/>
                    <a:pt x="1786254" y="8403"/>
                    <a:pt x="1801211" y="23359"/>
                  </a:cubicBezTo>
                  <a:cubicBezTo>
                    <a:pt x="1816168" y="38316"/>
                    <a:pt x="1824570" y="58602"/>
                    <a:pt x="1824570" y="79754"/>
                  </a:cubicBezTo>
                  <a:lnTo>
                    <a:pt x="1824570" y="79754"/>
                  </a:lnTo>
                  <a:cubicBezTo>
                    <a:pt x="1824570" y="100906"/>
                    <a:pt x="1816168" y="121192"/>
                    <a:pt x="1801211" y="136149"/>
                  </a:cubicBezTo>
                  <a:cubicBezTo>
                    <a:pt x="1786254" y="151106"/>
                    <a:pt x="1765968" y="159509"/>
                    <a:pt x="1744816"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18" name="TextBox 18">
              <a:extLst>
                <a:ext uri="{FF2B5EF4-FFF2-40B4-BE49-F238E27FC236}">
                  <a16:creationId xmlns:a16="http://schemas.microsoft.com/office/drawing/2014/main" id="{24ED20B7-2A08-CEE8-3FF7-88D5574F8EAE}"/>
                </a:ext>
              </a:extLst>
            </p:cNvPr>
            <p:cNvSpPr txBox="1"/>
            <p:nvPr/>
          </p:nvSpPr>
          <p:spPr>
            <a:xfrm>
              <a:off x="0" y="-38100"/>
              <a:ext cx="1824570" cy="197609"/>
            </a:xfrm>
            <a:prstGeom prst="rect">
              <a:avLst/>
            </a:prstGeom>
          </p:spPr>
          <p:txBody>
            <a:bodyPr lIns="50800" tIns="50800" rIns="50800" bIns="50800" rtlCol="0" anchor="ctr"/>
            <a:lstStyle/>
            <a:p>
              <a:pPr algn="ctr">
                <a:lnSpc>
                  <a:spcPts val="2659"/>
                </a:lnSpc>
              </a:pPr>
              <a:endParaRPr/>
            </a:p>
          </p:txBody>
        </p:sp>
      </p:grpSp>
      <p:sp>
        <p:nvSpPr>
          <p:cNvPr id="19" name="TextBox 19">
            <a:extLst>
              <a:ext uri="{FF2B5EF4-FFF2-40B4-BE49-F238E27FC236}">
                <a16:creationId xmlns:a16="http://schemas.microsoft.com/office/drawing/2014/main" id="{9E223A92-589B-8CA3-3CC0-BED76C565D62}"/>
              </a:ext>
            </a:extLst>
          </p:cNvPr>
          <p:cNvSpPr txBox="1"/>
          <p:nvPr/>
        </p:nvSpPr>
        <p:spPr>
          <a:xfrm>
            <a:off x="12108965" y="1880713"/>
            <a:ext cx="4888088" cy="1336904"/>
          </a:xfrm>
          <a:prstGeom prst="rect">
            <a:avLst/>
          </a:prstGeom>
        </p:spPr>
        <p:txBody>
          <a:bodyPr lIns="0" tIns="0" rIns="0" bIns="0" rtlCol="0" anchor="t">
            <a:spAutoFit/>
          </a:bodyPr>
          <a:lstStyle/>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Background</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Study Focus</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Research Gap</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Objectives of Study</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Some Theories</a:t>
            </a:r>
          </a:p>
        </p:txBody>
      </p:sp>
      <p:sp>
        <p:nvSpPr>
          <p:cNvPr id="20" name="TextBox 20">
            <a:extLst>
              <a:ext uri="{FF2B5EF4-FFF2-40B4-BE49-F238E27FC236}">
                <a16:creationId xmlns:a16="http://schemas.microsoft.com/office/drawing/2014/main" id="{9A0C79EB-647D-D88A-4373-76B8541C0810}"/>
              </a:ext>
            </a:extLst>
          </p:cNvPr>
          <p:cNvSpPr txBox="1"/>
          <p:nvPr/>
        </p:nvSpPr>
        <p:spPr>
          <a:xfrm>
            <a:off x="12108965" y="4038495"/>
            <a:ext cx="4888088" cy="798295"/>
          </a:xfrm>
          <a:prstGeom prst="rect">
            <a:avLst/>
          </a:prstGeom>
        </p:spPr>
        <p:txBody>
          <a:bodyPr lIns="0" tIns="0" rIns="0" bIns="0" rtlCol="0" anchor="t">
            <a:spAutoFit/>
          </a:bodyPr>
          <a:lstStyle/>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Author’s Survey</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Our Approach</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Measurement Scale</a:t>
            </a:r>
          </a:p>
        </p:txBody>
      </p:sp>
      <p:sp>
        <p:nvSpPr>
          <p:cNvPr id="21" name="TextBox 21">
            <a:extLst>
              <a:ext uri="{FF2B5EF4-FFF2-40B4-BE49-F238E27FC236}">
                <a16:creationId xmlns:a16="http://schemas.microsoft.com/office/drawing/2014/main" id="{32E6E028-68CC-5B16-46D3-B4C02D49BD87}"/>
              </a:ext>
            </a:extLst>
          </p:cNvPr>
          <p:cNvSpPr txBox="1"/>
          <p:nvPr/>
        </p:nvSpPr>
        <p:spPr>
          <a:xfrm>
            <a:off x="12289574" y="1383264"/>
            <a:ext cx="4338369" cy="270972"/>
          </a:xfrm>
          <a:prstGeom prst="rect">
            <a:avLst/>
          </a:prstGeom>
        </p:spPr>
        <p:txBody>
          <a:bodyPr lIns="0" tIns="0" rIns="0" bIns="0" rtlCol="0" anchor="t">
            <a:spAutoFit/>
          </a:bodyPr>
          <a:lstStyle/>
          <a:p>
            <a:pPr algn="l">
              <a:lnSpc>
                <a:spcPts val="2158"/>
              </a:lnSpc>
            </a:pPr>
            <a:r>
              <a:rPr lang="en-US" sz="1542" b="1" dirty="0">
                <a:solidFill>
                  <a:srgbClr val="000000"/>
                </a:solidFill>
                <a:latin typeface="Garet Bold"/>
                <a:ea typeface="Garet Bold"/>
                <a:cs typeface="Garet Bold"/>
                <a:sym typeface="Garet Bold"/>
              </a:rPr>
              <a:t>Introduction</a:t>
            </a:r>
          </a:p>
        </p:txBody>
      </p:sp>
      <p:sp>
        <p:nvSpPr>
          <p:cNvPr id="22" name="TextBox 22">
            <a:extLst>
              <a:ext uri="{FF2B5EF4-FFF2-40B4-BE49-F238E27FC236}">
                <a16:creationId xmlns:a16="http://schemas.microsoft.com/office/drawing/2014/main" id="{E12787C3-5D6A-2857-AE4B-AD31A02AE321}"/>
              </a:ext>
            </a:extLst>
          </p:cNvPr>
          <p:cNvSpPr txBox="1"/>
          <p:nvPr/>
        </p:nvSpPr>
        <p:spPr>
          <a:xfrm>
            <a:off x="12289574" y="3541046"/>
            <a:ext cx="4006455" cy="270972"/>
          </a:xfrm>
          <a:prstGeom prst="rect">
            <a:avLst/>
          </a:prstGeom>
        </p:spPr>
        <p:txBody>
          <a:bodyPr lIns="0" tIns="0" rIns="0" bIns="0" rtlCol="0" anchor="t">
            <a:spAutoFit/>
          </a:bodyPr>
          <a:lstStyle/>
          <a:p>
            <a:pPr algn="l">
              <a:lnSpc>
                <a:spcPts val="2158"/>
              </a:lnSpc>
            </a:pPr>
            <a:r>
              <a:rPr lang="en-US" sz="1542" b="1" dirty="0">
                <a:solidFill>
                  <a:srgbClr val="000000"/>
                </a:solidFill>
                <a:latin typeface="Garet Bold"/>
                <a:ea typeface="Garet Bold"/>
                <a:cs typeface="Garet Bold"/>
                <a:sym typeface="Garet Bold"/>
              </a:rPr>
              <a:t>Methodology</a:t>
            </a:r>
          </a:p>
        </p:txBody>
      </p:sp>
      <p:sp>
        <p:nvSpPr>
          <p:cNvPr id="23" name="Freeform 23">
            <a:extLst>
              <a:ext uri="{FF2B5EF4-FFF2-40B4-BE49-F238E27FC236}">
                <a16:creationId xmlns:a16="http://schemas.microsoft.com/office/drawing/2014/main" id="{5B89CF27-6689-6DD9-B8D1-63422A0478C8}"/>
              </a:ext>
            </a:extLst>
          </p:cNvPr>
          <p:cNvSpPr/>
          <p:nvPr/>
        </p:nvSpPr>
        <p:spPr>
          <a:xfrm>
            <a:off x="10687575" y="5592410"/>
            <a:ext cx="1175007" cy="1236850"/>
          </a:xfrm>
          <a:custGeom>
            <a:avLst/>
            <a:gdLst/>
            <a:ahLst/>
            <a:cxnLst/>
            <a:rect l="l" t="t" r="r" b="b"/>
            <a:pathLst>
              <a:path w="1175007" h="1236850">
                <a:moveTo>
                  <a:pt x="0" y="0"/>
                </a:moveTo>
                <a:lnTo>
                  <a:pt x="1175007" y="0"/>
                </a:lnTo>
                <a:lnTo>
                  <a:pt x="1175007" y="1236850"/>
                </a:lnTo>
                <a:lnTo>
                  <a:pt x="0" y="12368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PK"/>
          </a:p>
        </p:txBody>
      </p:sp>
      <p:grpSp>
        <p:nvGrpSpPr>
          <p:cNvPr id="24" name="Group 24">
            <a:extLst>
              <a:ext uri="{FF2B5EF4-FFF2-40B4-BE49-F238E27FC236}">
                <a16:creationId xmlns:a16="http://schemas.microsoft.com/office/drawing/2014/main" id="{773C0ABD-06A2-A1BF-F052-8E8248B7EE5D}"/>
              </a:ext>
            </a:extLst>
          </p:cNvPr>
          <p:cNvGrpSpPr/>
          <p:nvPr/>
        </p:nvGrpSpPr>
        <p:grpSpPr>
          <a:xfrm>
            <a:off x="12108965" y="5592410"/>
            <a:ext cx="5387674" cy="471004"/>
            <a:chOff x="0" y="0"/>
            <a:chExt cx="1824570" cy="159509"/>
          </a:xfrm>
        </p:grpSpPr>
        <p:sp>
          <p:nvSpPr>
            <p:cNvPr id="25" name="Freeform 25">
              <a:extLst>
                <a:ext uri="{FF2B5EF4-FFF2-40B4-BE49-F238E27FC236}">
                  <a16:creationId xmlns:a16="http://schemas.microsoft.com/office/drawing/2014/main" id="{3826B754-DEF2-0EE1-8909-087A85754894}"/>
                </a:ext>
              </a:extLst>
            </p:cNvPr>
            <p:cNvSpPr/>
            <p:nvPr/>
          </p:nvSpPr>
          <p:spPr>
            <a:xfrm>
              <a:off x="0" y="0"/>
              <a:ext cx="1824570" cy="159509"/>
            </a:xfrm>
            <a:custGeom>
              <a:avLst/>
              <a:gdLst/>
              <a:ahLst/>
              <a:cxnLst/>
              <a:rect l="l" t="t" r="r" b="b"/>
              <a:pathLst>
                <a:path w="1824570" h="159509">
                  <a:moveTo>
                    <a:pt x="79754" y="0"/>
                  </a:moveTo>
                  <a:lnTo>
                    <a:pt x="1744816" y="0"/>
                  </a:lnTo>
                  <a:cubicBezTo>
                    <a:pt x="1765968" y="0"/>
                    <a:pt x="1786254" y="8403"/>
                    <a:pt x="1801211" y="23359"/>
                  </a:cubicBezTo>
                  <a:cubicBezTo>
                    <a:pt x="1816168" y="38316"/>
                    <a:pt x="1824570" y="58602"/>
                    <a:pt x="1824570" y="79754"/>
                  </a:cubicBezTo>
                  <a:lnTo>
                    <a:pt x="1824570" y="79754"/>
                  </a:lnTo>
                  <a:cubicBezTo>
                    <a:pt x="1824570" y="100906"/>
                    <a:pt x="1816168" y="121192"/>
                    <a:pt x="1801211" y="136149"/>
                  </a:cubicBezTo>
                  <a:cubicBezTo>
                    <a:pt x="1786254" y="151106"/>
                    <a:pt x="1765968" y="159509"/>
                    <a:pt x="1744816"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26" name="TextBox 26">
              <a:extLst>
                <a:ext uri="{FF2B5EF4-FFF2-40B4-BE49-F238E27FC236}">
                  <a16:creationId xmlns:a16="http://schemas.microsoft.com/office/drawing/2014/main" id="{0DD0F17C-E645-C44A-FC43-7DA2CB6729B5}"/>
                </a:ext>
              </a:extLst>
            </p:cNvPr>
            <p:cNvSpPr txBox="1"/>
            <p:nvPr/>
          </p:nvSpPr>
          <p:spPr>
            <a:xfrm>
              <a:off x="0" y="-38100"/>
              <a:ext cx="1824570" cy="197609"/>
            </a:xfrm>
            <a:prstGeom prst="rect">
              <a:avLst/>
            </a:prstGeom>
          </p:spPr>
          <p:txBody>
            <a:bodyPr lIns="50800" tIns="50800" rIns="50800" bIns="50800" rtlCol="0" anchor="ctr"/>
            <a:lstStyle/>
            <a:p>
              <a:pPr algn="ctr">
                <a:lnSpc>
                  <a:spcPts val="2659"/>
                </a:lnSpc>
              </a:pPr>
              <a:endParaRPr/>
            </a:p>
          </p:txBody>
        </p:sp>
      </p:grpSp>
      <p:sp>
        <p:nvSpPr>
          <p:cNvPr id="27" name="TextBox 27">
            <a:extLst>
              <a:ext uri="{FF2B5EF4-FFF2-40B4-BE49-F238E27FC236}">
                <a16:creationId xmlns:a16="http://schemas.microsoft.com/office/drawing/2014/main" id="{29BC1D95-9083-6C85-5B6C-6E2F56F9346B}"/>
              </a:ext>
            </a:extLst>
          </p:cNvPr>
          <p:cNvSpPr txBox="1"/>
          <p:nvPr/>
        </p:nvSpPr>
        <p:spPr>
          <a:xfrm>
            <a:off x="12108965" y="6196276"/>
            <a:ext cx="4888088" cy="798295"/>
          </a:xfrm>
          <a:prstGeom prst="rect">
            <a:avLst/>
          </a:prstGeom>
        </p:spPr>
        <p:txBody>
          <a:bodyPr lIns="0" tIns="0" rIns="0" bIns="0" rtlCol="0" anchor="t">
            <a:spAutoFit/>
          </a:bodyPr>
          <a:lstStyle/>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Analysis</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Framework</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Results</a:t>
            </a:r>
          </a:p>
        </p:txBody>
      </p:sp>
      <p:sp>
        <p:nvSpPr>
          <p:cNvPr id="28" name="TextBox 28">
            <a:extLst>
              <a:ext uri="{FF2B5EF4-FFF2-40B4-BE49-F238E27FC236}">
                <a16:creationId xmlns:a16="http://schemas.microsoft.com/office/drawing/2014/main" id="{6445D583-4720-00BA-5056-83600A5DA364}"/>
              </a:ext>
            </a:extLst>
          </p:cNvPr>
          <p:cNvSpPr txBox="1"/>
          <p:nvPr/>
        </p:nvSpPr>
        <p:spPr>
          <a:xfrm>
            <a:off x="12289574" y="5675745"/>
            <a:ext cx="5026456" cy="270972"/>
          </a:xfrm>
          <a:prstGeom prst="rect">
            <a:avLst/>
          </a:prstGeom>
        </p:spPr>
        <p:txBody>
          <a:bodyPr lIns="0" tIns="0" rIns="0" bIns="0" rtlCol="0" anchor="t">
            <a:spAutoFit/>
          </a:bodyPr>
          <a:lstStyle/>
          <a:p>
            <a:pPr algn="l">
              <a:lnSpc>
                <a:spcPts val="2158"/>
              </a:lnSpc>
            </a:pPr>
            <a:r>
              <a:rPr lang="en-US" sz="1542" b="1" dirty="0">
                <a:solidFill>
                  <a:srgbClr val="000000"/>
                </a:solidFill>
                <a:latin typeface="Garet Bold"/>
                <a:ea typeface="Garet Bold"/>
                <a:cs typeface="Garet Bold"/>
                <a:sym typeface="Garet Bold"/>
              </a:rPr>
              <a:t>Analysis and Findings</a:t>
            </a:r>
          </a:p>
        </p:txBody>
      </p:sp>
      <p:sp>
        <p:nvSpPr>
          <p:cNvPr id="29" name="Freeform 29">
            <a:extLst>
              <a:ext uri="{FF2B5EF4-FFF2-40B4-BE49-F238E27FC236}">
                <a16:creationId xmlns:a16="http://schemas.microsoft.com/office/drawing/2014/main" id="{BD9B6FC6-84AD-1C86-3ADF-96DAF5CF30AC}"/>
              </a:ext>
            </a:extLst>
          </p:cNvPr>
          <p:cNvSpPr/>
          <p:nvPr/>
        </p:nvSpPr>
        <p:spPr>
          <a:xfrm>
            <a:off x="10687575" y="7750191"/>
            <a:ext cx="1175007" cy="1236850"/>
          </a:xfrm>
          <a:custGeom>
            <a:avLst/>
            <a:gdLst/>
            <a:ahLst/>
            <a:cxnLst/>
            <a:rect l="l" t="t" r="r" b="b"/>
            <a:pathLst>
              <a:path w="1175007" h="1236850">
                <a:moveTo>
                  <a:pt x="0" y="0"/>
                </a:moveTo>
                <a:lnTo>
                  <a:pt x="1175007" y="0"/>
                </a:lnTo>
                <a:lnTo>
                  <a:pt x="1175007" y="1236850"/>
                </a:lnTo>
                <a:lnTo>
                  <a:pt x="0" y="1236850"/>
                </a:lnTo>
                <a:lnTo>
                  <a:pt x="0" y="0"/>
                </a:lnTo>
                <a:close/>
              </a:path>
            </a:pathLst>
          </a:custGeom>
          <a:blipFill>
            <a:blip r:embed="rId2">
              <a:extLst>
                <a:ext uri="{96DAC541-7B7A-43D3-8B79-37D633B846F1}">
                  <asvg:svgBlip xmlns:asvg="http://schemas.microsoft.com/office/drawing/2016/SVG/main" r:embed="rId3"/>
                </a:ext>
              </a:extLst>
            </a:blip>
            <a:stretch>
              <a:fillRect/>
            </a:stretch>
          </a:blipFill>
        </p:spPr>
        <p:txBody>
          <a:bodyPr/>
          <a:lstStyle/>
          <a:p>
            <a:endParaRPr lang="en-PK"/>
          </a:p>
        </p:txBody>
      </p:sp>
      <p:grpSp>
        <p:nvGrpSpPr>
          <p:cNvPr id="30" name="Group 30">
            <a:extLst>
              <a:ext uri="{FF2B5EF4-FFF2-40B4-BE49-F238E27FC236}">
                <a16:creationId xmlns:a16="http://schemas.microsoft.com/office/drawing/2014/main" id="{1938E5B2-21C7-A4DE-DCE7-030B0F0F48FA}"/>
              </a:ext>
            </a:extLst>
          </p:cNvPr>
          <p:cNvGrpSpPr/>
          <p:nvPr/>
        </p:nvGrpSpPr>
        <p:grpSpPr>
          <a:xfrm>
            <a:off x="12108965" y="7773274"/>
            <a:ext cx="5387674" cy="471004"/>
            <a:chOff x="0" y="0"/>
            <a:chExt cx="1824570" cy="159509"/>
          </a:xfrm>
        </p:grpSpPr>
        <p:sp>
          <p:nvSpPr>
            <p:cNvPr id="31" name="Freeform 31">
              <a:extLst>
                <a:ext uri="{FF2B5EF4-FFF2-40B4-BE49-F238E27FC236}">
                  <a16:creationId xmlns:a16="http://schemas.microsoft.com/office/drawing/2014/main" id="{7366EC84-31A0-F016-C0C3-A83ABD706F51}"/>
                </a:ext>
              </a:extLst>
            </p:cNvPr>
            <p:cNvSpPr/>
            <p:nvPr/>
          </p:nvSpPr>
          <p:spPr>
            <a:xfrm>
              <a:off x="0" y="0"/>
              <a:ext cx="1824570" cy="159509"/>
            </a:xfrm>
            <a:custGeom>
              <a:avLst/>
              <a:gdLst/>
              <a:ahLst/>
              <a:cxnLst/>
              <a:rect l="l" t="t" r="r" b="b"/>
              <a:pathLst>
                <a:path w="1824570" h="159509">
                  <a:moveTo>
                    <a:pt x="79754" y="0"/>
                  </a:moveTo>
                  <a:lnTo>
                    <a:pt x="1744816" y="0"/>
                  </a:lnTo>
                  <a:cubicBezTo>
                    <a:pt x="1765968" y="0"/>
                    <a:pt x="1786254" y="8403"/>
                    <a:pt x="1801211" y="23359"/>
                  </a:cubicBezTo>
                  <a:cubicBezTo>
                    <a:pt x="1816168" y="38316"/>
                    <a:pt x="1824570" y="58602"/>
                    <a:pt x="1824570" y="79754"/>
                  </a:cubicBezTo>
                  <a:lnTo>
                    <a:pt x="1824570" y="79754"/>
                  </a:lnTo>
                  <a:cubicBezTo>
                    <a:pt x="1824570" y="100906"/>
                    <a:pt x="1816168" y="121192"/>
                    <a:pt x="1801211" y="136149"/>
                  </a:cubicBezTo>
                  <a:cubicBezTo>
                    <a:pt x="1786254" y="151106"/>
                    <a:pt x="1765968" y="159509"/>
                    <a:pt x="1744816"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32" name="TextBox 32">
              <a:extLst>
                <a:ext uri="{FF2B5EF4-FFF2-40B4-BE49-F238E27FC236}">
                  <a16:creationId xmlns:a16="http://schemas.microsoft.com/office/drawing/2014/main" id="{1DDC80F0-587C-5FF6-6F2F-439261F9E33D}"/>
                </a:ext>
              </a:extLst>
            </p:cNvPr>
            <p:cNvSpPr txBox="1"/>
            <p:nvPr/>
          </p:nvSpPr>
          <p:spPr>
            <a:xfrm>
              <a:off x="0" y="-38100"/>
              <a:ext cx="1824570" cy="197609"/>
            </a:xfrm>
            <a:prstGeom prst="rect">
              <a:avLst/>
            </a:prstGeom>
          </p:spPr>
          <p:txBody>
            <a:bodyPr lIns="50800" tIns="50800" rIns="50800" bIns="50800" rtlCol="0" anchor="ctr"/>
            <a:lstStyle/>
            <a:p>
              <a:pPr algn="ctr">
                <a:lnSpc>
                  <a:spcPts val="2659"/>
                </a:lnSpc>
              </a:pPr>
              <a:endParaRPr/>
            </a:p>
          </p:txBody>
        </p:sp>
      </p:grpSp>
      <p:sp>
        <p:nvSpPr>
          <p:cNvPr id="33" name="TextBox 33">
            <a:extLst>
              <a:ext uri="{FF2B5EF4-FFF2-40B4-BE49-F238E27FC236}">
                <a16:creationId xmlns:a16="http://schemas.microsoft.com/office/drawing/2014/main" id="{511BBD79-6A71-23D6-343A-96C5BE1D94CF}"/>
              </a:ext>
            </a:extLst>
          </p:cNvPr>
          <p:cNvSpPr txBox="1"/>
          <p:nvPr/>
        </p:nvSpPr>
        <p:spPr>
          <a:xfrm>
            <a:off x="12108965" y="8354058"/>
            <a:ext cx="4888088" cy="1067600"/>
          </a:xfrm>
          <a:prstGeom prst="rect">
            <a:avLst/>
          </a:prstGeom>
        </p:spPr>
        <p:txBody>
          <a:bodyPr lIns="0" tIns="0" rIns="0" bIns="0" rtlCol="0" anchor="t">
            <a:spAutoFit/>
          </a:bodyPr>
          <a:lstStyle/>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Results</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Recommendations</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Limitations</a:t>
            </a:r>
          </a:p>
          <a:p>
            <a:pPr marL="285750" indent="-285750" algn="just">
              <a:lnSpc>
                <a:spcPts val="2100"/>
              </a:lnSpc>
              <a:buFont typeface="Arial" panose="020B0604020202020204" pitchFamily="34" charset="0"/>
              <a:buChar char="•"/>
            </a:pPr>
            <a:r>
              <a:rPr lang="en-US" sz="1500" dirty="0">
                <a:solidFill>
                  <a:srgbClr val="000000"/>
                </a:solidFill>
                <a:latin typeface="Garet"/>
                <a:ea typeface="Garet"/>
                <a:cs typeface="Garet"/>
                <a:sym typeface="Garet"/>
              </a:rPr>
              <a:t>Future Work</a:t>
            </a:r>
          </a:p>
        </p:txBody>
      </p:sp>
      <p:sp>
        <p:nvSpPr>
          <p:cNvPr id="34" name="TextBox 34">
            <a:extLst>
              <a:ext uri="{FF2B5EF4-FFF2-40B4-BE49-F238E27FC236}">
                <a16:creationId xmlns:a16="http://schemas.microsoft.com/office/drawing/2014/main" id="{89DC0949-B1B0-A691-3B16-F3CE6CA2F730}"/>
              </a:ext>
            </a:extLst>
          </p:cNvPr>
          <p:cNvSpPr txBox="1"/>
          <p:nvPr/>
        </p:nvSpPr>
        <p:spPr>
          <a:xfrm>
            <a:off x="12289574" y="7856609"/>
            <a:ext cx="4338369" cy="270972"/>
          </a:xfrm>
          <a:prstGeom prst="rect">
            <a:avLst/>
          </a:prstGeom>
        </p:spPr>
        <p:txBody>
          <a:bodyPr lIns="0" tIns="0" rIns="0" bIns="0" rtlCol="0" anchor="t">
            <a:spAutoFit/>
          </a:bodyPr>
          <a:lstStyle/>
          <a:p>
            <a:pPr algn="l">
              <a:lnSpc>
                <a:spcPts val="2158"/>
              </a:lnSpc>
            </a:pPr>
            <a:r>
              <a:rPr lang="en-US" sz="1542" b="1" dirty="0">
                <a:solidFill>
                  <a:srgbClr val="000000"/>
                </a:solidFill>
                <a:latin typeface="Garet Bold"/>
                <a:ea typeface="Garet Bold"/>
                <a:cs typeface="Garet Bold"/>
                <a:sym typeface="Garet Bold"/>
              </a:rPr>
              <a:t>Conclusion</a:t>
            </a:r>
          </a:p>
        </p:txBody>
      </p:sp>
    </p:spTree>
    <p:extLst>
      <p:ext uri="{BB962C8B-B14F-4D97-AF65-F5344CB8AC3E}">
        <p14:creationId xmlns:p14="http://schemas.microsoft.com/office/powerpoint/2010/main" val="42375289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700000">
            <a:off x="12234107" y="2478707"/>
            <a:ext cx="6899924" cy="12460548"/>
            <a:chOff x="0" y="0"/>
            <a:chExt cx="1817264" cy="3281790"/>
          </a:xfrm>
        </p:grpSpPr>
        <p:sp>
          <p:nvSpPr>
            <p:cNvPr id="3" name="Freeform 3"/>
            <p:cNvSpPr/>
            <p:nvPr/>
          </p:nvSpPr>
          <p:spPr>
            <a:xfrm>
              <a:off x="0" y="0"/>
              <a:ext cx="1817264" cy="3281790"/>
            </a:xfrm>
            <a:custGeom>
              <a:avLst/>
              <a:gdLst/>
              <a:ahLst/>
              <a:cxnLst/>
              <a:rect l="l" t="t" r="r" b="b"/>
              <a:pathLst>
                <a:path w="1817264" h="3281790">
                  <a:moveTo>
                    <a:pt x="0" y="0"/>
                  </a:moveTo>
                  <a:lnTo>
                    <a:pt x="1817264" y="0"/>
                  </a:lnTo>
                  <a:lnTo>
                    <a:pt x="1817264" y="3281790"/>
                  </a:lnTo>
                  <a:lnTo>
                    <a:pt x="0" y="3281790"/>
                  </a:lnTo>
                  <a:close/>
                </a:path>
              </a:pathLst>
            </a:custGeom>
            <a:solidFill>
              <a:srgbClr val="1468A2"/>
            </a:solidFill>
          </p:spPr>
          <p:txBody>
            <a:bodyPr/>
            <a:lstStyle/>
            <a:p>
              <a:endParaRPr lang="en-PK"/>
            </a:p>
          </p:txBody>
        </p:sp>
        <p:sp>
          <p:nvSpPr>
            <p:cNvPr id="4" name="TextBox 4"/>
            <p:cNvSpPr txBox="1"/>
            <p:nvPr/>
          </p:nvSpPr>
          <p:spPr>
            <a:xfrm>
              <a:off x="0" y="-38100"/>
              <a:ext cx="1817264" cy="331989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737289" y="-1988820"/>
            <a:ext cx="11247120" cy="1124712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3"/>
              <a:stretch>
                <a:fillRect l="-48559" r="-1253"/>
              </a:stretch>
            </a:blipFill>
          </p:spPr>
          <p:txBody>
            <a:bodyPr/>
            <a:lstStyle/>
            <a:p>
              <a:endParaRPr lang="en-PK"/>
            </a:p>
          </p:txBody>
        </p:sp>
      </p:grpSp>
      <p:sp>
        <p:nvSpPr>
          <p:cNvPr id="7" name="Freeform 7"/>
          <p:cNvSpPr/>
          <p:nvPr/>
        </p:nvSpPr>
        <p:spPr>
          <a:xfrm flipH="1">
            <a:off x="7978798" y="6664398"/>
            <a:ext cx="4282420" cy="4251612"/>
          </a:xfrm>
          <a:custGeom>
            <a:avLst/>
            <a:gdLst/>
            <a:ahLst/>
            <a:cxnLst/>
            <a:rect l="l" t="t" r="r" b="b"/>
            <a:pathLst>
              <a:path w="4282420" h="4251612">
                <a:moveTo>
                  <a:pt x="4282420" y="0"/>
                </a:moveTo>
                <a:lnTo>
                  <a:pt x="0" y="0"/>
                </a:lnTo>
                <a:lnTo>
                  <a:pt x="0" y="4251612"/>
                </a:lnTo>
                <a:lnTo>
                  <a:pt x="4282420" y="4251612"/>
                </a:lnTo>
                <a:lnTo>
                  <a:pt x="4282420" y="0"/>
                </a:lnTo>
                <a:close/>
              </a:path>
            </a:pathLst>
          </a:custGeom>
          <a:blipFill>
            <a:blip r:embed="rId4"/>
            <a:stretch>
              <a:fillRect t="-35629" b="-57934"/>
            </a:stretch>
          </a:blipFill>
        </p:spPr>
        <p:txBody>
          <a:bodyPr/>
          <a:lstStyle/>
          <a:p>
            <a:endParaRPr lang="en-PK"/>
          </a:p>
        </p:txBody>
      </p:sp>
      <p:sp>
        <p:nvSpPr>
          <p:cNvPr id="8" name="AutoShape 8"/>
          <p:cNvSpPr/>
          <p:nvPr/>
        </p:nvSpPr>
        <p:spPr>
          <a:xfrm flipV="1">
            <a:off x="7657041" y="6826631"/>
            <a:ext cx="4525147" cy="4525147"/>
          </a:xfrm>
          <a:prstGeom prst="line">
            <a:avLst/>
          </a:prstGeom>
          <a:ln w="38100" cap="flat">
            <a:solidFill>
              <a:srgbClr val="1468A2"/>
            </a:solidFill>
            <a:prstDash val="solid"/>
            <a:headEnd type="none" w="sm" len="sm"/>
            <a:tailEnd type="none" w="sm" len="sm"/>
          </a:ln>
        </p:spPr>
        <p:txBody>
          <a:bodyPr/>
          <a:lstStyle/>
          <a:p>
            <a:endParaRPr lang="en-PK"/>
          </a:p>
        </p:txBody>
      </p:sp>
      <p:sp>
        <p:nvSpPr>
          <p:cNvPr id="9" name="AutoShape 9"/>
          <p:cNvSpPr/>
          <p:nvPr/>
        </p:nvSpPr>
        <p:spPr>
          <a:xfrm flipV="1">
            <a:off x="11105977" y="-1975350"/>
            <a:ext cx="4525147" cy="4525147"/>
          </a:xfrm>
          <a:prstGeom prst="line">
            <a:avLst/>
          </a:prstGeom>
          <a:ln w="38100" cap="flat">
            <a:solidFill>
              <a:srgbClr val="1468A2"/>
            </a:solidFill>
            <a:prstDash val="solid"/>
            <a:headEnd type="none" w="sm" len="sm"/>
            <a:tailEnd type="none" w="sm" len="sm"/>
          </a:ln>
        </p:spPr>
        <p:txBody>
          <a:bodyPr/>
          <a:lstStyle/>
          <a:p>
            <a:endParaRPr lang="en-PK"/>
          </a:p>
        </p:txBody>
      </p:sp>
      <p:sp>
        <p:nvSpPr>
          <p:cNvPr id="10" name="TextBox 10"/>
          <p:cNvSpPr txBox="1"/>
          <p:nvPr/>
        </p:nvSpPr>
        <p:spPr>
          <a:xfrm>
            <a:off x="1028700" y="1276846"/>
            <a:ext cx="4633186" cy="559035"/>
          </a:xfrm>
          <a:prstGeom prst="rect">
            <a:avLst/>
          </a:prstGeom>
        </p:spPr>
        <p:txBody>
          <a:bodyPr lIns="0" tIns="0" rIns="0" bIns="0" rtlCol="0" anchor="t">
            <a:spAutoFit/>
          </a:bodyPr>
          <a:lstStyle/>
          <a:p>
            <a:pPr algn="l">
              <a:lnSpc>
                <a:spcPts val="4446"/>
              </a:lnSpc>
            </a:pPr>
            <a:r>
              <a:rPr lang="en-US" sz="3705" b="1">
                <a:solidFill>
                  <a:srgbClr val="000000"/>
                </a:solidFill>
                <a:latin typeface="Garet Bold"/>
                <a:ea typeface="Garet Bold"/>
                <a:cs typeface="Garet Bold"/>
                <a:sym typeface="Garet Bold"/>
              </a:rPr>
              <a:t>INTRODUCTION</a:t>
            </a:r>
          </a:p>
        </p:txBody>
      </p:sp>
      <p:grpSp>
        <p:nvGrpSpPr>
          <p:cNvPr id="11" name="Group 11"/>
          <p:cNvGrpSpPr/>
          <p:nvPr/>
        </p:nvGrpSpPr>
        <p:grpSpPr>
          <a:xfrm>
            <a:off x="-848883" y="1149118"/>
            <a:ext cx="6694524" cy="814491"/>
            <a:chOff x="0" y="0"/>
            <a:chExt cx="1763167" cy="214516"/>
          </a:xfrm>
        </p:grpSpPr>
        <p:sp>
          <p:nvSpPr>
            <p:cNvPr id="12" name="Freeform 12"/>
            <p:cNvSpPr/>
            <p:nvPr/>
          </p:nvSpPr>
          <p:spPr>
            <a:xfrm>
              <a:off x="0" y="0"/>
              <a:ext cx="1763167" cy="214516"/>
            </a:xfrm>
            <a:custGeom>
              <a:avLst/>
              <a:gdLst/>
              <a:ahLst/>
              <a:cxnLst/>
              <a:rect l="l" t="t" r="r" b="b"/>
              <a:pathLst>
                <a:path w="1763167" h="214516">
                  <a:moveTo>
                    <a:pt x="203200" y="0"/>
                  </a:moveTo>
                  <a:lnTo>
                    <a:pt x="1763167" y="0"/>
                  </a:lnTo>
                  <a:lnTo>
                    <a:pt x="1559967" y="214516"/>
                  </a:lnTo>
                  <a:lnTo>
                    <a:pt x="0" y="214516"/>
                  </a:lnTo>
                  <a:lnTo>
                    <a:pt x="203200" y="0"/>
                  </a:lnTo>
                  <a:close/>
                </a:path>
              </a:pathLst>
            </a:custGeom>
            <a:solidFill>
              <a:srgbClr val="1468A2">
                <a:alpha val="7843"/>
              </a:srgbClr>
            </a:solidFill>
          </p:spPr>
          <p:txBody>
            <a:bodyPr/>
            <a:lstStyle/>
            <a:p>
              <a:endParaRPr lang="en-PK"/>
            </a:p>
          </p:txBody>
        </p:sp>
        <p:sp>
          <p:nvSpPr>
            <p:cNvPr id="13" name="TextBox 13"/>
            <p:cNvSpPr txBox="1"/>
            <p:nvPr/>
          </p:nvSpPr>
          <p:spPr>
            <a:xfrm>
              <a:off x="101600" y="-38100"/>
              <a:ext cx="1559967" cy="252616"/>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8651496" y="1127858"/>
            <a:ext cx="1281097" cy="422907"/>
            <a:chOff x="0" y="0"/>
            <a:chExt cx="1708130" cy="563877"/>
          </a:xfrm>
        </p:grpSpPr>
        <p:sp>
          <p:nvSpPr>
            <p:cNvPr id="17" name="Freeform 17"/>
            <p:cNvSpPr/>
            <p:nvPr/>
          </p:nvSpPr>
          <p:spPr>
            <a:xfrm>
              <a:off x="0" y="0"/>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5">
                <a:extLst>
                  <a:ext uri="{96DAC541-7B7A-43D3-8B79-37D633B846F1}">
                    <asvg:svgBlip xmlns:asvg="http://schemas.microsoft.com/office/drawing/2016/SVG/main" r:embed="rId6"/>
                  </a:ext>
                </a:extLst>
              </a:blip>
              <a:stretch>
                <a:fillRect t="-357762"/>
              </a:stretch>
            </a:blipFill>
          </p:spPr>
          <p:txBody>
            <a:bodyPr/>
            <a:lstStyle/>
            <a:p>
              <a:endParaRPr lang="en-PK"/>
            </a:p>
          </p:txBody>
        </p:sp>
        <p:sp>
          <p:nvSpPr>
            <p:cNvPr id="18" name="Freeform 18"/>
            <p:cNvSpPr/>
            <p:nvPr/>
          </p:nvSpPr>
          <p:spPr>
            <a:xfrm>
              <a:off x="0" y="347451"/>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5">
                <a:extLst>
                  <a:ext uri="{96DAC541-7B7A-43D3-8B79-37D633B846F1}">
                    <asvg:svgBlip xmlns:asvg="http://schemas.microsoft.com/office/drawing/2016/SVG/main" r:embed="rId6"/>
                  </a:ext>
                </a:extLst>
              </a:blip>
              <a:stretch>
                <a:fillRect t="-357762"/>
              </a:stretch>
            </a:blipFill>
          </p:spPr>
          <p:txBody>
            <a:bodyPr/>
            <a:lstStyle/>
            <a:p>
              <a:endParaRPr lang="en-PK"/>
            </a:p>
          </p:txBody>
        </p:sp>
      </p:grpSp>
      <p:sp>
        <p:nvSpPr>
          <p:cNvPr id="19" name="TextBox 19"/>
          <p:cNvSpPr txBox="1"/>
          <p:nvPr/>
        </p:nvSpPr>
        <p:spPr>
          <a:xfrm>
            <a:off x="1028700" y="1954084"/>
            <a:ext cx="5415087" cy="838691"/>
          </a:xfrm>
          <a:prstGeom prst="rect">
            <a:avLst/>
          </a:prstGeom>
        </p:spPr>
        <p:txBody>
          <a:bodyPr lIns="0" tIns="0" rIns="0" bIns="0" rtlCol="0" anchor="t">
            <a:spAutoFit/>
          </a:bodyPr>
          <a:lstStyle/>
          <a:p>
            <a:pPr algn="l">
              <a:lnSpc>
                <a:spcPts val="6822"/>
              </a:lnSpc>
            </a:pPr>
            <a:r>
              <a:rPr lang="en-US" sz="4400" b="1" dirty="0">
                <a:solidFill>
                  <a:srgbClr val="000000"/>
                </a:solidFill>
                <a:latin typeface="Garet Bold"/>
                <a:ea typeface="Garet Bold"/>
                <a:cs typeface="Garet Bold"/>
                <a:sym typeface="Garet Bold"/>
              </a:rPr>
              <a:t>Background</a:t>
            </a:r>
          </a:p>
        </p:txBody>
      </p:sp>
      <p:sp>
        <p:nvSpPr>
          <p:cNvPr id="20" name="TextBox 20"/>
          <p:cNvSpPr txBox="1"/>
          <p:nvPr/>
        </p:nvSpPr>
        <p:spPr>
          <a:xfrm>
            <a:off x="1028700" y="2856440"/>
            <a:ext cx="7956087" cy="1064266"/>
          </a:xfrm>
          <a:prstGeom prst="rect">
            <a:avLst/>
          </a:prstGeom>
        </p:spPr>
        <p:txBody>
          <a:bodyPr lIns="0" tIns="0" rIns="0" bIns="0" rtlCol="0" anchor="t">
            <a:spAutoFit/>
          </a:bodyPr>
          <a:lstStyle/>
          <a:p>
            <a:pPr marL="342900" indent="-342900">
              <a:lnSpc>
                <a:spcPts val="2794"/>
              </a:lnSpc>
              <a:buFont typeface="Arial" panose="020B0604020202020204" pitchFamily="34" charset="0"/>
              <a:buChar char="•"/>
            </a:pPr>
            <a:r>
              <a:rPr lang="en-US" sz="2000" dirty="0">
                <a:solidFill>
                  <a:srgbClr val="000000"/>
                </a:solidFill>
                <a:latin typeface="Garet"/>
                <a:ea typeface="Garet"/>
                <a:cs typeface="Garet"/>
                <a:sym typeface="Garet"/>
              </a:rPr>
              <a:t>Importance of leadership in the corporate sector.</a:t>
            </a:r>
          </a:p>
          <a:p>
            <a:pPr marL="342900" indent="-342900">
              <a:lnSpc>
                <a:spcPts val="2794"/>
              </a:lnSpc>
              <a:buFont typeface="Arial" panose="020B0604020202020204" pitchFamily="34" charset="0"/>
              <a:buChar char="•"/>
            </a:pPr>
            <a:r>
              <a:rPr lang="en-US" sz="2000" dirty="0">
                <a:solidFill>
                  <a:srgbClr val="000000"/>
                </a:solidFill>
                <a:latin typeface="Garet"/>
                <a:ea typeface="Garet"/>
                <a:cs typeface="Garet"/>
                <a:sym typeface="Garet"/>
              </a:rPr>
              <a:t>Ethical leadership styles as a response to global challenges like economic recessions.</a:t>
            </a:r>
          </a:p>
        </p:txBody>
      </p:sp>
      <p:sp>
        <p:nvSpPr>
          <p:cNvPr id="40" name="TextBox 19">
            <a:extLst>
              <a:ext uri="{FF2B5EF4-FFF2-40B4-BE49-F238E27FC236}">
                <a16:creationId xmlns:a16="http://schemas.microsoft.com/office/drawing/2014/main" id="{9160B9AE-3A70-48E8-B1BE-C182283D4134}"/>
              </a:ext>
            </a:extLst>
          </p:cNvPr>
          <p:cNvSpPr txBox="1"/>
          <p:nvPr/>
        </p:nvSpPr>
        <p:spPr>
          <a:xfrm>
            <a:off x="1028700" y="4018177"/>
            <a:ext cx="6210300" cy="838691"/>
          </a:xfrm>
          <a:prstGeom prst="rect">
            <a:avLst/>
          </a:prstGeom>
        </p:spPr>
        <p:txBody>
          <a:bodyPr wrap="square" lIns="0" tIns="0" rIns="0" bIns="0" rtlCol="0" anchor="t">
            <a:spAutoFit/>
          </a:bodyPr>
          <a:lstStyle/>
          <a:p>
            <a:pPr algn="l">
              <a:lnSpc>
                <a:spcPts val="6822"/>
              </a:lnSpc>
            </a:pPr>
            <a:r>
              <a:rPr lang="en-US" sz="4400" b="1" dirty="0">
                <a:solidFill>
                  <a:srgbClr val="000000"/>
                </a:solidFill>
                <a:latin typeface="Garet Bold"/>
                <a:ea typeface="Garet Bold"/>
                <a:cs typeface="Garet Bold"/>
                <a:sym typeface="Garet Bold"/>
              </a:rPr>
              <a:t>Focus on the Study</a:t>
            </a:r>
          </a:p>
        </p:txBody>
      </p:sp>
      <p:sp>
        <p:nvSpPr>
          <p:cNvPr id="41" name="TextBox 20">
            <a:extLst>
              <a:ext uri="{FF2B5EF4-FFF2-40B4-BE49-F238E27FC236}">
                <a16:creationId xmlns:a16="http://schemas.microsoft.com/office/drawing/2014/main" id="{C186EB55-74F1-48A2-A370-BA6968DB5E78}"/>
              </a:ext>
            </a:extLst>
          </p:cNvPr>
          <p:cNvSpPr txBox="1"/>
          <p:nvPr/>
        </p:nvSpPr>
        <p:spPr>
          <a:xfrm>
            <a:off x="991421" y="5040381"/>
            <a:ext cx="7956087" cy="1423467"/>
          </a:xfrm>
          <a:prstGeom prst="rect">
            <a:avLst/>
          </a:prstGeom>
        </p:spPr>
        <p:txBody>
          <a:bodyPr lIns="0" tIns="0" rIns="0" bIns="0" rtlCol="0" anchor="t">
            <a:spAutoFit/>
          </a:bodyPr>
          <a:lstStyle/>
          <a:p>
            <a:pPr marL="342900" indent="-342900">
              <a:lnSpc>
                <a:spcPts val="2794"/>
              </a:lnSpc>
              <a:buFont typeface="Arial" panose="020B0604020202020204" pitchFamily="34" charset="0"/>
              <a:buChar char="•"/>
            </a:pPr>
            <a:r>
              <a:rPr lang="en-US" sz="2000" dirty="0">
                <a:solidFill>
                  <a:srgbClr val="000000"/>
                </a:solidFill>
                <a:latin typeface="Garet"/>
                <a:ea typeface="Garet"/>
                <a:cs typeface="Garet"/>
                <a:sym typeface="Garet"/>
              </a:rPr>
              <a:t>Comparative analysis of two leadership styles: Transformational and Servant Leadership.</a:t>
            </a:r>
          </a:p>
          <a:p>
            <a:pPr marL="342900" indent="-342900">
              <a:lnSpc>
                <a:spcPts val="2794"/>
              </a:lnSpc>
              <a:buFont typeface="Arial" panose="020B0604020202020204" pitchFamily="34" charset="0"/>
              <a:buChar char="•"/>
            </a:pPr>
            <a:r>
              <a:rPr lang="en-US" sz="2000" dirty="0">
                <a:solidFill>
                  <a:srgbClr val="000000"/>
                </a:solidFill>
                <a:latin typeface="Garet"/>
                <a:ea typeface="Garet"/>
                <a:cs typeface="Garet"/>
                <a:sym typeface="Garet"/>
              </a:rPr>
              <a:t>Examination of their impact on organizational learning and performance.</a:t>
            </a:r>
          </a:p>
        </p:txBody>
      </p:sp>
      <p:sp>
        <p:nvSpPr>
          <p:cNvPr id="46" name="TextBox 19">
            <a:extLst>
              <a:ext uri="{FF2B5EF4-FFF2-40B4-BE49-F238E27FC236}">
                <a16:creationId xmlns:a16="http://schemas.microsoft.com/office/drawing/2014/main" id="{501A1788-396C-4161-88F8-EF04B6A623DB}"/>
              </a:ext>
            </a:extLst>
          </p:cNvPr>
          <p:cNvSpPr txBox="1"/>
          <p:nvPr/>
        </p:nvSpPr>
        <p:spPr>
          <a:xfrm>
            <a:off x="991421" y="6685128"/>
            <a:ext cx="6210300" cy="838691"/>
          </a:xfrm>
          <a:prstGeom prst="rect">
            <a:avLst/>
          </a:prstGeom>
        </p:spPr>
        <p:txBody>
          <a:bodyPr wrap="square" lIns="0" tIns="0" rIns="0" bIns="0" rtlCol="0" anchor="t">
            <a:spAutoFit/>
          </a:bodyPr>
          <a:lstStyle/>
          <a:p>
            <a:pPr algn="l">
              <a:lnSpc>
                <a:spcPts val="6822"/>
              </a:lnSpc>
            </a:pPr>
            <a:r>
              <a:rPr lang="en-US" sz="4400" b="1" dirty="0">
                <a:solidFill>
                  <a:srgbClr val="000000"/>
                </a:solidFill>
                <a:latin typeface="Garet Bold"/>
                <a:ea typeface="Garet Bold"/>
                <a:cs typeface="Garet Bold"/>
                <a:sym typeface="Garet Bold"/>
              </a:rPr>
              <a:t>Research Gap</a:t>
            </a:r>
          </a:p>
        </p:txBody>
      </p:sp>
      <p:sp>
        <p:nvSpPr>
          <p:cNvPr id="47" name="Rectangle 22">
            <a:extLst>
              <a:ext uri="{FF2B5EF4-FFF2-40B4-BE49-F238E27FC236}">
                <a16:creationId xmlns:a16="http://schemas.microsoft.com/office/drawing/2014/main" id="{D058B07F-A72A-489D-A4C2-20F386E86438}"/>
              </a:ext>
            </a:extLst>
          </p:cNvPr>
          <p:cNvSpPr>
            <a:spLocks noChangeArrowheads="1"/>
          </p:cNvSpPr>
          <p:nvPr/>
        </p:nvSpPr>
        <p:spPr bwMode="auto">
          <a:xfrm>
            <a:off x="917831" y="7257892"/>
            <a:ext cx="18549673"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Garet" panose="020B0604020202020204" charset="0"/>
            </a:endParaRP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aret" panose="020B0604020202020204" charset="0"/>
              </a:rPr>
              <a:t>Limited research comparing these two styles in the </a:t>
            </a:r>
          </a:p>
          <a:p>
            <a:pPr marR="0" lvl="0" algn="l" defTabSz="914400" rtl="0" eaLnBrk="0" fontAlgn="base" latinLnBrk="0" hangingPunct="0">
              <a:lnSpc>
                <a:spcPct val="100000"/>
              </a:lnSpc>
              <a:spcBef>
                <a:spcPct val="0"/>
              </a:spcBef>
              <a:spcAft>
                <a:spcPct val="0"/>
              </a:spcAft>
              <a:buClrTx/>
              <a:buSzTx/>
              <a:tabLst/>
            </a:pPr>
            <a:r>
              <a:rPr lang="en-US" altLang="en-US" sz="2000" dirty="0">
                <a:latin typeface="Garet" panose="020B0604020202020204" charset="0"/>
              </a:rPr>
              <a:t>      </a:t>
            </a:r>
            <a:r>
              <a:rPr kumimoji="0" lang="en-US" altLang="en-US" sz="2000" b="0" i="0" u="none" strike="noStrike" cap="none" normalizeH="0" baseline="0" dirty="0">
                <a:ln>
                  <a:noFill/>
                </a:ln>
                <a:solidFill>
                  <a:schemeClr val="tx1"/>
                </a:solidFill>
                <a:effectLst/>
                <a:latin typeface="Garet" panose="020B0604020202020204" charset="0"/>
              </a:rPr>
              <a:t>profit-oriented service sector.</a:t>
            </a:r>
          </a:p>
          <a:p>
            <a:pPr marL="342900" marR="0" lvl="0" indent="-34290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aret" panose="020B0604020202020204" charset="0"/>
              </a:rPr>
              <a:t>Call for further understanding of their unique</a:t>
            </a:r>
          </a:p>
          <a:p>
            <a:pPr marR="0" lvl="0" algn="l" defTabSz="914400" rtl="0" eaLnBrk="0" fontAlgn="base" latinLnBrk="0" hangingPunct="0">
              <a:lnSpc>
                <a:spcPct val="100000"/>
              </a:lnSpc>
              <a:spcBef>
                <a:spcPct val="0"/>
              </a:spcBef>
              <a:spcAft>
                <a:spcPct val="0"/>
              </a:spcAft>
              <a:buClrTx/>
              <a:buSzTx/>
              <a:tabLst/>
            </a:pPr>
            <a:r>
              <a:rPr kumimoji="0" lang="en-US" altLang="en-US" sz="2000" b="0" i="0" u="none" strike="noStrike" cap="none" normalizeH="0" baseline="0" dirty="0">
                <a:ln>
                  <a:noFill/>
                </a:ln>
                <a:solidFill>
                  <a:schemeClr val="tx1"/>
                </a:solidFill>
                <a:effectLst/>
                <a:latin typeface="Garet" panose="020B0604020202020204" charset="0"/>
              </a:rPr>
              <a:t>      contributions to organizational success. </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2700000">
            <a:off x="12234107" y="2478707"/>
            <a:ext cx="6899924" cy="12460548"/>
            <a:chOff x="0" y="0"/>
            <a:chExt cx="1817264" cy="3281790"/>
          </a:xfrm>
        </p:grpSpPr>
        <p:sp>
          <p:nvSpPr>
            <p:cNvPr id="3" name="Freeform 3"/>
            <p:cNvSpPr/>
            <p:nvPr/>
          </p:nvSpPr>
          <p:spPr>
            <a:xfrm>
              <a:off x="0" y="0"/>
              <a:ext cx="1817264" cy="3281790"/>
            </a:xfrm>
            <a:custGeom>
              <a:avLst/>
              <a:gdLst/>
              <a:ahLst/>
              <a:cxnLst/>
              <a:rect l="l" t="t" r="r" b="b"/>
              <a:pathLst>
                <a:path w="1817264" h="3281790">
                  <a:moveTo>
                    <a:pt x="0" y="0"/>
                  </a:moveTo>
                  <a:lnTo>
                    <a:pt x="1817264" y="0"/>
                  </a:lnTo>
                  <a:lnTo>
                    <a:pt x="1817264" y="3281790"/>
                  </a:lnTo>
                  <a:lnTo>
                    <a:pt x="0" y="3281790"/>
                  </a:lnTo>
                  <a:close/>
                </a:path>
              </a:pathLst>
            </a:custGeom>
            <a:solidFill>
              <a:srgbClr val="1468A2"/>
            </a:solidFill>
          </p:spPr>
          <p:txBody>
            <a:bodyPr/>
            <a:lstStyle/>
            <a:p>
              <a:endParaRPr lang="en-PK"/>
            </a:p>
          </p:txBody>
        </p:sp>
        <p:sp>
          <p:nvSpPr>
            <p:cNvPr id="4" name="TextBox 4"/>
            <p:cNvSpPr txBox="1"/>
            <p:nvPr/>
          </p:nvSpPr>
          <p:spPr>
            <a:xfrm>
              <a:off x="0" y="-38100"/>
              <a:ext cx="1817264" cy="331989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737289" y="-1988820"/>
            <a:ext cx="11247120" cy="1124712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3"/>
              <a:stretch>
                <a:fillRect l="-48559" r="-1253"/>
              </a:stretch>
            </a:blipFill>
          </p:spPr>
          <p:txBody>
            <a:bodyPr/>
            <a:lstStyle/>
            <a:p>
              <a:endParaRPr lang="en-PK"/>
            </a:p>
          </p:txBody>
        </p:sp>
      </p:grpSp>
      <p:sp>
        <p:nvSpPr>
          <p:cNvPr id="7" name="Freeform 7"/>
          <p:cNvSpPr/>
          <p:nvPr/>
        </p:nvSpPr>
        <p:spPr>
          <a:xfrm flipH="1">
            <a:off x="7978798" y="6664398"/>
            <a:ext cx="4282420" cy="4251612"/>
          </a:xfrm>
          <a:custGeom>
            <a:avLst/>
            <a:gdLst/>
            <a:ahLst/>
            <a:cxnLst/>
            <a:rect l="l" t="t" r="r" b="b"/>
            <a:pathLst>
              <a:path w="4282420" h="4251612">
                <a:moveTo>
                  <a:pt x="4282420" y="0"/>
                </a:moveTo>
                <a:lnTo>
                  <a:pt x="0" y="0"/>
                </a:lnTo>
                <a:lnTo>
                  <a:pt x="0" y="4251612"/>
                </a:lnTo>
                <a:lnTo>
                  <a:pt x="4282420" y="4251612"/>
                </a:lnTo>
                <a:lnTo>
                  <a:pt x="4282420" y="0"/>
                </a:lnTo>
                <a:close/>
              </a:path>
            </a:pathLst>
          </a:custGeom>
          <a:blipFill>
            <a:blip r:embed="rId4"/>
            <a:stretch>
              <a:fillRect t="-35629" b="-57934"/>
            </a:stretch>
          </a:blipFill>
        </p:spPr>
        <p:txBody>
          <a:bodyPr/>
          <a:lstStyle/>
          <a:p>
            <a:endParaRPr lang="en-PK"/>
          </a:p>
        </p:txBody>
      </p:sp>
      <p:sp>
        <p:nvSpPr>
          <p:cNvPr id="8" name="AutoShape 8"/>
          <p:cNvSpPr/>
          <p:nvPr/>
        </p:nvSpPr>
        <p:spPr>
          <a:xfrm flipV="1">
            <a:off x="7657041" y="6826631"/>
            <a:ext cx="4525147" cy="4525147"/>
          </a:xfrm>
          <a:prstGeom prst="line">
            <a:avLst/>
          </a:prstGeom>
          <a:ln w="38100" cap="flat">
            <a:solidFill>
              <a:srgbClr val="1468A2"/>
            </a:solidFill>
            <a:prstDash val="solid"/>
            <a:headEnd type="none" w="sm" len="sm"/>
            <a:tailEnd type="none" w="sm" len="sm"/>
          </a:ln>
        </p:spPr>
        <p:txBody>
          <a:bodyPr/>
          <a:lstStyle/>
          <a:p>
            <a:endParaRPr lang="en-PK"/>
          </a:p>
        </p:txBody>
      </p:sp>
      <p:sp>
        <p:nvSpPr>
          <p:cNvPr id="9" name="AutoShape 9"/>
          <p:cNvSpPr/>
          <p:nvPr/>
        </p:nvSpPr>
        <p:spPr>
          <a:xfrm flipV="1">
            <a:off x="11105977" y="-1975350"/>
            <a:ext cx="4525147" cy="4525147"/>
          </a:xfrm>
          <a:prstGeom prst="line">
            <a:avLst/>
          </a:prstGeom>
          <a:ln w="38100" cap="flat">
            <a:solidFill>
              <a:srgbClr val="1468A2"/>
            </a:solidFill>
            <a:prstDash val="solid"/>
            <a:headEnd type="none" w="sm" len="sm"/>
            <a:tailEnd type="none" w="sm" len="sm"/>
          </a:ln>
        </p:spPr>
        <p:txBody>
          <a:bodyPr/>
          <a:lstStyle/>
          <a:p>
            <a:endParaRPr lang="en-PK"/>
          </a:p>
        </p:txBody>
      </p:sp>
      <p:sp>
        <p:nvSpPr>
          <p:cNvPr id="10" name="TextBox 10"/>
          <p:cNvSpPr txBox="1"/>
          <p:nvPr/>
        </p:nvSpPr>
        <p:spPr>
          <a:xfrm>
            <a:off x="1028700" y="1276846"/>
            <a:ext cx="4633186" cy="559035"/>
          </a:xfrm>
          <a:prstGeom prst="rect">
            <a:avLst/>
          </a:prstGeom>
        </p:spPr>
        <p:txBody>
          <a:bodyPr lIns="0" tIns="0" rIns="0" bIns="0" rtlCol="0" anchor="t">
            <a:spAutoFit/>
          </a:bodyPr>
          <a:lstStyle/>
          <a:p>
            <a:pPr algn="l">
              <a:lnSpc>
                <a:spcPts val="4446"/>
              </a:lnSpc>
            </a:pPr>
            <a:r>
              <a:rPr lang="en-US" sz="3705" b="1">
                <a:solidFill>
                  <a:srgbClr val="000000"/>
                </a:solidFill>
                <a:latin typeface="Garet Bold"/>
                <a:ea typeface="Garet Bold"/>
                <a:cs typeface="Garet Bold"/>
                <a:sym typeface="Garet Bold"/>
              </a:rPr>
              <a:t>INTRODUCTION</a:t>
            </a:r>
          </a:p>
        </p:txBody>
      </p:sp>
      <p:grpSp>
        <p:nvGrpSpPr>
          <p:cNvPr id="11" name="Group 11"/>
          <p:cNvGrpSpPr/>
          <p:nvPr/>
        </p:nvGrpSpPr>
        <p:grpSpPr>
          <a:xfrm>
            <a:off x="-848883" y="1004457"/>
            <a:ext cx="6694524" cy="959152"/>
            <a:chOff x="0" y="-38100"/>
            <a:chExt cx="1763167" cy="252616"/>
          </a:xfrm>
        </p:grpSpPr>
        <p:sp>
          <p:nvSpPr>
            <p:cNvPr id="12" name="Freeform 12"/>
            <p:cNvSpPr/>
            <p:nvPr/>
          </p:nvSpPr>
          <p:spPr>
            <a:xfrm>
              <a:off x="0" y="34513"/>
              <a:ext cx="1763167" cy="180003"/>
            </a:xfrm>
            <a:custGeom>
              <a:avLst/>
              <a:gdLst/>
              <a:ahLst/>
              <a:cxnLst/>
              <a:rect l="l" t="t" r="r" b="b"/>
              <a:pathLst>
                <a:path w="1763167" h="214516">
                  <a:moveTo>
                    <a:pt x="203200" y="0"/>
                  </a:moveTo>
                  <a:lnTo>
                    <a:pt x="1763167" y="0"/>
                  </a:lnTo>
                  <a:lnTo>
                    <a:pt x="1559967" y="214516"/>
                  </a:lnTo>
                  <a:lnTo>
                    <a:pt x="0" y="214516"/>
                  </a:lnTo>
                  <a:lnTo>
                    <a:pt x="203200" y="0"/>
                  </a:lnTo>
                  <a:close/>
                </a:path>
              </a:pathLst>
            </a:custGeom>
            <a:solidFill>
              <a:srgbClr val="1468A2">
                <a:alpha val="7843"/>
              </a:srgbClr>
            </a:solidFill>
          </p:spPr>
          <p:txBody>
            <a:bodyPr/>
            <a:lstStyle/>
            <a:p>
              <a:endParaRPr lang="en-US" dirty="0"/>
            </a:p>
          </p:txBody>
        </p:sp>
        <p:sp>
          <p:nvSpPr>
            <p:cNvPr id="13" name="TextBox 13"/>
            <p:cNvSpPr txBox="1"/>
            <p:nvPr/>
          </p:nvSpPr>
          <p:spPr>
            <a:xfrm>
              <a:off x="101600" y="-38100"/>
              <a:ext cx="1559967" cy="252616"/>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8651496" y="1127858"/>
            <a:ext cx="1281097" cy="422907"/>
            <a:chOff x="0" y="0"/>
            <a:chExt cx="1708130" cy="563877"/>
          </a:xfrm>
        </p:grpSpPr>
        <p:sp>
          <p:nvSpPr>
            <p:cNvPr id="17" name="Freeform 17"/>
            <p:cNvSpPr/>
            <p:nvPr/>
          </p:nvSpPr>
          <p:spPr>
            <a:xfrm>
              <a:off x="0" y="0"/>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5">
                <a:extLst>
                  <a:ext uri="{96DAC541-7B7A-43D3-8B79-37D633B846F1}">
                    <asvg:svgBlip xmlns:asvg="http://schemas.microsoft.com/office/drawing/2016/SVG/main" r:embed="rId6"/>
                  </a:ext>
                </a:extLst>
              </a:blip>
              <a:stretch>
                <a:fillRect t="-357762"/>
              </a:stretch>
            </a:blipFill>
          </p:spPr>
          <p:txBody>
            <a:bodyPr/>
            <a:lstStyle/>
            <a:p>
              <a:endParaRPr lang="en-PK"/>
            </a:p>
          </p:txBody>
        </p:sp>
        <p:sp>
          <p:nvSpPr>
            <p:cNvPr id="18" name="Freeform 18"/>
            <p:cNvSpPr/>
            <p:nvPr/>
          </p:nvSpPr>
          <p:spPr>
            <a:xfrm>
              <a:off x="0" y="347451"/>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5">
                <a:extLst>
                  <a:ext uri="{96DAC541-7B7A-43D3-8B79-37D633B846F1}">
                    <asvg:svgBlip xmlns:asvg="http://schemas.microsoft.com/office/drawing/2016/SVG/main" r:embed="rId6"/>
                  </a:ext>
                </a:extLst>
              </a:blip>
              <a:stretch>
                <a:fillRect t="-357762"/>
              </a:stretch>
            </a:blipFill>
          </p:spPr>
          <p:txBody>
            <a:bodyPr/>
            <a:lstStyle/>
            <a:p>
              <a:endParaRPr lang="en-PK"/>
            </a:p>
          </p:txBody>
        </p:sp>
      </p:grpSp>
      <p:sp>
        <p:nvSpPr>
          <p:cNvPr id="19" name="TextBox 19"/>
          <p:cNvSpPr txBox="1"/>
          <p:nvPr/>
        </p:nvSpPr>
        <p:spPr>
          <a:xfrm>
            <a:off x="1028700" y="1954084"/>
            <a:ext cx="6417049" cy="838691"/>
          </a:xfrm>
          <a:prstGeom prst="rect">
            <a:avLst/>
          </a:prstGeom>
        </p:spPr>
        <p:txBody>
          <a:bodyPr wrap="square" lIns="0" tIns="0" rIns="0" bIns="0" rtlCol="0" anchor="t">
            <a:spAutoFit/>
          </a:bodyPr>
          <a:lstStyle/>
          <a:p>
            <a:pPr algn="l">
              <a:lnSpc>
                <a:spcPts val="6822"/>
              </a:lnSpc>
            </a:pPr>
            <a:r>
              <a:rPr lang="en-US" sz="4800" b="1" dirty="0">
                <a:solidFill>
                  <a:srgbClr val="000000"/>
                </a:solidFill>
                <a:latin typeface="Garet Bold"/>
                <a:ea typeface="Garet Bold"/>
                <a:cs typeface="Garet Bold"/>
                <a:sym typeface="Garet Bold"/>
              </a:rPr>
              <a:t>Objectives of Study</a:t>
            </a:r>
          </a:p>
        </p:txBody>
      </p:sp>
      <p:sp>
        <p:nvSpPr>
          <p:cNvPr id="14" name="Rectangle 1">
            <a:extLst>
              <a:ext uri="{FF2B5EF4-FFF2-40B4-BE49-F238E27FC236}">
                <a16:creationId xmlns:a16="http://schemas.microsoft.com/office/drawing/2014/main" id="{D9805F65-3034-41F0-82F3-E647A1363967}"/>
              </a:ext>
            </a:extLst>
          </p:cNvPr>
          <p:cNvSpPr>
            <a:spLocks noChangeArrowheads="1"/>
          </p:cNvSpPr>
          <p:nvPr/>
        </p:nvSpPr>
        <p:spPr bwMode="auto">
          <a:xfrm>
            <a:off x="506661" y="2476724"/>
            <a:ext cx="10599316" cy="51706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defTabSz="914400" rtl="0" eaLnBrk="0" fontAlgn="base" latinLnBrk="0" hangingPunct="0">
              <a:lnSpc>
                <a:spcPct val="200000"/>
              </a:lnSpc>
              <a:spcBef>
                <a:spcPct val="0"/>
              </a:spcBef>
              <a:spcAft>
                <a:spcPct val="0"/>
              </a:spcAft>
              <a:buClrTx/>
              <a:buSzTx/>
              <a:buFont typeface="Arial" panose="020B0604020202020204" pitchFamily="34" charset="0"/>
              <a:buChar char="•"/>
              <a:tabLst/>
            </a:pPr>
            <a:endParaRPr kumimoji="0" lang="en-US" altLang="en-US" sz="2400" b="0" i="0" u="none" strike="noStrike" cap="none" normalizeH="0" baseline="0" dirty="0">
              <a:ln>
                <a:noFill/>
              </a:ln>
              <a:solidFill>
                <a:schemeClr val="tx1"/>
              </a:solidFill>
              <a:effectLst/>
              <a:latin typeface="Garet" panose="020B0604020202020204" charset="0"/>
            </a:endParaRPr>
          </a:p>
          <a:p>
            <a:pPr marL="342900" marR="0" lvl="0" indent="-342900"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Garet" panose="020B0604020202020204" charset="0"/>
              </a:rPr>
              <a:t>Evaluate the impact of transformational and servant </a:t>
            </a:r>
          </a:p>
          <a:p>
            <a:pPr marR="0" lvl="0" defTabSz="914400" rtl="0" eaLnBrk="0" fontAlgn="base" latinLnBrk="0" hangingPunct="0">
              <a:lnSpc>
                <a:spcPct val="200000"/>
              </a:lnSpc>
              <a:spcBef>
                <a:spcPct val="0"/>
              </a:spcBef>
              <a:spcAft>
                <a:spcPct val="0"/>
              </a:spcAft>
              <a:buClrTx/>
              <a:buSzTx/>
              <a:tabLst/>
            </a:pPr>
            <a:r>
              <a:rPr lang="en-US" altLang="en-US" sz="2400" dirty="0">
                <a:latin typeface="Garet" panose="020B0604020202020204" charset="0"/>
              </a:rPr>
              <a:t>     </a:t>
            </a:r>
            <a:r>
              <a:rPr kumimoji="0" lang="en-US" altLang="en-US" sz="2400" b="0" i="0" u="none" strike="noStrike" cap="none" normalizeH="0" baseline="0" dirty="0">
                <a:ln>
                  <a:noFill/>
                </a:ln>
                <a:solidFill>
                  <a:schemeClr val="tx1"/>
                </a:solidFill>
                <a:effectLst/>
                <a:latin typeface="Garet" panose="020B0604020202020204" charset="0"/>
              </a:rPr>
              <a:t>leadership on </a:t>
            </a:r>
            <a:r>
              <a:rPr kumimoji="0" lang="en-US" altLang="en-US" sz="2400" b="1" i="0" u="none" strike="noStrike" cap="none" normalizeH="0" baseline="0" dirty="0">
                <a:ln>
                  <a:noFill/>
                </a:ln>
                <a:solidFill>
                  <a:schemeClr val="tx1"/>
                </a:solidFill>
                <a:effectLst/>
                <a:latin typeface="Garet" panose="020B0604020202020204" charset="0"/>
              </a:rPr>
              <a:t>organizational learning</a:t>
            </a:r>
            <a:r>
              <a:rPr kumimoji="0" lang="en-US" altLang="en-US" sz="2400" b="0" i="0" u="none" strike="noStrike" cap="none" normalizeH="0" baseline="0" dirty="0">
                <a:ln>
                  <a:noFill/>
                </a:ln>
                <a:solidFill>
                  <a:schemeClr val="tx1"/>
                </a:solidFill>
                <a:effectLst/>
                <a:latin typeface="Garet" panose="020B0604020202020204" charset="0"/>
              </a:rPr>
              <a:t>.</a:t>
            </a:r>
          </a:p>
          <a:p>
            <a:pPr marL="342900" marR="0" lvl="0" indent="-342900"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Garet" panose="020B0604020202020204" charset="0"/>
              </a:rPr>
              <a:t>Assess the influence of organizational learning on </a:t>
            </a:r>
            <a:r>
              <a:rPr kumimoji="0" lang="en-US" altLang="en-US" sz="2400" b="1" i="0" u="none" strike="noStrike" cap="none" normalizeH="0" baseline="0" dirty="0">
                <a:ln>
                  <a:noFill/>
                </a:ln>
                <a:solidFill>
                  <a:schemeClr val="tx1"/>
                </a:solidFill>
                <a:effectLst/>
                <a:latin typeface="Garet" panose="020B0604020202020204" charset="0"/>
              </a:rPr>
              <a:t>organizational performance</a:t>
            </a:r>
            <a:r>
              <a:rPr kumimoji="0" lang="en-US" altLang="en-US" sz="2400" b="0" i="0" u="none" strike="noStrike" cap="none" normalizeH="0" baseline="0" dirty="0">
                <a:ln>
                  <a:noFill/>
                </a:ln>
                <a:solidFill>
                  <a:schemeClr val="tx1"/>
                </a:solidFill>
                <a:effectLst/>
                <a:latin typeface="Garet" panose="020B0604020202020204" charset="0"/>
              </a:rPr>
              <a:t>.</a:t>
            </a:r>
          </a:p>
          <a:p>
            <a:pPr marL="342900" marR="0" lvl="0" indent="-342900" defTabSz="914400" rtl="0" eaLnBrk="0" fontAlgn="base" latinLnBrk="0" hangingPunct="0">
              <a:lnSpc>
                <a:spcPct val="200000"/>
              </a:lnSpc>
              <a:spcBef>
                <a:spcPct val="0"/>
              </a:spcBef>
              <a:spcAft>
                <a:spcPct val="0"/>
              </a:spcAft>
              <a:buClrTx/>
              <a:buSzTx/>
              <a:buFont typeface="Arial" panose="020B0604020202020204" pitchFamily="34" charset="0"/>
              <a:buChar char="•"/>
              <a:tabLst/>
            </a:pPr>
            <a:r>
              <a:rPr kumimoji="0" lang="en-US" altLang="en-US" sz="2400" b="0" i="0" u="none" strike="noStrike" cap="none" normalizeH="0" baseline="0" dirty="0">
                <a:ln>
                  <a:noFill/>
                </a:ln>
                <a:solidFill>
                  <a:schemeClr val="tx1"/>
                </a:solidFill>
                <a:effectLst/>
                <a:latin typeface="Garet" panose="020B0604020202020204" charset="0"/>
              </a:rPr>
              <a:t>Determine which leadership style is more effective in driving profitability. </a:t>
            </a:r>
          </a:p>
        </p:txBody>
      </p:sp>
    </p:spTree>
    <p:extLst>
      <p:ext uri="{BB962C8B-B14F-4D97-AF65-F5344CB8AC3E}">
        <p14:creationId xmlns:p14="http://schemas.microsoft.com/office/powerpoint/2010/main" val="15300479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Freeform 7"/>
          <p:cNvSpPr/>
          <p:nvPr/>
        </p:nvSpPr>
        <p:spPr>
          <a:xfrm flipH="1">
            <a:off x="7978798" y="6664398"/>
            <a:ext cx="4282420" cy="4251612"/>
          </a:xfrm>
          <a:custGeom>
            <a:avLst/>
            <a:gdLst/>
            <a:ahLst/>
            <a:cxnLst/>
            <a:rect l="l" t="t" r="r" b="b"/>
            <a:pathLst>
              <a:path w="4282420" h="4251612">
                <a:moveTo>
                  <a:pt x="4282420" y="0"/>
                </a:moveTo>
                <a:lnTo>
                  <a:pt x="0" y="0"/>
                </a:lnTo>
                <a:lnTo>
                  <a:pt x="0" y="4251612"/>
                </a:lnTo>
                <a:lnTo>
                  <a:pt x="4282420" y="4251612"/>
                </a:lnTo>
                <a:lnTo>
                  <a:pt x="4282420" y="0"/>
                </a:lnTo>
                <a:close/>
              </a:path>
            </a:pathLst>
          </a:custGeom>
          <a:blipFill>
            <a:blip r:embed="rId3"/>
            <a:stretch>
              <a:fillRect t="-35629" b="-57934"/>
            </a:stretch>
          </a:blipFill>
        </p:spPr>
        <p:txBody>
          <a:bodyPr/>
          <a:lstStyle/>
          <a:p>
            <a:endParaRPr lang="en-PK"/>
          </a:p>
        </p:txBody>
      </p:sp>
      <p:sp>
        <p:nvSpPr>
          <p:cNvPr id="10" name="TextBox 10"/>
          <p:cNvSpPr txBox="1"/>
          <p:nvPr/>
        </p:nvSpPr>
        <p:spPr>
          <a:xfrm>
            <a:off x="1028700" y="1276846"/>
            <a:ext cx="4633186" cy="565732"/>
          </a:xfrm>
          <a:prstGeom prst="rect">
            <a:avLst/>
          </a:prstGeom>
        </p:spPr>
        <p:txBody>
          <a:bodyPr lIns="0" tIns="0" rIns="0" bIns="0" rtlCol="0" anchor="t">
            <a:spAutoFit/>
          </a:bodyPr>
          <a:lstStyle/>
          <a:p>
            <a:pPr algn="l">
              <a:lnSpc>
                <a:spcPts val="4446"/>
              </a:lnSpc>
            </a:pPr>
            <a:r>
              <a:rPr lang="en-US" sz="3705" b="1" dirty="0">
                <a:solidFill>
                  <a:srgbClr val="000000"/>
                </a:solidFill>
                <a:latin typeface="Garet Bold"/>
                <a:ea typeface="Garet Bold"/>
                <a:cs typeface="Garet Bold"/>
                <a:sym typeface="Garet Bold"/>
              </a:rPr>
              <a:t>Literature Review</a:t>
            </a:r>
          </a:p>
        </p:txBody>
      </p:sp>
      <p:grpSp>
        <p:nvGrpSpPr>
          <p:cNvPr id="11" name="Group 11"/>
          <p:cNvGrpSpPr/>
          <p:nvPr/>
        </p:nvGrpSpPr>
        <p:grpSpPr>
          <a:xfrm>
            <a:off x="-848883" y="1207657"/>
            <a:ext cx="6694524" cy="959152"/>
            <a:chOff x="0" y="-38100"/>
            <a:chExt cx="1763167" cy="252616"/>
          </a:xfrm>
        </p:grpSpPr>
        <p:sp>
          <p:nvSpPr>
            <p:cNvPr id="12" name="Freeform 12"/>
            <p:cNvSpPr/>
            <p:nvPr/>
          </p:nvSpPr>
          <p:spPr>
            <a:xfrm>
              <a:off x="0" y="34513"/>
              <a:ext cx="1763167" cy="180003"/>
            </a:xfrm>
            <a:custGeom>
              <a:avLst/>
              <a:gdLst/>
              <a:ahLst/>
              <a:cxnLst/>
              <a:rect l="l" t="t" r="r" b="b"/>
              <a:pathLst>
                <a:path w="1763167" h="214516">
                  <a:moveTo>
                    <a:pt x="203200" y="0"/>
                  </a:moveTo>
                  <a:lnTo>
                    <a:pt x="1763167" y="0"/>
                  </a:lnTo>
                  <a:lnTo>
                    <a:pt x="1559967" y="214516"/>
                  </a:lnTo>
                  <a:lnTo>
                    <a:pt x="0" y="214516"/>
                  </a:lnTo>
                  <a:lnTo>
                    <a:pt x="203200" y="0"/>
                  </a:lnTo>
                  <a:close/>
                </a:path>
              </a:pathLst>
            </a:custGeom>
            <a:solidFill>
              <a:srgbClr val="1468A2">
                <a:alpha val="7843"/>
              </a:srgbClr>
            </a:solidFill>
          </p:spPr>
          <p:txBody>
            <a:bodyPr/>
            <a:lstStyle/>
            <a:p>
              <a:endParaRPr lang="en-US" dirty="0"/>
            </a:p>
          </p:txBody>
        </p:sp>
        <p:sp>
          <p:nvSpPr>
            <p:cNvPr id="13" name="TextBox 13"/>
            <p:cNvSpPr txBox="1"/>
            <p:nvPr/>
          </p:nvSpPr>
          <p:spPr>
            <a:xfrm>
              <a:off x="101600" y="-38100"/>
              <a:ext cx="1559967" cy="252616"/>
            </a:xfrm>
            <a:prstGeom prst="rect">
              <a:avLst/>
            </a:prstGeom>
          </p:spPr>
          <p:txBody>
            <a:bodyPr lIns="50800" tIns="50800" rIns="50800" bIns="50800" rtlCol="0" anchor="ctr"/>
            <a:lstStyle/>
            <a:p>
              <a:pPr algn="ctr">
                <a:lnSpc>
                  <a:spcPts val="2659"/>
                </a:lnSpc>
              </a:pPr>
              <a:endParaRPr/>
            </a:p>
          </p:txBody>
        </p:sp>
      </p:grpSp>
      <p:grpSp>
        <p:nvGrpSpPr>
          <p:cNvPr id="16" name="Group 16"/>
          <p:cNvGrpSpPr/>
          <p:nvPr/>
        </p:nvGrpSpPr>
        <p:grpSpPr>
          <a:xfrm>
            <a:off x="8651496" y="1127858"/>
            <a:ext cx="1281097" cy="422907"/>
            <a:chOff x="0" y="0"/>
            <a:chExt cx="1708130" cy="563877"/>
          </a:xfrm>
        </p:grpSpPr>
        <p:sp>
          <p:nvSpPr>
            <p:cNvPr id="17" name="Freeform 17"/>
            <p:cNvSpPr/>
            <p:nvPr/>
          </p:nvSpPr>
          <p:spPr>
            <a:xfrm>
              <a:off x="0" y="0"/>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4">
                <a:extLst>
                  <a:ext uri="{96DAC541-7B7A-43D3-8B79-37D633B846F1}">
                    <asvg:svgBlip xmlns:asvg="http://schemas.microsoft.com/office/drawing/2016/SVG/main" r:embed="rId5"/>
                  </a:ext>
                </a:extLst>
              </a:blip>
              <a:stretch>
                <a:fillRect t="-357762"/>
              </a:stretch>
            </a:blipFill>
          </p:spPr>
          <p:txBody>
            <a:bodyPr/>
            <a:lstStyle/>
            <a:p>
              <a:endParaRPr lang="en-PK"/>
            </a:p>
          </p:txBody>
        </p:sp>
        <p:sp>
          <p:nvSpPr>
            <p:cNvPr id="18" name="Freeform 18"/>
            <p:cNvSpPr/>
            <p:nvPr/>
          </p:nvSpPr>
          <p:spPr>
            <a:xfrm>
              <a:off x="0" y="347451"/>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4">
                <a:extLst>
                  <a:ext uri="{96DAC541-7B7A-43D3-8B79-37D633B846F1}">
                    <asvg:svgBlip xmlns:asvg="http://schemas.microsoft.com/office/drawing/2016/SVG/main" r:embed="rId5"/>
                  </a:ext>
                </a:extLst>
              </a:blip>
              <a:stretch>
                <a:fillRect t="-357762"/>
              </a:stretch>
            </a:blipFill>
          </p:spPr>
          <p:txBody>
            <a:bodyPr/>
            <a:lstStyle/>
            <a:p>
              <a:endParaRPr lang="en-PK"/>
            </a:p>
          </p:txBody>
        </p:sp>
      </p:grpSp>
      <p:sp>
        <p:nvSpPr>
          <p:cNvPr id="19" name="TextBox 19"/>
          <p:cNvSpPr txBox="1"/>
          <p:nvPr/>
        </p:nvSpPr>
        <p:spPr>
          <a:xfrm>
            <a:off x="1028700" y="1954084"/>
            <a:ext cx="10172700" cy="838691"/>
          </a:xfrm>
          <a:prstGeom prst="rect">
            <a:avLst/>
          </a:prstGeom>
        </p:spPr>
        <p:txBody>
          <a:bodyPr wrap="square" lIns="0" tIns="0" rIns="0" bIns="0" rtlCol="0" anchor="t">
            <a:spAutoFit/>
          </a:bodyPr>
          <a:lstStyle/>
          <a:p>
            <a:pPr algn="l">
              <a:lnSpc>
                <a:spcPts val="6822"/>
              </a:lnSpc>
            </a:pPr>
            <a:r>
              <a:rPr lang="en-US" sz="4800" b="1" dirty="0">
                <a:latin typeface="Garet Bold" panose="020B0604020202020204" charset="0"/>
              </a:rPr>
              <a:t>Overview of Ethical Leadership</a:t>
            </a:r>
            <a:endParaRPr lang="en-US" sz="4800" b="1" dirty="0">
              <a:solidFill>
                <a:srgbClr val="000000"/>
              </a:solidFill>
              <a:latin typeface="Garet Bold" panose="020B0604020202020204" charset="0"/>
              <a:ea typeface="Garet Bold"/>
              <a:cs typeface="Garet Bold"/>
              <a:sym typeface="Garet Bold"/>
            </a:endParaRPr>
          </a:p>
        </p:txBody>
      </p:sp>
      <p:sp>
        <p:nvSpPr>
          <p:cNvPr id="15" name="Rectangle 1">
            <a:extLst>
              <a:ext uri="{FF2B5EF4-FFF2-40B4-BE49-F238E27FC236}">
                <a16:creationId xmlns:a16="http://schemas.microsoft.com/office/drawing/2014/main" id="{AE8A5BBC-4A85-4C08-9F1A-CC14E7DE8A48}"/>
              </a:ext>
            </a:extLst>
          </p:cNvPr>
          <p:cNvSpPr>
            <a:spLocks noChangeArrowheads="1"/>
          </p:cNvSpPr>
          <p:nvPr/>
        </p:nvSpPr>
        <p:spPr bwMode="auto">
          <a:xfrm>
            <a:off x="1091907" y="2398477"/>
            <a:ext cx="12519454" cy="17081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None/>
              <a:tabLst/>
            </a:pPr>
            <a:endParaRPr kumimoji="0" lang="en-US" altLang="en-US" sz="2400" b="0" i="0" u="none" strike="noStrike" cap="none" normalizeH="0" baseline="0" dirty="0">
              <a:ln>
                <a:noFill/>
              </a:ln>
              <a:solidFill>
                <a:schemeClr val="tx1"/>
              </a:solidFill>
              <a:effectLst/>
              <a:latin typeface="Garet" panose="020B060402020202020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Garet" panose="020B0604020202020204" charset="0"/>
              </a:rPr>
              <a:t>Leadership linked with ethics has long been studied.</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2400" b="0" i="0" u="none" strike="noStrike" cap="none" normalizeH="0" baseline="0" dirty="0">
                <a:ln>
                  <a:noFill/>
                </a:ln>
                <a:solidFill>
                  <a:schemeClr val="tx1"/>
                </a:solidFill>
                <a:effectLst/>
                <a:latin typeface="Garet" panose="020B0604020202020204" charset="0"/>
              </a:rPr>
              <a:t>Importance of leadership in organizational performance and innovation. </a:t>
            </a:r>
          </a:p>
        </p:txBody>
      </p:sp>
      <p:graphicFrame>
        <p:nvGraphicFramePr>
          <p:cNvPr id="52" name="Table 52">
            <a:extLst>
              <a:ext uri="{FF2B5EF4-FFF2-40B4-BE49-F238E27FC236}">
                <a16:creationId xmlns:a16="http://schemas.microsoft.com/office/drawing/2014/main" id="{D65F283D-07E4-4828-89EB-CA8BC2DB38DB}"/>
              </a:ext>
            </a:extLst>
          </p:cNvPr>
          <p:cNvGraphicFramePr>
            <a:graphicFrameLocks noGrp="1"/>
          </p:cNvGraphicFramePr>
          <p:nvPr>
            <p:extLst>
              <p:ext uri="{D42A27DB-BD31-4B8C-83A1-F6EECF244321}">
                <p14:modId xmlns:p14="http://schemas.microsoft.com/office/powerpoint/2010/main" val="2216970459"/>
              </p:ext>
            </p:extLst>
          </p:nvPr>
        </p:nvGraphicFramePr>
        <p:xfrm>
          <a:off x="3048000" y="4375862"/>
          <a:ext cx="12192000" cy="5068995"/>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1707273385"/>
                    </a:ext>
                  </a:extLst>
                </a:gridCol>
                <a:gridCol w="4064000">
                  <a:extLst>
                    <a:ext uri="{9D8B030D-6E8A-4147-A177-3AD203B41FA5}">
                      <a16:colId xmlns:a16="http://schemas.microsoft.com/office/drawing/2014/main" val="3401241968"/>
                    </a:ext>
                  </a:extLst>
                </a:gridCol>
                <a:gridCol w="4064000">
                  <a:extLst>
                    <a:ext uri="{9D8B030D-6E8A-4147-A177-3AD203B41FA5}">
                      <a16:colId xmlns:a16="http://schemas.microsoft.com/office/drawing/2014/main" val="194279745"/>
                    </a:ext>
                  </a:extLst>
                </a:gridCol>
              </a:tblGrid>
              <a:tr h="988263">
                <a:tc>
                  <a:txBody>
                    <a:bodyPr/>
                    <a:lstStyle/>
                    <a:p>
                      <a:pPr algn="ctr"/>
                      <a:r>
                        <a:rPr lang="en-US" sz="2800" dirty="0">
                          <a:latin typeface="Garet Bold" panose="020B0604020202020204" charset="0"/>
                        </a:rPr>
                        <a:t>Aspect</a:t>
                      </a:r>
                    </a:p>
                  </a:txBody>
                  <a:tcPr anchor="ctr"/>
                </a:tc>
                <a:tc>
                  <a:txBody>
                    <a:bodyPr/>
                    <a:lstStyle/>
                    <a:p>
                      <a:pPr algn="ctr"/>
                      <a:r>
                        <a:rPr lang="en-US" sz="2800" dirty="0">
                          <a:latin typeface="Garet Bold" panose="020B0604020202020204" charset="0"/>
                        </a:rPr>
                        <a:t>Transformational</a:t>
                      </a:r>
                    </a:p>
                    <a:p>
                      <a:pPr algn="ctr"/>
                      <a:r>
                        <a:rPr lang="en-US" sz="2800" dirty="0">
                          <a:latin typeface="Garet Bold" panose="020B0604020202020204" charset="0"/>
                        </a:rPr>
                        <a:t>Leadership</a:t>
                      </a:r>
                    </a:p>
                  </a:txBody>
                  <a:tcPr/>
                </a:tc>
                <a:tc>
                  <a:txBody>
                    <a:bodyPr/>
                    <a:lstStyle/>
                    <a:p>
                      <a:pPr algn="ctr"/>
                      <a:r>
                        <a:rPr lang="en-US" sz="2800" dirty="0">
                          <a:latin typeface="Garet Bold" panose="020B0604020202020204" charset="0"/>
                        </a:rPr>
                        <a:t>Servant</a:t>
                      </a:r>
                    </a:p>
                    <a:p>
                      <a:pPr algn="ctr"/>
                      <a:r>
                        <a:rPr lang="en-US" sz="2800" dirty="0">
                          <a:latin typeface="Garet Bold" panose="020B0604020202020204" charset="0"/>
                        </a:rPr>
                        <a:t>Leadership</a:t>
                      </a:r>
                    </a:p>
                  </a:txBody>
                  <a:tcPr/>
                </a:tc>
                <a:extLst>
                  <a:ext uri="{0D108BD9-81ED-4DB2-BD59-A6C34878D82A}">
                    <a16:rowId xmlns:a16="http://schemas.microsoft.com/office/drawing/2014/main" val="4040931816"/>
                  </a:ext>
                </a:extLst>
              </a:tr>
              <a:tr h="1263126">
                <a:tc>
                  <a:txBody>
                    <a:bodyPr/>
                    <a:lstStyle/>
                    <a:p>
                      <a:pPr algn="ctr"/>
                      <a:r>
                        <a:rPr lang="en-US" sz="2400" dirty="0">
                          <a:latin typeface="Garet" panose="020B0604020202020204" charset="0"/>
                        </a:rPr>
                        <a:t>Primary Focus</a:t>
                      </a:r>
                    </a:p>
                  </a:txBody>
                  <a:tcPr anchor="ctr"/>
                </a:tc>
                <a:tc>
                  <a:txBody>
                    <a:bodyPr/>
                    <a:lstStyle/>
                    <a:p>
                      <a:pPr algn="ctr"/>
                      <a:r>
                        <a:rPr lang="en-US" sz="2400" dirty="0">
                          <a:latin typeface="Garet" panose="020B0604020202020204" charset="0"/>
                        </a:rPr>
                        <a:t>Goal-oriented leadership</a:t>
                      </a:r>
                    </a:p>
                  </a:txBody>
                  <a:tcPr anchor="ctr"/>
                </a:tc>
                <a:tc>
                  <a:txBody>
                    <a:bodyPr/>
                    <a:lstStyle/>
                    <a:p>
                      <a:pPr algn="ctr"/>
                      <a:r>
                        <a:rPr lang="en-US" sz="2400" dirty="0">
                          <a:latin typeface="Garet" panose="020B0604020202020204" charset="0"/>
                        </a:rPr>
                        <a:t>Service and follower development</a:t>
                      </a:r>
                    </a:p>
                  </a:txBody>
                  <a:tcPr anchor="ctr"/>
                </a:tc>
                <a:extLst>
                  <a:ext uri="{0D108BD9-81ED-4DB2-BD59-A6C34878D82A}">
                    <a16:rowId xmlns:a16="http://schemas.microsoft.com/office/drawing/2014/main" val="1336042508"/>
                  </a:ext>
                </a:extLst>
              </a:tr>
              <a:tr h="1263126">
                <a:tc>
                  <a:txBody>
                    <a:bodyPr/>
                    <a:lstStyle/>
                    <a:p>
                      <a:pPr algn="ctr"/>
                      <a:r>
                        <a:rPr lang="en-US" sz="2400" dirty="0">
                          <a:latin typeface="Garet" panose="020B0604020202020204" charset="0"/>
                        </a:rPr>
                        <a:t>Innovation</a:t>
                      </a:r>
                    </a:p>
                  </a:txBody>
                  <a:tcPr anchor="ctr"/>
                </a:tc>
                <a:tc>
                  <a:txBody>
                    <a:bodyPr/>
                    <a:lstStyle/>
                    <a:p>
                      <a:pPr algn="ctr"/>
                      <a:r>
                        <a:rPr lang="en-US" sz="2400" dirty="0">
                          <a:latin typeface="Garet" panose="020B0604020202020204" charset="0"/>
                        </a:rPr>
                        <a:t>Promotes innovation via intellectual stimulation</a:t>
                      </a:r>
                    </a:p>
                  </a:txBody>
                  <a:tcPr anchor="ctr"/>
                </a:tc>
                <a:tc>
                  <a:txBody>
                    <a:bodyPr/>
                    <a:lstStyle/>
                    <a:p>
                      <a:pPr algn="ctr"/>
                      <a:r>
                        <a:rPr lang="en-US" sz="2400" dirty="0">
                          <a:latin typeface="Garet" panose="020B0604020202020204" charset="0"/>
                        </a:rPr>
                        <a:t>Promotes learning through follower support</a:t>
                      </a:r>
                    </a:p>
                  </a:txBody>
                  <a:tcPr anchor="ctr"/>
                </a:tc>
                <a:extLst>
                  <a:ext uri="{0D108BD9-81ED-4DB2-BD59-A6C34878D82A}">
                    <a16:rowId xmlns:a16="http://schemas.microsoft.com/office/drawing/2014/main" val="2552501751"/>
                  </a:ext>
                </a:extLst>
              </a:tr>
              <a:tr h="1263126">
                <a:tc>
                  <a:txBody>
                    <a:bodyPr/>
                    <a:lstStyle/>
                    <a:p>
                      <a:pPr algn="ctr"/>
                      <a:r>
                        <a:rPr lang="en-US" sz="2400" dirty="0">
                          <a:latin typeface="Garet" panose="020B0604020202020204" charset="0"/>
                        </a:rPr>
                        <a:t>Organizational Impact</a:t>
                      </a:r>
                    </a:p>
                  </a:txBody>
                  <a:tcPr anchor="ctr"/>
                </a:tc>
                <a:tc>
                  <a:txBody>
                    <a:bodyPr/>
                    <a:lstStyle/>
                    <a:p>
                      <a:pPr algn="ctr"/>
                      <a:r>
                        <a:rPr lang="en-US" sz="2400" dirty="0">
                          <a:latin typeface="Garet" panose="020B0604020202020204" charset="0"/>
                        </a:rPr>
                        <a:t>Strongly linked to goal attainment and Performance</a:t>
                      </a:r>
                    </a:p>
                  </a:txBody>
                  <a:tcPr anchor="ctr"/>
                </a:tc>
                <a:tc>
                  <a:txBody>
                    <a:bodyPr/>
                    <a:lstStyle/>
                    <a:p>
                      <a:pPr algn="ctr"/>
                      <a:r>
                        <a:rPr lang="en-US" sz="2400" dirty="0">
                          <a:latin typeface="Garet" panose="020B0604020202020204" charset="0"/>
                        </a:rPr>
                        <a:t>Strongly linked to employee well-being and long-term development.</a:t>
                      </a:r>
                    </a:p>
                  </a:txBody>
                  <a:tcPr anchor="ctr"/>
                </a:tc>
                <a:extLst>
                  <a:ext uri="{0D108BD9-81ED-4DB2-BD59-A6C34878D82A}">
                    <a16:rowId xmlns:a16="http://schemas.microsoft.com/office/drawing/2014/main" val="819485155"/>
                  </a:ext>
                </a:extLst>
              </a:tr>
            </a:tbl>
          </a:graphicData>
        </a:graphic>
      </p:graphicFrame>
    </p:spTree>
    <p:extLst>
      <p:ext uri="{BB962C8B-B14F-4D97-AF65-F5344CB8AC3E}">
        <p14:creationId xmlns:p14="http://schemas.microsoft.com/office/powerpoint/2010/main" val="340541190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12"/>
          <p:cNvSpPr/>
          <p:nvPr/>
        </p:nvSpPr>
        <p:spPr>
          <a:xfrm>
            <a:off x="-1075604" y="1124915"/>
            <a:ext cx="6694524" cy="764729"/>
          </a:xfrm>
          <a:custGeom>
            <a:avLst/>
            <a:gdLst/>
            <a:ahLst/>
            <a:cxnLst/>
            <a:rect l="l" t="t" r="r" b="b"/>
            <a:pathLst>
              <a:path w="1763167" h="214516">
                <a:moveTo>
                  <a:pt x="203200" y="0"/>
                </a:moveTo>
                <a:lnTo>
                  <a:pt x="1763167" y="0"/>
                </a:lnTo>
                <a:lnTo>
                  <a:pt x="1559967" y="214516"/>
                </a:lnTo>
                <a:lnTo>
                  <a:pt x="0" y="214516"/>
                </a:lnTo>
                <a:lnTo>
                  <a:pt x="203200" y="0"/>
                </a:lnTo>
                <a:close/>
              </a:path>
            </a:pathLst>
          </a:custGeom>
          <a:solidFill>
            <a:srgbClr val="1468A2">
              <a:alpha val="7843"/>
            </a:srgbClr>
          </a:solidFill>
        </p:spPr>
        <p:txBody>
          <a:bodyPr/>
          <a:lstStyle/>
          <a:p>
            <a:endParaRPr lang="en-US" dirty="0"/>
          </a:p>
        </p:txBody>
      </p:sp>
      <p:sp>
        <p:nvSpPr>
          <p:cNvPr id="10" name="TextBox 10"/>
          <p:cNvSpPr txBox="1"/>
          <p:nvPr/>
        </p:nvSpPr>
        <p:spPr>
          <a:xfrm>
            <a:off x="1028698" y="1276844"/>
            <a:ext cx="4633186" cy="565732"/>
          </a:xfrm>
          <a:prstGeom prst="rect">
            <a:avLst/>
          </a:prstGeom>
        </p:spPr>
        <p:txBody>
          <a:bodyPr lIns="0" tIns="0" rIns="0" bIns="0" rtlCol="0" anchor="t">
            <a:spAutoFit/>
          </a:bodyPr>
          <a:lstStyle/>
          <a:p>
            <a:pPr algn="l">
              <a:lnSpc>
                <a:spcPts val="4446"/>
              </a:lnSpc>
            </a:pPr>
            <a:r>
              <a:rPr lang="en-US" sz="3705" b="1" dirty="0">
                <a:solidFill>
                  <a:srgbClr val="000000"/>
                </a:solidFill>
                <a:latin typeface="Garet Bold"/>
                <a:ea typeface="Garet Bold"/>
                <a:cs typeface="Garet Bold"/>
                <a:sym typeface="Garet Bold"/>
              </a:rPr>
              <a:t>Research Basis</a:t>
            </a:r>
          </a:p>
        </p:txBody>
      </p:sp>
      <p:sp>
        <p:nvSpPr>
          <p:cNvPr id="13" name="TextBox 13"/>
          <p:cNvSpPr txBox="1"/>
          <p:nvPr/>
        </p:nvSpPr>
        <p:spPr>
          <a:xfrm>
            <a:off x="-463123" y="1004455"/>
            <a:ext cx="5922999" cy="959152"/>
          </a:xfrm>
          <a:prstGeom prst="rect">
            <a:avLst/>
          </a:prstGeom>
        </p:spPr>
        <p:txBody>
          <a:bodyPr lIns="50800" tIns="50800" rIns="50800" bIns="50800" rtlCol="0" anchor="ctr"/>
          <a:lstStyle/>
          <a:p>
            <a:pPr algn="ctr">
              <a:lnSpc>
                <a:spcPts val="2659"/>
              </a:lnSpc>
            </a:pPr>
            <a:endParaRPr dirty="0"/>
          </a:p>
        </p:txBody>
      </p:sp>
      <p:grpSp>
        <p:nvGrpSpPr>
          <p:cNvPr id="16" name="Group 16"/>
          <p:cNvGrpSpPr/>
          <p:nvPr/>
        </p:nvGrpSpPr>
        <p:grpSpPr>
          <a:xfrm>
            <a:off x="8651494" y="1127856"/>
            <a:ext cx="1281097" cy="422907"/>
            <a:chOff x="0" y="0"/>
            <a:chExt cx="1708130" cy="563877"/>
          </a:xfrm>
        </p:grpSpPr>
        <p:sp>
          <p:nvSpPr>
            <p:cNvPr id="17" name="Freeform 17"/>
            <p:cNvSpPr/>
            <p:nvPr/>
          </p:nvSpPr>
          <p:spPr>
            <a:xfrm>
              <a:off x="0" y="0"/>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3">
                <a:extLst>
                  <a:ext uri="{96DAC541-7B7A-43D3-8B79-37D633B846F1}">
                    <asvg:svgBlip xmlns:asvg="http://schemas.microsoft.com/office/drawing/2016/SVG/main" r:embed="rId4"/>
                  </a:ext>
                </a:extLst>
              </a:blip>
              <a:stretch>
                <a:fillRect t="-357762"/>
              </a:stretch>
            </a:blipFill>
          </p:spPr>
          <p:txBody>
            <a:bodyPr/>
            <a:lstStyle/>
            <a:p>
              <a:endParaRPr lang="en-PK"/>
            </a:p>
          </p:txBody>
        </p:sp>
        <p:sp>
          <p:nvSpPr>
            <p:cNvPr id="18" name="Freeform 18"/>
            <p:cNvSpPr/>
            <p:nvPr/>
          </p:nvSpPr>
          <p:spPr>
            <a:xfrm>
              <a:off x="0" y="347451"/>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3">
                <a:extLst>
                  <a:ext uri="{96DAC541-7B7A-43D3-8B79-37D633B846F1}">
                    <asvg:svgBlip xmlns:asvg="http://schemas.microsoft.com/office/drawing/2016/SVG/main" r:embed="rId4"/>
                  </a:ext>
                </a:extLst>
              </a:blip>
              <a:stretch>
                <a:fillRect t="-357762"/>
              </a:stretch>
            </a:blipFill>
          </p:spPr>
          <p:txBody>
            <a:bodyPr/>
            <a:lstStyle/>
            <a:p>
              <a:endParaRPr lang="en-PK"/>
            </a:p>
          </p:txBody>
        </p:sp>
      </p:grpSp>
      <p:sp>
        <p:nvSpPr>
          <p:cNvPr id="19" name="TextBox 19"/>
          <p:cNvSpPr txBox="1"/>
          <p:nvPr/>
        </p:nvSpPr>
        <p:spPr>
          <a:xfrm>
            <a:off x="1028698" y="1954082"/>
            <a:ext cx="7163497" cy="823302"/>
          </a:xfrm>
          <a:prstGeom prst="rect">
            <a:avLst/>
          </a:prstGeom>
        </p:spPr>
        <p:txBody>
          <a:bodyPr wrap="square" lIns="0" tIns="0" rIns="0" bIns="0" rtlCol="0" anchor="t">
            <a:spAutoFit/>
          </a:bodyPr>
          <a:lstStyle/>
          <a:p>
            <a:pPr algn="l">
              <a:lnSpc>
                <a:spcPts val="6822"/>
              </a:lnSpc>
            </a:pPr>
            <a:r>
              <a:rPr lang="en-US" sz="4400" b="1" dirty="0">
                <a:solidFill>
                  <a:srgbClr val="000000"/>
                </a:solidFill>
                <a:latin typeface="Garet Bold"/>
                <a:ea typeface="Garet Bold"/>
                <a:cs typeface="Garet Bold"/>
                <a:sym typeface="Garet Bold"/>
              </a:rPr>
              <a:t>Foundational Theories</a:t>
            </a:r>
          </a:p>
        </p:txBody>
      </p:sp>
      <p:grpSp>
        <p:nvGrpSpPr>
          <p:cNvPr id="20" name="Group 2">
            <a:extLst>
              <a:ext uri="{FF2B5EF4-FFF2-40B4-BE49-F238E27FC236}">
                <a16:creationId xmlns:a16="http://schemas.microsoft.com/office/drawing/2014/main" id="{C6380AFE-94CA-472D-80AA-31E3A4938465}"/>
              </a:ext>
            </a:extLst>
          </p:cNvPr>
          <p:cNvGrpSpPr/>
          <p:nvPr/>
        </p:nvGrpSpPr>
        <p:grpSpPr>
          <a:xfrm>
            <a:off x="-1554321" y="3223981"/>
            <a:ext cx="20411630" cy="2886740"/>
            <a:chOff x="0" y="0"/>
            <a:chExt cx="5375903" cy="760294"/>
          </a:xfrm>
        </p:grpSpPr>
        <p:sp>
          <p:nvSpPr>
            <p:cNvPr id="21" name="Freeform 3">
              <a:extLst>
                <a:ext uri="{FF2B5EF4-FFF2-40B4-BE49-F238E27FC236}">
                  <a16:creationId xmlns:a16="http://schemas.microsoft.com/office/drawing/2014/main" id="{B2B8E176-A773-4148-B3A4-859043795F13}"/>
                </a:ext>
              </a:extLst>
            </p:cNvPr>
            <p:cNvSpPr/>
            <p:nvPr/>
          </p:nvSpPr>
          <p:spPr>
            <a:xfrm>
              <a:off x="0" y="0"/>
              <a:ext cx="5375903" cy="760294"/>
            </a:xfrm>
            <a:custGeom>
              <a:avLst/>
              <a:gdLst/>
              <a:ahLst/>
              <a:cxnLst/>
              <a:rect l="l" t="t" r="r" b="b"/>
              <a:pathLst>
                <a:path w="5375903" h="760294">
                  <a:moveTo>
                    <a:pt x="0" y="0"/>
                  </a:moveTo>
                  <a:lnTo>
                    <a:pt x="5375903" y="0"/>
                  </a:lnTo>
                  <a:lnTo>
                    <a:pt x="5375903" y="760294"/>
                  </a:lnTo>
                  <a:lnTo>
                    <a:pt x="0" y="760294"/>
                  </a:lnTo>
                  <a:close/>
                </a:path>
              </a:pathLst>
            </a:custGeom>
            <a:solidFill>
              <a:srgbClr val="EBF2F1">
                <a:alpha val="46667"/>
              </a:srgbClr>
            </a:solidFill>
          </p:spPr>
          <p:txBody>
            <a:bodyPr/>
            <a:lstStyle/>
            <a:p>
              <a:endParaRPr lang="en-PK"/>
            </a:p>
          </p:txBody>
        </p:sp>
        <p:sp>
          <p:nvSpPr>
            <p:cNvPr id="22" name="TextBox 4">
              <a:extLst>
                <a:ext uri="{FF2B5EF4-FFF2-40B4-BE49-F238E27FC236}">
                  <a16:creationId xmlns:a16="http://schemas.microsoft.com/office/drawing/2014/main" id="{79F12BD1-E634-4FDB-9F8E-63FAD29D3706}"/>
                </a:ext>
              </a:extLst>
            </p:cNvPr>
            <p:cNvSpPr txBox="1"/>
            <p:nvPr/>
          </p:nvSpPr>
          <p:spPr>
            <a:xfrm>
              <a:off x="0" y="-38100"/>
              <a:ext cx="5375903" cy="798394"/>
            </a:xfrm>
            <a:prstGeom prst="rect">
              <a:avLst/>
            </a:prstGeom>
          </p:spPr>
          <p:txBody>
            <a:bodyPr lIns="50800" tIns="50800" rIns="50800" bIns="50800" rtlCol="0" anchor="ctr"/>
            <a:lstStyle/>
            <a:p>
              <a:pPr algn="ctr">
                <a:lnSpc>
                  <a:spcPts val="2659"/>
                </a:lnSpc>
              </a:pPr>
              <a:endParaRPr/>
            </a:p>
          </p:txBody>
        </p:sp>
      </p:grpSp>
      <p:sp>
        <p:nvSpPr>
          <p:cNvPr id="23" name="Freeform 8">
            <a:extLst>
              <a:ext uri="{FF2B5EF4-FFF2-40B4-BE49-F238E27FC236}">
                <a16:creationId xmlns:a16="http://schemas.microsoft.com/office/drawing/2014/main" id="{A8B2EF75-41A1-4DF0-8B13-3F737CBC1095}"/>
              </a:ext>
            </a:extLst>
          </p:cNvPr>
          <p:cNvSpPr/>
          <p:nvPr/>
        </p:nvSpPr>
        <p:spPr>
          <a:xfrm rot="5400000">
            <a:off x="2564767" y="4472955"/>
            <a:ext cx="366923" cy="388792"/>
          </a:xfrm>
          <a:custGeom>
            <a:avLst/>
            <a:gdLst/>
            <a:ahLst/>
            <a:cxnLst/>
            <a:rect l="l" t="t" r="r" b="b"/>
            <a:pathLst>
              <a:path w="366923" h="388792">
                <a:moveTo>
                  <a:pt x="0" y="0"/>
                </a:moveTo>
                <a:lnTo>
                  <a:pt x="366922" y="0"/>
                </a:lnTo>
                <a:lnTo>
                  <a:pt x="366922" y="388792"/>
                </a:lnTo>
                <a:lnTo>
                  <a:pt x="0" y="38879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PK"/>
          </a:p>
        </p:txBody>
      </p:sp>
      <p:sp>
        <p:nvSpPr>
          <p:cNvPr id="24" name="Freeform 10">
            <a:extLst>
              <a:ext uri="{FF2B5EF4-FFF2-40B4-BE49-F238E27FC236}">
                <a16:creationId xmlns:a16="http://schemas.microsoft.com/office/drawing/2014/main" id="{71CABF11-A23E-4A9B-95F3-5FC842A4AABE}"/>
              </a:ext>
            </a:extLst>
          </p:cNvPr>
          <p:cNvSpPr/>
          <p:nvPr/>
        </p:nvSpPr>
        <p:spPr>
          <a:xfrm flipH="1">
            <a:off x="323262" y="3721145"/>
            <a:ext cx="1903203" cy="1892411"/>
          </a:xfrm>
          <a:custGeom>
            <a:avLst/>
            <a:gdLst/>
            <a:ahLst/>
            <a:cxnLst/>
            <a:rect l="l" t="t" r="r" b="b"/>
            <a:pathLst>
              <a:path w="1903203" h="1892411">
                <a:moveTo>
                  <a:pt x="1903203" y="0"/>
                </a:moveTo>
                <a:lnTo>
                  <a:pt x="0" y="0"/>
                </a:lnTo>
                <a:lnTo>
                  <a:pt x="0" y="1892411"/>
                </a:lnTo>
                <a:lnTo>
                  <a:pt x="1903203" y="1892411"/>
                </a:lnTo>
                <a:lnTo>
                  <a:pt x="1903203" y="0"/>
                </a:lnTo>
                <a:close/>
              </a:path>
            </a:pathLst>
          </a:custGeom>
          <a:blipFill>
            <a:blip r:embed="rId7">
              <a:extLst>
                <a:ext uri="{96DAC541-7B7A-43D3-8B79-37D633B846F1}">
                  <asvg:svgBlip xmlns:asvg="http://schemas.microsoft.com/office/drawing/2016/SVG/main" r:embed="rId8"/>
                </a:ext>
              </a:extLst>
            </a:blip>
            <a:stretch>
              <a:fillRect r="-107152"/>
            </a:stretch>
          </a:blipFill>
        </p:spPr>
        <p:txBody>
          <a:bodyPr/>
          <a:lstStyle/>
          <a:p>
            <a:endParaRPr lang="en-PK"/>
          </a:p>
        </p:txBody>
      </p:sp>
      <p:sp>
        <p:nvSpPr>
          <p:cNvPr id="26" name="Freeform 19">
            <a:extLst>
              <a:ext uri="{FF2B5EF4-FFF2-40B4-BE49-F238E27FC236}">
                <a16:creationId xmlns:a16="http://schemas.microsoft.com/office/drawing/2014/main" id="{85BE4714-4A56-4687-9075-E8296B7136A5}"/>
              </a:ext>
            </a:extLst>
          </p:cNvPr>
          <p:cNvSpPr/>
          <p:nvPr/>
        </p:nvSpPr>
        <p:spPr>
          <a:xfrm>
            <a:off x="756786" y="4124329"/>
            <a:ext cx="1036155" cy="1036155"/>
          </a:xfrm>
          <a:custGeom>
            <a:avLst/>
            <a:gdLst/>
            <a:ahLst/>
            <a:cxnLst/>
            <a:rect l="l" t="t" r="r" b="b"/>
            <a:pathLst>
              <a:path w="1036155" h="1036155">
                <a:moveTo>
                  <a:pt x="0" y="0"/>
                </a:moveTo>
                <a:lnTo>
                  <a:pt x="1036155" y="0"/>
                </a:lnTo>
                <a:lnTo>
                  <a:pt x="1036155" y="1036156"/>
                </a:lnTo>
                <a:lnTo>
                  <a:pt x="0" y="10361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PK"/>
          </a:p>
        </p:txBody>
      </p:sp>
      <p:sp>
        <p:nvSpPr>
          <p:cNvPr id="27" name="TextBox 23">
            <a:extLst>
              <a:ext uri="{FF2B5EF4-FFF2-40B4-BE49-F238E27FC236}">
                <a16:creationId xmlns:a16="http://schemas.microsoft.com/office/drawing/2014/main" id="{86D5FD27-CBAF-4AE4-B01E-B3101A160B2A}"/>
              </a:ext>
            </a:extLst>
          </p:cNvPr>
          <p:cNvSpPr txBox="1"/>
          <p:nvPr/>
        </p:nvSpPr>
        <p:spPr>
          <a:xfrm>
            <a:off x="3100516" y="4386375"/>
            <a:ext cx="3221339" cy="958404"/>
          </a:xfrm>
          <a:prstGeom prst="rect">
            <a:avLst/>
          </a:prstGeom>
        </p:spPr>
        <p:txBody>
          <a:bodyPr wrap="square" lIns="0" tIns="0" rIns="0" bIns="0" rtlCol="0" anchor="t">
            <a:spAutoFit/>
          </a:bodyPr>
          <a:lstStyle/>
          <a:p>
            <a:pPr algn="just">
              <a:lnSpc>
                <a:spcPts val="3842"/>
              </a:lnSpc>
            </a:pPr>
            <a:r>
              <a:rPr lang="en-US" sz="2744" b="1" dirty="0">
                <a:solidFill>
                  <a:srgbClr val="000000"/>
                </a:solidFill>
                <a:latin typeface="Garet Bold"/>
                <a:ea typeface="Garet Bold"/>
                <a:cs typeface="Garet Bold"/>
                <a:sym typeface="Garet Bold"/>
              </a:rPr>
              <a:t>Transformational Leadership</a:t>
            </a:r>
          </a:p>
        </p:txBody>
      </p:sp>
      <p:grpSp>
        <p:nvGrpSpPr>
          <p:cNvPr id="28" name="Group 2">
            <a:extLst>
              <a:ext uri="{FF2B5EF4-FFF2-40B4-BE49-F238E27FC236}">
                <a16:creationId xmlns:a16="http://schemas.microsoft.com/office/drawing/2014/main" id="{DE1B35EE-66EC-4FCE-9AB7-DF158DFB5654}"/>
              </a:ext>
            </a:extLst>
          </p:cNvPr>
          <p:cNvGrpSpPr/>
          <p:nvPr/>
        </p:nvGrpSpPr>
        <p:grpSpPr>
          <a:xfrm>
            <a:off x="-1554321" y="6329726"/>
            <a:ext cx="20411630" cy="2886740"/>
            <a:chOff x="0" y="0"/>
            <a:chExt cx="5375903" cy="760294"/>
          </a:xfrm>
        </p:grpSpPr>
        <p:sp>
          <p:nvSpPr>
            <p:cNvPr id="29" name="Freeform 3">
              <a:extLst>
                <a:ext uri="{FF2B5EF4-FFF2-40B4-BE49-F238E27FC236}">
                  <a16:creationId xmlns:a16="http://schemas.microsoft.com/office/drawing/2014/main" id="{7D63ED7E-2B9A-4F68-B96C-D8773610209F}"/>
                </a:ext>
              </a:extLst>
            </p:cNvPr>
            <p:cNvSpPr/>
            <p:nvPr/>
          </p:nvSpPr>
          <p:spPr>
            <a:xfrm>
              <a:off x="0" y="0"/>
              <a:ext cx="5375903" cy="760294"/>
            </a:xfrm>
            <a:custGeom>
              <a:avLst/>
              <a:gdLst/>
              <a:ahLst/>
              <a:cxnLst/>
              <a:rect l="l" t="t" r="r" b="b"/>
              <a:pathLst>
                <a:path w="5375903" h="760294">
                  <a:moveTo>
                    <a:pt x="0" y="0"/>
                  </a:moveTo>
                  <a:lnTo>
                    <a:pt x="5375903" y="0"/>
                  </a:lnTo>
                  <a:lnTo>
                    <a:pt x="5375903" y="760294"/>
                  </a:lnTo>
                  <a:lnTo>
                    <a:pt x="0" y="760294"/>
                  </a:lnTo>
                  <a:close/>
                </a:path>
              </a:pathLst>
            </a:custGeom>
            <a:solidFill>
              <a:srgbClr val="EBF2F1">
                <a:alpha val="46667"/>
              </a:srgbClr>
            </a:solidFill>
          </p:spPr>
          <p:txBody>
            <a:bodyPr/>
            <a:lstStyle/>
            <a:p>
              <a:endParaRPr lang="en-PK"/>
            </a:p>
          </p:txBody>
        </p:sp>
        <p:sp>
          <p:nvSpPr>
            <p:cNvPr id="30" name="TextBox 4">
              <a:extLst>
                <a:ext uri="{FF2B5EF4-FFF2-40B4-BE49-F238E27FC236}">
                  <a16:creationId xmlns:a16="http://schemas.microsoft.com/office/drawing/2014/main" id="{B848254F-1E13-4DF6-AAA0-CFAF303912D1}"/>
                </a:ext>
              </a:extLst>
            </p:cNvPr>
            <p:cNvSpPr txBox="1"/>
            <p:nvPr/>
          </p:nvSpPr>
          <p:spPr>
            <a:xfrm>
              <a:off x="0" y="-38100"/>
              <a:ext cx="5375903" cy="798394"/>
            </a:xfrm>
            <a:prstGeom prst="rect">
              <a:avLst/>
            </a:prstGeom>
          </p:spPr>
          <p:txBody>
            <a:bodyPr lIns="50800" tIns="50800" rIns="50800" bIns="50800" rtlCol="0" anchor="ctr"/>
            <a:lstStyle/>
            <a:p>
              <a:pPr algn="ctr">
                <a:lnSpc>
                  <a:spcPts val="2659"/>
                </a:lnSpc>
              </a:pPr>
              <a:endParaRPr/>
            </a:p>
          </p:txBody>
        </p:sp>
      </p:grpSp>
      <p:sp>
        <p:nvSpPr>
          <p:cNvPr id="31" name="Freeform 8">
            <a:extLst>
              <a:ext uri="{FF2B5EF4-FFF2-40B4-BE49-F238E27FC236}">
                <a16:creationId xmlns:a16="http://schemas.microsoft.com/office/drawing/2014/main" id="{11C01DF4-2B0E-4D3C-8D30-037C1C8C0BD5}"/>
              </a:ext>
            </a:extLst>
          </p:cNvPr>
          <p:cNvSpPr/>
          <p:nvPr/>
        </p:nvSpPr>
        <p:spPr>
          <a:xfrm rot="5400000">
            <a:off x="2564767" y="7578700"/>
            <a:ext cx="366923" cy="388792"/>
          </a:xfrm>
          <a:custGeom>
            <a:avLst/>
            <a:gdLst/>
            <a:ahLst/>
            <a:cxnLst/>
            <a:rect l="l" t="t" r="r" b="b"/>
            <a:pathLst>
              <a:path w="366923" h="388792">
                <a:moveTo>
                  <a:pt x="0" y="0"/>
                </a:moveTo>
                <a:lnTo>
                  <a:pt x="366922" y="0"/>
                </a:lnTo>
                <a:lnTo>
                  <a:pt x="366922" y="388792"/>
                </a:lnTo>
                <a:lnTo>
                  <a:pt x="0" y="388792"/>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PK"/>
          </a:p>
        </p:txBody>
      </p:sp>
      <p:sp>
        <p:nvSpPr>
          <p:cNvPr id="32" name="Freeform 10">
            <a:extLst>
              <a:ext uri="{FF2B5EF4-FFF2-40B4-BE49-F238E27FC236}">
                <a16:creationId xmlns:a16="http://schemas.microsoft.com/office/drawing/2014/main" id="{295E356A-14AA-4622-B57B-4B009DB3A636}"/>
              </a:ext>
            </a:extLst>
          </p:cNvPr>
          <p:cNvSpPr/>
          <p:nvPr/>
        </p:nvSpPr>
        <p:spPr>
          <a:xfrm flipH="1">
            <a:off x="323262" y="6826890"/>
            <a:ext cx="1903203" cy="1892411"/>
          </a:xfrm>
          <a:custGeom>
            <a:avLst/>
            <a:gdLst/>
            <a:ahLst/>
            <a:cxnLst/>
            <a:rect l="l" t="t" r="r" b="b"/>
            <a:pathLst>
              <a:path w="1903203" h="1892411">
                <a:moveTo>
                  <a:pt x="1903203" y="0"/>
                </a:moveTo>
                <a:lnTo>
                  <a:pt x="0" y="0"/>
                </a:lnTo>
                <a:lnTo>
                  <a:pt x="0" y="1892411"/>
                </a:lnTo>
                <a:lnTo>
                  <a:pt x="1903203" y="1892411"/>
                </a:lnTo>
                <a:lnTo>
                  <a:pt x="1903203" y="0"/>
                </a:lnTo>
                <a:close/>
              </a:path>
            </a:pathLst>
          </a:custGeom>
          <a:blipFill>
            <a:blip r:embed="rId7">
              <a:extLst>
                <a:ext uri="{96DAC541-7B7A-43D3-8B79-37D633B846F1}">
                  <asvg:svgBlip xmlns:asvg="http://schemas.microsoft.com/office/drawing/2016/SVG/main" r:embed="rId8"/>
                </a:ext>
              </a:extLst>
            </a:blip>
            <a:stretch>
              <a:fillRect r="-107152"/>
            </a:stretch>
          </a:blipFill>
        </p:spPr>
        <p:txBody>
          <a:bodyPr/>
          <a:lstStyle/>
          <a:p>
            <a:endParaRPr lang="en-PK"/>
          </a:p>
        </p:txBody>
      </p:sp>
      <p:sp>
        <p:nvSpPr>
          <p:cNvPr id="33" name="TextBox 12">
            <a:extLst>
              <a:ext uri="{FF2B5EF4-FFF2-40B4-BE49-F238E27FC236}">
                <a16:creationId xmlns:a16="http://schemas.microsoft.com/office/drawing/2014/main" id="{D62A059D-75A5-4991-80A8-911C3DF435F0}"/>
              </a:ext>
            </a:extLst>
          </p:cNvPr>
          <p:cNvSpPr txBox="1"/>
          <p:nvPr/>
        </p:nvSpPr>
        <p:spPr>
          <a:xfrm>
            <a:off x="6483943" y="7483659"/>
            <a:ext cx="6319850" cy="705193"/>
          </a:xfrm>
          <a:prstGeom prst="rect">
            <a:avLst/>
          </a:prstGeom>
        </p:spPr>
        <p:txBody>
          <a:bodyPr lIns="0" tIns="0" rIns="0" bIns="0" rtlCol="0" anchor="t">
            <a:spAutoFit/>
          </a:bodyPr>
          <a:lstStyle/>
          <a:p>
            <a:pPr marL="342900" indent="-342900">
              <a:lnSpc>
                <a:spcPts val="2794"/>
              </a:lnSpc>
              <a:buFont typeface="Arial" panose="020B0604020202020204" pitchFamily="34" charset="0"/>
              <a:buChar char="•"/>
            </a:pPr>
            <a:r>
              <a:rPr lang="en-US" sz="1996" dirty="0">
                <a:solidFill>
                  <a:srgbClr val="000000"/>
                </a:solidFill>
                <a:latin typeface="Garet"/>
                <a:ea typeface="Garet"/>
                <a:cs typeface="Garet"/>
                <a:sym typeface="Garet"/>
              </a:rPr>
              <a:t>Focus on followers' development fosters organizational learning (Bass, 2000).</a:t>
            </a:r>
          </a:p>
        </p:txBody>
      </p:sp>
      <p:sp>
        <p:nvSpPr>
          <p:cNvPr id="34" name="Freeform 19">
            <a:extLst>
              <a:ext uri="{FF2B5EF4-FFF2-40B4-BE49-F238E27FC236}">
                <a16:creationId xmlns:a16="http://schemas.microsoft.com/office/drawing/2014/main" id="{3C3CFB0B-2FBE-4A11-9A89-CE8AF2B4A0DE}"/>
              </a:ext>
            </a:extLst>
          </p:cNvPr>
          <p:cNvSpPr/>
          <p:nvPr/>
        </p:nvSpPr>
        <p:spPr>
          <a:xfrm>
            <a:off x="756786" y="7230074"/>
            <a:ext cx="1036155" cy="1036155"/>
          </a:xfrm>
          <a:custGeom>
            <a:avLst/>
            <a:gdLst/>
            <a:ahLst/>
            <a:cxnLst/>
            <a:rect l="l" t="t" r="r" b="b"/>
            <a:pathLst>
              <a:path w="1036155" h="1036155">
                <a:moveTo>
                  <a:pt x="0" y="0"/>
                </a:moveTo>
                <a:lnTo>
                  <a:pt x="1036155" y="0"/>
                </a:lnTo>
                <a:lnTo>
                  <a:pt x="1036155" y="1036156"/>
                </a:lnTo>
                <a:lnTo>
                  <a:pt x="0" y="1036156"/>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PK"/>
          </a:p>
        </p:txBody>
      </p:sp>
      <p:sp>
        <p:nvSpPr>
          <p:cNvPr id="35" name="TextBox 23">
            <a:extLst>
              <a:ext uri="{FF2B5EF4-FFF2-40B4-BE49-F238E27FC236}">
                <a16:creationId xmlns:a16="http://schemas.microsoft.com/office/drawing/2014/main" id="{3F738F86-A3AA-44E7-8111-E6A2B1934E7C}"/>
              </a:ext>
            </a:extLst>
          </p:cNvPr>
          <p:cNvSpPr txBox="1"/>
          <p:nvPr/>
        </p:nvSpPr>
        <p:spPr>
          <a:xfrm>
            <a:off x="3100516" y="7492120"/>
            <a:ext cx="2383693" cy="958404"/>
          </a:xfrm>
          <a:prstGeom prst="rect">
            <a:avLst/>
          </a:prstGeom>
        </p:spPr>
        <p:txBody>
          <a:bodyPr lIns="0" tIns="0" rIns="0" bIns="0" rtlCol="0" anchor="t">
            <a:spAutoFit/>
          </a:bodyPr>
          <a:lstStyle/>
          <a:p>
            <a:pPr algn="just">
              <a:lnSpc>
                <a:spcPts val="3842"/>
              </a:lnSpc>
            </a:pPr>
            <a:r>
              <a:rPr lang="en-US" sz="2744" b="1" dirty="0">
                <a:solidFill>
                  <a:srgbClr val="000000"/>
                </a:solidFill>
                <a:latin typeface="Garet Bold"/>
                <a:ea typeface="Garet Bold"/>
                <a:cs typeface="Garet Bold"/>
                <a:sym typeface="Garet Bold"/>
              </a:rPr>
              <a:t>Servant Leadership</a:t>
            </a:r>
          </a:p>
        </p:txBody>
      </p:sp>
      <p:sp>
        <p:nvSpPr>
          <p:cNvPr id="36" name="Rectangle 2">
            <a:extLst>
              <a:ext uri="{FF2B5EF4-FFF2-40B4-BE49-F238E27FC236}">
                <a16:creationId xmlns:a16="http://schemas.microsoft.com/office/drawing/2014/main" id="{26D0C613-C3B4-48D6-B79A-89686D59CAD8}"/>
              </a:ext>
            </a:extLst>
          </p:cNvPr>
          <p:cNvSpPr>
            <a:spLocks noChangeArrowheads="1"/>
          </p:cNvSpPr>
          <p:nvPr/>
        </p:nvSpPr>
        <p:spPr bwMode="auto">
          <a:xfrm>
            <a:off x="6485189" y="3904837"/>
            <a:ext cx="18900345" cy="16312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2000" b="0" i="0" u="none" strike="noStrike" cap="none" normalizeH="0" baseline="0" dirty="0">
              <a:ln>
                <a:noFill/>
              </a:ln>
              <a:solidFill>
                <a:schemeClr val="tx1"/>
              </a:solidFill>
              <a:effectLst/>
              <a:latin typeface="Garet" panose="020B0604020202020204" charset="0"/>
            </a:endParaRP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aret" panose="020B0604020202020204" charset="0"/>
              </a:rPr>
              <a:t>Promotes organizational learning through </a:t>
            </a:r>
          </a:p>
          <a:p>
            <a:pPr marR="0" lvl="0" algn="just" defTabSz="914400" rtl="0" eaLnBrk="0" fontAlgn="base" latinLnBrk="0" hangingPunct="0">
              <a:lnSpc>
                <a:spcPct val="100000"/>
              </a:lnSpc>
              <a:spcBef>
                <a:spcPct val="0"/>
              </a:spcBef>
              <a:spcAft>
                <a:spcPct val="0"/>
              </a:spcAft>
              <a:buClrTx/>
              <a:buSzTx/>
              <a:tabLst/>
            </a:pPr>
            <a:r>
              <a:rPr lang="en-US" altLang="en-US" sz="2000" dirty="0">
                <a:latin typeface="Garet" panose="020B0604020202020204" charset="0"/>
              </a:rPr>
              <a:t>     </a:t>
            </a:r>
            <a:r>
              <a:rPr kumimoji="0" lang="en-US" altLang="en-US" sz="2000" b="0" i="0" u="none" strike="noStrike" cap="none" normalizeH="0" baseline="0" dirty="0">
                <a:ln>
                  <a:noFill/>
                </a:ln>
                <a:solidFill>
                  <a:schemeClr val="tx1"/>
                </a:solidFill>
                <a:effectLst/>
                <a:latin typeface="Garet" panose="020B0604020202020204" charset="0"/>
              </a:rPr>
              <a:t>problem-solving and intellectual stimulation.</a:t>
            </a:r>
          </a:p>
          <a:p>
            <a:pPr marL="342900" marR="0" lvl="0" indent="-34290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Garet" panose="020B0604020202020204" charset="0"/>
              </a:rPr>
              <a:t>Encourages alignment with organizational </a:t>
            </a:r>
          </a:p>
          <a:p>
            <a:pPr marR="0" lvl="0" algn="just" defTabSz="914400" rtl="0" eaLnBrk="0" fontAlgn="base" latinLnBrk="0" hangingPunct="0">
              <a:lnSpc>
                <a:spcPct val="100000"/>
              </a:lnSpc>
              <a:spcBef>
                <a:spcPct val="0"/>
              </a:spcBef>
              <a:spcAft>
                <a:spcPct val="0"/>
              </a:spcAft>
              <a:buClrTx/>
              <a:buSzTx/>
              <a:tabLst/>
            </a:pPr>
            <a:r>
              <a:rPr lang="en-US" altLang="en-US" sz="2000" dirty="0">
                <a:latin typeface="Garet" panose="020B0604020202020204" charset="0"/>
              </a:rPr>
              <a:t>     </a:t>
            </a:r>
            <a:r>
              <a:rPr kumimoji="0" lang="en-US" altLang="en-US" sz="2000" b="0" i="0" u="none" strike="noStrike" cap="none" normalizeH="0" baseline="0" dirty="0">
                <a:ln>
                  <a:noFill/>
                </a:ln>
                <a:solidFill>
                  <a:schemeClr val="tx1"/>
                </a:solidFill>
                <a:effectLst/>
                <a:latin typeface="Garet" panose="020B0604020202020204" charset="0"/>
              </a:rPr>
              <a:t>goals (Senge, 1990). </a:t>
            </a:r>
          </a:p>
        </p:txBody>
      </p:sp>
      <p:sp>
        <p:nvSpPr>
          <p:cNvPr id="37" name="TextBox 12">
            <a:extLst>
              <a:ext uri="{FF2B5EF4-FFF2-40B4-BE49-F238E27FC236}">
                <a16:creationId xmlns:a16="http://schemas.microsoft.com/office/drawing/2014/main" id="{E8668AFD-C43A-4651-8801-E7FF12530895}"/>
              </a:ext>
            </a:extLst>
          </p:cNvPr>
          <p:cNvSpPr txBox="1"/>
          <p:nvPr/>
        </p:nvSpPr>
        <p:spPr>
          <a:xfrm>
            <a:off x="5355726" y="7420498"/>
            <a:ext cx="6319850" cy="346120"/>
          </a:xfrm>
          <a:prstGeom prst="rect">
            <a:avLst/>
          </a:prstGeom>
        </p:spPr>
        <p:txBody>
          <a:bodyPr lIns="0" tIns="0" rIns="0" bIns="0" rtlCol="0" anchor="t">
            <a:spAutoFit/>
          </a:bodyPr>
          <a:lstStyle/>
          <a:p>
            <a:pPr marL="342900" indent="-342900">
              <a:lnSpc>
                <a:spcPts val="2794"/>
              </a:lnSpc>
              <a:buFont typeface="Arial" panose="020B0604020202020204" pitchFamily="34" charset="0"/>
              <a:buChar char="•"/>
            </a:pPr>
            <a:endParaRPr lang="en-US" sz="1996" dirty="0">
              <a:solidFill>
                <a:srgbClr val="000000"/>
              </a:solidFill>
              <a:latin typeface="Garet"/>
              <a:ea typeface="Garet"/>
              <a:cs typeface="Garet"/>
              <a:sym typeface="Garet"/>
            </a:endParaRPr>
          </a:p>
        </p:txBody>
      </p:sp>
      <p:grpSp>
        <p:nvGrpSpPr>
          <p:cNvPr id="2" name="Group 2"/>
          <p:cNvGrpSpPr/>
          <p:nvPr/>
        </p:nvGrpSpPr>
        <p:grpSpPr>
          <a:xfrm rot="2700000">
            <a:off x="13562275" y="2961397"/>
            <a:ext cx="6899924" cy="12460548"/>
            <a:chOff x="0" y="0"/>
            <a:chExt cx="1817264" cy="3281790"/>
          </a:xfrm>
        </p:grpSpPr>
        <p:sp>
          <p:nvSpPr>
            <p:cNvPr id="3" name="Freeform 3"/>
            <p:cNvSpPr/>
            <p:nvPr/>
          </p:nvSpPr>
          <p:spPr>
            <a:xfrm>
              <a:off x="0" y="0"/>
              <a:ext cx="1817264" cy="3281790"/>
            </a:xfrm>
            <a:custGeom>
              <a:avLst/>
              <a:gdLst/>
              <a:ahLst/>
              <a:cxnLst/>
              <a:rect l="l" t="t" r="r" b="b"/>
              <a:pathLst>
                <a:path w="1817264" h="3281790">
                  <a:moveTo>
                    <a:pt x="0" y="0"/>
                  </a:moveTo>
                  <a:lnTo>
                    <a:pt x="1817264" y="0"/>
                  </a:lnTo>
                  <a:lnTo>
                    <a:pt x="1817264" y="3281790"/>
                  </a:lnTo>
                  <a:lnTo>
                    <a:pt x="0" y="3281790"/>
                  </a:lnTo>
                  <a:close/>
                </a:path>
              </a:pathLst>
            </a:custGeom>
            <a:solidFill>
              <a:srgbClr val="1468A2"/>
            </a:solidFill>
          </p:spPr>
          <p:txBody>
            <a:bodyPr/>
            <a:lstStyle/>
            <a:p>
              <a:endParaRPr lang="en-PK"/>
            </a:p>
          </p:txBody>
        </p:sp>
        <p:sp>
          <p:nvSpPr>
            <p:cNvPr id="4" name="TextBox 4"/>
            <p:cNvSpPr txBox="1"/>
            <p:nvPr/>
          </p:nvSpPr>
          <p:spPr>
            <a:xfrm>
              <a:off x="0" y="-38100"/>
              <a:ext cx="1817264" cy="3319890"/>
            </a:xfrm>
            <a:prstGeom prst="rect">
              <a:avLst/>
            </a:prstGeom>
          </p:spPr>
          <p:txBody>
            <a:bodyPr lIns="50800" tIns="50800" rIns="50800" bIns="50800" rtlCol="0" anchor="ctr"/>
            <a:lstStyle/>
            <a:p>
              <a:pPr algn="ctr">
                <a:lnSpc>
                  <a:spcPts val="2659"/>
                </a:lnSpc>
                <a:spcBef>
                  <a:spcPct val="0"/>
                </a:spcBef>
              </a:pPr>
              <a:endParaRPr/>
            </a:p>
          </p:txBody>
        </p:sp>
      </p:grpSp>
    </p:spTree>
    <p:extLst>
      <p:ext uri="{BB962C8B-B14F-4D97-AF65-F5344CB8AC3E}">
        <p14:creationId xmlns:p14="http://schemas.microsoft.com/office/powerpoint/2010/main" val="100376135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Freeform 12"/>
          <p:cNvSpPr/>
          <p:nvPr/>
        </p:nvSpPr>
        <p:spPr>
          <a:xfrm>
            <a:off x="-848884" y="1004458"/>
            <a:ext cx="7173483" cy="959152"/>
          </a:xfrm>
          <a:custGeom>
            <a:avLst/>
            <a:gdLst/>
            <a:ahLst/>
            <a:cxnLst/>
            <a:rect l="l" t="t" r="r" b="b"/>
            <a:pathLst>
              <a:path w="1763167" h="214516">
                <a:moveTo>
                  <a:pt x="203200" y="0"/>
                </a:moveTo>
                <a:lnTo>
                  <a:pt x="1763167" y="0"/>
                </a:lnTo>
                <a:lnTo>
                  <a:pt x="1559967" y="214516"/>
                </a:lnTo>
                <a:lnTo>
                  <a:pt x="0" y="214516"/>
                </a:lnTo>
                <a:lnTo>
                  <a:pt x="203200" y="0"/>
                </a:lnTo>
                <a:close/>
              </a:path>
            </a:pathLst>
          </a:custGeom>
          <a:solidFill>
            <a:srgbClr val="1468A2">
              <a:alpha val="7843"/>
            </a:srgbClr>
          </a:solidFill>
        </p:spPr>
        <p:txBody>
          <a:bodyPr/>
          <a:lstStyle/>
          <a:p>
            <a:endParaRPr lang="en-US" dirty="0"/>
          </a:p>
        </p:txBody>
      </p:sp>
      <p:grpSp>
        <p:nvGrpSpPr>
          <p:cNvPr id="2" name="Group 2"/>
          <p:cNvGrpSpPr/>
          <p:nvPr/>
        </p:nvGrpSpPr>
        <p:grpSpPr>
          <a:xfrm rot="2700000">
            <a:off x="12234107" y="2478707"/>
            <a:ext cx="6899924" cy="12460548"/>
            <a:chOff x="0" y="0"/>
            <a:chExt cx="1817264" cy="3281790"/>
          </a:xfrm>
        </p:grpSpPr>
        <p:sp>
          <p:nvSpPr>
            <p:cNvPr id="3" name="Freeform 3"/>
            <p:cNvSpPr/>
            <p:nvPr/>
          </p:nvSpPr>
          <p:spPr>
            <a:xfrm>
              <a:off x="0" y="0"/>
              <a:ext cx="1817264" cy="3281790"/>
            </a:xfrm>
            <a:custGeom>
              <a:avLst/>
              <a:gdLst/>
              <a:ahLst/>
              <a:cxnLst/>
              <a:rect l="l" t="t" r="r" b="b"/>
              <a:pathLst>
                <a:path w="1817264" h="3281790">
                  <a:moveTo>
                    <a:pt x="0" y="0"/>
                  </a:moveTo>
                  <a:lnTo>
                    <a:pt x="1817264" y="0"/>
                  </a:lnTo>
                  <a:lnTo>
                    <a:pt x="1817264" y="3281790"/>
                  </a:lnTo>
                  <a:lnTo>
                    <a:pt x="0" y="3281790"/>
                  </a:lnTo>
                  <a:close/>
                </a:path>
              </a:pathLst>
            </a:custGeom>
            <a:solidFill>
              <a:srgbClr val="1468A2"/>
            </a:solidFill>
          </p:spPr>
          <p:txBody>
            <a:bodyPr/>
            <a:lstStyle/>
            <a:p>
              <a:endParaRPr lang="en-PK"/>
            </a:p>
          </p:txBody>
        </p:sp>
        <p:sp>
          <p:nvSpPr>
            <p:cNvPr id="4" name="TextBox 4"/>
            <p:cNvSpPr txBox="1"/>
            <p:nvPr/>
          </p:nvSpPr>
          <p:spPr>
            <a:xfrm>
              <a:off x="0" y="-38100"/>
              <a:ext cx="1817264" cy="3319890"/>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10737289" y="-1988820"/>
            <a:ext cx="11247120" cy="11247120"/>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3"/>
              <a:stretch>
                <a:fillRect l="-48559" r="-1253"/>
              </a:stretch>
            </a:blipFill>
          </p:spPr>
          <p:txBody>
            <a:bodyPr/>
            <a:lstStyle/>
            <a:p>
              <a:endParaRPr lang="en-PK"/>
            </a:p>
          </p:txBody>
        </p:sp>
      </p:grpSp>
      <p:sp>
        <p:nvSpPr>
          <p:cNvPr id="7" name="Freeform 7"/>
          <p:cNvSpPr/>
          <p:nvPr/>
        </p:nvSpPr>
        <p:spPr>
          <a:xfrm flipH="1">
            <a:off x="7978798" y="6664398"/>
            <a:ext cx="4282420" cy="4251612"/>
          </a:xfrm>
          <a:custGeom>
            <a:avLst/>
            <a:gdLst/>
            <a:ahLst/>
            <a:cxnLst/>
            <a:rect l="l" t="t" r="r" b="b"/>
            <a:pathLst>
              <a:path w="4282420" h="4251612">
                <a:moveTo>
                  <a:pt x="4282420" y="0"/>
                </a:moveTo>
                <a:lnTo>
                  <a:pt x="0" y="0"/>
                </a:lnTo>
                <a:lnTo>
                  <a:pt x="0" y="4251612"/>
                </a:lnTo>
                <a:lnTo>
                  <a:pt x="4282420" y="4251612"/>
                </a:lnTo>
                <a:lnTo>
                  <a:pt x="4282420" y="0"/>
                </a:lnTo>
                <a:close/>
              </a:path>
            </a:pathLst>
          </a:custGeom>
          <a:blipFill>
            <a:blip r:embed="rId4"/>
            <a:stretch>
              <a:fillRect t="-35629" b="-57934"/>
            </a:stretch>
          </a:blipFill>
        </p:spPr>
        <p:txBody>
          <a:bodyPr/>
          <a:lstStyle/>
          <a:p>
            <a:endParaRPr lang="en-PK"/>
          </a:p>
        </p:txBody>
      </p:sp>
      <p:sp>
        <p:nvSpPr>
          <p:cNvPr id="8" name="AutoShape 8"/>
          <p:cNvSpPr/>
          <p:nvPr/>
        </p:nvSpPr>
        <p:spPr>
          <a:xfrm flipV="1">
            <a:off x="7657041" y="6826631"/>
            <a:ext cx="4525147" cy="4525147"/>
          </a:xfrm>
          <a:prstGeom prst="line">
            <a:avLst/>
          </a:prstGeom>
          <a:ln w="38100" cap="flat">
            <a:solidFill>
              <a:srgbClr val="1468A2"/>
            </a:solidFill>
            <a:prstDash val="solid"/>
            <a:headEnd type="none" w="sm" len="sm"/>
            <a:tailEnd type="none" w="sm" len="sm"/>
          </a:ln>
        </p:spPr>
        <p:txBody>
          <a:bodyPr/>
          <a:lstStyle/>
          <a:p>
            <a:endParaRPr lang="en-PK"/>
          </a:p>
        </p:txBody>
      </p:sp>
      <p:sp>
        <p:nvSpPr>
          <p:cNvPr id="9" name="AutoShape 9"/>
          <p:cNvSpPr/>
          <p:nvPr/>
        </p:nvSpPr>
        <p:spPr>
          <a:xfrm flipV="1">
            <a:off x="11105977" y="-1975350"/>
            <a:ext cx="4525147" cy="4525147"/>
          </a:xfrm>
          <a:prstGeom prst="line">
            <a:avLst/>
          </a:prstGeom>
          <a:ln w="38100" cap="flat">
            <a:solidFill>
              <a:srgbClr val="1468A2"/>
            </a:solidFill>
            <a:prstDash val="solid"/>
            <a:headEnd type="none" w="sm" len="sm"/>
            <a:tailEnd type="none" w="sm" len="sm"/>
          </a:ln>
        </p:spPr>
        <p:txBody>
          <a:bodyPr/>
          <a:lstStyle/>
          <a:p>
            <a:endParaRPr lang="en-PK"/>
          </a:p>
        </p:txBody>
      </p:sp>
      <p:sp>
        <p:nvSpPr>
          <p:cNvPr id="10" name="TextBox 10"/>
          <p:cNvSpPr txBox="1"/>
          <p:nvPr/>
        </p:nvSpPr>
        <p:spPr>
          <a:xfrm>
            <a:off x="1028700" y="1276846"/>
            <a:ext cx="4633186" cy="565732"/>
          </a:xfrm>
          <a:prstGeom prst="rect">
            <a:avLst/>
          </a:prstGeom>
        </p:spPr>
        <p:txBody>
          <a:bodyPr lIns="0" tIns="0" rIns="0" bIns="0" rtlCol="0" anchor="t">
            <a:spAutoFit/>
          </a:bodyPr>
          <a:lstStyle/>
          <a:p>
            <a:pPr algn="l">
              <a:lnSpc>
                <a:spcPts val="4446"/>
              </a:lnSpc>
            </a:pPr>
            <a:r>
              <a:rPr lang="en-US" sz="3705" b="1" dirty="0">
                <a:solidFill>
                  <a:srgbClr val="000000"/>
                </a:solidFill>
                <a:latin typeface="Garet Bold"/>
                <a:ea typeface="Garet Bold"/>
                <a:cs typeface="Garet Bold"/>
                <a:sym typeface="Garet Bold"/>
              </a:rPr>
              <a:t>Literature Review</a:t>
            </a:r>
          </a:p>
        </p:txBody>
      </p:sp>
      <p:sp>
        <p:nvSpPr>
          <p:cNvPr id="13" name="TextBox 13"/>
          <p:cNvSpPr txBox="1"/>
          <p:nvPr/>
        </p:nvSpPr>
        <p:spPr>
          <a:xfrm>
            <a:off x="-463121" y="1004457"/>
            <a:ext cx="5922999" cy="959152"/>
          </a:xfrm>
          <a:prstGeom prst="rect">
            <a:avLst/>
          </a:prstGeom>
        </p:spPr>
        <p:txBody>
          <a:bodyPr lIns="50800" tIns="50800" rIns="50800" bIns="50800" rtlCol="0" anchor="ctr"/>
          <a:lstStyle/>
          <a:p>
            <a:pPr algn="ctr">
              <a:lnSpc>
                <a:spcPts val="2659"/>
              </a:lnSpc>
            </a:pPr>
            <a:endParaRPr/>
          </a:p>
        </p:txBody>
      </p:sp>
      <p:grpSp>
        <p:nvGrpSpPr>
          <p:cNvPr id="16" name="Group 16"/>
          <p:cNvGrpSpPr/>
          <p:nvPr/>
        </p:nvGrpSpPr>
        <p:grpSpPr>
          <a:xfrm>
            <a:off x="8651496" y="1127858"/>
            <a:ext cx="1281097" cy="422907"/>
            <a:chOff x="0" y="0"/>
            <a:chExt cx="1708130" cy="563877"/>
          </a:xfrm>
        </p:grpSpPr>
        <p:sp>
          <p:nvSpPr>
            <p:cNvPr id="17" name="Freeform 17"/>
            <p:cNvSpPr/>
            <p:nvPr/>
          </p:nvSpPr>
          <p:spPr>
            <a:xfrm>
              <a:off x="0" y="0"/>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5">
                <a:extLst>
                  <a:ext uri="{96DAC541-7B7A-43D3-8B79-37D633B846F1}">
                    <asvg:svgBlip xmlns:asvg="http://schemas.microsoft.com/office/drawing/2016/SVG/main" r:embed="rId6"/>
                  </a:ext>
                </a:extLst>
              </a:blip>
              <a:stretch>
                <a:fillRect t="-357762"/>
              </a:stretch>
            </a:blipFill>
          </p:spPr>
          <p:txBody>
            <a:bodyPr/>
            <a:lstStyle/>
            <a:p>
              <a:endParaRPr lang="en-PK"/>
            </a:p>
          </p:txBody>
        </p:sp>
        <p:sp>
          <p:nvSpPr>
            <p:cNvPr id="18" name="Freeform 18"/>
            <p:cNvSpPr/>
            <p:nvPr/>
          </p:nvSpPr>
          <p:spPr>
            <a:xfrm>
              <a:off x="0" y="347451"/>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5">
                <a:extLst>
                  <a:ext uri="{96DAC541-7B7A-43D3-8B79-37D633B846F1}">
                    <asvg:svgBlip xmlns:asvg="http://schemas.microsoft.com/office/drawing/2016/SVG/main" r:embed="rId6"/>
                  </a:ext>
                </a:extLst>
              </a:blip>
              <a:stretch>
                <a:fillRect t="-357762"/>
              </a:stretch>
            </a:blipFill>
          </p:spPr>
          <p:txBody>
            <a:bodyPr/>
            <a:lstStyle/>
            <a:p>
              <a:endParaRPr lang="en-PK"/>
            </a:p>
          </p:txBody>
        </p:sp>
      </p:grpSp>
      <p:sp>
        <p:nvSpPr>
          <p:cNvPr id="19" name="TextBox 19"/>
          <p:cNvSpPr txBox="1"/>
          <p:nvPr/>
        </p:nvSpPr>
        <p:spPr>
          <a:xfrm>
            <a:off x="1028700" y="1954084"/>
            <a:ext cx="5415087" cy="838691"/>
          </a:xfrm>
          <a:prstGeom prst="rect">
            <a:avLst/>
          </a:prstGeom>
        </p:spPr>
        <p:txBody>
          <a:bodyPr lIns="0" tIns="0" rIns="0" bIns="0" rtlCol="0" anchor="t">
            <a:spAutoFit/>
          </a:bodyPr>
          <a:lstStyle/>
          <a:p>
            <a:pPr algn="l">
              <a:lnSpc>
                <a:spcPts val="6822"/>
              </a:lnSpc>
            </a:pPr>
            <a:r>
              <a:rPr lang="en-US" sz="4400" b="1" dirty="0">
                <a:solidFill>
                  <a:srgbClr val="000000"/>
                </a:solidFill>
                <a:latin typeface="Garet Bold"/>
                <a:ea typeface="Garet Bold"/>
                <a:cs typeface="Garet Bold"/>
                <a:sym typeface="Garet Bold"/>
              </a:rPr>
              <a:t>Research Gap</a:t>
            </a:r>
          </a:p>
        </p:txBody>
      </p:sp>
      <p:sp>
        <p:nvSpPr>
          <p:cNvPr id="23" name="Freeform 8">
            <a:extLst>
              <a:ext uri="{FF2B5EF4-FFF2-40B4-BE49-F238E27FC236}">
                <a16:creationId xmlns:a16="http://schemas.microsoft.com/office/drawing/2014/main" id="{5A9FFF82-DB7F-4773-894B-EFCA5E9796FA}"/>
              </a:ext>
            </a:extLst>
          </p:cNvPr>
          <p:cNvSpPr/>
          <p:nvPr/>
        </p:nvSpPr>
        <p:spPr>
          <a:xfrm>
            <a:off x="748947" y="4145981"/>
            <a:ext cx="1175007" cy="1236850"/>
          </a:xfrm>
          <a:custGeom>
            <a:avLst/>
            <a:gdLst/>
            <a:ahLst/>
            <a:cxnLst/>
            <a:rect l="l" t="t" r="r" b="b"/>
            <a:pathLst>
              <a:path w="1175007" h="1236850">
                <a:moveTo>
                  <a:pt x="0" y="0"/>
                </a:moveTo>
                <a:lnTo>
                  <a:pt x="1175007" y="0"/>
                </a:lnTo>
                <a:lnTo>
                  <a:pt x="1175007" y="1236850"/>
                </a:lnTo>
                <a:lnTo>
                  <a:pt x="0" y="12368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PK"/>
          </a:p>
        </p:txBody>
      </p:sp>
      <p:grpSp>
        <p:nvGrpSpPr>
          <p:cNvPr id="24" name="Group 13">
            <a:extLst>
              <a:ext uri="{FF2B5EF4-FFF2-40B4-BE49-F238E27FC236}">
                <a16:creationId xmlns:a16="http://schemas.microsoft.com/office/drawing/2014/main" id="{775073D4-4F9D-40ED-A8EE-D2954A639562}"/>
              </a:ext>
            </a:extLst>
          </p:cNvPr>
          <p:cNvGrpSpPr/>
          <p:nvPr/>
        </p:nvGrpSpPr>
        <p:grpSpPr>
          <a:xfrm>
            <a:off x="2170337" y="3744521"/>
            <a:ext cx="5387674" cy="471004"/>
            <a:chOff x="0" y="0"/>
            <a:chExt cx="1824570" cy="159509"/>
          </a:xfrm>
        </p:grpSpPr>
        <p:sp>
          <p:nvSpPr>
            <p:cNvPr id="25" name="Freeform 14">
              <a:extLst>
                <a:ext uri="{FF2B5EF4-FFF2-40B4-BE49-F238E27FC236}">
                  <a16:creationId xmlns:a16="http://schemas.microsoft.com/office/drawing/2014/main" id="{23FB3B88-5D11-42FE-B662-5D9DE373CE2B}"/>
                </a:ext>
              </a:extLst>
            </p:cNvPr>
            <p:cNvSpPr/>
            <p:nvPr/>
          </p:nvSpPr>
          <p:spPr>
            <a:xfrm>
              <a:off x="0" y="0"/>
              <a:ext cx="1824570" cy="159509"/>
            </a:xfrm>
            <a:custGeom>
              <a:avLst/>
              <a:gdLst/>
              <a:ahLst/>
              <a:cxnLst/>
              <a:rect l="l" t="t" r="r" b="b"/>
              <a:pathLst>
                <a:path w="1824570" h="159509">
                  <a:moveTo>
                    <a:pt x="79754" y="0"/>
                  </a:moveTo>
                  <a:lnTo>
                    <a:pt x="1744816" y="0"/>
                  </a:lnTo>
                  <a:cubicBezTo>
                    <a:pt x="1765968" y="0"/>
                    <a:pt x="1786254" y="8403"/>
                    <a:pt x="1801211" y="23359"/>
                  </a:cubicBezTo>
                  <a:cubicBezTo>
                    <a:pt x="1816168" y="38316"/>
                    <a:pt x="1824570" y="58602"/>
                    <a:pt x="1824570" y="79754"/>
                  </a:cubicBezTo>
                  <a:lnTo>
                    <a:pt x="1824570" y="79754"/>
                  </a:lnTo>
                  <a:cubicBezTo>
                    <a:pt x="1824570" y="100906"/>
                    <a:pt x="1816168" y="121192"/>
                    <a:pt x="1801211" y="136149"/>
                  </a:cubicBezTo>
                  <a:cubicBezTo>
                    <a:pt x="1786254" y="151106"/>
                    <a:pt x="1765968" y="159509"/>
                    <a:pt x="1744816"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26" name="TextBox 15">
              <a:extLst>
                <a:ext uri="{FF2B5EF4-FFF2-40B4-BE49-F238E27FC236}">
                  <a16:creationId xmlns:a16="http://schemas.microsoft.com/office/drawing/2014/main" id="{8330EF9B-0EB7-4999-A9EE-5865451D4AD0}"/>
                </a:ext>
              </a:extLst>
            </p:cNvPr>
            <p:cNvSpPr txBox="1"/>
            <p:nvPr/>
          </p:nvSpPr>
          <p:spPr>
            <a:xfrm>
              <a:off x="0" y="-38100"/>
              <a:ext cx="1824570" cy="197609"/>
            </a:xfrm>
            <a:prstGeom prst="rect">
              <a:avLst/>
            </a:prstGeom>
          </p:spPr>
          <p:txBody>
            <a:bodyPr lIns="50800" tIns="50800" rIns="50800" bIns="50800" rtlCol="0" anchor="ctr"/>
            <a:lstStyle/>
            <a:p>
              <a:pPr algn="ctr">
                <a:lnSpc>
                  <a:spcPts val="2659"/>
                </a:lnSpc>
              </a:pPr>
              <a:endParaRPr/>
            </a:p>
          </p:txBody>
        </p:sp>
      </p:grpSp>
      <p:sp>
        <p:nvSpPr>
          <p:cNvPr id="27" name="TextBox 19">
            <a:extLst>
              <a:ext uri="{FF2B5EF4-FFF2-40B4-BE49-F238E27FC236}">
                <a16:creationId xmlns:a16="http://schemas.microsoft.com/office/drawing/2014/main" id="{DC0ACEDF-C29E-4E8F-8628-815520092714}"/>
              </a:ext>
            </a:extLst>
          </p:cNvPr>
          <p:cNvSpPr txBox="1"/>
          <p:nvPr/>
        </p:nvSpPr>
        <p:spPr>
          <a:xfrm>
            <a:off x="2170337" y="4325305"/>
            <a:ext cx="4888088" cy="1627369"/>
          </a:xfrm>
          <a:prstGeom prst="rect">
            <a:avLst/>
          </a:prstGeom>
        </p:spPr>
        <p:txBody>
          <a:bodyPr lIns="0" tIns="0" rIns="0" bIns="0" rtlCol="0" anchor="t">
            <a:spAutoFit/>
          </a:bodyPr>
          <a:lstStyle/>
          <a:p>
            <a:pPr marL="285750" indent="-285750">
              <a:lnSpc>
                <a:spcPct val="150000"/>
              </a:lnSpc>
              <a:buFont typeface="Arial" panose="020B0604020202020204" pitchFamily="34" charset="0"/>
              <a:buChar char="•"/>
            </a:pPr>
            <a:r>
              <a:rPr lang="en-US" dirty="0">
                <a:solidFill>
                  <a:srgbClr val="000000"/>
                </a:solidFill>
                <a:latin typeface="Garet"/>
                <a:ea typeface="Garet"/>
                <a:cs typeface="Garet"/>
                <a:sym typeface="Garet"/>
              </a:rPr>
              <a:t>Limited empirical evidence comparing transformational and servant leadership styles in for-profit organizations.</a:t>
            </a:r>
          </a:p>
        </p:txBody>
      </p:sp>
      <p:sp>
        <p:nvSpPr>
          <p:cNvPr id="28" name="TextBox 21">
            <a:extLst>
              <a:ext uri="{FF2B5EF4-FFF2-40B4-BE49-F238E27FC236}">
                <a16:creationId xmlns:a16="http://schemas.microsoft.com/office/drawing/2014/main" id="{92BB928B-15C9-4C94-9D67-77636C440325}"/>
              </a:ext>
            </a:extLst>
          </p:cNvPr>
          <p:cNvSpPr txBox="1"/>
          <p:nvPr/>
        </p:nvSpPr>
        <p:spPr>
          <a:xfrm>
            <a:off x="2350946" y="3827856"/>
            <a:ext cx="4338369" cy="270972"/>
          </a:xfrm>
          <a:prstGeom prst="rect">
            <a:avLst/>
          </a:prstGeom>
        </p:spPr>
        <p:txBody>
          <a:bodyPr lIns="0" tIns="0" rIns="0" bIns="0" rtlCol="0" anchor="t">
            <a:spAutoFit/>
          </a:bodyPr>
          <a:lstStyle/>
          <a:p>
            <a:pPr algn="l">
              <a:lnSpc>
                <a:spcPts val="2158"/>
              </a:lnSpc>
            </a:pPr>
            <a:r>
              <a:rPr lang="en-US" sz="1542" b="1" dirty="0">
                <a:solidFill>
                  <a:srgbClr val="000000"/>
                </a:solidFill>
                <a:latin typeface="Garet Bold"/>
                <a:ea typeface="Garet Bold"/>
                <a:cs typeface="Garet Bold"/>
                <a:sym typeface="Garet Bold"/>
              </a:rPr>
              <a:t>Limited empirical evidence</a:t>
            </a:r>
          </a:p>
        </p:txBody>
      </p:sp>
      <p:sp>
        <p:nvSpPr>
          <p:cNvPr id="29" name="Freeform 8">
            <a:extLst>
              <a:ext uri="{FF2B5EF4-FFF2-40B4-BE49-F238E27FC236}">
                <a16:creationId xmlns:a16="http://schemas.microsoft.com/office/drawing/2014/main" id="{BF7C493D-724E-4AD0-B1B8-E33C4E4C4BA9}"/>
              </a:ext>
            </a:extLst>
          </p:cNvPr>
          <p:cNvSpPr/>
          <p:nvPr/>
        </p:nvSpPr>
        <p:spPr>
          <a:xfrm>
            <a:off x="748947" y="6682659"/>
            <a:ext cx="1175007" cy="1236850"/>
          </a:xfrm>
          <a:custGeom>
            <a:avLst/>
            <a:gdLst/>
            <a:ahLst/>
            <a:cxnLst/>
            <a:rect l="l" t="t" r="r" b="b"/>
            <a:pathLst>
              <a:path w="1175007" h="1236850">
                <a:moveTo>
                  <a:pt x="0" y="0"/>
                </a:moveTo>
                <a:lnTo>
                  <a:pt x="1175007" y="0"/>
                </a:lnTo>
                <a:lnTo>
                  <a:pt x="1175007" y="1236850"/>
                </a:lnTo>
                <a:lnTo>
                  <a:pt x="0" y="1236850"/>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PK"/>
          </a:p>
        </p:txBody>
      </p:sp>
      <p:grpSp>
        <p:nvGrpSpPr>
          <p:cNvPr id="30" name="Group 13">
            <a:extLst>
              <a:ext uri="{FF2B5EF4-FFF2-40B4-BE49-F238E27FC236}">
                <a16:creationId xmlns:a16="http://schemas.microsoft.com/office/drawing/2014/main" id="{92171A0C-CB8D-4393-96A9-C6566A347215}"/>
              </a:ext>
            </a:extLst>
          </p:cNvPr>
          <p:cNvGrpSpPr/>
          <p:nvPr/>
        </p:nvGrpSpPr>
        <p:grpSpPr>
          <a:xfrm>
            <a:off x="2170337" y="6281199"/>
            <a:ext cx="5387674" cy="471004"/>
            <a:chOff x="0" y="0"/>
            <a:chExt cx="1824570" cy="159509"/>
          </a:xfrm>
        </p:grpSpPr>
        <p:sp>
          <p:nvSpPr>
            <p:cNvPr id="31" name="Freeform 14">
              <a:extLst>
                <a:ext uri="{FF2B5EF4-FFF2-40B4-BE49-F238E27FC236}">
                  <a16:creationId xmlns:a16="http://schemas.microsoft.com/office/drawing/2014/main" id="{342CEA23-7D0A-4797-A417-65FECF32F1D4}"/>
                </a:ext>
              </a:extLst>
            </p:cNvPr>
            <p:cNvSpPr/>
            <p:nvPr/>
          </p:nvSpPr>
          <p:spPr>
            <a:xfrm>
              <a:off x="0" y="0"/>
              <a:ext cx="1824570" cy="159509"/>
            </a:xfrm>
            <a:custGeom>
              <a:avLst/>
              <a:gdLst/>
              <a:ahLst/>
              <a:cxnLst/>
              <a:rect l="l" t="t" r="r" b="b"/>
              <a:pathLst>
                <a:path w="1824570" h="159509">
                  <a:moveTo>
                    <a:pt x="79754" y="0"/>
                  </a:moveTo>
                  <a:lnTo>
                    <a:pt x="1744816" y="0"/>
                  </a:lnTo>
                  <a:cubicBezTo>
                    <a:pt x="1765968" y="0"/>
                    <a:pt x="1786254" y="8403"/>
                    <a:pt x="1801211" y="23359"/>
                  </a:cubicBezTo>
                  <a:cubicBezTo>
                    <a:pt x="1816168" y="38316"/>
                    <a:pt x="1824570" y="58602"/>
                    <a:pt x="1824570" y="79754"/>
                  </a:cubicBezTo>
                  <a:lnTo>
                    <a:pt x="1824570" y="79754"/>
                  </a:lnTo>
                  <a:cubicBezTo>
                    <a:pt x="1824570" y="100906"/>
                    <a:pt x="1816168" y="121192"/>
                    <a:pt x="1801211" y="136149"/>
                  </a:cubicBezTo>
                  <a:cubicBezTo>
                    <a:pt x="1786254" y="151106"/>
                    <a:pt x="1765968" y="159509"/>
                    <a:pt x="1744816"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32" name="TextBox 15">
              <a:extLst>
                <a:ext uri="{FF2B5EF4-FFF2-40B4-BE49-F238E27FC236}">
                  <a16:creationId xmlns:a16="http://schemas.microsoft.com/office/drawing/2014/main" id="{5CDD0612-B23C-4AAB-8FBE-A7E6AAE3B2C9}"/>
                </a:ext>
              </a:extLst>
            </p:cNvPr>
            <p:cNvSpPr txBox="1"/>
            <p:nvPr/>
          </p:nvSpPr>
          <p:spPr>
            <a:xfrm>
              <a:off x="0" y="-38100"/>
              <a:ext cx="1824570" cy="197609"/>
            </a:xfrm>
            <a:prstGeom prst="rect">
              <a:avLst/>
            </a:prstGeom>
          </p:spPr>
          <p:txBody>
            <a:bodyPr lIns="50800" tIns="50800" rIns="50800" bIns="50800" rtlCol="0" anchor="ctr"/>
            <a:lstStyle/>
            <a:p>
              <a:pPr algn="ctr">
                <a:lnSpc>
                  <a:spcPts val="2659"/>
                </a:lnSpc>
              </a:pPr>
              <a:endParaRPr/>
            </a:p>
          </p:txBody>
        </p:sp>
      </p:grpSp>
      <p:sp>
        <p:nvSpPr>
          <p:cNvPr id="33" name="TextBox 19">
            <a:extLst>
              <a:ext uri="{FF2B5EF4-FFF2-40B4-BE49-F238E27FC236}">
                <a16:creationId xmlns:a16="http://schemas.microsoft.com/office/drawing/2014/main" id="{818CA8C0-7B13-4AE5-B80E-452DEDDE5DC3}"/>
              </a:ext>
            </a:extLst>
          </p:cNvPr>
          <p:cNvSpPr txBox="1"/>
          <p:nvPr/>
        </p:nvSpPr>
        <p:spPr>
          <a:xfrm>
            <a:off x="2170337" y="6861983"/>
            <a:ext cx="4888088" cy="1627369"/>
          </a:xfrm>
          <a:prstGeom prst="rect">
            <a:avLst/>
          </a:prstGeom>
        </p:spPr>
        <p:txBody>
          <a:bodyPr lIns="0" tIns="0" rIns="0" bIns="0" rtlCol="0" anchor="t">
            <a:spAutoFit/>
          </a:bodyPr>
          <a:lstStyle/>
          <a:p>
            <a:pPr marL="285750" indent="-285750">
              <a:lnSpc>
                <a:spcPct val="150000"/>
              </a:lnSpc>
              <a:buFont typeface="Arial" panose="020B0604020202020204" pitchFamily="34" charset="0"/>
              <a:buChar char="•"/>
            </a:pPr>
            <a:r>
              <a:rPr lang="en-US" dirty="0">
                <a:solidFill>
                  <a:srgbClr val="000000"/>
                </a:solidFill>
                <a:latin typeface="Garet"/>
                <a:ea typeface="Garet"/>
                <a:cs typeface="Garet"/>
                <a:sym typeface="Garet"/>
              </a:rPr>
              <a:t>The mediating role of organizational learning.</a:t>
            </a:r>
          </a:p>
          <a:p>
            <a:pPr marL="285750" indent="-285750">
              <a:lnSpc>
                <a:spcPct val="150000"/>
              </a:lnSpc>
              <a:buFont typeface="Arial" panose="020B0604020202020204" pitchFamily="34" charset="0"/>
              <a:buChar char="•"/>
            </a:pPr>
            <a:r>
              <a:rPr lang="en-US" dirty="0">
                <a:solidFill>
                  <a:srgbClr val="000000"/>
                </a:solidFill>
                <a:latin typeface="Garet"/>
                <a:ea typeface="Garet"/>
                <a:cs typeface="Garet"/>
                <a:sym typeface="Garet"/>
              </a:rPr>
              <a:t>Differences in leadership effectiveness concerning profitability.</a:t>
            </a:r>
          </a:p>
        </p:txBody>
      </p:sp>
      <p:sp>
        <p:nvSpPr>
          <p:cNvPr id="34" name="TextBox 21">
            <a:extLst>
              <a:ext uri="{FF2B5EF4-FFF2-40B4-BE49-F238E27FC236}">
                <a16:creationId xmlns:a16="http://schemas.microsoft.com/office/drawing/2014/main" id="{33F37B36-8D45-4B38-87BC-86EF08E6AECF}"/>
              </a:ext>
            </a:extLst>
          </p:cNvPr>
          <p:cNvSpPr txBox="1"/>
          <p:nvPr/>
        </p:nvSpPr>
        <p:spPr>
          <a:xfrm>
            <a:off x="2350946" y="6364534"/>
            <a:ext cx="4338369" cy="270972"/>
          </a:xfrm>
          <a:prstGeom prst="rect">
            <a:avLst/>
          </a:prstGeom>
        </p:spPr>
        <p:txBody>
          <a:bodyPr wrap="square" lIns="0" tIns="0" rIns="0" bIns="0" rtlCol="0" anchor="t">
            <a:spAutoFit/>
          </a:bodyPr>
          <a:lstStyle/>
          <a:p>
            <a:pPr algn="l">
              <a:lnSpc>
                <a:spcPts val="2158"/>
              </a:lnSpc>
            </a:pPr>
            <a:r>
              <a:rPr lang="en-US" sz="1542" b="1" dirty="0">
                <a:solidFill>
                  <a:srgbClr val="000000"/>
                </a:solidFill>
                <a:latin typeface="Garet Bold"/>
                <a:ea typeface="Garet Bold"/>
                <a:cs typeface="Garet Bold"/>
                <a:sym typeface="Garet Bold"/>
              </a:rPr>
              <a:t>The Paper addresses</a:t>
            </a:r>
          </a:p>
        </p:txBody>
      </p:sp>
    </p:spTree>
    <p:extLst>
      <p:ext uri="{BB962C8B-B14F-4D97-AF65-F5344CB8AC3E}">
        <p14:creationId xmlns:p14="http://schemas.microsoft.com/office/powerpoint/2010/main" val="256823818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48883" y="1149118"/>
            <a:ext cx="10535259" cy="814491"/>
            <a:chOff x="0" y="0"/>
            <a:chExt cx="2774718" cy="214516"/>
          </a:xfrm>
        </p:grpSpPr>
        <p:sp>
          <p:nvSpPr>
            <p:cNvPr id="3" name="Freeform 3"/>
            <p:cNvSpPr/>
            <p:nvPr/>
          </p:nvSpPr>
          <p:spPr>
            <a:xfrm>
              <a:off x="0" y="0"/>
              <a:ext cx="2774718" cy="214516"/>
            </a:xfrm>
            <a:custGeom>
              <a:avLst/>
              <a:gdLst/>
              <a:ahLst/>
              <a:cxnLst/>
              <a:rect l="l" t="t" r="r" b="b"/>
              <a:pathLst>
                <a:path w="2774718" h="214516">
                  <a:moveTo>
                    <a:pt x="203200" y="0"/>
                  </a:moveTo>
                  <a:lnTo>
                    <a:pt x="2774718" y="0"/>
                  </a:lnTo>
                  <a:lnTo>
                    <a:pt x="2571518" y="214516"/>
                  </a:lnTo>
                  <a:lnTo>
                    <a:pt x="0" y="214516"/>
                  </a:lnTo>
                  <a:lnTo>
                    <a:pt x="203200" y="0"/>
                  </a:lnTo>
                  <a:close/>
                </a:path>
              </a:pathLst>
            </a:custGeom>
            <a:solidFill>
              <a:srgbClr val="1468A2">
                <a:alpha val="7843"/>
              </a:srgbClr>
            </a:solidFill>
          </p:spPr>
          <p:txBody>
            <a:bodyPr/>
            <a:lstStyle/>
            <a:p>
              <a:endParaRPr lang="en-PK"/>
            </a:p>
          </p:txBody>
        </p:sp>
        <p:sp>
          <p:nvSpPr>
            <p:cNvPr id="4" name="TextBox 4"/>
            <p:cNvSpPr txBox="1"/>
            <p:nvPr/>
          </p:nvSpPr>
          <p:spPr>
            <a:xfrm>
              <a:off x="101600" y="-38100"/>
              <a:ext cx="2571518" cy="25261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923459" y="-152214"/>
            <a:ext cx="9510939" cy="10597414"/>
            <a:chOff x="0" y="0"/>
            <a:chExt cx="2504939" cy="2791089"/>
          </a:xfrm>
        </p:grpSpPr>
        <p:sp>
          <p:nvSpPr>
            <p:cNvPr id="6" name="Freeform 6"/>
            <p:cNvSpPr/>
            <p:nvPr/>
          </p:nvSpPr>
          <p:spPr>
            <a:xfrm>
              <a:off x="0" y="0"/>
              <a:ext cx="2504939" cy="2791089"/>
            </a:xfrm>
            <a:custGeom>
              <a:avLst/>
              <a:gdLst/>
              <a:ahLst/>
              <a:cxnLst/>
              <a:rect l="l" t="t" r="r" b="b"/>
              <a:pathLst>
                <a:path w="2504939" h="2791089">
                  <a:moveTo>
                    <a:pt x="0" y="0"/>
                  </a:moveTo>
                  <a:lnTo>
                    <a:pt x="2504939" y="0"/>
                  </a:lnTo>
                  <a:lnTo>
                    <a:pt x="2504939" y="2791089"/>
                  </a:lnTo>
                  <a:lnTo>
                    <a:pt x="0" y="2791089"/>
                  </a:lnTo>
                  <a:close/>
                </a:path>
              </a:pathLst>
            </a:custGeom>
            <a:solidFill>
              <a:srgbClr val="EBF2F1"/>
            </a:solidFill>
          </p:spPr>
          <p:txBody>
            <a:bodyPr/>
            <a:lstStyle/>
            <a:p>
              <a:endParaRPr lang="en-PK"/>
            </a:p>
          </p:txBody>
        </p:sp>
        <p:sp>
          <p:nvSpPr>
            <p:cNvPr id="7" name="TextBox 7"/>
            <p:cNvSpPr txBox="1"/>
            <p:nvPr/>
          </p:nvSpPr>
          <p:spPr>
            <a:xfrm>
              <a:off x="0" y="-38100"/>
              <a:ext cx="2504939" cy="2829189"/>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028700" y="1954084"/>
            <a:ext cx="9658875" cy="1725237"/>
          </a:xfrm>
          <a:prstGeom prst="rect">
            <a:avLst/>
          </a:prstGeom>
        </p:spPr>
        <p:txBody>
          <a:bodyPr lIns="0" tIns="0" rIns="0" bIns="0" rtlCol="0" anchor="t">
            <a:spAutoFit/>
          </a:bodyPr>
          <a:lstStyle/>
          <a:p>
            <a:pPr algn="l">
              <a:lnSpc>
                <a:spcPts val="6822"/>
              </a:lnSpc>
            </a:pPr>
            <a:r>
              <a:rPr lang="en-US" sz="5685" b="1">
                <a:solidFill>
                  <a:srgbClr val="000000"/>
                </a:solidFill>
                <a:latin typeface="Garet Bold"/>
                <a:ea typeface="Garet Bold"/>
                <a:cs typeface="Garet Bold"/>
                <a:sym typeface="Garet Bold"/>
              </a:rPr>
              <a:t>ORIGINAL AUTHOR'S SURVEY</a:t>
            </a:r>
          </a:p>
        </p:txBody>
      </p:sp>
      <p:sp>
        <p:nvSpPr>
          <p:cNvPr id="9" name="Freeform 9"/>
          <p:cNvSpPr/>
          <p:nvPr/>
        </p:nvSpPr>
        <p:spPr>
          <a:xfrm flipH="1">
            <a:off x="10832732" y="1316040"/>
            <a:ext cx="1578852" cy="1569900"/>
          </a:xfrm>
          <a:custGeom>
            <a:avLst/>
            <a:gdLst/>
            <a:ahLst/>
            <a:cxnLst/>
            <a:rect l="l" t="t" r="r" b="b"/>
            <a:pathLst>
              <a:path w="1578852" h="1569900">
                <a:moveTo>
                  <a:pt x="1578853" y="0"/>
                </a:moveTo>
                <a:lnTo>
                  <a:pt x="0" y="0"/>
                </a:lnTo>
                <a:lnTo>
                  <a:pt x="0" y="1569899"/>
                </a:lnTo>
                <a:lnTo>
                  <a:pt x="1578853" y="1569899"/>
                </a:lnTo>
                <a:lnTo>
                  <a:pt x="1578853"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sp>
        <p:nvSpPr>
          <p:cNvPr id="10" name="Freeform 10"/>
          <p:cNvSpPr/>
          <p:nvPr/>
        </p:nvSpPr>
        <p:spPr>
          <a:xfrm flipH="1">
            <a:off x="10832732" y="3420090"/>
            <a:ext cx="1578852" cy="1569900"/>
          </a:xfrm>
          <a:custGeom>
            <a:avLst/>
            <a:gdLst/>
            <a:ahLst/>
            <a:cxnLst/>
            <a:rect l="l" t="t" r="r" b="b"/>
            <a:pathLst>
              <a:path w="1578852" h="1569900">
                <a:moveTo>
                  <a:pt x="1578853" y="0"/>
                </a:moveTo>
                <a:lnTo>
                  <a:pt x="0" y="0"/>
                </a:lnTo>
                <a:lnTo>
                  <a:pt x="0" y="1569900"/>
                </a:lnTo>
                <a:lnTo>
                  <a:pt x="1578853" y="1569900"/>
                </a:lnTo>
                <a:lnTo>
                  <a:pt x="1578853"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sp>
        <p:nvSpPr>
          <p:cNvPr id="11" name="Freeform 11"/>
          <p:cNvSpPr/>
          <p:nvPr/>
        </p:nvSpPr>
        <p:spPr>
          <a:xfrm flipH="1">
            <a:off x="10743361" y="1222719"/>
            <a:ext cx="1613029" cy="1603882"/>
          </a:xfrm>
          <a:custGeom>
            <a:avLst/>
            <a:gdLst/>
            <a:ahLst/>
            <a:cxnLst/>
            <a:rect l="l" t="t" r="r" b="b"/>
            <a:pathLst>
              <a:path w="1613029" h="1603882">
                <a:moveTo>
                  <a:pt x="1613029" y="0"/>
                </a:moveTo>
                <a:lnTo>
                  <a:pt x="0" y="0"/>
                </a:lnTo>
                <a:lnTo>
                  <a:pt x="0" y="1603883"/>
                </a:lnTo>
                <a:lnTo>
                  <a:pt x="1613029" y="1603883"/>
                </a:lnTo>
                <a:lnTo>
                  <a:pt x="1613029" y="0"/>
                </a:lnTo>
                <a:close/>
              </a:path>
            </a:pathLst>
          </a:custGeom>
          <a:blipFill>
            <a:blip r:embed="rId4">
              <a:extLst>
                <a:ext uri="{96DAC541-7B7A-43D3-8B79-37D633B846F1}">
                  <asvg:svgBlip xmlns:asvg="http://schemas.microsoft.com/office/drawing/2016/SVG/main" r:embed="rId5"/>
                </a:ext>
              </a:extLst>
            </a:blip>
            <a:stretch>
              <a:fillRect r="-107152"/>
            </a:stretch>
          </a:blipFill>
        </p:spPr>
        <p:txBody>
          <a:bodyPr/>
          <a:lstStyle/>
          <a:p>
            <a:endParaRPr lang="en-PK"/>
          </a:p>
        </p:txBody>
      </p:sp>
      <p:sp>
        <p:nvSpPr>
          <p:cNvPr id="12" name="Freeform 12"/>
          <p:cNvSpPr/>
          <p:nvPr/>
        </p:nvSpPr>
        <p:spPr>
          <a:xfrm flipH="1">
            <a:off x="10743361" y="3326770"/>
            <a:ext cx="1613029" cy="1603882"/>
          </a:xfrm>
          <a:custGeom>
            <a:avLst/>
            <a:gdLst/>
            <a:ahLst/>
            <a:cxnLst/>
            <a:rect l="l" t="t" r="r" b="b"/>
            <a:pathLst>
              <a:path w="1613029" h="1603882">
                <a:moveTo>
                  <a:pt x="1613029" y="0"/>
                </a:moveTo>
                <a:lnTo>
                  <a:pt x="0" y="0"/>
                </a:lnTo>
                <a:lnTo>
                  <a:pt x="0" y="1603882"/>
                </a:lnTo>
                <a:lnTo>
                  <a:pt x="1613029" y="1603882"/>
                </a:lnTo>
                <a:lnTo>
                  <a:pt x="1613029" y="0"/>
                </a:lnTo>
                <a:close/>
              </a:path>
            </a:pathLst>
          </a:custGeom>
          <a:blipFill>
            <a:blip r:embed="rId4">
              <a:extLst>
                <a:ext uri="{96DAC541-7B7A-43D3-8B79-37D633B846F1}">
                  <asvg:svgBlip xmlns:asvg="http://schemas.microsoft.com/office/drawing/2016/SVG/main" r:embed="rId5"/>
                </a:ext>
              </a:extLst>
            </a:blip>
            <a:stretch>
              <a:fillRect r="-107152"/>
            </a:stretch>
          </a:blipFill>
        </p:spPr>
        <p:txBody>
          <a:bodyPr/>
          <a:lstStyle/>
          <a:p>
            <a:endParaRPr lang="en-PK"/>
          </a:p>
        </p:txBody>
      </p:sp>
      <p:sp>
        <p:nvSpPr>
          <p:cNvPr id="13" name="Freeform 13"/>
          <p:cNvSpPr/>
          <p:nvPr/>
        </p:nvSpPr>
        <p:spPr>
          <a:xfrm flipH="1">
            <a:off x="10663261" y="1088909"/>
            <a:ext cx="1578852" cy="1569900"/>
          </a:xfrm>
          <a:custGeom>
            <a:avLst/>
            <a:gdLst/>
            <a:ahLst/>
            <a:cxnLst/>
            <a:rect l="l" t="t" r="r" b="b"/>
            <a:pathLst>
              <a:path w="1578852" h="1569900">
                <a:moveTo>
                  <a:pt x="1578852" y="0"/>
                </a:moveTo>
                <a:lnTo>
                  <a:pt x="0" y="0"/>
                </a:lnTo>
                <a:lnTo>
                  <a:pt x="0" y="1569900"/>
                </a:lnTo>
                <a:lnTo>
                  <a:pt x="1578852" y="1569900"/>
                </a:lnTo>
                <a:lnTo>
                  <a:pt x="1578852"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sp>
        <p:nvSpPr>
          <p:cNvPr id="14" name="Freeform 14"/>
          <p:cNvSpPr/>
          <p:nvPr/>
        </p:nvSpPr>
        <p:spPr>
          <a:xfrm flipH="1">
            <a:off x="10663261" y="3192960"/>
            <a:ext cx="1578852" cy="1569900"/>
          </a:xfrm>
          <a:custGeom>
            <a:avLst/>
            <a:gdLst/>
            <a:ahLst/>
            <a:cxnLst/>
            <a:rect l="l" t="t" r="r" b="b"/>
            <a:pathLst>
              <a:path w="1578852" h="1569900">
                <a:moveTo>
                  <a:pt x="1578852" y="0"/>
                </a:moveTo>
                <a:lnTo>
                  <a:pt x="0" y="0"/>
                </a:lnTo>
                <a:lnTo>
                  <a:pt x="0" y="1569899"/>
                </a:lnTo>
                <a:lnTo>
                  <a:pt x="1578852" y="1569899"/>
                </a:lnTo>
                <a:lnTo>
                  <a:pt x="1578852"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grpSp>
        <p:nvGrpSpPr>
          <p:cNvPr id="15" name="Group 15"/>
          <p:cNvGrpSpPr/>
          <p:nvPr/>
        </p:nvGrpSpPr>
        <p:grpSpPr>
          <a:xfrm>
            <a:off x="12746678" y="1098627"/>
            <a:ext cx="3637739" cy="434825"/>
            <a:chOff x="0" y="0"/>
            <a:chExt cx="1334446" cy="159509"/>
          </a:xfrm>
        </p:grpSpPr>
        <p:sp>
          <p:nvSpPr>
            <p:cNvPr id="16" name="Freeform 16"/>
            <p:cNvSpPr/>
            <p:nvPr/>
          </p:nvSpPr>
          <p:spPr>
            <a:xfrm>
              <a:off x="0" y="0"/>
              <a:ext cx="1334446" cy="159509"/>
            </a:xfrm>
            <a:custGeom>
              <a:avLst/>
              <a:gdLst/>
              <a:ahLst/>
              <a:cxnLst/>
              <a:rect l="l" t="t" r="r" b="b"/>
              <a:pathLst>
                <a:path w="1334446" h="159509">
                  <a:moveTo>
                    <a:pt x="79754" y="0"/>
                  </a:moveTo>
                  <a:lnTo>
                    <a:pt x="1254691" y="0"/>
                  </a:lnTo>
                  <a:cubicBezTo>
                    <a:pt x="1275843" y="0"/>
                    <a:pt x="1296129" y="8403"/>
                    <a:pt x="1311086" y="23359"/>
                  </a:cubicBezTo>
                  <a:cubicBezTo>
                    <a:pt x="1326043" y="38316"/>
                    <a:pt x="1334446" y="58602"/>
                    <a:pt x="1334446" y="79754"/>
                  </a:cubicBezTo>
                  <a:lnTo>
                    <a:pt x="1334446" y="79754"/>
                  </a:lnTo>
                  <a:cubicBezTo>
                    <a:pt x="1334446" y="100906"/>
                    <a:pt x="1326043" y="121192"/>
                    <a:pt x="1311086" y="136149"/>
                  </a:cubicBezTo>
                  <a:cubicBezTo>
                    <a:pt x="1296129" y="151106"/>
                    <a:pt x="1275843" y="159509"/>
                    <a:pt x="1254691"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17" name="TextBox 17"/>
            <p:cNvSpPr txBox="1"/>
            <p:nvPr/>
          </p:nvSpPr>
          <p:spPr>
            <a:xfrm>
              <a:off x="0" y="-38100"/>
              <a:ext cx="1334446" cy="197609"/>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2746678" y="3202678"/>
            <a:ext cx="3637739" cy="434825"/>
            <a:chOff x="0" y="0"/>
            <a:chExt cx="1334446" cy="159509"/>
          </a:xfrm>
        </p:grpSpPr>
        <p:sp>
          <p:nvSpPr>
            <p:cNvPr id="19" name="Freeform 19"/>
            <p:cNvSpPr/>
            <p:nvPr/>
          </p:nvSpPr>
          <p:spPr>
            <a:xfrm>
              <a:off x="0" y="0"/>
              <a:ext cx="1334446" cy="159509"/>
            </a:xfrm>
            <a:custGeom>
              <a:avLst/>
              <a:gdLst/>
              <a:ahLst/>
              <a:cxnLst/>
              <a:rect l="l" t="t" r="r" b="b"/>
              <a:pathLst>
                <a:path w="1334446" h="159509">
                  <a:moveTo>
                    <a:pt x="79754" y="0"/>
                  </a:moveTo>
                  <a:lnTo>
                    <a:pt x="1254691" y="0"/>
                  </a:lnTo>
                  <a:cubicBezTo>
                    <a:pt x="1275843" y="0"/>
                    <a:pt x="1296129" y="8403"/>
                    <a:pt x="1311086" y="23359"/>
                  </a:cubicBezTo>
                  <a:cubicBezTo>
                    <a:pt x="1326043" y="38316"/>
                    <a:pt x="1334446" y="58602"/>
                    <a:pt x="1334446" y="79754"/>
                  </a:cubicBezTo>
                  <a:lnTo>
                    <a:pt x="1334446" y="79754"/>
                  </a:lnTo>
                  <a:cubicBezTo>
                    <a:pt x="1334446" y="100906"/>
                    <a:pt x="1326043" y="121192"/>
                    <a:pt x="1311086" y="136149"/>
                  </a:cubicBezTo>
                  <a:cubicBezTo>
                    <a:pt x="1296129" y="151106"/>
                    <a:pt x="1275843" y="159509"/>
                    <a:pt x="1254691"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20" name="TextBox 20"/>
            <p:cNvSpPr txBox="1"/>
            <p:nvPr/>
          </p:nvSpPr>
          <p:spPr>
            <a:xfrm>
              <a:off x="0" y="-38100"/>
              <a:ext cx="1334446" cy="197609"/>
            </a:xfrm>
            <a:prstGeom prst="rect">
              <a:avLst/>
            </a:prstGeom>
          </p:spPr>
          <p:txBody>
            <a:bodyPr lIns="50800" tIns="50800" rIns="50800" bIns="50800" rtlCol="0" anchor="ctr"/>
            <a:lstStyle/>
            <a:p>
              <a:pPr algn="ctr">
                <a:lnSpc>
                  <a:spcPts val="2659"/>
                </a:lnSpc>
              </a:pPr>
              <a:endParaRPr/>
            </a:p>
          </p:txBody>
        </p:sp>
      </p:grpSp>
      <p:sp>
        <p:nvSpPr>
          <p:cNvPr id="21" name="Freeform 21"/>
          <p:cNvSpPr/>
          <p:nvPr/>
        </p:nvSpPr>
        <p:spPr>
          <a:xfrm flipH="1">
            <a:off x="10832732" y="5524141"/>
            <a:ext cx="1578852" cy="1569900"/>
          </a:xfrm>
          <a:custGeom>
            <a:avLst/>
            <a:gdLst/>
            <a:ahLst/>
            <a:cxnLst/>
            <a:rect l="l" t="t" r="r" b="b"/>
            <a:pathLst>
              <a:path w="1578852" h="1569900">
                <a:moveTo>
                  <a:pt x="1578853" y="0"/>
                </a:moveTo>
                <a:lnTo>
                  <a:pt x="0" y="0"/>
                </a:lnTo>
                <a:lnTo>
                  <a:pt x="0" y="1569899"/>
                </a:lnTo>
                <a:lnTo>
                  <a:pt x="1578853" y="1569899"/>
                </a:lnTo>
                <a:lnTo>
                  <a:pt x="1578853"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sp>
        <p:nvSpPr>
          <p:cNvPr id="22" name="Freeform 22"/>
          <p:cNvSpPr/>
          <p:nvPr/>
        </p:nvSpPr>
        <p:spPr>
          <a:xfrm flipH="1">
            <a:off x="10743361" y="5430820"/>
            <a:ext cx="1613029" cy="1603882"/>
          </a:xfrm>
          <a:custGeom>
            <a:avLst/>
            <a:gdLst/>
            <a:ahLst/>
            <a:cxnLst/>
            <a:rect l="l" t="t" r="r" b="b"/>
            <a:pathLst>
              <a:path w="1613029" h="1603882">
                <a:moveTo>
                  <a:pt x="1613029" y="0"/>
                </a:moveTo>
                <a:lnTo>
                  <a:pt x="0" y="0"/>
                </a:lnTo>
                <a:lnTo>
                  <a:pt x="0" y="1603882"/>
                </a:lnTo>
                <a:lnTo>
                  <a:pt x="1613029" y="1603882"/>
                </a:lnTo>
                <a:lnTo>
                  <a:pt x="1613029" y="0"/>
                </a:lnTo>
                <a:close/>
              </a:path>
            </a:pathLst>
          </a:custGeom>
          <a:blipFill>
            <a:blip r:embed="rId4">
              <a:extLst>
                <a:ext uri="{96DAC541-7B7A-43D3-8B79-37D633B846F1}">
                  <asvg:svgBlip xmlns:asvg="http://schemas.microsoft.com/office/drawing/2016/SVG/main" r:embed="rId5"/>
                </a:ext>
              </a:extLst>
            </a:blip>
            <a:stretch>
              <a:fillRect r="-107152"/>
            </a:stretch>
          </a:blipFill>
        </p:spPr>
        <p:txBody>
          <a:bodyPr/>
          <a:lstStyle/>
          <a:p>
            <a:endParaRPr lang="en-PK"/>
          </a:p>
        </p:txBody>
      </p:sp>
      <p:sp>
        <p:nvSpPr>
          <p:cNvPr id="23" name="Freeform 23"/>
          <p:cNvSpPr/>
          <p:nvPr/>
        </p:nvSpPr>
        <p:spPr>
          <a:xfrm flipH="1">
            <a:off x="10663261" y="5297010"/>
            <a:ext cx="1578852" cy="1569900"/>
          </a:xfrm>
          <a:custGeom>
            <a:avLst/>
            <a:gdLst/>
            <a:ahLst/>
            <a:cxnLst/>
            <a:rect l="l" t="t" r="r" b="b"/>
            <a:pathLst>
              <a:path w="1578852" h="1569900">
                <a:moveTo>
                  <a:pt x="1578852" y="0"/>
                </a:moveTo>
                <a:lnTo>
                  <a:pt x="0" y="0"/>
                </a:lnTo>
                <a:lnTo>
                  <a:pt x="0" y="1569900"/>
                </a:lnTo>
                <a:lnTo>
                  <a:pt x="1578852" y="1569900"/>
                </a:lnTo>
                <a:lnTo>
                  <a:pt x="1578852"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grpSp>
        <p:nvGrpSpPr>
          <p:cNvPr id="24" name="Group 24"/>
          <p:cNvGrpSpPr/>
          <p:nvPr/>
        </p:nvGrpSpPr>
        <p:grpSpPr>
          <a:xfrm>
            <a:off x="12746678" y="5306728"/>
            <a:ext cx="3637739" cy="434825"/>
            <a:chOff x="0" y="0"/>
            <a:chExt cx="1334446" cy="159509"/>
          </a:xfrm>
        </p:grpSpPr>
        <p:sp>
          <p:nvSpPr>
            <p:cNvPr id="25" name="Freeform 25"/>
            <p:cNvSpPr/>
            <p:nvPr/>
          </p:nvSpPr>
          <p:spPr>
            <a:xfrm>
              <a:off x="0" y="0"/>
              <a:ext cx="1334446" cy="159509"/>
            </a:xfrm>
            <a:custGeom>
              <a:avLst/>
              <a:gdLst/>
              <a:ahLst/>
              <a:cxnLst/>
              <a:rect l="l" t="t" r="r" b="b"/>
              <a:pathLst>
                <a:path w="1334446" h="159509">
                  <a:moveTo>
                    <a:pt x="79754" y="0"/>
                  </a:moveTo>
                  <a:lnTo>
                    <a:pt x="1254691" y="0"/>
                  </a:lnTo>
                  <a:cubicBezTo>
                    <a:pt x="1275843" y="0"/>
                    <a:pt x="1296129" y="8403"/>
                    <a:pt x="1311086" y="23359"/>
                  </a:cubicBezTo>
                  <a:cubicBezTo>
                    <a:pt x="1326043" y="38316"/>
                    <a:pt x="1334446" y="58602"/>
                    <a:pt x="1334446" y="79754"/>
                  </a:cubicBezTo>
                  <a:lnTo>
                    <a:pt x="1334446" y="79754"/>
                  </a:lnTo>
                  <a:cubicBezTo>
                    <a:pt x="1334446" y="100906"/>
                    <a:pt x="1326043" y="121192"/>
                    <a:pt x="1311086" y="136149"/>
                  </a:cubicBezTo>
                  <a:cubicBezTo>
                    <a:pt x="1296129" y="151106"/>
                    <a:pt x="1275843" y="159509"/>
                    <a:pt x="1254691"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26" name="TextBox 26"/>
            <p:cNvSpPr txBox="1"/>
            <p:nvPr/>
          </p:nvSpPr>
          <p:spPr>
            <a:xfrm>
              <a:off x="0" y="-38100"/>
              <a:ext cx="1334446" cy="197609"/>
            </a:xfrm>
            <a:prstGeom prst="rect">
              <a:avLst/>
            </a:prstGeom>
          </p:spPr>
          <p:txBody>
            <a:bodyPr lIns="50800" tIns="50800" rIns="50800" bIns="50800" rtlCol="0" anchor="ctr"/>
            <a:lstStyle/>
            <a:p>
              <a:pPr algn="ctr">
                <a:lnSpc>
                  <a:spcPts val="2659"/>
                </a:lnSpc>
              </a:pPr>
              <a:endParaRPr/>
            </a:p>
          </p:txBody>
        </p:sp>
      </p:grpSp>
      <p:sp>
        <p:nvSpPr>
          <p:cNvPr id="27" name="Freeform 27"/>
          <p:cNvSpPr/>
          <p:nvPr/>
        </p:nvSpPr>
        <p:spPr>
          <a:xfrm flipH="1">
            <a:off x="10832732" y="7628191"/>
            <a:ext cx="1578852" cy="1569900"/>
          </a:xfrm>
          <a:custGeom>
            <a:avLst/>
            <a:gdLst/>
            <a:ahLst/>
            <a:cxnLst/>
            <a:rect l="l" t="t" r="r" b="b"/>
            <a:pathLst>
              <a:path w="1578852" h="1569900">
                <a:moveTo>
                  <a:pt x="1578853" y="0"/>
                </a:moveTo>
                <a:lnTo>
                  <a:pt x="0" y="0"/>
                </a:lnTo>
                <a:lnTo>
                  <a:pt x="0" y="1569900"/>
                </a:lnTo>
                <a:lnTo>
                  <a:pt x="1578853" y="1569900"/>
                </a:lnTo>
                <a:lnTo>
                  <a:pt x="1578853"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sp>
        <p:nvSpPr>
          <p:cNvPr id="28" name="Freeform 28"/>
          <p:cNvSpPr/>
          <p:nvPr/>
        </p:nvSpPr>
        <p:spPr>
          <a:xfrm flipH="1">
            <a:off x="10743361" y="7534871"/>
            <a:ext cx="1613029" cy="1603882"/>
          </a:xfrm>
          <a:custGeom>
            <a:avLst/>
            <a:gdLst/>
            <a:ahLst/>
            <a:cxnLst/>
            <a:rect l="l" t="t" r="r" b="b"/>
            <a:pathLst>
              <a:path w="1613029" h="1603882">
                <a:moveTo>
                  <a:pt x="1613029" y="0"/>
                </a:moveTo>
                <a:lnTo>
                  <a:pt x="0" y="0"/>
                </a:lnTo>
                <a:lnTo>
                  <a:pt x="0" y="1603882"/>
                </a:lnTo>
                <a:lnTo>
                  <a:pt x="1613029" y="1603882"/>
                </a:lnTo>
                <a:lnTo>
                  <a:pt x="1613029" y="0"/>
                </a:lnTo>
                <a:close/>
              </a:path>
            </a:pathLst>
          </a:custGeom>
          <a:blipFill>
            <a:blip r:embed="rId4">
              <a:extLst>
                <a:ext uri="{96DAC541-7B7A-43D3-8B79-37D633B846F1}">
                  <asvg:svgBlip xmlns:asvg="http://schemas.microsoft.com/office/drawing/2016/SVG/main" r:embed="rId5"/>
                </a:ext>
              </a:extLst>
            </a:blip>
            <a:stretch>
              <a:fillRect r="-107152"/>
            </a:stretch>
          </a:blipFill>
        </p:spPr>
        <p:txBody>
          <a:bodyPr/>
          <a:lstStyle/>
          <a:p>
            <a:endParaRPr lang="en-PK"/>
          </a:p>
        </p:txBody>
      </p:sp>
      <p:sp>
        <p:nvSpPr>
          <p:cNvPr id="29" name="Freeform 29"/>
          <p:cNvSpPr/>
          <p:nvPr/>
        </p:nvSpPr>
        <p:spPr>
          <a:xfrm flipH="1">
            <a:off x="10663261" y="7401061"/>
            <a:ext cx="1578852" cy="1569900"/>
          </a:xfrm>
          <a:custGeom>
            <a:avLst/>
            <a:gdLst/>
            <a:ahLst/>
            <a:cxnLst/>
            <a:rect l="l" t="t" r="r" b="b"/>
            <a:pathLst>
              <a:path w="1578852" h="1569900">
                <a:moveTo>
                  <a:pt x="1578852" y="0"/>
                </a:moveTo>
                <a:lnTo>
                  <a:pt x="0" y="0"/>
                </a:lnTo>
                <a:lnTo>
                  <a:pt x="0" y="1569899"/>
                </a:lnTo>
                <a:lnTo>
                  <a:pt x="1578852" y="1569899"/>
                </a:lnTo>
                <a:lnTo>
                  <a:pt x="1578852"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grpSp>
        <p:nvGrpSpPr>
          <p:cNvPr id="30" name="Group 30"/>
          <p:cNvGrpSpPr/>
          <p:nvPr/>
        </p:nvGrpSpPr>
        <p:grpSpPr>
          <a:xfrm>
            <a:off x="12746678" y="7410779"/>
            <a:ext cx="3637739" cy="434825"/>
            <a:chOff x="0" y="0"/>
            <a:chExt cx="1334446" cy="159509"/>
          </a:xfrm>
        </p:grpSpPr>
        <p:sp>
          <p:nvSpPr>
            <p:cNvPr id="31" name="Freeform 31"/>
            <p:cNvSpPr/>
            <p:nvPr/>
          </p:nvSpPr>
          <p:spPr>
            <a:xfrm>
              <a:off x="0" y="0"/>
              <a:ext cx="1334446" cy="159509"/>
            </a:xfrm>
            <a:custGeom>
              <a:avLst/>
              <a:gdLst/>
              <a:ahLst/>
              <a:cxnLst/>
              <a:rect l="l" t="t" r="r" b="b"/>
              <a:pathLst>
                <a:path w="1334446" h="159509">
                  <a:moveTo>
                    <a:pt x="79754" y="0"/>
                  </a:moveTo>
                  <a:lnTo>
                    <a:pt x="1254691" y="0"/>
                  </a:lnTo>
                  <a:cubicBezTo>
                    <a:pt x="1275843" y="0"/>
                    <a:pt x="1296129" y="8403"/>
                    <a:pt x="1311086" y="23359"/>
                  </a:cubicBezTo>
                  <a:cubicBezTo>
                    <a:pt x="1326043" y="38316"/>
                    <a:pt x="1334446" y="58602"/>
                    <a:pt x="1334446" y="79754"/>
                  </a:cubicBezTo>
                  <a:lnTo>
                    <a:pt x="1334446" y="79754"/>
                  </a:lnTo>
                  <a:cubicBezTo>
                    <a:pt x="1334446" y="100906"/>
                    <a:pt x="1326043" y="121192"/>
                    <a:pt x="1311086" y="136149"/>
                  </a:cubicBezTo>
                  <a:cubicBezTo>
                    <a:pt x="1296129" y="151106"/>
                    <a:pt x="1275843" y="159509"/>
                    <a:pt x="1254691"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32" name="TextBox 32"/>
            <p:cNvSpPr txBox="1"/>
            <p:nvPr/>
          </p:nvSpPr>
          <p:spPr>
            <a:xfrm>
              <a:off x="0" y="-38100"/>
              <a:ext cx="1334446" cy="197609"/>
            </a:xfrm>
            <a:prstGeom prst="rect">
              <a:avLst/>
            </a:prstGeom>
          </p:spPr>
          <p:txBody>
            <a:bodyPr lIns="50800" tIns="50800" rIns="50800" bIns="50800" rtlCol="0" anchor="ctr"/>
            <a:lstStyle/>
            <a:p>
              <a:pPr algn="ctr">
                <a:lnSpc>
                  <a:spcPts val="2659"/>
                </a:lnSpc>
              </a:pPr>
              <a:endParaRPr/>
            </a:p>
          </p:txBody>
        </p:sp>
      </p:grpSp>
      <p:sp>
        <p:nvSpPr>
          <p:cNvPr id="33" name="Freeform 33"/>
          <p:cNvSpPr/>
          <p:nvPr/>
        </p:nvSpPr>
        <p:spPr>
          <a:xfrm>
            <a:off x="11006603" y="1395931"/>
            <a:ext cx="892169" cy="879901"/>
          </a:xfrm>
          <a:custGeom>
            <a:avLst/>
            <a:gdLst/>
            <a:ahLst/>
            <a:cxnLst/>
            <a:rect l="l" t="t" r="r" b="b"/>
            <a:pathLst>
              <a:path w="892169" h="879901">
                <a:moveTo>
                  <a:pt x="0" y="0"/>
                </a:moveTo>
                <a:lnTo>
                  <a:pt x="892168" y="0"/>
                </a:lnTo>
                <a:lnTo>
                  <a:pt x="892168" y="879901"/>
                </a:lnTo>
                <a:lnTo>
                  <a:pt x="0" y="8799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K"/>
          </a:p>
        </p:txBody>
      </p:sp>
      <p:sp>
        <p:nvSpPr>
          <p:cNvPr id="34" name="Freeform 34"/>
          <p:cNvSpPr/>
          <p:nvPr/>
        </p:nvSpPr>
        <p:spPr>
          <a:xfrm>
            <a:off x="11006603" y="3453875"/>
            <a:ext cx="892169" cy="1048069"/>
          </a:xfrm>
          <a:custGeom>
            <a:avLst/>
            <a:gdLst/>
            <a:ahLst/>
            <a:cxnLst/>
            <a:rect l="l" t="t" r="r" b="b"/>
            <a:pathLst>
              <a:path w="892169" h="1048069">
                <a:moveTo>
                  <a:pt x="0" y="0"/>
                </a:moveTo>
                <a:lnTo>
                  <a:pt x="892168" y="0"/>
                </a:lnTo>
                <a:lnTo>
                  <a:pt x="892168" y="1048069"/>
                </a:lnTo>
                <a:lnTo>
                  <a:pt x="0" y="104806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K"/>
          </a:p>
        </p:txBody>
      </p:sp>
      <p:sp>
        <p:nvSpPr>
          <p:cNvPr id="35" name="Freeform 35"/>
          <p:cNvSpPr/>
          <p:nvPr/>
        </p:nvSpPr>
        <p:spPr>
          <a:xfrm>
            <a:off x="11006603" y="5618640"/>
            <a:ext cx="919635" cy="1057051"/>
          </a:xfrm>
          <a:custGeom>
            <a:avLst/>
            <a:gdLst/>
            <a:ahLst/>
            <a:cxnLst/>
            <a:rect l="l" t="t" r="r" b="b"/>
            <a:pathLst>
              <a:path w="919635" h="1057051">
                <a:moveTo>
                  <a:pt x="0" y="0"/>
                </a:moveTo>
                <a:lnTo>
                  <a:pt x="919635" y="0"/>
                </a:lnTo>
                <a:lnTo>
                  <a:pt x="919635" y="1057051"/>
                </a:lnTo>
                <a:lnTo>
                  <a:pt x="0" y="105705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K"/>
          </a:p>
        </p:txBody>
      </p:sp>
      <p:sp>
        <p:nvSpPr>
          <p:cNvPr id="36" name="Freeform 36"/>
          <p:cNvSpPr/>
          <p:nvPr/>
        </p:nvSpPr>
        <p:spPr>
          <a:xfrm>
            <a:off x="11025203" y="7779840"/>
            <a:ext cx="854969" cy="826470"/>
          </a:xfrm>
          <a:custGeom>
            <a:avLst/>
            <a:gdLst/>
            <a:ahLst/>
            <a:cxnLst/>
            <a:rect l="l" t="t" r="r" b="b"/>
            <a:pathLst>
              <a:path w="854969" h="826470">
                <a:moveTo>
                  <a:pt x="0" y="0"/>
                </a:moveTo>
                <a:lnTo>
                  <a:pt x="854969" y="0"/>
                </a:lnTo>
                <a:lnTo>
                  <a:pt x="854969" y="826470"/>
                </a:lnTo>
                <a:lnTo>
                  <a:pt x="0" y="82647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PK"/>
          </a:p>
        </p:txBody>
      </p:sp>
      <p:sp>
        <p:nvSpPr>
          <p:cNvPr id="37" name="TextBox 37"/>
          <p:cNvSpPr txBox="1"/>
          <p:nvPr/>
        </p:nvSpPr>
        <p:spPr>
          <a:xfrm>
            <a:off x="1028700" y="1276846"/>
            <a:ext cx="8115300" cy="559080"/>
          </a:xfrm>
          <a:prstGeom prst="rect">
            <a:avLst/>
          </a:prstGeom>
        </p:spPr>
        <p:txBody>
          <a:bodyPr lIns="0" tIns="0" rIns="0" bIns="0" rtlCol="0" anchor="t">
            <a:spAutoFit/>
          </a:bodyPr>
          <a:lstStyle/>
          <a:p>
            <a:pPr algn="l">
              <a:lnSpc>
                <a:spcPts val="4446"/>
              </a:lnSpc>
            </a:pPr>
            <a:r>
              <a:rPr lang="en-US" sz="3705" b="1">
                <a:solidFill>
                  <a:srgbClr val="000000"/>
                </a:solidFill>
                <a:latin typeface="Garet Bold"/>
                <a:ea typeface="Garet Bold"/>
                <a:cs typeface="Garet Bold"/>
                <a:sym typeface="Garet Bold"/>
              </a:rPr>
              <a:t>METHODOLOGY</a:t>
            </a:r>
          </a:p>
        </p:txBody>
      </p:sp>
      <p:sp>
        <p:nvSpPr>
          <p:cNvPr id="38" name="TextBox 38"/>
          <p:cNvSpPr txBox="1"/>
          <p:nvPr/>
        </p:nvSpPr>
        <p:spPr>
          <a:xfrm>
            <a:off x="1028700" y="3991959"/>
            <a:ext cx="8115300" cy="3675253"/>
          </a:xfrm>
          <a:prstGeom prst="rect">
            <a:avLst/>
          </a:prstGeom>
        </p:spPr>
        <p:txBody>
          <a:bodyPr lIns="0" tIns="0" rIns="0" bIns="0" rtlCol="0" anchor="t">
            <a:spAutoFit/>
          </a:bodyPr>
          <a:lstStyle/>
          <a:p>
            <a:pPr algn="l">
              <a:lnSpc>
                <a:spcPts val="3263"/>
              </a:lnSpc>
            </a:pPr>
            <a:r>
              <a:rPr lang="en-US" sz="2331" b="1">
                <a:solidFill>
                  <a:srgbClr val="000000"/>
                </a:solidFill>
                <a:latin typeface="Garet Bold"/>
                <a:ea typeface="Garet Bold"/>
                <a:cs typeface="Garet Bold"/>
                <a:sym typeface="Garet Bold"/>
              </a:rPr>
              <a:t>Sample</a:t>
            </a:r>
          </a:p>
          <a:p>
            <a:pPr marL="503345" lvl="1" indent="-251673" algn="l">
              <a:lnSpc>
                <a:spcPts val="3263"/>
              </a:lnSpc>
              <a:buFont typeface="Arial"/>
              <a:buChar char="•"/>
            </a:pPr>
            <a:r>
              <a:rPr lang="en-US" sz="2331">
                <a:solidFill>
                  <a:srgbClr val="000000"/>
                </a:solidFill>
                <a:latin typeface="Garet"/>
                <a:ea typeface="Garet"/>
                <a:cs typeface="Garet"/>
                <a:sym typeface="Garet"/>
              </a:rPr>
              <a:t>400 respondents surveyed, 155 responses analyzed.</a:t>
            </a:r>
          </a:p>
          <a:p>
            <a:pPr marL="503345" lvl="1" indent="-251673" algn="l">
              <a:lnSpc>
                <a:spcPts val="3263"/>
              </a:lnSpc>
              <a:buFont typeface="Arial"/>
              <a:buChar char="•"/>
            </a:pPr>
            <a:r>
              <a:rPr lang="en-US" sz="2331" b="1">
                <a:solidFill>
                  <a:srgbClr val="000000"/>
                </a:solidFill>
                <a:latin typeface="Garet Bold"/>
                <a:ea typeface="Garet Bold"/>
                <a:cs typeface="Garet Bold"/>
                <a:sym typeface="Garet Bold"/>
              </a:rPr>
              <a:t>Respondents:</a:t>
            </a:r>
            <a:r>
              <a:rPr lang="en-US" sz="2331">
                <a:solidFill>
                  <a:srgbClr val="000000"/>
                </a:solidFill>
                <a:latin typeface="Garet"/>
                <a:ea typeface="Garet"/>
                <a:cs typeface="Garet"/>
                <a:sym typeface="Garet"/>
              </a:rPr>
              <a:t> Primarily line managers; a few top executives included.</a:t>
            </a:r>
          </a:p>
          <a:p>
            <a:pPr algn="l">
              <a:lnSpc>
                <a:spcPts val="3263"/>
              </a:lnSpc>
            </a:pPr>
            <a:r>
              <a:rPr lang="en-US" sz="2331" b="1">
                <a:solidFill>
                  <a:srgbClr val="000000"/>
                </a:solidFill>
                <a:latin typeface="Garet Bold"/>
                <a:ea typeface="Garet Bold"/>
                <a:cs typeface="Garet Bold"/>
                <a:sym typeface="Garet Bold"/>
              </a:rPr>
              <a:t>Sampling</a:t>
            </a:r>
          </a:p>
          <a:p>
            <a:pPr marL="503345" lvl="1" indent="-251673" algn="l">
              <a:lnSpc>
                <a:spcPts val="3263"/>
              </a:lnSpc>
              <a:buFont typeface="Arial"/>
              <a:buChar char="•"/>
            </a:pPr>
            <a:r>
              <a:rPr lang="en-US" sz="2331" b="1">
                <a:solidFill>
                  <a:srgbClr val="000000"/>
                </a:solidFill>
                <a:latin typeface="Garet Bold"/>
                <a:ea typeface="Garet Bold"/>
                <a:cs typeface="Garet Bold"/>
                <a:sym typeface="Garet Bold"/>
              </a:rPr>
              <a:t>Technique:</a:t>
            </a:r>
            <a:r>
              <a:rPr lang="en-US" sz="2331">
                <a:solidFill>
                  <a:srgbClr val="000000"/>
                </a:solidFill>
                <a:latin typeface="Garet"/>
                <a:ea typeface="Garet"/>
                <a:cs typeface="Garet"/>
                <a:sym typeface="Garet"/>
              </a:rPr>
              <a:t> Non-probability judgment sampling.</a:t>
            </a:r>
          </a:p>
          <a:p>
            <a:pPr marL="503345" lvl="1" indent="-251673" algn="l">
              <a:lnSpc>
                <a:spcPts val="3263"/>
              </a:lnSpc>
              <a:buFont typeface="Arial"/>
              <a:buChar char="•"/>
            </a:pPr>
            <a:r>
              <a:rPr lang="en-US" sz="2331">
                <a:solidFill>
                  <a:srgbClr val="000000"/>
                </a:solidFill>
                <a:latin typeface="Garet"/>
                <a:ea typeface="Garet"/>
                <a:cs typeface="Garet"/>
                <a:sym typeface="Garet"/>
              </a:rPr>
              <a:t>Selected based on expertise in leadership styles and direct impact by leadership behaviors.</a:t>
            </a:r>
          </a:p>
        </p:txBody>
      </p:sp>
      <p:sp>
        <p:nvSpPr>
          <p:cNvPr id="39" name="TextBox 39"/>
          <p:cNvSpPr txBox="1"/>
          <p:nvPr/>
        </p:nvSpPr>
        <p:spPr>
          <a:xfrm>
            <a:off x="12746678" y="1577731"/>
            <a:ext cx="4512622" cy="790395"/>
          </a:xfrm>
          <a:prstGeom prst="rect">
            <a:avLst/>
          </a:prstGeom>
        </p:spPr>
        <p:txBody>
          <a:bodyPr lIns="0" tIns="0" rIns="0" bIns="0" rtlCol="0" anchor="t">
            <a:spAutoFit/>
          </a:bodyPr>
          <a:lstStyle/>
          <a:p>
            <a:pPr algn="l">
              <a:lnSpc>
                <a:spcPts val="2122"/>
              </a:lnSpc>
            </a:pPr>
            <a:r>
              <a:rPr lang="en-US" sz="1515">
                <a:solidFill>
                  <a:srgbClr val="000000"/>
                </a:solidFill>
                <a:latin typeface="Garet"/>
                <a:ea typeface="Garet"/>
                <a:cs typeface="Garet"/>
                <a:sym typeface="Garet"/>
              </a:rPr>
              <a:t>Examine the impact of transformational and servant leadership in profit-oriented service sectors.</a:t>
            </a:r>
          </a:p>
        </p:txBody>
      </p:sp>
      <p:sp>
        <p:nvSpPr>
          <p:cNvPr id="40" name="TextBox 40"/>
          <p:cNvSpPr txBox="1"/>
          <p:nvPr/>
        </p:nvSpPr>
        <p:spPr>
          <a:xfrm>
            <a:off x="12746678" y="3677881"/>
            <a:ext cx="4512622" cy="1057169"/>
          </a:xfrm>
          <a:prstGeom prst="rect">
            <a:avLst/>
          </a:prstGeom>
        </p:spPr>
        <p:txBody>
          <a:bodyPr lIns="0" tIns="0" rIns="0" bIns="0" rtlCol="0" anchor="t">
            <a:spAutoFit/>
          </a:bodyPr>
          <a:lstStyle/>
          <a:p>
            <a:pPr algn="just">
              <a:lnSpc>
                <a:spcPts val="2122"/>
              </a:lnSpc>
            </a:pPr>
            <a:r>
              <a:rPr lang="en-US" sz="1515">
                <a:solidFill>
                  <a:srgbClr val="000000"/>
                </a:solidFill>
                <a:latin typeface="Garet"/>
                <a:ea typeface="Garet"/>
                <a:cs typeface="Garet"/>
                <a:sym typeface="Garet"/>
              </a:rPr>
              <a:t>Service sectors in Pakistan, including:</a:t>
            </a:r>
          </a:p>
          <a:p>
            <a:pPr marL="327278" lvl="1" indent="-163639" algn="just">
              <a:lnSpc>
                <a:spcPts val="2122"/>
              </a:lnSpc>
              <a:buFont typeface="Arial"/>
              <a:buChar char="•"/>
            </a:pPr>
            <a:r>
              <a:rPr lang="en-US" sz="1515">
                <a:solidFill>
                  <a:srgbClr val="000000"/>
                </a:solidFill>
                <a:latin typeface="Garet"/>
                <a:ea typeface="Garet"/>
                <a:cs typeface="Garet"/>
                <a:sym typeface="Garet"/>
              </a:rPr>
              <a:t>Hotels</a:t>
            </a:r>
          </a:p>
          <a:p>
            <a:pPr marL="327278" lvl="1" indent="-163639" algn="just">
              <a:lnSpc>
                <a:spcPts val="2122"/>
              </a:lnSpc>
              <a:buFont typeface="Arial"/>
              <a:buChar char="•"/>
            </a:pPr>
            <a:r>
              <a:rPr lang="en-US" sz="1515">
                <a:solidFill>
                  <a:srgbClr val="000000"/>
                </a:solidFill>
                <a:latin typeface="Garet"/>
                <a:ea typeface="Garet"/>
                <a:cs typeface="Garet"/>
                <a:sym typeface="Garet"/>
              </a:rPr>
              <a:t>Telecommunication companies</a:t>
            </a:r>
          </a:p>
          <a:p>
            <a:pPr marL="327278" lvl="1" indent="-163639" algn="just">
              <a:lnSpc>
                <a:spcPts val="2122"/>
              </a:lnSpc>
              <a:buFont typeface="Arial"/>
              <a:buChar char="•"/>
            </a:pPr>
            <a:r>
              <a:rPr lang="en-US" sz="1515">
                <a:solidFill>
                  <a:srgbClr val="000000"/>
                </a:solidFill>
                <a:latin typeface="Garet"/>
                <a:ea typeface="Garet"/>
                <a:cs typeface="Garet"/>
                <a:sym typeface="Garet"/>
              </a:rPr>
              <a:t>Banking sector</a:t>
            </a:r>
          </a:p>
        </p:txBody>
      </p:sp>
      <p:sp>
        <p:nvSpPr>
          <p:cNvPr id="41" name="TextBox 41"/>
          <p:cNvSpPr txBox="1"/>
          <p:nvPr/>
        </p:nvSpPr>
        <p:spPr>
          <a:xfrm>
            <a:off x="12746678" y="1194144"/>
            <a:ext cx="3408724" cy="313770"/>
          </a:xfrm>
          <a:prstGeom prst="rect">
            <a:avLst/>
          </a:prstGeom>
        </p:spPr>
        <p:txBody>
          <a:bodyPr lIns="0" tIns="0" rIns="0" bIns="0" rtlCol="0" anchor="t">
            <a:spAutoFit/>
          </a:bodyPr>
          <a:lstStyle/>
          <a:p>
            <a:pPr algn="l">
              <a:lnSpc>
                <a:spcPts val="2655"/>
              </a:lnSpc>
              <a:spcBef>
                <a:spcPct val="0"/>
              </a:spcBef>
            </a:pPr>
            <a:r>
              <a:rPr lang="en-US" sz="1896" b="1">
                <a:solidFill>
                  <a:srgbClr val="000000"/>
                </a:solidFill>
                <a:latin typeface="Garet Bold"/>
                <a:ea typeface="Garet Bold"/>
                <a:cs typeface="Garet Bold"/>
                <a:sym typeface="Garet Bold"/>
              </a:rPr>
              <a:t>Study Objective</a:t>
            </a:r>
          </a:p>
        </p:txBody>
      </p:sp>
      <p:sp>
        <p:nvSpPr>
          <p:cNvPr id="42" name="TextBox 42"/>
          <p:cNvSpPr txBox="1"/>
          <p:nvPr/>
        </p:nvSpPr>
        <p:spPr>
          <a:xfrm>
            <a:off x="12746678" y="3281769"/>
            <a:ext cx="3559603" cy="313770"/>
          </a:xfrm>
          <a:prstGeom prst="rect">
            <a:avLst/>
          </a:prstGeom>
        </p:spPr>
        <p:txBody>
          <a:bodyPr lIns="0" tIns="0" rIns="0" bIns="0" rtlCol="0" anchor="t">
            <a:spAutoFit/>
          </a:bodyPr>
          <a:lstStyle/>
          <a:p>
            <a:pPr algn="l">
              <a:lnSpc>
                <a:spcPts val="2655"/>
              </a:lnSpc>
              <a:spcBef>
                <a:spcPct val="0"/>
              </a:spcBef>
            </a:pPr>
            <a:r>
              <a:rPr lang="en-US" sz="1896" b="1">
                <a:solidFill>
                  <a:srgbClr val="000000"/>
                </a:solidFill>
                <a:latin typeface="Garet Bold"/>
                <a:ea typeface="Garet Bold"/>
                <a:cs typeface="Garet Bold"/>
                <a:sym typeface="Garet Bold"/>
              </a:rPr>
              <a:t>Population</a:t>
            </a:r>
          </a:p>
        </p:txBody>
      </p:sp>
      <p:sp>
        <p:nvSpPr>
          <p:cNvPr id="43" name="TextBox 43"/>
          <p:cNvSpPr txBox="1"/>
          <p:nvPr/>
        </p:nvSpPr>
        <p:spPr>
          <a:xfrm>
            <a:off x="12746678" y="5369394"/>
            <a:ext cx="4766633" cy="313770"/>
          </a:xfrm>
          <a:prstGeom prst="rect">
            <a:avLst/>
          </a:prstGeom>
        </p:spPr>
        <p:txBody>
          <a:bodyPr lIns="0" tIns="0" rIns="0" bIns="0" rtlCol="0" anchor="t">
            <a:spAutoFit/>
          </a:bodyPr>
          <a:lstStyle/>
          <a:p>
            <a:pPr algn="l">
              <a:lnSpc>
                <a:spcPts val="2655"/>
              </a:lnSpc>
              <a:spcBef>
                <a:spcPct val="0"/>
              </a:spcBef>
            </a:pPr>
            <a:r>
              <a:rPr lang="en-US" sz="1896" b="1">
                <a:solidFill>
                  <a:srgbClr val="000000"/>
                </a:solidFill>
                <a:latin typeface="Garet Bold"/>
                <a:ea typeface="Garet Bold"/>
                <a:cs typeface="Garet Bold"/>
                <a:sym typeface="Garet Bold"/>
              </a:rPr>
              <a:t>Data Analysis</a:t>
            </a:r>
          </a:p>
        </p:txBody>
      </p:sp>
      <p:sp>
        <p:nvSpPr>
          <p:cNvPr id="44" name="TextBox 44"/>
          <p:cNvSpPr txBox="1"/>
          <p:nvPr/>
        </p:nvSpPr>
        <p:spPr>
          <a:xfrm>
            <a:off x="12746678" y="7457019"/>
            <a:ext cx="4512622" cy="313770"/>
          </a:xfrm>
          <a:prstGeom prst="rect">
            <a:avLst/>
          </a:prstGeom>
        </p:spPr>
        <p:txBody>
          <a:bodyPr lIns="0" tIns="0" rIns="0" bIns="0" rtlCol="0" anchor="t">
            <a:spAutoFit/>
          </a:bodyPr>
          <a:lstStyle/>
          <a:p>
            <a:pPr algn="l">
              <a:lnSpc>
                <a:spcPts val="2655"/>
              </a:lnSpc>
              <a:spcBef>
                <a:spcPct val="0"/>
              </a:spcBef>
            </a:pPr>
            <a:r>
              <a:rPr lang="en-US" sz="1896" b="1">
                <a:solidFill>
                  <a:srgbClr val="000000"/>
                </a:solidFill>
                <a:latin typeface="Garet Bold"/>
                <a:ea typeface="Garet Bold"/>
                <a:cs typeface="Garet Bold"/>
                <a:sym typeface="Garet Bold"/>
              </a:rPr>
              <a:t>Research Design:</a:t>
            </a:r>
          </a:p>
        </p:txBody>
      </p:sp>
      <p:sp>
        <p:nvSpPr>
          <p:cNvPr id="45" name="TextBox 45"/>
          <p:cNvSpPr txBox="1"/>
          <p:nvPr/>
        </p:nvSpPr>
        <p:spPr>
          <a:xfrm>
            <a:off x="12746678" y="5778030"/>
            <a:ext cx="4512622" cy="790395"/>
          </a:xfrm>
          <a:prstGeom prst="rect">
            <a:avLst/>
          </a:prstGeom>
        </p:spPr>
        <p:txBody>
          <a:bodyPr lIns="0" tIns="0" rIns="0" bIns="0" rtlCol="0" anchor="t">
            <a:spAutoFit/>
          </a:bodyPr>
          <a:lstStyle/>
          <a:p>
            <a:pPr algn="just">
              <a:lnSpc>
                <a:spcPts val="2122"/>
              </a:lnSpc>
            </a:pPr>
            <a:r>
              <a:rPr lang="en-US" sz="1515">
                <a:solidFill>
                  <a:srgbClr val="000000"/>
                </a:solidFill>
                <a:latin typeface="Garet"/>
                <a:ea typeface="Garet"/>
                <a:cs typeface="Garet"/>
                <a:sym typeface="Garet"/>
              </a:rPr>
              <a:t>Tools Used:</a:t>
            </a:r>
          </a:p>
          <a:p>
            <a:pPr marL="327278" lvl="1" indent="-163639" algn="just">
              <a:lnSpc>
                <a:spcPts val="2122"/>
              </a:lnSpc>
              <a:buFont typeface="Arial"/>
              <a:buChar char="•"/>
            </a:pPr>
            <a:r>
              <a:rPr lang="en-US" sz="1515">
                <a:solidFill>
                  <a:srgbClr val="000000"/>
                </a:solidFill>
                <a:latin typeface="Garet"/>
                <a:ea typeface="Garet"/>
                <a:cs typeface="Garet"/>
                <a:sym typeface="Garet"/>
              </a:rPr>
              <a:t>SPSS</a:t>
            </a:r>
          </a:p>
          <a:p>
            <a:pPr marL="327278" lvl="1" indent="-163639" algn="just">
              <a:lnSpc>
                <a:spcPts val="2122"/>
              </a:lnSpc>
              <a:buFont typeface="Arial"/>
              <a:buChar char="•"/>
            </a:pPr>
            <a:r>
              <a:rPr lang="en-US" sz="1515">
                <a:solidFill>
                  <a:srgbClr val="000000"/>
                </a:solidFill>
                <a:latin typeface="Garet"/>
                <a:ea typeface="Garet"/>
                <a:cs typeface="Garet"/>
                <a:sym typeface="Garet"/>
              </a:rPr>
              <a:t>AMOS</a:t>
            </a:r>
          </a:p>
        </p:txBody>
      </p:sp>
      <p:sp>
        <p:nvSpPr>
          <p:cNvPr id="46" name="TextBox 46"/>
          <p:cNvSpPr txBox="1"/>
          <p:nvPr/>
        </p:nvSpPr>
        <p:spPr>
          <a:xfrm>
            <a:off x="12746678" y="7878180"/>
            <a:ext cx="4512622" cy="1323944"/>
          </a:xfrm>
          <a:prstGeom prst="rect">
            <a:avLst/>
          </a:prstGeom>
        </p:spPr>
        <p:txBody>
          <a:bodyPr lIns="0" tIns="0" rIns="0" bIns="0" rtlCol="0" anchor="t">
            <a:spAutoFit/>
          </a:bodyPr>
          <a:lstStyle/>
          <a:p>
            <a:pPr algn="l">
              <a:lnSpc>
                <a:spcPts val="2122"/>
              </a:lnSpc>
            </a:pPr>
            <a:r>
              <a:rPr lang="en-US" sz="1515" b="1">
                <a:solidFill>
                  <a:srgbClr val="000000"/>
                </a:solidFill>
                <a:latin typeface="Garet Bold"/>
                <a:ea typeface="Garet Bold"/>
                <a:cs typeface="Garet Bold"/>
                <a:sym typeface="Garet Bold"/>
              </a:rPr>
              <a:t>Method:</a:t>
            </a:r>
            <a:r>
              <a:rPr lang="en-US" sz="1515">
                <a:solidFill>
                  <a:srgbClr val="000000"/>
                </a:solidFill>
                <a:latin typeface="Garet"/>
                <a:ea typeface="Garet"/>
                <a:cs typeface="Garet"/>
                <a:sym typeface="Garet"/>
              </a:rPr>
              <a:t> Quantitative approach with a structured questionnaire.</a:t>
            </a:r>
          </a:p>
          <a:p>
            <a:pPr algn="l">
              <a:lnSpc>
                <a:spcPts val="2122"/>
              </a:lnSpc>
            </a:pPr>
            <a:r>
              <a:rPr lang="en-US" sz="1515" b="1">
                <a:solidFill>
                  <a:srgbClr val="000000"/>
                </a:solidFill>
                <a:latin typeface="Garet Bold"/>
                <a:ea typeface="Garet Bold"/>
                <a:cs typeface="Garet Bold"/>
                <a:sym typeface="Garet Bold"/>
              </a:rPr>
              <a:t>Type:</a:t>
            </a:r>
            <a:r>
              <a:rPr lang="en-US" sz="1515">
                <a:solidFill>
                  <a:srgbClr val="000000"/>
                </a:solidFill>
                <a:latin typeface="Garet"/>
                <a:ea typeface="Garet"/>
                <a:cs typeface="Garet"/>
                <a:sym typeface="Garet"/>
              </a:rPr>
              <a:t> Descriptive research study.</a:t>
            </a:r>
          </a:p>
          <a:p>
            <a:pPr algn="l">
              <a:lnSpc>
                <a:spcPts val="2122"/>
              </a:lnSpc>
            </a:pPr>
            <a:r>
              <a:rPr lang="en-US" sz="1515" b="1">
                <a:solidFill>
                  <a:srgbClr val="000000"/>
                </a:solidFill>
                <a:latin typeface="Garet Bold"/>
                <a:ea typeface="Garet Bold"/>
                <a:cs typeface="Garet Bold"/>
                <a:sym typeface="Garet Bold"/>
              </a:rPr>
              <a:t>Survey:</a:t>
            </a:r>
            <a:r>
              <a:rPr lang="en-US" sz="1515">
                <a:solidFill>
                  <a:srgbClr val="000000"/>
                </a:solidFill>
                <a:latin typeface="Garet"/>
                <a:ea typeface="Garet"/>
                <a:cs typeface="Garet"/>
                <a:sym typeface="Garet"/>
              </a:rPr>
              <a:t> Conducted through personally administered questionnaires.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48883" y="1149118"/>
            <a:ext cx="10535259" cy="814491"/>
            <a:chOff x="0" y="0"/>
            <a:chExt cx="2774718" cy="214516"/>
          </a:xfrm>
        </p:grpSpPr>
        <p:sp>
          <p:nvSpPr>
            <p:cNvPr id="3" name="Freeform 3"/>
            <p:cNvSpPr/>
            <p:nvPr/>
          </p:nvSpPr>
          <p:spPr>
            <a:xfrm>
              <a:off x="0" y="0"/>
              <a:ext cx="2774718" cy="214516"/>
            </a:xfrm>
            <a:custGeom>
              <a:avLst/>
              <a:gdLst/>
              <a:ahLst/>
              <a:cxnLst/>
              <a:rect l="l" t="t" r="r" b="b"/>
              <a:pathLst>
                <a:path w="2774718" h="214516">
                  <a:moveTo>
                    <a:pt x="203200" y="0"/>
                  </a:moveTo>
                  <a:lnTo>
                    <a:pt x="2774718" y="0"/>
                  </a:lnTo>
                  <a:lnTo>
                    <a:pt x="2571518" y="214516"/>
                  </a:lnTo>
                  <a:lnTo>
                    <a:pt x="0" y="214516"/>
                  </a:lnTo>
                  <a:lnTo>
                    <a:pt x="203200" y="0"/>
                  </a:lnTo>
                  <a:close/>
                </a:path>
              </a:pathLst>
            </a:custGeom>
            <a:solidFill>
              <a:srgbClr val="1468A2">
                <a:alpha val="7843"/>
              </a:srgbClr>
            </a:solidFill>
          </p:spPr>
          <p:txBody>
            <a:bodyPr/>
            <a:lstStyle/>
            <a:p>
              <a:endParaRPr lang="en-PK"/>
            </a:p>
          </p:txBody>
        </p:sp>
        <p:sp>
          <p:nvSpPr>
            <p:cNvPr id="4" name="TextBox 4"/>
            <p:cNvSpPr txBox="1"/>
            <p:nvPr/>
          </p:nvSpPr>
          <p:spPr>
            <a:xfrm>
              <a:off x="101600" y="-38100"/>
              <a:ext cx="2571518" cy="25261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9923459" y="-152214"/>
            <a:ext cx="9510939" cy="10597414"/>
            <a:chOff x="0" y="0"/>
            <a:chExt cx="2504939" cy="2791089"/>
          </a:xfrm>
        </p:grpSpPr>
        <p:sp>
          <p:nvSpPr>
            <p:cNvPr id="6" name="Freeform 6"/>
            <p:cNvSpPr/>
            <p:nvPr/>
          </p:nvSpPr>
          <p:spPr>
            <a:xfrm>
              <a:off x="0" y="0"/>
              <a:ext cx="2504939" cy="2791089"/>
            </a:xfrm>
            <a:custGeom>
              <a:avLst/>
              <a:gdLst/>
              <a:ahLst/>
              <a:cxnLst/>
              <a:rect l="l" t="t" r="r" b="b"/>
              <a:pathLst>
                <a:path w="2504939" h="2791089">
                  <a:moveTo>
                    <a:pt x="0" y="0"/>
                  </a:moveTo>
                  <a:lnTo>
                    <a:pt x="2504939" y="0"/>
                  </a:lnTo>
                  <a:lnTo>
                    <a:pt x="2504939" y="2791089"/>
                  </a:lnTo>
                  <a:lnTo>
                    <a:pt x="0" y="2791089"/>
                  </a:lnTo>
                  <a:close/>
                </a:path>
              </a:pathLst>
            </a:custGeom>
            <a:solidFill>
              <a:srgbClr val="EBF2F1"/>
            </a:solidFill>
          </p:spPr>
          <p:txBody>
            <a:bodyPr/>
            <a:lstStyle/>
            <a:p>
              <a:endParaRPr lang="en-PK"/>
            </a:p>
          </p:txBody>
        </p:sp>
        <p:sp>
          <p:nvSpPr>
            <p:cNvPr id="7" name="TextBox 7"/>
            <p:cNvSpPr txBox="1"/>
            <p:nvPr/>
          </p:nvSpPr>
          <p:spPr>
            <a:xfrm>
              <a:off x="0" y="-38100"/>
              <a:ext cx="2504939" cy="2829189"/>
            </a:xfrm>
            <a:prstGeom prst="rect">
              <a:avLst/>
            </a:prstGeom>
          </p:spPr>
          <p:txBody>
            <a:bodyPr lIns="50800" tIns="50800" rIns="50800" bIns="50800" rtlCol="0" anchor="ctr"/>
            <a:lstStyle/>
            <a:p>
              <a:pPr algn="ctr">
                <a:lnSpc>
                  <a:spcPts val="2659"/>
                </a:lnSpc>
              </a:pPr>
              <a:endParaRPr/>
            </a:p>
          </p:txBody>
        </p:sp>
      </p:grpSp>
      <p:sp>
        <p:nvSpPr>
          <p:cNvPr id="8" name="TextBox 8"/>
          <p:cNvSpPr txBox="1"/>
          <p:nvPr/>
        </p:nvSpPr>
        <p:spPr>
          <a:xfrm>
            <a:off x="1028700" y="1954084"/>
            <a:ext cx="9658875" cy="1725237"/>
          </a:xfrm>
          <a:prstGeom prst="rect">
            <a:avLst/>
          </a:prstGeom>
        </p:spPr>
        <p:txBody>
          <a:bodyPr lIns="0" tIns="0" rIns="0" bIns="0" rtlCol="0" anchor="t">
            <a:spAutoFit/>
          </a:bodyPr>
          <a:lstStyle/>
          <a:p>
            <a:pPr algn="l">
              <a:lnSpc>
                <a:spcPts val="6822"/>
              </a:lnSpc>
            </a:pPr>
            <a:r>
              <a:rPr lang="en-US" sz="5685" b="1">
                <a:solidFill>
                  <a:srgbClr val="000000"/>
                </a:solidFill>
                <a:latin typeface="Garet Bold"/>
                <a:ea typeface="Garet Bold"/>
                <a:cs typeface="Garet Bold"/>
                <a:sym typeface="Garet Bold"/>
              </a:rPr>
              <a:t>OUR </a:t>
            </a:r>
          </a:p>
          <a:p>
            <a:pPr algn="l">
              <a:lnSpc>
                <a:spcPts val="6822"/>
              </a:lnSpc>
            </a:pPr>
            <a:r>
              <a:rPr lang="en-US" sz="5685" b="1">
                <a:solidFill>
                  <a:srgbClr val="000000"/>
                </a:solidFill>
                <a:latin typeface="Garet Bold"/>
                <a:ea typeface="Garet Bold"/>
                <a:cs typeface="Garet Bold"/>
                <a:sym typeface="Garet Bold"/>
              </a:rPr>
              <a:t>APPROACH</a:t>
            </a:r>
          </a:p>
        </p:txBody>
      </p:sp>
      <p:sp>
        <p:nvSpPr>
          <p:cNvPr id="9" name="Freeform 9"/>
          <p:cNvSpPr/>
          <p:nvPr/>
        </p:nvSpPr>
        <p:spPr>
          <a:xfrm flipH="1">
            <a:off x="10832732" y="1316040"/>
            <a:ext cx="1578852" cy="1569900"/>
          </a:xfrm>
          <a:custGeom>
            <a:avLst/>
            <a:gdLst/>
            <a:ahLst/>
            <a:cxnLst/>
            <a:rect l="l" t="t" r="r" b="b"/>
            <a:pathLst>
              <a:path w="1578852" h="1569900">
                <a:moveTo>
                  <a:pt x="1578853" y="0"/>
                </a:moveTo>
                <a:lnTo>
                  <a:pt x="0" y="0"/>
                </a:lnTo>
                <a:lnTo>
                  <a:pt x="0" y="1569899"/>
                </a:lnTo>
                <a:lnTo>
                  <a:pt x="1578853" y="1569899"/>
                </a:lnTo>
                <a:lnTo>
                  <a:pt x="1578853"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sp>
        <p:nvSpPr>
          <p:cNvPr id="10" name="Freeform 10"/>
          <p:cNvSpPr/>
          <p:nvPr/>
        </p:nvSpPr>
        <p:spPr>
          <a:xfrm flipH="1">
            <a:off x="10832732" y="3420090"/>
            <a:ext cx="1578852" cy="1569900"/>
          </a:xfrm>
          <a:custGeom>
            <a:avLst/>
            <a:gdLst/>
            <a:ahLst/>
            <a:cxnLst/>
            <a:rect l="l" t="t" r="r" b="b"/>
            <a:pathLst>
              <a:path w="1578852" h="1569900">
                <a:moveTo>
                  <a:pt x="1578853" y="0"/>
                </a:moveTo>
                <a:lnTo>
                  <a:pt x="0" y="0"/>
                </a:lnTo>
                <a:lnTo>
                  <a:pt x="0" y="1569900"/>
                </a:lnTo>
                <a:lnTo>
                  <a:pt x="1578853" y="1569900"/>
                </a:lnTo>
                <a:lnTo>
                  <a:pt x="1578853"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sp>
        <p:nvSpPr>
          <p:cNvPr id="11" name="Freeform 11"/>
          <p:cNvSpPr/>
          <p:nvPr/>
        </p:nvSpPr>
        <p:spPr>
          <a:xfrm flipH="1">
            <a:off x="10743361" y="1222719"/>
            <a:ext cx="1613029" cy="1603882"/>
          </a:xfrm>
          <a:custGeom>
            <a:avLst/>
            <a:gdLst/>
            <a:ahLst/>
            <a:cxnLst/>
            <a:rect l="l" t="t" r="r" b="b"/>
            <a:pathLst>
              <a:path w="1613029" h="1603882">
                <a:moveTo>
                  <a:pt x="1613029" y="0"/>
                </a:moveTo>
                <a:lnTo>
                  <a:pt x="0" y="0"/>
                </a:lnTo>
                <a:lnTo>
                  <a:pt x="0" y="1603883"/>
                </a:lnTo>
                <a:lnTo>
                  <a:pt x="1613029" y="1603883"/>
                </a:lnTo>
                <a:lnTo>
                  <a:pt x="1613029" y="0"/>
                </a:lnTo>
                <a:close/>
              </a:path>
            </a:pathLst>
          </a:custGeom>
          <a:blipFill>
            <a:blip r:embed="rId4">
              <a:extLst>
                <a:ext uri="{96DAC541-7B7A-43D3-8B79-37D633B846F1}">
                  <asvg:svgBlip xmlns:asvg="http://schemas.microsoft.com/office/drawing/2016/SVG/main" r:embed="rId5"/>
                </a:ext>
              </a:extLst>
            </a:blip>
            <a:stretch>
              <a:fillRect r="-107152"/>
            </a:stretch>
          </a:blipFill>
        </p:spPr>
        <p:txBody>
          <a:bodyPr/>
          <a:lstStyle/>
          <a:p>
            <a:endParaRPr lang="en-PK"/>
          </a:p>
        </p:txBody>
      </p:sp>
      <p:sp>
        <p:nvSpPr>
          <p:cNvPr id="12" name="Freeform 12"/>
          <p:cNvSpPr/>
          <p:nvPr/>
        </p:nvSpPr>
        <p:spPr>
          <a:xfrm flipH="1">
            <a:off x="10743361" y="3326770"/>
            <a:ext cx="1613029" cy="1603882"/>
          </a:xfrm>
          <a:custGeom>
            <a:avLst/>
            <a:gdLst/>
            <a:ahLst/>
            <a:cxnLst/>
            <a:rect l="l" t="t" r="r" b="b"/>
            <a:pathLst>
              <a:path w="1613029" h="1603882">
                <a:moveTo>
                  <a:pt x="1613029" y="0"/>
                </a:moveTo>
                <a:lnTo>
                  <a:pt x="0" y="0"/>
                </a:lnTo>
                <a:lnTo>
                  <a:pt x="0" y="1603882"/>
                </a:lnTo>
                <a:lnTo>
                  <a:pt x="1613029" y="1603882"/>
                </a:lnTo>
                <a:lnTo>
                  <a:pt x="1613029" y="0"/>
                </a:lnTo>
                <a:close/>
              </a:path>
            </a:pathLst>
          </a:custGeom>
          <a:blipFill>
            <a:blip r:embed="rId4">
              <a:extLst>
                <a:ext uri="{96DAC541-7B7A-43D3-8B79-37D633B846F1}">
                  <asvg:svgBlip xmlns:asvg="http://schemas.microsoft.com/office/drawing/2016/SVG/main" r:embed="rId5"/>
                </a:ext>
              </a:extLst>
            </a:blip>
            <a:stretch>
              <a:fillRect r="-107152"/>
            </a:stretch>
          </a:blipFill>
        </p:spPr>
        <p:txBody>
          <a:bodyPr/>
          <a:lstStyle/>
          <a:p>
            <a:endParaRPr lang="en-PK"/>
          </a:p>
        </p:txBody>
      </p:sp>
      <p:sp>
        <p:nvSpPr>
          <p:cNvPr id="13" name="Freeform 13"/>
          <p:cNvSpPr/>
          <p:nvPr/>
        </p:nvSpPr>
        <p:spPr>
          <a:xfrm flipH="1">
            <a:off x="10663261" y="1088909"/>
            <a:ext cx="1578852" cy="1569900"/>
          </a:xfrm>
          <a:custGeom>
            <a:avLst/>
            <a:gdLst/>
            <a:ahLst/>
            <a:cxnLst/>
            <a:rect l="l" t="t" r="r" b="b"/>
            <a:pathLst>
              <a:path w="1578852" h="1569900">
                <a:moveTo>
                  <a:pt x="1578852" y="0"/>
                </a:moveTo>
                <a:lnTo>
                  <a:pt x="0" y="0"/>
                </a:lnTo>
                <a:lnTo>
                  <a:pt x="0" y="1569900"/>
                </a:lnTo>
                <a:lnTo>
                  <a:pt x="1578852" y="1569900"/>
                </a:lnTo>
                <a:lnTo>
                  <a:pt x="1578852"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sp>
        <p:nvSpPr>
          <p:cNvPr id="14" name="Freeform 14"/>
          <p:cNvSpPr/>
          <p:nvPr/>
        </p:nvSpPr>
        <p:spPr>
          <a:xfrm flipH="1">
            <a:off x="10663261" y="3192960"/>
            <a:ext cx="1578852" cy="1569900"/>
          </a:xfrm>
          <a:custGeom>
            <a:avLst/>
            <a:gdLst/>
            <a:ahLst/>
            <a:cxnLst/>
            <a:rect l="l" t="t" r="r" b="b"/>
            <a:pathLst>
              <a:path w="1578852" h="1569900">
                <a:moveTo>
                  <a:pt x="1578852" y="0"/>
                </a:moveTo>
                <a:lnTo>
                  <a:pt x="0" y="0"/>
                </a:lnTo>
                <a:lnTo>
                  <a:pt x="0" y="1569899"/>
                </a:lnTo>
                <a:lnTo>
                  <a:pt x="1578852" y="1569899"/>
                </a:lnTo>
                <a:lnTo>
                  <a:pt x="1578852"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grpSp>
        <p:nvGrpSpPr>
          <p:cNvPr id="15" name="Group 15"/>
          <p:cNvGrpSpPr/>
          <p:nvPr/>
        </p:nvGrpSpPr>
        <p:grpSpPr>
          <a:xfrm>
            <a:off x="12746678" y="1098627"/>
            <a:ext cx="3637739" cy="434825"/>
            <a:chOff x="0" y="0"/>
            <a:chExt cx="1334446" cy="159509"/>
          </a:xfrm>
        </p:grpSpPr>
        <p:sp>
          <p:nvSpPr>
            <p:cNvPr id="16" name="Freeform 16"/>
            <p:cNvSpPr/>
            <p:nvPr/>
          </p:nvSpPr>
          <p:spPr>
            <a:xfrm>
              <a:off x="0" y="0"/>
              <a:ext cx="1334446" cy="159509"/>
            </a:xfrm>
            <a:custGeom>
              <a:avLst/>
              <a:gdLst/>
              <a:ahLst/>
              <a:cxnLst/>
              <a:rect l="l" t="t" r="r" b="b"/>
              <a:pathLst>
                <a:path w="1334446" h="159509">
                  <a:moveTo>
                    <a:pt x="79754" y="0"/>
                  </a:moveTo>
                  <a:lnTo>
                    <a:pt x="1254691" y="0"/>
                  </a:lnTo>
                  <a:cubicBezTo>
                    <a:pt x="1275843" y="0"/>
                    <a:pt x="1296129" y="8403"/>
                    <a:pt x="1311086" y="23359"/>
                  </a:cubicBezTo>
                  <a:cubicBezTo>
                    <a:pt x="1326043" y="38316"/>
                    <a:pt x="1334446" y="58602"/>
                    <a:pt x="1334446" y="79754"/>
                  </a:cubicBezTo>
                  <a:lnTo>
                    <a:pt x="1334446" y="79754"/>
                  </a:lnTo>
                  <a:cubicBezTo>
                    <a:pt x="1334446" y="100906"/>
                    <a:pt x="1326043" y="121192"/>
                    <a:pt x="1311086" y="136149"/>
                  </a:cubicBezTo>
                  <a:cubicBezTo>
                    <a:pt x="1296129" y="151106"/>
                    <a:pt x="1275843" y="159509"/>
                    <a:pt x="1254691"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17" name="TextBox 17"/>
            <p:cNvSpPr txBox="1"/>
            <p:nvPr/>
          </p:nvSpPr>
          <p:spPr>
            <a:xfrm>
              <a:off x="0" y="-38100"/>
              <a:ext cx="1334446" cy="197609"/>
            </a:xfrm>
            <a:prstGeom prst="rect">
              <a:avLst/>
            </a:prstGeom>
          </p:spPr>
          <p:txBody>
            <a:bodyPr lIns="50800" tIns="50800" rIns="50800" bIns="50800" rtlCol="0" anchor="ctr"/>
            <a:lstStyle/>
            <a:p>
              <a:pPr algn="ctr">
                <a:lnSpc>
                  <a:spcPts val="2659"/>
                </a:lnSpc>
              </a:pPr>
              <a:endParaRPr/>
            </a:p>
          </p:txBody>
        </p:sp>
      </p:grpSp>
      <p:grpSp>
        <p:nvGrpSpPr>
          <p:cNvPr id="18" name="Group 18"/>
          <p:cNvGrpSpPr/>
          <p:nvPr/>
        </p:nvGrpSpPr>
        <p:grpSpPr>
          <a:xfrm>
            <a:off x="12746678" y="3202678"/>
            <a:ext cx="3637739" cy="434825"/>
            <a:chOff x="0" y="0"/>
            <a:chExt cx="1334446" cy="159509"/>
          </a:xfrm>
        </p:grpSpPr>
        <p:sp>
          <p:nvSpPr>
            <p:cNvPr id="19" name="Freeform 19"/>
            <p:cNvSpPr/>
            <p:nvPr/>
          </p:nvSpPr>
          <p:spPr>
            <a:xfrm>
              <a:off x="0" y="0"/>
              <a:ext cx="1334446" cy="159509"/>
            </a:xfrm>
            <a:custGeom>
              <a:avLst/>
              <a:gdLst/>
              <a:ahLst/>
              <a:cxnLst/>
              <a:rect l="l" t="t" r="r" b="b"/>
              <a:pathLst>
                <a:path w="1334446" h="159509">
                  <a:moveTo>
                    <a:pt x="79754" y="0"/>
                  </a:moveTo>
                  <a:lnTo>
                    <a:pt x="1254691" y="0"/>
                  </a:lnTo>
                  <a:cubicBezTo>
                    <a:pt x="1275843" y="0"/>
                    <a:pt x="1296129" y="8403"/>
                    <a:pt x="1311086" y="23359"/>
                  </a:cubicBezTo>
                  <a:cubicBezTo>
                    <a:pt x="1326043" y="38316"/>
                    <a:pt x="1334446" y="58602"/>
                    <a:pt x="1334446" y="79754"/>
                  </a:cubicBezTo>
                  <a:lnTo>
                    <a:pt x="1334446" y="79754"/>
                  </a:lnTo>
                  <a:cubicBezTo>
                    <a:pt x="1334446" y="100906"/>
                    <a:pt x="1326043" y="121192"/>
                    <a:pt x="1311086" y="136149"/>
                  </a:cubicBezTo>
                  <a:cubicBezTo>
                    <a:pt x="1296129" y="151106"/>
                    <a:pt x="1275843" y="159509"/>
                    <a:pt x="1254691"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20" name="TextBox 20"/>
            <p:cNvSpPr txBox="1"/>
            <p:nvPr/>
          </p:nvSpPr>
          <p:spPr>
            <a:xfrm>
              <a:off x="0" y="-38100"/>
              <a:ext cx="1334446" cy="197609"/>
            </a:xfrm>
            <a:prstGeom prst="rect">
              <a:avLst/>
            </a:prstGeom>
          </p:spPr>
          <p:txBody>
            <a:bodyPr lIns="50800" tIns="50800" rIns="50800" bIns="50800" rtlCol="0" anchor="ctr"/>
            <a:lstStyle/>
            <a:p>
              <a:pPr algn="ctr">
                <a:lnSpc>
                  <a:spcPts val="2659"/>
                </a:lnSpc>
              </a:pPr>
              <a:endParaRPr/>
            </a:p>
          </p:txBody>
        </p:sp>
      </p:grpSp>
      <p:sp>
        <p:nvSpPr>
          <p:cNvPr id="21" name="Freeform 21"/>
          <p:cNvSpPr/>
          <p:nvPr/>
        </p:nvSpPr>
        <p:spPr>
          <a:xfrm flipH="1">
            <a:off x="10832732" y="5524141"/>
            <a:ext cx="1578852" cy="1569900"/>
          </a:xfrm>
          <a:custGeom>
            <a:avLst/>
            <a:gdLst/>
            <a:ahLst/>
            <a:cxnLst/>
            <a:rect l="l" t="t" r="r" b="b"/>
            <a:pathLst>
              <a:path w="1578852" h="1569900">
                <a:moveTo>
                  <a:pt x="1578853" y="0"/>
                </a:moveTo>
                <a:lnTo>
                  <a:pt x="0" y="0"/>
                </a:lnTo>
                <a:lnTo>
                  <a:pt x="0" y="1569899"/>
                </a:lnTo>
                <a:lnTo>
                  <a:pt x="1578853" y="1569899"/>
                </a:lnTo>
                <a:lnTo>
                  <a:pt x="1578853"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sp>
        <p:nvSpPr>
          <p:cNvPr id="22" name="Freeform 22"/>
          <p:cNvSpPr/>
          <p:nvPr/>
        </p:nvSpPr>
        <p:spPr>
          <a:xfrm flipH="1">
            <a:off x="10743361" y="5430820"/>
            <a:ext cx="1613029" cy="1603882"/>
          </a:xfrm>
          <a:custGeom>
            <a:avLst/>
            <a:gdLst/>
            <a:ahLst/>
            <a:cxnLst/>
            <a:rect l="l" t="t" r="r" b="b"/>
            <a:pathLst>
              <a:path w="1613029" h="1603882">
                <a:moveTo>
                  <a:pt x="1613029" y="0"/>
                </a:moveTo>
                <a:lnTo>
                  <a:pt x="0" y="0"/>
                </a:lnTo>
                <a:lnTo>
                  <a:pt x="0" y="1603882"/>
                </a:lnTo>
                <a:lnTo>
                  <a:pt x="1613029" y="1603882"/>
                </a:lnTo>
                <a:lnTo>
                  <a:pt x="1613029" y="0"/>
                </a:lnTo>
                <a:close/>
              </a:path>
            </a:pathLst>
          </a:custGeom>
          <a:blipFill>
            <a:blip r:embed="rId4">
              <a:extLst>
                <a:ext uri="{96DAC541-7B7A-43D3-8B79-37D633B846F1}">
                  <asvg:svgBlip xmlns:asvg="http://schemas.microsoft.com/office/drawing/2016/SVG/main" r:embed="rId5"/>
                </a:ext>
              </a:extLst>
            </a:blip>
            <a:stretch>
              <a:fillRect r="-107152"/>
            </a:stretch>
          </a:blipFill>
        </p:spPr>
        <p:txBody>
          <a:bodyPr/>
          <a:lstStyle/>
          <a:p>
            <a:endParaRPr lang="en-PK"/>
          </a:p>
        </p:txBody>
      </p:sp>
      <p:sp>
        <p:nvSpPr>
          <p:cNvPr id="23" name="Freeform 23"/>
          <p:cNvSpPr/>
          <p:nvPr/>
        </p:nvSpPr>
        <p:spPr>
          <a:xfrm flipH="1">
            <a:off x="10663261" y="5297010"/>
            <a:ext cx="1578852" cy="1569900"/>
          </a:xfrm>
          <a:custGeom>
            <a:avLst/>
            <a:gdLst/>
            <a:ahLst/>
            <a:cxnLst/>
            <a:rect l="l" t="t" r="r" b="b"/>
            <a:pathLst>
              <a:path w="1578852" h="1569900">
                <a:moveTo>
                  <a:pt x="1578852" y="0"/>
                </a:moveTo>
                <a:lnTo>
                  <a:pt x="0" y="0"/>
                </a:lnTo>
                <a:lnTo>
                  <a:pt x="0" y="1569900"/>
                </a:lnTo>
                <a:lnTo>
                  <a:pt x="1578852" y="1569900"/>
                </a:lnTo>
                <a:lnTo>
                  <a:pt x="1578852"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grpSp>
        <p:nvGrpSpPr>
          <p:cNvPr id="24" name="Group 24"/>
          <p:cNvGrpSpPr/>
          <p:nvPr/>
        </p:nvGrpSpPr>
        <p:grpSpPr>
          <a:xfrm>
            <a:off x="12746678" y="5306728"/>
            <a:ext cx="3637739" cy="434825"/>
            <a:chOff x="0" y="0"/>
            <a:chExt cx="1334446" cy="159509"/>
          </a:xfrm>
        </p:grpSpPr>
        <p:sp>
          <p:nvSpPr>
            <p:cNvPr id="25" name="Freeform 25"/>
            <p:cNvSpPr/>
            <p:nvPr/>
          </p:nvSpPr>
          <p:spPr>
            <a:xfrm>
              <a:off x="0" y="0"/>
              <a:ext cx="1334446" cy="159509"/>
            </a:xfrm>
            <a:custGeom>
              <a:avLst/>
              <a:gdLst/>
              <a:ahLst/>
              <a:cxnLst/>
              <a:rect l="l" t="t" r="r" b="b"/>
              <a:pathLst>
                <a:path w="1334446" h="159509">
                  <a:moveTo>
                    <a:pt x="79754" y="0"/>
                  </a:moveTo>
                  <a:lnTo>
                    <a:pt x="1254691" y="0"/>
                  </a:lnTo>
                  <a:cubicBezTo>
                    <a:pt x="1275843" y="0"/>
                    <a:pt x="1296129" y="8403"/>
                    <a:pt x="1311086" y="23359"/>
                  </a:cubicBezTo>
                  <a:cubicBezTo>
                    <a:pt x="1326043" y="38316"/>
                    <a:pt x="1334446" y="58602"/>
                    <a:pt x="1334446" y="79754"/>
                  </a:cubicBezTo>
                  <a:lnTo>
                    <a:pt x="1334446" y="79754"/>
                  </a:lnTo>
                  <a:cubicBezTo>
                    <a:pt x="1334446" y="100906"/>
                    <a:pt x="1326043" y="121192"/>
                    <a:pt x="1311086" y="136149"/>
                  </a:cubicBezTo>
                  <a:cubicBezTo>
                    <a:pt x="1296129" y="151106"/>
                    <a:pt x="1275843" y="159509"/>
                    <a:pt x="1254691"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26" name="TextBox 26"/>
            <p:cNvSpPr txBox="1"/>
            <p:nvPr/>
          </p:nvSpPr>
          <p:spPr>
            <a:xfrm>
              <a:off x="0" y="-38100"/>
              <a:ext cx="1334446" cy="197609"/>
            </a:xfrm>
            <a:prstGeom prst="rect">
              <a:avLst/>
            </a:prstGeom>
          </p:spPr>
          <p:txBody>
            <a:bodyPr lIns="50800" tIns="50800" rIns="50800" bIns="50800" rtlCol="0" anchor="ctr"/>
            <a:lstStyle/>
            <a:p>
              <a:pPr algn="ctr">
                <a:lnSpc>
                  <a:spcPts val="2659"/>
                </a:lnSpc>
              </a:pPr>
              <a:endParaRPr/>
            </a:p>
          </p:txBody>
        </p:sp>
      </p:grpSp>
      <p:sp>
        <p:nvSpPr>
          <p:cNvPr id="27" name="Freeform 27"/>
          <p:cNvSpPr/>
          <p:nvPr/>
        </p:nvSpPr>
        <p:spPr>
          <a:xfrm flipH="1">
            <a:off x="10832732" y="7628191"/>
            <a:ext cx="1578852" cy="1569900"/>
          </a:xfrm>
          <a:custGeom>
            <a:avLst/>
            <a:gdLst/>
            <a:ahLst/>
            <a:cxnLst/>
            <a:rect l="l" t="t" r="r" b="b"/>
            <a:pathLst>
              <a:path w="1578852" h="1569900">
                <a:moveTo>
                  <a:pt x="1578853" y="0"/>
                </a:moveTo>
                <a:lnTo>
                  <a:pt x="0" y="0"/>
                </a:lnTo>
                <a:lnTo>
                  <a:pt x="0" y="1569900"/>
                </a:lnTo>
                <a:lnTo>
                  <a:pt x="1578853" y="1569900"/>
                </a:lnTo>
                <a:lnTo>
                  <a:pt x="1578853"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sp>
        <p:nvSpPr>
          <p:cNvPr id="28" name="Freeform 28"/>
          <p:cNvSpPr/>
          <p:nvPr/>
        </p:nvSpPr>
        <p:spPr>
          <a:xfrm flipH="1">
            <a:off x="10743361" y="7534871"/>
            <a:ext cx="1613029" cy="1603882"/>
          </a:xfrm>
          <a:custGeom>
            <a:avLst/>
            <a:gdLst/>
            <a:ahLst/>
            <a:cxnLst/>
            <a:rect l="l" t="t" r="r" b="b"/>
            <a:pathLst>
              <a:path w="1613029" h="1603882">
                <a:moveTo>
                  <a:pt x="1613029" y="0"/>
                </a:moveTo>
                <a:lnTo>
                  <a:pt x="0" y="0"/>
                </a:lnTo>
                <a:lnTo>
                  <a:pt x="0" y="1603882"/>
                </a:lnTo>
                <a:lnTo>
                  <a:pt x="1613029" y="1603882"/>
                </a:lnTo>
                <a:lnTo>
                  <a:pt x="1613029" y="0"/>
                </a:lnTo>
                <a:close/>
              </a:path>
            </a:pathLst>
          </a:custGeom>
          <a:blipFill>
            <a:blip r:embed="rId4">
              <a:extLst>
                <a:ext uri="{96DAC541-7B7A-43D3-8B79-37D633B846F1}">
                  <asvg:svgBlip xmlns:asvg="http://schemas.microsoft.com/office/drawing/2016/SVG/main" r:embed="rId5"/>
                </a:ext>
              </a:extLst>
            </a:blip>
            <a:stretch>
              <a:fillRect r="-107152"/>
            </a:stretch>
          </a:blipFill>
        </p:spPr>
        <p:txBody>
          <a:bodyPr/>
          <a:lstStyle/>
          <a:p>
            <a:endParaRPr lang="en-PK"/>
          </a:p>
        </p:txBody>
      </p:sp>
      <p:sp>
        <p:nvSpPr>
          <p:cNvPr id="29" name="Freeform 29"/>
          <p:cNvSpPr/>
          <p:nvPr/>
        </p:nvSpPr>
        <p:spPr>
          <a:xfrm flipH="1">
            <a:off x="10663261" y="7401061"/>
            <a:ext cx="1578852" cy="1569900"/>
          </a:xfrm>
          <a:custGeom>
            <a:avLst/>
            <a:gdLst/>
            <a:ahLst/>
            <a:cxnLst/>
            <a:rect l="l" t="t" r="r" b="b"/>
            <a:pathLst>
              <a:path w="1578852" h="1569900">
                <a:moveTo>
                  <a:pt x="1578852" y="0"/>
                </a:moveTo>
                <a:lnTo>
                  <a:pt x="0" y="0"/>
                </a:lnTo>
                <a:lnTo>
                  <a:pt x="0" y="1569899"/>
                </a:lnTo>
                <a:lnTo>
                  <a:pt x="1578852" y="1569899"/>
                </a:lnTo>
                <a:lnTo>
                  <a:pt x="1578852" y="0"/>
                </a:lnTo>
                <a:close/>
              </a:path>
            </a:pathLst>
          </a:custGeom>
          <a:blipFill>
            <a:blip r:embed="rId2">
              <a:extLst>
                <a:ext uri="{96DAC541-7B7A-43D3-8B79-37D633B846F1}">
                  <asvg:svgBlip xmlns:asvg="http://schemas.microsoft.com/office/drawing/2016/SVG/main" r:embed="rId3"/>
                </a:ext>
              </a:extLst>
            </a:blip>
            <a:stretch>
              <a:fillRect r="-107152"/>
            </a:stretch>
          </a:blipFill>
        </p:spPr>
        <p:txBody>
          <a:bodyPr/>
          <a:lstStyle/>
          <a:p>
            <a:endParaRPr lang="en-PK"/>
          </a:p>
        </p:txBody>
      </p:sp>
      <p:grpSp>
        <p:nvGrpSpPr>
          <p:cNvPr id="30" name="Group 30"/>
          <p:cNvGrpSpPr/>
          <p:nvPr/>
        </p:nvGrpSpPr>
        <p:grpSpPr>
          <a:xfrm>
            <a:off x="12746678" y="7410779"/>
            <a:ext cx="3637739" cy="434825"/>
            <a:chOff x="0" y="0"/>
            <a:chExt cx="1334446" cy="159509"/>
          </a:xfrm>
        </p:grpSpPr>
        <p:sp>
          <p:nvSpPr>
            <p:cNvPr id="31" name="Freeform 31"/>
            <p:cNvSpPr/>
            <p:nvPr/>
          </p:nvSpPr>
          <p:spPr>
            <a:xfrm>
              <a:off x="0" y="0"/>
              <a:ext cx="1334446" cy="159509"/>
            </a:xfrm>
            <a:custGeom>
              <a:avLst/>
              <a:gdLst/>
              <a:ahLst/>
              <a:cxnLst/>
              <a:rect l="l" t="t" r="r" b="b"/>
              <a:pathLst>
                <a:path w="1334446" h="159509">
                  <a:moveTo>
                    <a:pt x="79754" y="0"/>
                  </a:moveTo>
                  <a:lnTo>
                    <a:pt x="1254691" y="0"/>
                  </a:lnTo>
                  <a:cubicBezTo>
                    <a:pt x="1275843" y="0"/>
                    <a:pt x="1296129" y="8403"/>
                    <a:pt x="1311086" y="23359"/>
                  </a:cubicBezTo>
                  <a:cubicBezTo>
                    <a:pt x="1326043" y="38316"/>
                    <a:pt x="1334446" y="58602"/>
                    <a:pt x="1334446" y="79754"/>
                  </a:cubicBezTo>
                  <a:lnTo>
                    <a:pt x="1334446" y="79754"/>
                  </a:lnTo>
                  <a:cubicBezTo>
                    <a:pt x="1334446" y="100906"/>
                    <a:pt x="1326043" y="121192"/>
                    <a:pt x="1311086" y="136149"/>
                  </a:cubicBezTo>
                  <a:cubicBezTo>
                    <a:pt x="1296129" y="151106"/>
                    <a:pt x="1275843" y="159509"/>
                    <a:pt x="1254691"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32" name="TextBox 32"/>
            <p:cNvSpPr txBox="1"/>
            <p:nvPr/>
          </p:nvSpPr>
          <p:spPr>
            <a:xfrm>
              <a:off x="0" y="-38100"/>
              <a:ext cx="1334446" cy="197609"/>
            </a:xfrm>
            <a:prstGeom prst="rect">
              <a:avLst/>
            </a:prstGeom>
          </p:spPr>
          <p:txBody>
            <a:bodyPr lIns="50800" tIns="50800" rIns="50800" bIns="50800" rtlCol="0" anchor="ctr"/>
            <a:lstStyle/>
            <a:p>
              <a:pPr algn="ctr">
                <a:lnSpc>
                  <a:spcPts val="2659"/>
                </a:lnSpc>
              </a:pPr>
              <a:endParaRPr/>
            </a:p>
          </p:txBody>
        </p:sp>
      </p:grpSp>
      <p:sp>
        <p:nvSpPr>
          <p:cNvPr id="33" name="Freeform 33"/>
          <p:cNvSpPr/>
          <p:nvPr/>
        </p:nvSpPr>
        <p:spPr>
          <a:xfrm>
            <a:off x="11006603" y="1395931"/>
            <a:ext cx="892169" cy="879901"/>
          </a:xfrm>
          <a:custGeom>
            <a:avLst/>
            <a:gdLst/>
            <a:ahLst/>
            <a:cxnLst/>
            <a:rect l="l" t="t" r="r" b="b"/>
            <a:pathLst>
              <a:path w="892169" h="879901">
                <a:moveTo>
                  <a:pt x="0" y="0"/>
                </a:moveTo>
                <a:lnTo>
                  <a:pt x="892168" y="0"/>
                </a:lnTo>
                <a:lnTo>
                  <a:pt x="892168" y="879901"/>
                </a:lnTo>
                <a:lnTo>
                  <a:pt x="0" y="879901"/>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K"/>
          </a:p>
        </p:txBody>
      </p:sp>
      <p:sp>
        <p:nvSpPr>
          <p:cNvPr id="34" name="Freeform 34"/>
          <p:cNvSpPr/>
          <p:nvPr/>
        </p:nvSpPr>
        <p:spPr>
          <a:xfrm>
            <a:off x="11006603" y="3453875"/>
            <a:ext cx="892169" cy="1048069"/>
          </a:xfrm>
          <a:custGeom>
            <a:avLst/>
            <a:gdLst/>
            <a:ahLst/>
            <a:cxnLst/>
            <a:rect l="l" t="t" r="r" b="b"/>
            <a:pathLst>
              <a:path w="892169" h="1048069">
                <a:moveTo>
                  <a:pt x="0" y="0"/>
                </a:moveTo>
                <a:lnTo>
                  <a:pt x="892168" y="0"/>
                </a:lnTo>
                <a:lnTo>
                  <a:pt x="892168" y="1048069"/>
                </a:lnTo>
                <a:lnTo>
                  <a:pt x="0" y="104806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K"/>
          </a:p>
        </p:txBody>
      </p:sp>
      <p:sp>
        <p:nvSpPr>
          <p:cNvPr id="35" name="Freeform 35"/>
          <p:cNvSpPr/>
          <p:nvPr/>
        </p:nvSpPr>
        <p:spPr>
          <a:xfrm>
            <a:off x="11006603" y="5618640"/>
            <a:ext cx="919635" cy="1057051"/>
          </a:xfrm>
          <a:custGeom>
            <a:avLst/>
            <a:gdLst/>
            <a:ahLst/>
            <a:cxnLst/>
            <a:rect l="l" t="t" r="r" b="b"/>
            <a:pathLst>
              <a:path w="919635" h="1057051">
                <a:moveTo>
                  <a:pt x="0" y="0"/>
                </a:moveTo>
                <a:lnTo>
                  <a:pt x="919635" y="0"/>
                </a:lnTo>
                <a:lnTo>
                  <a:pt x="919635" y="1057051"/>
                </a:lnTo>
                <a:lnTo>
                  <a:pt x="0" y="1057051"/>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K"/>
          </a:p>
        </p:txBody>
      </p:sp>
      <p:sp>
        <p:nvSpPr>
          <p:cNvPr id="36" name="Freeform 36"/>
          <p:cNvSpPr/>
          <p:nvPr/>
        </p:nvSpPr>
        <p:spPr>
          <a:xfrm>
            <a:off x="11025203" y="7779840"/>
            <a:ext cx="854969" cy="826470"/>
          </a:xfrm>
          <a:custGeom>
            <a:avLst/>
            <a:gdLst/>
            <a:ahLst/>
            <a:cxnLst/>
            <a:rect l="l" t="t" r="r" b="b"/>
            <a:pathLst>
              <a:path w="854969" h="826470">
                <a:moveTo>
                  <a:pt x="0" y="0"/>
                </a:moveTo>
                <a:lnTo>
                  <a:pt x="854969" y="0"/>
                </a:lnTo>
                <a:lnTo>
                  <a:pt x="854969" y="826470"/>
                </a:lnTo>
                <a:lnTo>
                  <a:pt x="0" y="826470"/>
                </a:lnTo>
                <a:lnTo>
                  <a:pt x="0" y="0"/>
                </a:lnTo>
                <a:close/>
              </a:path>
            </a:pathLst>
          </a:custGeom>
          <a:blipFill>
            <a:blip r:embed="rId12">
              <a:extLst>
                <a:ext uri="{96DAC541-7B7A-43D3-8B79-37D633B846F1}">
                  <asvg:svgBlip xmlns:asvg="http://schemas.microsoft.com/office/drawing/2016/SVG/main" r:embed="rId13"/>
                </a:ext>
              </a:extLst>
            </a:blip>
            <a:stretch>
              <a:fillRect/>
            </a:stretch>
          </a:blipFill>
        </p:spPr>
        <p:txBody>
          <a:bodyPr/>
          <a:lstStyle/>
          <a:p>
            <a:endParaRPr lang="en-PK"/>
          </a:p>
        </p:txBody>
      </p:sp>
      <p:sp>
        <p:nvSpPr>
          <p:cNvPr id="37" name="TextBox 37"/>
          <p:cNvSpPr txBox="1"/>
          <p:nvPr/>
        </p:nvSpPr>
        <p:spPr>
          <a:xfrm>
            <a:off x="1028700" y="1276846"/>
            <a:ext cx="8115300" cy="559080"/>
          </a:xfrm>
          <a:prstGeom prst="rect">
            <a:avLst/>
          </a:prstGeom>
        </p:spPr>
        <p:txBody>
          <a:bodyPr lIns="0" tIns="0" rIns="0" bIns="0" rtlCol="0" anchor="t">
            <a:spAutoFit/>
          </a:bodyPr>
          <a:lstStyle/>
          <a:p>
            <a:pPr algn="l">
              <a:lnSpc>
                <a:spcPts val="4446"/>
              </a:lnSpc>
            </a:pPr>
            <a:r>
              <a:rPr lang="en-US" sz="3705" b="1">
                <a:solidFill>
                  <a:srgbClr val="000000"/>
                </a:solidFill>
                <a:latin typeface="Garet Bold"/>
                <a:ea typeface="Garet Bold"/>
                <a:cs typeface="Garet Bold"/>
                <a:sym typeface="Garet Bold"/>
              </a:rPr>
              <a:t>METHODOLOGY</a:t>
            </a:r>
          </a:p>
        </p:txBody>
      </p:sp>
      <p:sp>
        <p:nvSpPr>
          <p:cNvPr id="38" name="TextBox 38"/>
          <p:cNvSpPr txBox="1"/>
          <p:nvPr/>
        </p:nvSpPr>
        <p:spPr>
          <a:xfrm>
            <a:off x="1028700" y="3991959"/>
            <a:ext cx="8115300" cy="3792641"/>
          </a:xfrm>
          <a:prstGeom prst="rect">
            <a:avLst/>
          </a:prstGeom>
        </p:spPr>
        <p:txBody>
          <a:bodyPr lIns="0" tIns="0" rIns="0" bIns="0" rtlCol="0" anchor="t">
            <a:spAutoFit/>
          </a:bodyPr>
          <a:lstStyle/>
          <a:p>
            <a:pPr algn="l">
              <a:lnSpc>
                <a:spcPts val="3263"/>
              </a:lnSpc>
            </a:pPr>
            <a:r>
              <a:rPr lang="en-US" sz="2331" b="1" dirty="0">
                <a:solidFill>
                  <a:srgbClr val="000000"/>
                </a:solidFill>
                <a:latin typeface="Garet Bold"/>
                <a:ea typeface="Garet Bold"/>
                <a:cs typeface="Garet Bold"/>
                <a:sym typeface="Garet Bold"/>
              </a:rPr>
              <a:t>Sample</a:t>
            </a:r>
          </a:p>
          <a:p>
            <a:pPr marL="503345" lvl="1" indent="-251673" algn="l">
              <a:lnSpc>
                <a:spcPts val="3263"/>
              </a:lnSpc>
              <a:buFont typeface="Arial"/>
              <a:buChar char="•"/>
            </a:pPr>
            <a:r>
              <a:rPr lang="en-US" sz="2331" dirty="0">
                <a:solidFill>
                  <a:srgbClr val="000000"/>
                </a:solidFill>
                <a:latin typeface="Garet"/>
                <a:ea typeface="Garet"/>
                <a:cs typeface="Garet"/>
                <a:sym typeface="Garet"/>
              </a:rPr>
              <a:t>Approximately 40 responses and almost all were analyzed.</a:t>
            </a:r>
          </a:p>
          <a:p>
            <a:pPr marL="503345" lvl="1" indent="-251673" algn="l">
              <a:lnSpc>
                <a:spcPts val="3263"/>
              </a:lnSpc>
              <a:buFont typeface="Arial"/>
              <a:buChar char="•"/>
            </a:pPr>
            <a:r>
              <a:rPr lang="en-US" sz="2331" b="1" dirty="0">
                <a:solidFill>
                  <a:srgbClr val="000000"/>
                </a:solidFill>
                <a:latin typeface="Garet Bold"/>
                <a:ea typeface="Garet Bold"/>
                <a:cs typeface="Garet Bold"/>
                <a:sym typeface="Garet Bold"/>
              </a:rPr>
              <a:t>Respondents:</a:t>
            </a:r>
            <a:r>
              <a:rPr lang="en-US" sz="2331" dirty="0">
                <a:solidFill>
                  <a:srgbClr val="000000"/>
                </a:solidFill>
                <a:latin typeface="Garet"/>
                <a:ea typeface="Garet"/>
                <a:cs typeface="Garet"/>
                <a:sym typeface="Garet"/>
              </a:rPr>
              <a:t> Primarily Job holders in top notch Software Houses.</a:t>
            </a:r>
          </a:p>
          <a:p>
            <a:pPr algn="l">
              <a:lnSpc>
                <a:spcPts val="3263"/>
              </a:lnSpc>
            </a:pPr>
            <a:r>
              <a:rPr lang="en-US" sz="2331" b="1" dirty="0">
                <a:solidFill>
                  <a:srgbClr val="000000"/>
                </a:solidFill>
                <a:latin typeface="Garet Bold"/>
                <a:ea typeface="Garet Bold"/>
                <a:cs typeface="Garet Bold"/>
                <a:sym typeface="Garet Bold"/>
              </a:rPr>
              <a:t>Sampling</a:t>
            </a:r>
          </a:p>
          <a:p>
            <a:pPr marL="503345" lvl="1" indent="-251673" algn="l">
              <a:lnSpc>
                <a:spcPts val="3263"/>
              </a:lnSpc>
              <a:buFont typeface="Arial"/>
              <a:buChar char="•"/>
            </a:pPr>
            <a:r>
              <a:rPr lang="en-US" sz="2331" b="1" dirty="0">
                <a:solidFill>
                  <a:srgbClr val="000000"/>
                </a:solidFill>
                <a:latin typeface="Garet Bold"/>
                <a:ea typeface="Garet Bold"/>
                <a:cs typeface="Garet Bold"/>
                <a:sym typeface="Garet Bold"/>
              </a:rPr>
              <a:t>Technique:</a:t>
            </a:r>
            <a:r>
              <a:rPr lang="en-US" sz="2331" dirty="0">
                <a:solidFill>
                  <a:srgbClr val="000000"/>
                </a:solidFill>
                <a:latin typeface="Garet"/>
                <a:ea typeface="Garet"/>
                <a:cs typeface="Garet"/>
                <a:sym typeface="Garet"/>
              </a:rPr>
              <a:t> Non-probability judgment sampling.</a:t>
            </a:r>
          </a:p>
          <a:p>
            <a:pPr marL="503345" lvl="1" indent="-251673" algn="l">
              <a:lnSpc>
                <a:spcPts val="3263"/>
              </a:lnSpc>
              <a:buFont typeface="Arial"/>
              <a:buChar char="•"/>
            </a:pPr>
            <a:r>
              <a:rPr lang="en-US" sz="2331" dirty="0">
                <a:solidFill>
                  <a:srgbClr val="000000"/>
                </a:solidFill>
                <a:latin typeface="Garet"/>
                <a:ea typeface="Garet"/>
                <a:cs typeface="Garet"/>
                <a:sym typeface="Garet"/>
              </a:rPr>
              <a:t>Selected based on expertise in leadership styles and direct impact by leadership behaviors.</a:t>
            </a:r>
          </a:p>
        </p:txBody>
      </p:sp>
      <p:sp>
        <p:nvSpPr>
          <p:cNvPr id="39" name="TextBox 39"/>
          <p:cNvSpPr txBox="1"/>
          <p:nvPr/>
        </p:nvSpPr>
        <p:spPr>
          <a:xfrm>
            <a:off x="12746678" y="1577731"/>
            <a:ext cx="4512622" cy="790395"/>
          </a:xfrm>
          <a:prstGeom prst="rect">
            <a:avLst/>
          </a:prstGeom>
        </p:spPr>
        <p:txBody>
          <a:bodyPr lIns="0" tIns="0" rIns="0" bIns="0" rtlCol="0" anchor="t">
            <a:spAutoFit/>
          </a:bodyPr>
          <a:lstStyle/>
          <a:p>
            <a:pPr algn="l">
              <a:lnSpc>
                <a:spcPts val="2122"/>
              </a:lnSpc>
            </a:pPr>
            <a:r>
              <a:rPr lang="en-US" sz="1515">
                <a:solidFill>
                  <a:srgbClr val="000000"/>
                </a:solidFill>
                <a:latin typeface="Garet"/>
                <a:ea typeface="Garet"/>
                <a:cs typeface="Garet"/>
                <a:sym typeface="Garet"/>
              </a:rPr>
              <a:t>Examine the impact of transformational and servant leadership in profit-oriented service sectors.</a:t>
            </a:r>
          </a:p>
        </p:txBody>
      </p:sp>
      <p:sp>
        <p:nvSpPr>
          <p:cNvPr id="40" name="TextBox 40"/>
          <p:cNvSpPr txBox="1"/>
          <p:nvPr/>
        </p:nvSpPr>
        <p:spPr>
          <a:xfrm>
            <a:off x="12746678" y="3677881"/>
            <a:ext cx="4512622" cy="1323944"/>
          </a:xfrm>
          <a:prstGeom prst="rect">
            <a:avLst/>
          </a:prstGeom>
        </p:spPr>
        <p:txBody>
          <a:bodyPr lIns="0" tIns="0" rIns="0" bIns="0" rtlCol="0" anchor="t">
            <a:spAutoFit/>
          </a:bodyPr>
          <a:lstStyle/>
          <a:p>
            <a:pPr algn="just">
              <a:lnSpc>
                <a:spcPts val="2122"/>
              </a:lnSpc>
            </a:pPr>
            <a:r>
              <a:rPr lang="en-US" sz="1515">
                <a:solidFill>
                  <a:srgbClr val="000000"/>
                </a:solidFill>
                <a:latin typeface="Garet"/>
                <a:ea typeface="Garet"/>
                <a:cs typeface="Garet"/>
                <a:sym typeface="Garet"/>
              </a:rPr>
              <a:t>Service sectors in Pakistan, including:</a:t>
            </a:r>
          </a:p>
          <a:p>
            <a:pPr marL="327278" lvl="1" indent="-163639" algn="just">
              <a:lnSpc>
                <a:spcPts val="2122"/>
              </a:lnSpc>
              <a:buFont typeface="Arial"/>
              <a:buChar char="•"/>
            </a:pPr>
            <a:r>
              <a:rPr lang="en-US" sz="1515">
                <a:solidFill>
                  <a:srgbClr val="000000"/>
                </a:solidFill>
                <a:latin typeface="Garet"/>
                <a:ea typeface="Garet"/>
                <a:cs typeface="Garet"/>
                <a:sym typeface="Garet"/>
              </a:rPr>
              <a:t>Hotels</a:t>
            </a:r>
          </a:p>
          <a:p>
            <a:pPr marL="327278" lvl="1" indent="-163639" algn="just">
              <a:lnSpc>
                <a:spcPts val="2122"/>
              </a:lnSpc>
              <a:buFont typeface="Arial"/>
              <a:buChar char="•"/>
            </a:pPr>
            <a:r>
              <a:rPr lang="en-US" sz="1515">
                <a:solidFill>
                  <a:srgbClr val="000000"/>
                </a:solidFill>
                <a:latin typeface="Garet"/>
                <a:ea typeface="Garet"/>
                <a:cs typeface="Garet"/>
                <a:sym typeface="Garet"/>
              </a:rPr>
              <a:t>Telecommunication companies</a:t>
            </a:r>
          </a:p>
          <a:p>
            <a:pPr marL="327278" lvl="1" indent="-163639" algn="just">
              <a:lnSpc>
                <a:spcPts val="2122"/>
              </a:lnSpc>
              <a:buFont typeface="Arial"/>
              <a:buChar char="•"/>
            </a:pPr>
            <a:r>
              <a:rPr lang="en-US" sz="1515">
                <a:solidFill>
                  <a:srgbClr val="000000"/>
                </a:solidFill>
                <a:latin typeface="Garet"/>
                <a:ea typeface="Garet"/>
                <a:cs typeface="Garet"/>
                <a:sym typeface="Garet"/>
              </a:rPr>
              <a:t>Banking sector</a:t>
            </a:r>
          </a:p>
          <a:p>
            <a:pPr marL="327278" lvl="1" indent="-163639" algn="just">
              <a:lnSpc>
                <a:spcPts val="2122"/>
              </a:lnSpc>
              <a:buFont typeface="Arial"/>
              <a:buChar char="•"/>
            </a:pPr>
            <a:r>
              <a:rPr lang="en-US" sz="1515">
                <a:solidFill>
                  <a:srgbClr val="000000"/>
                </a:solidFill>
                <a:latin typeface="Garet"/>
                <a:ea typeface="Garet"/>
                <a:cs typeface="Garet"/>
                <a:sym typeface="Garet"/>
              </a:rPr>
              <a:t>Option if someone is from other sector</a:t>
            </a:r>
          </a:p>
        </p:txBody>
      </p:sp>
      <p:sp>
        <p:nvSpPr>
          <p:cNvPr id="41" name="TextBox 41"/>
          <p:cNvSpPr txBox="1"/>
          <p:nvPr/>
        </p:nvSpPr>
        <p:spPr>
          <a:xfrm>
            <a:off x="12746678" y="1194144"/>
            <a:ext cx="3408724" cy="313770"/>
          </a:xfrm>
          <a:prstGeom prst="rect">
            <a:avLst/>
          </a:prstGeom>
        </p:spPr>
        <p:txBody>
          <a:bodyPr lIns="0" tIns="0" rIns="0" bIns="0" rtlCol="0" anchor="t">
            <a:spAutoFit/>
          </a:bodyPr>
          <a:lstStyle/>
          <a:p>
            <a:pPr algn="l">
              <a:lnSpc>
                <a:spcPts val="2655"/>
              </a:lnSpc>
              <a:spcBef>
                <a:spcPct val="0"/>
              </a:spcBef>
            </a:pPr>
            <a:r>
              <a:rPr lang="en-US" sz="1896" b="1">
                <a:solidFill>
                  <a:srgbClr val="000000"/>
                </a:solidFill>
                <a:latin typeface="Garet Bold"/>
                <a:ea typeface="Garet Bold"/>
                <a:cs typeface="Garet Bold"/>
                <a:sym typeface="Garet Bold"/>
              </a:rPr>
              <a:t>Study Objective</a:t>
            </a:r>
          </a:p>
        </p:txBody>
      </p:sp>
      <p:sp>
        <p:nvSpPr>
          <p:cNvPr id="42" name="TextBox 42"/>
          <p:cNvSpPr txBox="1"/>
          <p:nvPr/>
        </p:nvSpPr>
        <p:spPr>
          <a:xfrm>
            <a:off x="12746678" y="3281769"/>
            <a:ext cx="3559603" cy="313770"/>
          </a:xfrm>
          <a:prstGeom prst="rect">
            <a:avLst/>
          </a:prstGeom>
        </p:spPr>
        <p:txBody>
          <a:bodyPr lIns="0" tIns="0" rIns="0" bIns="0" rtlCol="0" anchor="t">
            <a:spAutoFit/>
          </a:bodyPr>
          <a:lstStyle/>
          <a:p>
            <a:pPr algn="l">
              <a:lnSpc>
                <a:spcPts val="2655"/>
              </a:lnSpc>
              <a:spcBef>
                <a:spcPct val="0"/>
              </a:spcBef>
            </a:pPr>
            <a:r>
              <a:rPr lang="en-US" sz="1896" b="1">
                <a:solidFill>
                  <a:srgbClr val="000000"/>
                </a:solidFill>
                <a:latin typeface="Garet Bold"/>
                <a:ea typeface="Garet Bold"/>
                <a:cs typeface="Garet Bold"/>
                <a:sym typeface="Garet Bold"/>
              </a:rPr>
              <a:t>Population</a:t>
            </a:r>
          </a:p>
        </p:txBody>
      </p:sp>
      <p:sp>
        <p:nvSpPr>
          <p:cNvPr id="43" name="TextBox 43"/>
          <p:cNvSpPr txBox="1"/>
          <p:nvPr/>
        </p:nvSpPr>
        <p:spPr>
          <a:xfrm>
            <a:off x="12746678" y="5369394"/>
            <a:ext cx="4766633" cy="313770"/>
          </a:xfrm>
          <a:prstGeom prst="rect">
            <a:avLst/>
          </a:prstGeom>
        </p:spPr>
        <p:txBody>
          <a:bodyPr lIns="0" tIns="0" rIns="0" bIns="0" rtlCol="0" anchor="t">
            <a:spAutoFit/>
          </a:bodyPr>
          <a:lstStyle/>
          <a:p>
            <a:pPr algn="l">
              <a:lnSpc>
                <a:spcPts val="2655"/>
              </a:lnSpc>
              <a:spcBef>
                <a:spcPct val="0"/>
              </a:spcBef>
            </a:pPr>
            <a:r>
              <a:rPr lang="en-US" sz="1896" b="1">
                <a:solidFill>
                  <a:srgbClr val="000000"/>
                </a:solidFill>
                <a:latin typeface="Garet Bold"/>
                <a:ea typeface="Garet Bold"/>
                <a:cs typeface="Garet Bold"/>
                <a:sym typeface="Garet Bold"/>
              </a:rPr>
              <a:t>Survey Method</a:t>
            </a:r>
          </a:p>
        </p:txBody>
      </p:sp>
      <p:sp>
        <p:nvSpPr>
          <p:cNvPr id="44" name="TextBox 44"/>
          <p:cNvSpPr txBox="1"/>
          <p:nvPr/>
        </p:nvSpPr>
        <p:spPr>
          <a:xfrm>
            <a:off x="12746678" y="7457019"/>
            <a:ext cx="4512622" cy="313770"/>
          </a:xfrm>
          <a:prstGeom prst="rect">
            <a:avLst/>
          </a:prstGeom>
        </p:spPr>
        <p:txBody>
          <a:bodyPr lIns="0" tIns="0" rIns="0" bIns="0" rtlCol="0" anchor="t">
            <a:spAutoFit/>
          </a:bodyPr>
          <a:lstStyle/>
          <a:p>
            <a:pPr algn="l">
              <a:lnSpc>
                <a:spcPts val="2655"/>
              </a:lnSpc>
              <a:spcBef>
                <a:spcPct val="0"/>
              </a:spcBef>
            </a:pPr>
            <a:r>
              <a:rPr lang="en-US" sz="1896" b="1">
                <a:solidFill>
                  <a:srgbClr val="000000"/>
                </a:solidFill>
                <a:latin typeface="Garet Bold"/>
                <a:ea typeface="Garet Bold"/>
                <a:cs typeface="Garet Bold"/>
                <a:sym typeface="Garet Bold"/>
              </a:rPr>
              <a:t>Questionnaire</a:t>
            </a:r>
          </a:p>
        </p:txBody>
      </p:sp>
      <p:sp>
        <p:nvSpPr>
          <p:cNvPr id="45" name="TextBox 45"/>
          <p:cNvSpPr txBox="1"/>
          <p:nvPr/>
        </p:nvSpPr>
        <p:spPr>
          <a:xfrm>
            <a:off x="12746678" y="5778030"/>
            <a:ext cx="4512622" cy="256846"/>
          </a:xfrm>
          <a:prstGeom prst="rect">
            <a:avLst/>
          </a:prstGeom>
        </p:spPr>
        <p:txBody>
          <a:bodyPr lIns="0" tIns="0" rIns="0" bIns="0" rtlCol="0" anchor="t">
            <a:spAutoFit/>
          </a:bodyPr>
          <a:lstStyle/>
          <a:p>
            <a:pPr marL="327278" lvl="1" indent="-163639" algn="just">
              <a:lnSpc>
                <a:spcPts val="2122"/>
              </a:lnSpc>
              <a:buFont typeface="Arial"/>
              <a:buChar char="•"/>
            </a:pPr>
            <a:r>
              <a:rPr lang="en-US" sz="1515">
                <a:solidFill>
                  <a:srgbClr val="000000"/>
                </a:solidFill>
                <a:latin typeface="Garet"/>
                <a:ea typeface="Garet"/>
                <a:cs typeface="Garet"/>
                <a:sym typeface="Garet"/>
              </a:rPr>
              <a:t>Conducted via Google Forms.</a:t>
            </a:r>
          </a:p>
        </p:txBody>
      </p:sp>
      <p:sp>
        <p:nvSpPr>
          <p:cNvPr id="46" name="TextBox 46"/>
          <p:cNvSpPr txBox="1"/>
          <p:nvPr/>
        </p:nvSpPr>
        <p:spPr>
          <a:xfrm>
            <a:off x="12746678" y="7878180"/>
            <a:ext cx="4512622" cy="790395"/>
          </a:xfrm>
          <a:prstGeom prst="rect">
            <a:avLst/>
          </a:prstGeom>
        </p:spPr>
        <p:txBody>
          <a:bodyPr lIns="0" tIns="0" rIns="0" bIns="0" rtlCol="0" anchor="t">
            <a:spAutoFit/>
          </a:bodyPr>
          <a:lstStyle/>
          <a:p>
            <a:pPr marL="327278" lvl="1" indent="-163639" algn="l">
              <a:lnSpc>
                <a:spcPts val="2122"/>
              </a:lnSpc>
              <a:buFont typeface="Arial"/>
              <a:buChar char="•"/>
            </a:pPr>
            <a:r>
              <a:rPr lang="en-US" sz="1515">
                <a:solidFill>
                  <a:srgbClr val="000000"/>
                </a:solidFill>
                <a:latin typeface="Garet"/>
                <a:ea typeface="Garet"/>
                <a:cs typeface="Garet"/>
                <a:sym typeface="Garet"/>
              </a:rPr>
              <a:t>Used the same questions as in the original study.</a:t>
            </a:r>
          </a:p>
          <a:p>
            <a:pPr marL="327278" lvl="1" indent="-163639" algn="l">
              <a:lnSpc>
                <a:spcPts val="2122"/>
              </a:lnSpc>
              <a:buFont typeface="Arial"/>
              <a:buChar char="•"/>
            </a:pPr>
            <a:r>
              <a:rPr lang="en-US" sz="1515">
                <a:solidFill>
                  <a:srgbClr val="000000"/>
                </a:solidFill>
                <a:latin typeface="Garet"/>
                <a:ea typeface="Garet"/>
                <a:cs typeface="Garet"/>
                <a:sym typeface="Garet"/>
              </a:rPr>
              <a:t>Based on established scales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48883" y="1149118"/>
            <a:ext cx="10535259" cy="814491"/>
            <a:chOff x="0" y="0"/>
            <a:chExt cx="2774718" cy="214516"/>
          </a:xfrm>
        </p:grpSpPr>
        <p:sp>
          <p:nvSpPr>
            <p:cNvPr id="3" name="Freeform 3"/>
            <p:cNvSpPr/>
            <p:nvPr/>
          </p:nvSpPr>
          <p:spPr>
            <a:xfrm>
              <a:off x="0" y="0"/>
              <a:ext cx="2774718" cy="214516"/>
            </a:xfrm>
            <a:custGeom>
              <a:avLst/>
              <a:gdLst/>
              <a:ahLst/>
              <a:cxnLst/>
              <a:rect l="l" t="t" r="r" b="b"/>
              <a:pathLst>
                <a:path w="2774718" h="214516">
                  <a:moveTo>
                    <a:pt x="203200" y="0"/>
                  </a:moveTo>
                  <a:lnTo>
                    <a:pt x="2774718" y="0"/>
                  </a:lnTo>
                  <a:lnTo>
                    <a:pt x="2571518" y="214516"/>
                  </a:lnTo>
                  <a:lnTo>
                    <a:pt x="0" y="214516"/>
                  </a:lnTo>
                  <a:lnTo>
                    <a:pt x="203200" y="0"/>
                  </a:lnTo>
                  <a:close/>
                </a:path>
              </a:pathLst>
            </a:custGeom>
            <a:solidFill>
              <a:srgbClr val="1468A2">
                <a:alpha val="7843"/>
              </a:srgbClr>
            </a:solidFill>
          </p:spPr>
          <p:txBody>
            <a:bodyPr/>
            <a:lstStyle/>
            <a:p>
              <a:endParaRPr lang="en-PK"/>
            </a:p>
          </p:txBody>
        </p:sp>
        <p:sp>
          <p:nvSpPr>
            <p:cNvPr id="4" name="TextBox 4"/>
            <p:cNvSpPr txBox="1"/>
            <p:nvPr/>
          </p:nvSpPr>
          <p:spPr>
            <a:xfrm>
              <a:off x="101600" y="-38100"/>
              <a:ext cx="2571518" cy="25261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6360369"/>
            <a:ext cx="3767825" cy="3233923"/>
            <a:chOff x="0" y="0"/>
            <a:chExt cx="1080158" cy="927100"/>
          </a:xfrm>
        </p:grpSpPr>
        <p:sp>
          <p:nvSpPr>
            <p:cNvPr id="6" name="Freeform 6"/>
            <p:cNvSpPr/>
            <p:nvPr/>
          </p:nvSpPr>
          <p:spPr>
            <a:xfrm>
              <a:off x="0" y="0"/>
              <a:ext cx="1080158" cy="927100"/>
            </a:xfrm>
            <a:custGeom>
              <a:avLst/>
              <a:gdLst/>
              <a:ahLst/>
              <a:cxnLst/>
              <a:rect l="l" t="t" r="r" b="b"/>
              <a:pathLst>
                <a:path w="1080158" h="927100">
                  <a:moveTo>
                    <a:pt x="113011" y="0"/>
                  </a:moveTo>
                  <a:lnTo>
                    <a:pt x="967147" y="0"/>
                  </a:lnTo>
                  <a:cubicBezTo>
                    <a:pt x="997120" y="0"/>
                    <a:pt x="1025865" y="11906"/>
                    <a:pt x="1047058" y="33100"/>
                  </a:cubicBezTo>
                  <a:cubicBezTo>
                    <a:pt x="1068252" y="54294"/>
                    <a:pt x="1080158" y="83039"/>
                    <a:pt x="1080158" y="113011"/>
                  </a:cubicBezTo>
                  <a:lnTo>
                    <a:pt x="1080158" y="814089"/>
                  </a:lnTo>
                  <a:cubicBezTo>
                    <a:pt x="1080158" y="876503"/>
                    <a:pt x="1029562" y="927100"/>
                    <a:pt x="967147" y="927100"/>
                  </a:cubicBezTo>
                  <a:lnTo>
                    <a:pt x="113011" y="927100"/>
                  </a:lnTo>
                  <a:cubicBezTo>
                    <a:pt x="50597" y="927100"/>
                    <a:pt x="0" y="876503"/>
                    <a:pt x="0" y="814089"/>
                  </a:cubicBezTo>
                  <a:lnTo>
                    <a:pt x="0" y="113011"/>
                  </a:lnTo>
                  <a:cubicBezTo>
                    <a:pt x="0" y="50597"/>
                    <a:pt x="50597" y="0"/>
                    <a:pt x="113011" y="0"/>
                  </a:cubicBezTo>
                  <a:close/>
                </a:path>
              </a:pathLst>
            </a:custGeom>
            <a:solidFill>
              <a:srgbClr val="EBF2F1"/>
            </a:solidFill>
            <a:ln cap="rnd">
              <a:noFill/>
              <a:prstDash val="solid"/>
              <a:round/>
            </a:ln>
          </p:spPr>
          <p:txBody>
            <a:bodyPr/>
            <a:lstStyle/>
            <a:p>
              <a:endParaRPr lang="en-PK"/>
            </a:p>
          </p:txBody>
        </p:sp>
        <p:sp>
          <p:nvSpPr>
            <p:cNvPr id="7" name="TextBox 7"/>
            <p:cNvSpPr txBox="1"/>
            <p:nvPr/>
          </p:nvSpPr>
          <p:spPr>
            <a:xfrm>
              <a:off x="0" y="-38100"/>
              <a:ext cx="1080158" cy="9652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5182958" y="6360369"/>
            <a:ext cx="3767825" cy="3233923"/>
            <a:chOff x="0" y="0"/>
            <a:chExt cx="1080158" cy="927100"/>
          </a:xfrm>
        </p:grpSpPr>
        <p:sp>
          <p:nvSpPr>
            <p:cNvPr id="9" name="Freeform 9"/>
            <p:cNvSpPr/>
            <p:nvPr/>
          </p:nvSpPr>
          <p:spPr>
            <a:xfrm>
              <a:off x="0" y="0"/>
              <a:ext cx="1080158" cy="927100"/>
            </a:xfrm>
            <a:custGeom>
              <a:avLst/>
              <a:gdLst/>
              <a:ahLst/>
              <a:cxnLst/>
              <a:rect l="l" t="t" r="r" b="b"/>
              <a:pathLst>
                <a:path w="1080158" h="927100">
                  <a:moveTo>
                    <a:pt x="113011" y="0"/>
                  </a:moveTo>
                  <a:lnTo>
                    <a:pt x="967147" y="0"/>
                  </a:lnTo>
                  <a:cubicBezTo>
                    <a:pt x="997120" y="0"/>
                    <a:pt x="1025865" y="11906"/>
                    <a:pt x="1047058" y="33100"/>
                  </a:cubicBezTo>
                  <a:cubicBezTo>
                    <a:pt x="1068252" y="54294"/>
                    <a:pt x="1080158" y="83039"/>
                    <a:pt x="1080158" y="113011"/>
                  </a:cubicBezTo>
                  <a:lnTo>
                    <a:pt x="1080158" y="814089"/>
                  </a:lnTo>
                  <a:cubicBezTo>
                    <a:pt x="1080158" y="876503"/>
                    <a:pt x="1029562" y="927100"/>
                    <a:pt x="967147" y="927100"/>
                  </a:cubicBezTo>
                  <a:lnTo>
                    <a:pt x="113011" y="927100"/>
                  </a:lnTo>
                  <a:cubicBezTo>
                    <a:pt x="50597" y="927100"/>
                    <a:pt x="0" y="876503"/>
                    <a:pt x="0" y="814089"/>
                  </a:cubicBezTo>
                  <a:lnTo>
                    <a:pt x="0" y="113011"/>
                  </a:lnTo>
                  <a:cubicBezTo>
                    <a:pt x="0" y="50597"/>
                    <a:pt x="50597" y="0"/>
                    <a:pt x="113011" y="0"/>
                  </a:cubicBezTo>
                  <a:close/>
                </a:path>
              </a:pathLst>
            </a:custGeom>
            <a:solidFill>
              <a:srgbClr val="EBF2F1"/>
            </a:solidFill>
            <a:ln cap="rnd">
              <a:noFill/>
              <a:prstDash val="solid"/>
              <a:round/>
            </a:ln>
          </p:spPr>
          <p:txBody>
            <a:bodyPr/>
            <a:lstStyle/>
            <a:p>
              <a:endParaRPr lang="en-PK"/>
            </a:p>
          </p:txBody>
        </p:sp>
        <p:sp>
          <p:nvSpPr>
            <p:cNvPr id="10" name="TextBox 10"/>
            <p:cNvSpPr txBox="1"/>
            <p:nvPr/>
          </p:nvSpPr>
          <p:spPr>
            <a:xfrm>
              <a:off x="0" y="-38100"/>
              <a:ext cx="1080158" cy="9652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2366241" y="5944871"/>
            <a:ext cx="1092742" cy="1128939"/>
            <a:chOff x="0" y="0"/>
            <a:chExt cx="812800" cy="839724"/>
          </a:xfrm>
        </p:grpSpPr>
        <p:sp>
          <p:nvSpPr>
            <p:cNvPr id="12" name="Freeform 12"/>
            <p:cNvSpPr/>
            <p:nvPr/>
          </p:nvSpPr>
          <p:spPr>
            <a:xfrm>
              <a:off x="0" y="0"/>
              <a:ext cx="812800" cy="839724"/>
            </a:xfrm>
            <a:custGeom>
              <a:avLst/>
              <a:gdLst/>
              <a:ahLst/>
              <a:cxnLst/>
              <a:rect l="l" t="t" r="r" b="b"/>
              <a:pathLst>
                <a:path w="812800" h="839724">
                  <a:moveTo>
                    <a:pt x="406400" y="0"/>
                  </a:moveTo>
                  <a:cubicBezTo>
                    <a:pt x="181951" y="0"/>
                    <a:pt x="0" y="187979"/>
                    <a:pt x="0" y="419862"/>
                  </a:cubicBezTo>
                  <a:cubicBezTo>
                    <a:pt x="0" y="651745"/>
                    <a:pt x="181951" y="839724"/>
                    <a:pt x="406400" y="839724"/>
                  </a:cubicBezTo>
                  <a:cubicBezTo>
                    <a:pt x="630849" y="839724"/>
                    <a:pt x="812800" y="651745"/>
                    <a:pt x="812800" y="419862"/>
                  </a:cubicBezTo>
                  <a:cubicBezTo>
                    <a:pt x="812800" y="187979"/>
                    <a:pt x="630849" y="0"/>
                    <a:pt x="406400" y="0"/>
                  </a:cubicBezTo>
                  <a:close/>
                </a:path>
              </a:pathLst>
            </a:custGeom>
            <a:solidFill>
              <a:srgbClr val="1468A2"/>
            </a:solidFill>
          </p:spPr>
          <p:txBody>
            <a:bodyPr/>
            <a:lstStyle/>
            <a:p>
              <a:endParaRPr lang="en-PK"/>
            </a:p>
          </p:txBody>
        </p:sp>
        <p:sp>
          <p:nvSpPr>
            <p:cNvPr id="13" name="TextBox 13"/>
            <p:cNvSpPr txBox="1"/>
            <p:nvPr/>
          </p:nvSpPr>
          <p:spPr>
            <a:xfrm>
              <a:off x="76200" y="40624"/>
              <a:ext cx="660400" cy="720376"/>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6520500" y="5944871"/>
            <a:ext cx="1092742" cy="1128939"/>
            <a:chOff x="0" y="0"/>
            <a:chExt cx="812800" cy="839724"/>
          </a:xfrm>
        </p:grpSpPr>
        <p:sp>
          <p:nvSpPr>
            <p:cNvPr id="15" name="Freeform 15"/>
            <p:cNvSpPr/>
            <p:nvPr/>
          </p:nvSpPr>
          <p:spPr>
            <a:xfrm>
              <a:off x="0" y="0"/>
              <a:ext cx="812800" cy="839724"/>
            </a:xfrm>
            <a:custGeom>
              <a:avLst/>
              <a:gdLst/>
              <a:ahLst/>
              <a:cxnLst/>
              <a:rect l="l" t="t" r="r" b="b"/>
              <a:pathLst>
                <a:path w="812800" h="839724">
                  <a:moveTo>
                    <a:pt x="406400" y="0"/>
                  </a:moveTo>
                  <a:cubicBezTo>
                    <a:pt x="181951" y="0"/>
                    <a:pt x="0" y="187979"/>
                    <a:pt x="0" y="419862"/>
                  </a:cubicBezTo>
                  <a:cubicBezTo>
                    <a:pt x="0" y="651745"/>
                    <a:pt x="181951" y="839724"/>
                    <a:pt x="406400" y="839724"/>
                  </a:cubicBezTo>
                  <a:cubicBezTo>
                    <a:pt x="630849" y="839724"/>
                    <a:pt x="812800" y="651745"/>
                    <a:pt x="812800" y="419862"/>
                  </a:cubicBezTo>
                  <a:cubicBezTo>
                    <a:pt x="812800" y="187979"/>
                    <a:pt x="630849" y="0"/>
                    <a:pt x="406400" y="0"/>
                  </a:cubicBezTo>
                  <a:close/>
                </a:path>
              </a:pathLst>
            </a:custGeom>
            <a:solidFill>
              <a:srgbClr val="1468A2"/>
            </a:solidFill>
          </p:spPr>
          <p:txBody>
            <a:bodyPr/>
            <a:lstStyle/>
            <a:p>
              <a:endParaRPr lang="en-PK"/>
            </a:p>
          </p:txBody>
        </p:sp>
        <p:sp>
          <p:nvSpPr>
            <p:cNvPr id="16" name="TextBox 16"/>
            <p:cNvSpPr txBox="1"/>
            <p:nvPr/>
          </p:nvSpPr>
          <p:spPr>
            <a:xfrm>
              <a:off x="76200" y="40624"/>
              <a:ext cx="660400" cy="720376"/>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rot="2700000">
            <a:off x="11596093" y="4514252"/>
            <a:ext cx="10363565" cy="11228294"/>
            <a:chOff x="0" y="0"/>
            <a:chExt cx="3471252" cy="3760892"/>
          </a:xfrm>
        </p:grpSpPr>
        <p:sp>
          <p:nvSpPr>
            <p:cNvPr id="18" name="Freeform 18"/>
            <p:cNvSpPr/>
            <p:nvPr/>
          </p:nvSpPr>
          <p:spPr>
            <a:xfrm>
              <a:off x="0" y="0"/>
              <a:ext cx="3471252" cy="3760892"/>
            </a:xfrm>
            <a:custGeom>
              <a:avLst/>
              <a:gdLst/>
              <a:ahLst/>
              <a:cxnLst/>
              <a:rect l="l" t="t" r="r" b="b"/>
              <a:pathLst>
                <a:path w="3471252" h="3760892">
                  <a:moveTo>
                    <a:pt x="0" y="0"/>
                  </a:moveTo>
                  <a:lnTo>
                    <a:pt x="3471252" y="0"/>
                  </a:lnTo>
                  <a:lnTo>
                    <a:pt x="3471252" y="3760892"/>
                  </a:lnTo>
                  <a:lnTo>
                    <a:pt x="0" y="3760892"/>
                  </a:lnTo>
                  <a:close/>
                </a:path>
              </a:pathLst>
            </a:custGeom>
            <a:solidFill>
              <a:srgbClr val="1468A2"/>
            </a:solidFill>
          </p:spPr>
          <p:txBody>
            <a:bodyPr/>
            <a:lstStyle/>
            <a:p>
              <a:endParaRPr lang="en-PK"/>
            </a:p>
          </p:txBody>
        </p:sp>
        <p:sp>
          <p:nvSpPr>
            <p:cNvPr id="19" name="TextBox 19"/>
            <p:cNvSpPr txBox="1"/>
            <p:nvPr/>
          </p:nvSpPr>
          <p:spPr>
            <a:xfrm>
              <a:off x="0" y="-38100"/>
              <a:ext cx="3471252" cy="3798992"/>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9337217" y="6360369"/>
            <a:ext cx="3767825" cy="3233923"/>
            <a:chOff x="0" y="0"/>
            <a:chExt cx="1080158" cy="927100"/>
          </a:xfrm>
        </p:grpSpPr>
        <p:sp>
          <p:nvSpPr>
            <p:cNvPr id="21" name="Freeform 21"/>
            <p:cNvSpPr/>
            <p:nvPr/>
          </p:nvSpPr>
          <p:spPr>
            <a:xfrm>
              <a:off x="0" y="0"/>
              <a:ext cx="1080158" cy="927100"/>
            </a:xfrm>
            <a:custGeom>
              <a:avLst/>
              <a:gdLst/>
              <a:ahLst/>
              <a:cxnLst/>
              <a:rect l="l" t="t" r="r" b="b"/>
              <a:pathLst>
                <a:path w="1080158" h="927100">
                  <a:moveTo>
                    <a:pt x="113011" y="0"/>
                  </a:moveTo>
                  <a:lnTo>
                    <a:pt x="967147" y="0"/>
                  </a:lnTo>
                  <a:cubicBezTo>
                    <a:pt x="997120" y="0"/>
                    <a:pt x="1025865" y="11906"/>
                    <a:pt x="1047058" y="33100"/>
                  </a:cubicBezTo>
                  <a:cubicBezTo>
                    <a:pt x="1068252" y="54294"/>
                    <a:pt x="1080158" y="83039"/>
                    <a:pt x="1080158" y="113011"/>
                  </a:cubicBezTo>
                  <a:lnTo>
                    <a:pt x="1080158" y="814089"/>
                  </a:lnTo>
                  <a:cubicBezTo>
                    <a:pt x="1080158" y="876503"/>
                    <a:pt x="1029562" y="927100"/>
                    <a:pt x="967147" y="927100"/>
                  </a:cubicBezTo>
                  <a:lnTo>
                    <a:pt x="113011" y="927100"/>
                  </a:lnTo>
                  <a:cubicBezTo>
                    <a:pt x="50597" y="927100"/>
                    <a:pt x="0" y="876503"/>
                    <a:pt x="0" y="814089"/>
                  </a:cubicBezTo>
                  <a:lnTo>
                    <a:pt x="0" y="113011"/>
                  </a:lnTo>
                  <a:cubicBezTo>
                    <a:pt x="0" y="50597"/>
                    <a:pt x="50597" y="0"/>
                    <a:pt x="113011" y="0"/>
                  </a:cubicBezTo>
                  <a:close/>
                </a:path>
              </a:pathLst>
            </a:custGeom>
            <a:solidFill>
              <a:srgbClr val="EBF2F1"/>
            </a:solidFill>
            <a:ln cap="rnd">
              <a:noFill/>
              <a:prstDash val="solid"/>
              <a:round/>
            </a:ln>
          </p:spPr>
          <p:txBody>
            <a:bodyPr/>
            <a:lstStyle/>
            <a:p>
              <a:endParaRPr lang="en-PK"/>
            </a:p>
          </p:txBody>
        </p:sp>
        <p:sp>
          <p:nvSpPr>
            <p:cNvPr id="22" name="TextBox 22"/>
            <p:cNvSpPr txBox="1"/>
            <p:nvPr/>
          </p:nvSpPr>
          <p:spPr>
            <a:xfrm>
              <a:off x="0" y="-38100"/>
              <a:ext cx="1080158" cy="9652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0674758" y="5944871"/>
            <a:ext cx="1092742" cy="1128939"/>
            <a:chOff x="0" y="0"/>
            <a:chExt cx="812800" cy="839724"/>
          </a:xfrm>
        </p:grpSpPr>
        <p:sp>
          <p:nvSpPr>
            <p:cNvPr id="24" name="Freeform 24"/>
            <p:cNvSpPr/>
            <p:nvPr/>
          </p:nvSpPr>
          <p:spPr>
            <a:xfrm>
              <a:off x="0" y="0"/>
              <a:ext cx="812800" cy="839724"/>
            </a:xfrm>
            <a:custGeom>
              <a:avLst/>
              <a:gdLst/>
              <a:ahLst/>
              <a:cxnLst/>
              <a:rect l="l" t="t" r="r" b="b"/>
              <a:pathLst>
                <a:path w="812800" h="839724">
                  <a:moveTo>
                    <a:pt x="406400" y="0"/>
                  </a:moveTo>
                  <a:cubicBezTo>
                    <a:pt x="181951" y="0"/>
                    <a:pt x="0" y="187979"/>
                    <a:pt x="0" y="419862"/>
                  </a:cubicBezTo>
                  <a:cubicBezTo>
                    <a:pt x="0" y="651745"/>
                    <a:pt x="181951" y="839724"/>
                    <a:pt x="406400" y="839724"/>
                  </a:cubicBezTo>
                  <a:cubicBezTo>
                    <a:pt x="630849" y="839724"/>
                    <a:pt x="812800" y="651745"/>
                    <a:pt x="812800" y="419862"/>
                  </a:cubicBezTo>
                  <a:cubicBezTo>
                    <a:pt x="812800" y="187979"/>
                    <a:pt x="630849" y="0"/>
                    <a:pt x="406400" y="0"/>
                  </a:cubicBezTo>
                  <a:close/>
                </a:path>
              </a:pathLst>
            </a:custGeom>
            <a:solidFill>
              <a:srgbClr val="1468A2"/>
            </a:solidFill>
          </p:spPr>
          <p:txBody>
            <a:bodyPr/>
            <a:lstStyle/>
            <a:p>
              <a:endParaRPr lang="en-PK"/>
            </a:p>
          </p:txBody>
        </p:sp>
        <p:sp>
          <p:nvSpPr>
            <p:cNvPr id="25" name="TextBox 25"/>
            <p:cNvSpPr txBox="1"/>
            <p:nvPr/>
          </p:nvSpPr>
          <p:spPr>
            <a:xfrm>
              <a:off x="76200" y="40624"/>
              <a:ext cx="660400" cy="720376"/>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3491475" y="6360369"/>
            <a:ext cx="3767825" cy="3233923"/>
            <a:chOff x="0" y="0"/>
            <a:chExt cx="1080158" cy="927100"/>
          </a:xfrm>
        </p:grpSpPr>
        <p:sp>
          <p:nvSpPr>
            <p:cNvPr id="27" name="Freeform 27"/>
            <p:cNvSpPr/>
            <p:nvPr/>
          </p:nvSpPr>
          <p:spPr>
            <a:xfrm>
              <a:off x="0" y="0"/>
              <a:ext cx="1080158" cy="927100"/>
            </a:xfrm>
            <a:custGeom>
              <a:avLst/>
              <a:gdLst/>
              <a:ahLst/>
              <a:cxnLst/>
              <a:rect l="l" t="t" r="r" b="b"/>
              <a:pathLst>
                <a:path w="1080158" h="927100">
                  <a:moveTo>
                    <a:pt x="113011" y="0"/>
                  </a:moveTo>
                  <a:lnTo>
                    <a:pt x="967147" y="0"/>
                  </a:lnTo>
                  <a:cubicBezTo>
                    <a:pt x="997120" y="0"/>
                    <a:pt x="1025865" y="11906"/>
                    <a:pt x="1047058" y="33100"/>
                  </a:cubicBezTo>
                  <a:cubicBezTo>
                    <a:pt x="1068252" y="54294"/>
                    <a:pt x="1080158" y="83039"/>
                    <a:pt x="1080158" y="113011"/>
                  </a:cubicBezTo>
                  <a:lnTo>
                    <a:pt x="1080158" y="814089"/>
                  </a:lnTo>
                  <a:cubicBezTo>
                    <a:pt x="1080158" y="876503"/>
                    <a:pt x="1029562" y="927100"/>
                    <a:pt x="967147" y="927100"/>
                  </a:cubicBezTo>
                  <a:lnTo>
                    <a:pt x="113011" y="927100"/>
                  </a:lnTo>
                  <a:cubicBezTo>
                    <a:pt x="50597" y="927100"/>
                    <a:pt x="0" y="876503"/>
                    <a:pt x="0" y="814089"/>
                  </a:cubicBezTo>
                  <a:lnTo>
                    <a:pt x="0" y="113011"/>
                  </a:lnTo>
                  <a:cubicBezTo>
                    <a:pt x="0" y="50597"/>
                    <a:pt x="50597" y="0"/>
                    <a:pt x="113011" y="0"/>
                  </a:cubicBezTo>
                  <a:close/>
                </a:path>
              </a:pathLst>
            </a:custGeom>
            <a:solidFill>
              <a:srgbClr val="EBF2F1"/>
            </a:solidFill>
            <a:ln cap="rnd">
              <a:noFill/>
              <a:prstDash val="solid"/>
              <a:round/>
            </a:ln>
          </p:spPr>
          <p:txBody>
            <a:bodyPr/>
            <a:lstStyle/>
            <a:p>
              <a:endParaRPr lang="en-PK"/>
            </a:p>
          </p:txBody>
        </p:sp>
        <p:sp>
          <p:nvSpPr>
            <p:cNvPr id="28" name="TextBox 28"/>
            <p:cNvSpPr txBox="1"/>
            <p:nvPr/>
          </p:nvSpPr>
          <p:spPr>
            <a:xfrm>
              <a:off x="0" y="-38100"/>
              <a:ext cx="1080158" cy="9652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4829017" y="5944871"/>
            <a:ext cx="1092742" cy="1128939"/>
            <a:chOff x="0" y="0"/>
            <a:chExt cx="812800" cy="839724"/>
          </a:xfrm>
        </p:grpSpPr>
        <p:sp>
          <p:nvSpPr>
            <p:cNvPr id="30" name="Freeform 30"/>
            <p:cNvSpPr/>
            <p:nvPr/>
          </p:nvSpPr>
          <p:spPr>
            <a:xfrm>
              <a:off x="0" y="0"/>
              <a:ext cx="812800" cy="839724"/>
            </a:xfrm>
            <a:custGeom>
              <a:avLst/>
              <a:gdLst/>
              <a:ahLst/>
              <a:cxnLst/>
              <a:rect l="l" t="t" r="r" b="b"/>
              <a:pathLst>
                <a:path w="812800" h="839724">
                  <a:moveTo>
                    <a:pt x="406400" y="0"/>
                  </a:moveTo>
                  <a:cubicBezTo>
                    <a:pt x="181951" y="0"/>
                    <a:pt x="0" y="187979"/>
                    <a:pt x="0" y="419862"/>
                  </a:cubicBezTo>
                  <a:cubicBezTo>
                    <a:pt x="0" y="651745"/>
                    <a:pt x="181951" y="839724"/>
                    <a:pt x="406400" y="839724"/>
                  </a:cubicBezTo>
                  <a:cubicBezTo>
                    <a:pt x="630849" y="839724"/>
                    <a:pt x="812800" y="651745"/>
                    <a:pt x="812800" y="419862"/>
                  </a:cubicBezTo>
                  <a:cubicBezTo>
                    <a:pt x="812800" y="187979"/>
                    <a:pt x="630849" y="0"/>
                    <a:pt x="406400" y="0"/>
                  </a:cubicBezTo>
                  <a:close/>
                </a:path>
              </a:pathLst>
            </a:custGeom>
            <a:solidFill>
              <a:srgbClr val="1468A2"/>
            </a:solidFill>
          </p:spPr>
          <p:txBody>
            <a:bodyPr/>
            <a:lstStyle/>
            <a:p>
              <a:endParaRPr lang="en-PK"/>
            </a:p>
          </p:txBody>
        </p:sp>
        <p:sp>
          <p:nvSpPr>
            <p:cNvPr id="31" name="TextBox 31"/>
            <p:cNvSpPr txBox="1"/>
            <p:nvPr/>
          </p:nvSpPr>
          <p:spPr>
            <a:xfrm>
              <a:off x="76200" y="40624"/>
              <a:ext cx="660400" cy="720376"/>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2700000">
            <a:off x="11395055" y="-1384818"/>
            <a:ext cx="10363565" cy="5323328"/>
            <a:chOff x="0" y="0"/>
            <a:chExt cx="3471252" cy="1783037"/>
          </a:xfrm>
        </p:grpSpPr>
        <p:sp>
          <p:nvSpPr>
            <p:cNvPr id="33" name="Freeform 33"/>
            <p:cNvSpPr/>
            <p:nvPr/>
          </p:nvSpPr>
          <p:spPr>
            <a:xfrm>
              <a:off x="0" y="0"/>
              <a:ext cx="3471252" cy="1783037"/>
            </a:xfrm>
            <a:custGeom>
              <a:avLst/>
              <a:gdLst/>
              <a:ahLst/>
              <a:cxnLst/>
              <a:rect l="l" t="t" r="r" b="b"/>
              <a:pathLst>
                <a:path w="3471252" h="1783037">
                  <a:moveTo>
                    <a:pt x="0" y="0"/>
                  </a:moveTo>
                  <a:lnTo>
                    <a:pt x="3471252" y="0"/>
                  </a:lnTo>
                  <a:lnTo>
                    <a:pt x="3471252" y="1783037"/>
                  </a:lnTo>
                  <a:lnTo>
                    <a:pt x="0" y="1783037"/>
                  </a:lnTo>
                  <a:close/>
                </a:path>
              </a:pathLst>
            </a:custGeom>
            <a:solidFill>
              <a:srgbClr val="1468A2"/>
            </a:solidFill>
          </p:spPr>
          <p:txBody>
            <a:bodyPr/>
            <a:lstStyle/>
            <a:p>
              <a:endParaRPr lang="en-PK"/>
            </a:p>
          </p:txBody>
        </p:sp>
        <p:sp>
          <p:nvSpPr>
            <p:cNvPr id="34" name="TextBox 34"/>
            <p:cNvSpPr txBox="1"/>
            <p:nvPr/>
          </p:nvSpPr>
          <p:spPr>
            <a:xfrm>
              <a:off x="0" y="-38100"/>
              <a:ext cx="3471252" cy="1821137"/>
            </a:xfrm>
            <a:prstGeom prst="rect">
              <a:avLst/>
            </a:prstGeom>
          </p:spPr>
          <p:txBody>
            <a:bodyPr lIns="50800" tIns="50800" rIns="50800" bIns="50800" rtlCol="0" anchor="ctr"/>
            <a:lstStyle/>
            <a:p>
              <a:pPr algn="ctr">
                <a:lnSpc>
                  <a:spcPts val="2659"/>
                </a:lnSpc>
                <a:spcBef>
                  <a:spcPct val="0"/>
                </a:spcBef>
              </a:pPr>
              <a:endParaRPr/>
            </a:p>
          </p:txBody>
        </p:sp>
      </p:grpSp>
      <p:grpSp>
        <p:nvGrpSpPr>
          <p:cNvPr id="35" name="Group 35"/>
          <p:cNvGrpSpPr/>
          <p:nvPr/>
        </p:nvGrpSpPr>
        <p:grpSpPr>
          <a:xfrm>
            <a:off x="13901581" y="-2446736"/>
            <a:ext cx="8843781" cy="8843781"/>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2"/>
              <a:stretch>
                <a:fillRect l="-46982" r="-3017"/>
              </a:stretch>
            </a:blipFill>
          </p:spPr>
          <p:txBody>
            <a:bodyPr/>
            <a:lstStyle/>
            <a:p>
              <a:endParaRPr lang="en-PK"/>
            </a:p>
          </p:txBody>
        </p:sp>
      </p:grpSp>
      <p:sp>
        <p:nvSpPr>
          <p:cNvPr id="37" name="Freeform 37"/>
          <p:cNvSpPr/>
          <p:nvPr/>
        </p:nvSpPr>
        <p:spPr>
          <a:xfrm>
            <a:off x="13280237" y="-456941"/>
            <a:ext cx="3393170" cy="4729590"/>
          </a:xfrm>
          <a:custGeom>
            <a:avLst/>
            <a:gdLst/>
            <a:ahLst/>
            <a:cxnLst/>
            <a:rect l="l" t="t" r="r" b="b"/>
            <a:pathLst>
              <a:path w="3393170" h="4729590">
                <a:moveTo>
                  <a:pt x="0" y="0"/>
                </a:moveTo>
                <a:lnTo>
                  <a:pt x="3393170" y="0"/>
                </a:lnTo>
                <a:lnTo>
                  <a:pt x="3393170" y="4729589"/>
                </a:lnTo>
                <a:lnTo>
                  <a:pt x="0" y="4729589"/>
                </a:lnTo>
                <a:lnTo>
                  <a:pt x="0" y="0"/>
                </a:lnTo>
                <a:close/>
              </a:path>
            </a:pathLst>
          </a:custGeom>
          <a:blipFill>
            <a:blip r:embed="rId3"/>
            <a:stretch>
              <a:fillRect t="-25377" b="-12492"/>
            </a:stretch>
          </a:blipFill>
        </p:spPr>
        <p:txBody>
          <a:bodyPr/>
          <a:lstStyle/>
          <a:p>
            <a:endParaRPr lang="en-PK"/>
          </a:p>
        </p:txBody>
      </p:sp>
      <p:sp>
        <p:nvSpPr>
          <p:cNvPr id="38" name="AutoShape 38"/>
          <p:cNvSpPr/>
          <p:nvPr/>
        </p:nvSpPr>
        <p:spPr>
          <a:xfrm>
            <a:off x="9350687" y="-1475052"/>
            <a:ext cx="7226150" cy="7226150"/>
          </a:xfrm>
          <a:prstGeom prst="line">
            <a:avLst/>
          </a:prstGeom>
          <a:ln w="38100" cap="flat">
            <a:solidFill>
              <a:srgbClr val="1468A2"/>
            </a:solidFill>
            <a:prstDash val="solid"/>
            <a:headEnd type="none" w="sm" len="sm"/>
            <a:tailEnd type="none" w="sm" len="sm"/>
          </a:ln>
        </p:spPr>
        <p:txBody>
          <a:bodyPr/>
          <a:lstStyle/>
          <a:p>
            <a:endParaRPr lang="en-PK"/>
          </a:p>
        </p:txBody>
      </p:sp>
      <p:sp>
        <p:nvSpPr>
          <p:cNvPr id="39" name="AutoShape 39"/>
          <p:cNvSpPr/>
          <p:nvPr/>
        </p:nvSpPr>
        <p:spPr>
          <a:xfrm>
            <a:off x="1406478" y="8044005"/>
            <a:ext cx="3012268" cy="0"/>
          </a:xfrm>
          <a:prstGeom prst="line">
            <a:avLst/>
          </a:prstGeom>
          <a:ln w="19050" cap="flat">
            <a:solidFill>
              <a:srgbClr val="1468A2"/>
            </a:solidFill>
            <a:prstDash val="solid"/>
            <a:headEnd type="none" w="sm" len="sm"/>
            <a:tailEnd type="none" w="sm" len="sm"/>
          </a:ln>
        </p:spPr>
        <p:txBody>
          <a:bodyPr/>
          <a:lstStyle/>
          <a:p>
            <a:endParaRPr lang="en-PK"/>
          </a:p>
        </p:txBody>
      </p:sp>
      <p:sp>
        <p:nvSpPr>
          <p:cNvPr id="40" name="AutoShape 40"/>
          <p:cNvSpPr/>
          <p:nvPr/>
        </p:nvSpPr>
        <p:spPr>
          <a:xfrm>
            <a:off x="5560737" y="8044005"/>
            <a:ext cx="3012268" cy="0"/>
          </a:xfrm>
          <a:prstGeom prst="line">
            <a:avLst/>
          </a:prstGeom>
          <a:ln w="19050" cap="flat">
            <a:solidFill>
              <a:srgbClr val="1468A2"/>
            </a:solidFill>
            <a:prstDash val="solid"/>
            <a:headEnd type="none" w="sm" len="sm"/>
            <a:tailEnd type="none" w="sm" len="sm"/>
          </a:ln>
        </p:spPr>
        <p:txBody>
          <a:bodyPr/>
          <a:lstStyle/>
          <a:p>
            <a:endParaRPr lang="en-PK"/>
          </a:p>
        </p:txBody>
      </p:sp>
      <p:sp>
        <p:nvSpPr>
          <p:cNvPr id="41" name="AutoShape 41"/>
          <p:cNvSpPr/>
          <p:nvPr/>
        </p:nvSpPr>
        <p:spPr>
          <a:xfrm>
            <a:off x="9714995" y="8044005"/>
            <a:ext cx="3012268" cy="0"/>
          </a:xfrm>
          <a:prstGeom prst="line">
            <a:avLst/>
          </a:prstGeom>
          <a:ln w="19050" cap="flat">
            <a:solidFill>
              <a:srgbClr val="1468A2"/>
            </a:solidFill>
            <a:prstDash val="solid"/>
            <a:headEnd type="none" w="sm" len="sm"/>
            <a:tailEnd type="none" w="sm" len="sm"/>
          </a:ln>
        </p:spPr>
        <p:txBody>
          <a:bodyPr/>
          <a:lstStyle/>
          <a:p>
            <a:endParaRPr lang="en-PK"/>
          </a:p>
        </p:txBody>
      </p:sp>
      <p:sp>
        <p:nvSpPr>
          <p:cNvPr id="42" name="AutoShape 42"/>
          <p:cNvSpPr/>
          <p:nvPr/>
        </p:nvSpPr>
        <p:spPr>
          <a:xfrm>
            <a:off x="13869254" y="8044005"/>
            <a:ext cx="3012268" cy="0"/>
          </a:xfrm>
          <a:prstGeom prst="line">
            <a:avLst/>
          </a:prstGeom>
          <a:ln w="19050" cap="flat">
            <a:solidFill>
              <a:srgbClr val="1468A2"/>
            </a:solidFill>
            <a:prstDash val="solid"/>
            <a:headEnd type="none" w="sm" len="sm"/>
            <a:tailEnd type="none" w="sm" len="sm"/>
          </a:ln>
        </p:spPr>
        <p:txBody>
          <a:bodyPr/>
          <a:lstStyle/>
          <a:p>
            <a:endParaRPr lang="en-PK"/>
          </a:p>
        </p:txBody>
      </p:sp>
      <p:sp>
        <p:nvSpPr>
          <p:cNvPr id="43" name="Freeform 43"/>
          <p:cNvSpPr/>
          <p:nvPr/>
        </p:nvSpPr>
        <p:spPr>
          <a:xfrm>
            <a:off x="2616921" y="6124992"/>
            <a:ext cx="591382" cy="725622"/>
          </a:xfrm>
          <a:custGeom>
            <a:avLst/>
            <a:gdLst/>
            <a:ahLst/>
            <a:cxnLst/>
            <a:rect l="l" t="t" r="r" b="b"/>
            <a:pathLst>
              <a:path w="591382" h="725622">
                <a:moveTo>
                  <a:pt x="0" y="0"/>
                </a:moveTo>
                <a:lnTo>
                  <a:pt x="591382" y="0"/>
                </a:lnTo>
                <a:lnTo>
                  <a:pt x="591382" y="725623"/>
                </a:lnTo>
                <a:lnTo>
                  <a:pt x="0" y="725623"/>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PK"/>
          </a:p>
        </p:txBody>
      </p:sp>
      <p:sp>
        <p:nvSpPr>
          <p:cNvPr id="44" name="Freeform 44"/>
          <p:cNvSpPr/>
          <p:nvPr/>
        </p:nvSpPr>
        <p:spPr>
          <a:xfrm>
            <a:off x="6778755" y="6155202"/>
            <a:ext cx="576232" cy="665203"/>
          </a:xfrm>
          <a:custGeom>
            <a:avLst/>
            <a:gdLst/>
            <a:ahLst/>
            <a:cxnLst/>
            <a:rect l="l" t="t" r="r" b="b"/>
            <a:pathLst>
              <a:path w="576232" h="665203">
                <a:moveTo>
                  <a:pt x="0" y="0"/>
                </a:moveTo>
                <a:lnTo>
                  <a:pt x="576232" y="0"/>
                </a:lnTo>
                <a:lnTo>
                  <a:pt x="576232" y="665203"/>
                </a:lnTo>
                <a:lnTo>
                  <a:pt x="0" y="6652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PK"/>
          </a:p>
        </p:txBody>
      </p:sp>
      <p:sp>
        <p:nvSpPr>
          <p:cNvPr id="45" name="Freeform 45"/>
          <p:cNvSpPr/>
          <p:nvPr/>
        </p:nvSpPr>
        <p:spPr>
          <a:xfrm>
            <a:off x="10874186" y="6140860"/>
            <a:ext cx="693886" cy="693886"/>
          </a:xfrm>
          <a:custGeom>
            <a:avLst/>
            <a:gdLst/>
            <a:ahLst/>
            <a:cxnLst/>
            <a:rect l="l" t="t" r="r" b="b"/>
            <a:pathLst>
              <a:path w="693886" h="693886">
                <a:moveTo>
                  <a:pt x="0" y="0"/>
                </a:moveTo>
                <a:lnTo>
                  <a:pt x="693886" y="0"/>
                </a:lnTo>
                <a:lnTo>
                  <a:pt x="693886" y="693887"/>
                </a:lnTo>
                <a:lnTo>
                  <a:pt x="0" y="693887"/>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PK"/>
          </a:p>
        </p:txBody>
      </p:sp>
      <p:sp>
        <p:nvSpPr>
          <p:cNvPr id="46" name="Freeform 46"/>
          <p:cNvSpPr/>
          <p:nvPr/>
        </p:nvSpPr>
        <p:spPr>
          <a:xfrm>
            <a:off x="15098810" y="6140860"/>
            <a:ext cx="553156" cy="692527"/>
          </a:xfrm>
          <a:custGeom>
            <a:avLst/>
            <a:gdLst/>
            <a:ahLst/>
            <a:cxnLst/>
            <a:rect l="l" t="t" r="r" b="b"/>
            <a:pathLst>
              <a:path w="553156" h="692527">
                <a:moveTo>
                  <a:pt x="0" y="0"/>
                </a:moveTo>
                <a:lnTo>
                  <a:pt x="553156" y="0"/>
                </a:lnTo>
                <a:lnTo>
                  <a:pt x="553156" y="692527"/>
                </a:lnTo>
                <a:lnTo>
                  <a:pt x="0" y="692527"/>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PK"/>
          </a:p>
        </p:txBody>
      </p:sp>
      <p:sp>
        <p:nvSpPr>
          <p:cNvPr id="47" name="TextBox 47"/>
          <p:cNvSpPr txBox="1"/>
          <p:nvPr/>
        </p:nvSpPr>
        <p:spPr>
          <a:xfrm>
            <a:off x="1028700" y="1276846"/>
            <a:ext cx="8115300" cy="559080"/>
          </a:xfrm>
          <a:prstGeom prst="rect">
            <a:avLst/>
          </a:prstGeom>
        </p:spPr>
        <p:txBody>
          <a:bodyPr lIns="0" tIns="0" rIns="0" bIns="0" rtlCol="0" anchor="t">
            <a:spAutoFit/>
          </a:bodyPr>
          <a:lstStyle/>
          <a:p>
            <a:pPr algn="l">
              <a:lnSpc>
                <a:spcPts val="4446"/>
              </a:lnSpc>
            </a:pPr>
            <a:r>
              <a:rPr lang="en-US" sz="3705" b="1">
                <a:solidFill>
                  <a:srgbClr val="000000"/>
                </a:solidFill>
                <a:latin typeface="Garet Bold"/>
                <a:ea typeface="Garet Bold"/>
                <a:cs typeface="Garet Bold"/>
                <a:sym typeface="Garet Bold"/>
              </a:rPr>
              <a:t>MEASUREMENT SCALE</a:t>
            </a:r>
          </a:p>
        </p:txBody>
      </p:sp>
      <p:sp>
        <p:nvSpPr>
          <p:cNvPr id="48" name="TextBox 48"/>
          <p:cNvSpPr txBox="1"/>
          <p:nvPr/>
        </p:nvSpPr>
        <p:spPr>
          <a:xfrm>
            <a:off x="1353751" y="7344385"/>
            <a:ext cx="3117723" cy="548966"/>
          </a:xfrm>
          <a:prstGeom prst="rect">
            <a:avLst/>
          </a:prstGeom>
        </p:spPr>
        <p:txBody>
          <a:bodyPr lIns="0" tIns="0" rIns="0" bIns="0" rtlCol="0" anchor="t">
            <a:spAutoFit/>
          </a:bodyPr>
          <a:lstStyle/>
          <a:p>
            <a:pPr algn="ctr">
              <a:lnSpc>
                <a:spcPts val="2171"/>
              </a:lnSpc>
            </a:pPr>
            <a:r>
              <a:rPr lang="en-US" sz="1809" b="1">
                <a:solidFill>
                  <a:srgbClr val="000000"/>
                </a:solidFill>
                <a:latin typeface="Garet Bold"/>
                <a:ea typeface="Garet Bold"/>
                <a:cs typeface="Garet Bold"/>
                <a:sym typeface="Garet Bold"/>
              </a:rPr>
              <a:t>Transformational Leadership</a:t>
            </a:r>
          </a:p>
        </p:txBody>
      </p:sp>
      <p:sp>
        <p:nvSpPr>
          <p:cNvPr id="49" name="TextBox 49"/>
          <p:cNvSpPr txBox="1"/>
          <p:nvPr/>
        </p:nvSpPr>
        <p:spPr>
          <a:xfrm>
            <a:off x="5380267" y="7344385"/>
            <a:ext cx="3373208" cy="548966"/>
          </a:xfrm>
          <a:prstGeom prst="rect">
            <a:avLst/>
          </a:prstGeom>
        </p:spPr>
        <p:txBody>
          <a:bodyPr lIns="0" tIns="0" rIns="0" bIns="0" rtlCol="0" anchor="t">
            <a:spAutoFit/>
          </a:bodyPr>
          <a:lstStyle/>
          <a:p>
            <a:pPr algn="ctr">
              <a:lnSpc>
                <a:spcPts val="2171"/>
              </a:lnSpc>
            </a:pPr>
            <a:r>
              <a:rPr lang="en-US" sz="1809" b="1">
                <a:solidFill>
                  <a:srgbClr val="000000"/>
                </a:solidFill>
                <a:latin typeface="Garet Bold"/>
                <a:ea typeface="Garet Bold"/>
                <a:cs typeface="Garet Bold"/>
                <a:sym typeface="Garet Bold"/>
              </a:rPr>
              <a:t>Servant </a:t>
            </a:r>
          </a:p>
          <a:p>
            <a:pPr algn="ctr">
              <a:lnSpc>
                <a:spcPts val="2171"/>
              </a:lnSpc>
            </a:pPr>
            <a:r>
              <a:rPr lang="en-US" sz="1809" b="1">
                <a:solidFill>
                  <a:srgbClr val="000000"/>
                </a:solidFill>
                <a:latin typeface="Garet Bold"/>
                <a:ea typeface="Garet Bold"/>
                <a:cs typeface="Garet Bold"/>
                <a:sym typeface="Garet Bold"/>
              </a:rPr>
              <a:t>Leadership</a:t>
            </a:r>
          </a:p>
        </p:txBody>
      </p:sp>
      <p:sp>
        <p:nvSpPr>
          <p:cNvPr id="50" name="TextBox 50"/>
          <p:cNvSpPr txBox="1"/>
          <p:nvPr/>
        </p:nvSpPr>
        <p:spPr>
          <a:xfrm>
            <a:off x="1028700" y="1954084"/>
            <a:ext cx="11057665" cy="867381"/>
          </a:xfrm>
          <a:prstGeom prst="rect">
            <a:avLst/>
          </a:prstGeom>
        </p:spPr>
        <p:txBody>
          <a:bodyPr lIns="0" tIns="0" rIns="0" bIns="0" rtlCol="0" anchor="t">
            <a:spAutoFit/>
          </a:bodyPr>
          <a:lstStyle/>
          <a:p>
            <a:pPr algn="l">
              <a:lnSpc>
                <a:spcPts val="6822"/>
              </a:lnSpc>
            </a:pPr>
            <a:r>
              <a:rPr lang="en-US" sz="5685" b="1">
                <a:solidFill>
                  <a:srgbClr val="000000"/>
                </a:solidFill>
                <a:latin typeface="Garet Bold"/>
                <a:ea typeface="Garet Bold"/>
                <a:cs typeface="Garet Bold"/>
                <a:sym typeface="Garet Bold"/>
              </a:rPr>
              <a:t>SCALE TYPE</a:t>
            </a:r>
          </a:p>
        </p:txBody>
      </p:sp>
      <p:sp>
        <p:nvSpPr>
          <p:cNvPr id="51" name="TextBox 51"/>
          <p:cNvSpPr txBox="1"/>
          <p:nvPr/>
        </p:nvSpPr>
        <p:spPr>
          <a:xfrm>
            <a:off x="1028700" y="3016251"/>
            <a:ext cx="10001983" cy="575871"/>
          </a:xfrm>
          <a:prstGeom prst="rect">
            <a:avLst/>
          </a:prstGeom>
        </p:spPr>
        <p:txBody>
          <a:bodyPr lIns="0" tIns="0" rIns="0" bIns="0" rtlCol="0" anchor="t">
            <a:spAutoFit/>
          </a:bodyPr>
          <a:lstStyle/>
          <a:p>
            <a:pPr algn="just">
              <a:lnSpc>
                <a:spcPts val="2380"/>
              </a:lnSpc>
            </a:pPr>
            <a:r>
              <a:rPr lang="en-US" sz="1700">
                <a:solidFill>
                  <a:srgbClr val="000000"/>
                </a:solidFill>
                <a:latin typeface="Garet"/>
                <a:ea typeface="Garet"/>
                <a:cs typeface="Garet"/>
                <a:sym typeface="Garet"/>
              </a:rPr>
              <a:t>Five-point Likert scale:</a:t>
            </a:r>
          </a:p>
          <a:p>
            <a:pPr marL="367031" lvl="1" indent="-183515" algn="just">
              <a:lnSpc>
                <a:spcPts val="2380"/>
              </a:lnSpc>
              <a:buFont typeface="Arial"/>
              <a:buChar char="•"/>
            </a:pPr>
            <a:r>
              <a:rPr lang="en-US" sz="1700">
                <a:solidFill>
                  <a:srgbClr val="000000"/>
                </a:solidFill>
                <a:latin typeface="Garet"/>
                <a:ea typeface="Garet"/>
                <a:cs typeface="Garet"/>
                <a:sym typeface="Garet"/>
              </a:rPr>
              <a:t>1 = Strongly Agree, 5 = Strongly Disagree.</a:t>
            </a:r>
          </a:p>
        </p:txBody>
      </p:sp>
      <p:sp>
        <p:nvSpPr>
          <p:cNvPr id="52" name="TextBox 52"/>
          <p:cNvSpPr txBox="1"/>
          <p:nvPr/>
        </p:nvSpPr>
        <p:spPr>
          <a:xfrm>
            <a:off x="1318541" y="8167830"/>
            <a:ext cx="3188142" cy="575870"/>
          </a:xfrm>
          <a:prstGeom prst="rect">
            <a:avLst/>
          </a:prstGeom>
        </p:spPr>
        <p:txBody>
          <a:bodyPr lIns="0" tIns="0" rIns="0" bIns="0" rtlCol="0" anchor="t">
            <a:spAutoFit/>
          </a:bodyPr>
          <a:lstStyle/>
          <a:p>
            <a:pPr algn="ctr">
              <a:lnSpc>
                <a:spcPts val="2380"/>
              </a:lnSpc>
            </a:pPr>
            <a:r>
              <a:rPr lang="en-US" sz="1700">
                <a:solidFill>
                  <a:srgbClr val="000000"/>
                </a:solidFill>
                <a:latin typeface="Garet"/>
                <a:ea typeface="Garet"/>
                <a:cs typeface="Garet"/>
                <a:sym typeface="Garet"/>
              </a:rPr>
              <a:t>Scale based on Morales et al. (2008), with 4 items.</a:t>
            </a:r>
          </a:p>
        </p:txBody>
      </p:sp>
      <p:sp>
        <p:nvSpPr>
          <p:cNvPr id="53" name="TextBox 53"/>
          <p:cNvSpPr txBox="1"/>
          <p:nvPr/>
        </p:nvSpPr>
        <p:spPr>
          <a:xfrm>
            <a:off x="5472800" y="8148780"/>
            <a:ext cx="3188142" cy="575870"/>
          </a:xfrm>
          <a:prstGeom prst="rect">
            <a:avLst/>
          </a:prstGeom>
        </p:spPr>
        <p:txBody>
          <a:bodyPr lIns="0" tIns="0" rIns="0" bIns="0" rtlCol="0" anchor="t">
            <a:spAutoFit/>
          </a:bodyPr>
          <a:lstStyle/>
          <a:p>
            <a:pPr algn="ctr">
              <a:lnSpc>
                <a:spcPts val="2380"/>
              </a:lnSpc>
            </a:pPr>
            <a:r>
              <a:rPr lang="en-US" sz="1700">
                <a:solidFill>
                  <a:srgbClr val="000000"/>
                </a:solidFill>
                <a:latin typeface="Garet"/>
                <a:ea typeface="Garet"/>
                <a:cs typeface="Garet"/>
                <a:sym typeface="Garet"/>
              </a:rPr>
              <a:t>Scale based on Jacobs (2006), with 9 items.</a:t>
            </a:r>
          </a:p>
        </p:txBody>
      </p:sp>
      <p:sp>
        <p:nvSpPr>
          <p:cNvPr id="54" name="TextBox 54"/>
          <p:cNvSpPr txBox="1"/>
          <p:nvPr/>
        </p:nvSpPr>
        <p:spPr>
          <a:xfrm>
            <a:off x="9477860" y="7344385"/>
            <a:ext cx="3486538" cy="548966"/>
          </a:xfrm>
          <a:prstGeom prst="rect">
            <a:avLst/>
          </a:prstGeom>
        </p:spPr>
        <p:txBody>
          <a:bodyPr lIns="0" tIns="0" rIns="0" bIns="0" rtlCol="0" anchor="t">
            <a:spAutoFit/>
          </a:bodyPr>
          <a:lstStyle/>
          <a:p>
            <a:pPr algn="ctr">
              <a:lnSpc>
                <a:spcPts val="2171"/>
              </a:lnSpc>
            </a:pPr>
            <a:r>
              <a:rPr lang="en-US" sz="1809" b="1">
                <a:solidFill>
                  <a:srgbClr val="000000"/>
                </a:solidFill>
                <a:latin typeface="Garet Bold"/>
                <a:ea typeface="Garet Bold"/>
                <a:cs typeface="Garet Bold"/>
                <a:sym typeface="Garet Bold"/>
              </a:rPr>
              <a:t>Organizational</a:t>
            </a:r>
          </a:p>
          <a:p>
            <a:pPr algn="ctr">
              <a:lnSpc>
                <a:spcPts val="2171"/>
              </a:lnSpc>
            </a:pPr>
            <a:r>
              <a:rPr lang="en-US" sz="1809" b="1">
                <a:solidFill>
                  <a:srgbClr val="000000"/>
                </a:solidFill>
                <a:latin typeface="Garet Bold"/>
                <a:ea typeface="Garet Bold"/>
                <a:cs typeface="Garet Bold"/>
                <a:sym typeface="Garet Bold"/>
              </a:rPr>
              <a:t>learning</a:t>
            </a:r>
          </a:p>
        </p:txBody>
      </p:sp>
      <p:sp>
        <p:nvSpPr>
          <p:cNvPr id="55" name="TextBox 55"/>
          <p:cNvSpPr txBox="1"/>
          <p:nvPr/>
        </p:nvSpPr>
        <p:spPr>
          <a:xfrm>
            <a:off x="13816526" y="7344385"/>
            <a:ext cx="3117723" cy="548966"/>
          </a:xfrm>
          <a:prstGeom prst="rect">
            <a:avLst/>
          </a:prstGeom>
        </p:spPr>
        <p:txBody>
          <a:bodyPr lIns="0" tIns="0" rIns="0" bIns="0" rtlCol="0" anchor="t">
            <a:spAutoFit/>
          </a:bodyPr>
          <a:lstStyle/>
          <a:p>
            <a:pPr algn="ctr">
              <a:lnSpc>
                <a:spcPts val="2171"/>
              </a:lnSpc>
            </a:pPr>
            <a:r>
              <a:rPr lang="en-US" sz="1809" b="1">
                <a:solidFill>
                  <a:srgbClr val="000000"/>
                </a:solidFill>
                <a:latin typeface="Garet Bold"/>
                <a:ea typeface="Garet Bold"/>
                <a:cs typeface="Garet Bold"/>
                <a:sym typeface="Garet Bold"/>
              </a:rPr>
              <a:t>Organizational</a:t>
            </a:r>
          </a:p>
          <a:p>
            <a:pPr algn="ctr">
              <a:lnSpc>
                <a:spcPts val="2171"/>
              </a:lnSpc>
            </a:pPr>
            <a:r>
              <a:rPr lang="en-US" sz="1809" b="1">
                <a:solidFill>
                  <a:srgbClr val="000000"/>
                </a:solidFill>
                <a:latin typeface="Garet Bold"/>
                <a:ea typeface="Garet Bold"/>
                <a:cs typeface="Garet Bold"/>
                <a:sym typeface="Garet Bold"/>
              </a:rPr>
              <a:t>performance</a:t>
            </a:r>
          </a:p>
        </p:txBody>
      </p:sp>
      <p:sp>
        <p:nvSpPr>
          <p:cNvPr id="56" name="TextBox 56"/>
          <p:cNvSpPr txBox="1"/>
          <p:nvPr/>
        </p:nvSpPr>
        <p:spPr>
          <a:xfrm>
            <a:off x="9627058" y="8129730"/>
            <a:ext cx="3188142" cy="575870"/>
          </a:xfrm>
          <a:prstGeom prst="rect">
            <a:avLst/>
          </a:prstGeom>
        </p:spPr>
        <p:txBody>
          <a:bodyPr lIns="0" tIns="0" rIns="0" bIns="0" rtlCol="0" anchor="t">
            <a:spAutoFit/>
          </a:bodyPr>
          <a:lstStyle/>
          <a:p>
            <a:pPr algn="ctr">
              <a:lnSpc>
                <a:spcPts val="2380"/>
              </a:lnSpc>
            </a:pPr>
            <a:r>
              <a:rPr lang="en-US" sz="1700">
                <a:solidFill>
                  <a:srgbClr val="000000"/>
                </a:solidFill>
                <a:latin typeface="Garet"/>
                <a:ea typeface="Garet"/>
                <a:cs typeface="Garet"/>
                <a:sym typeface="Garet"/>
              </a:rPr>
              <a:t>Scale based on Morales et al. (2008), with 4 items.</a:t>
            </a:r>
          </a:p>
        </p:txBody>
      </p:sp>
      <p:sp>
        <p:nvSpPr>
          <p:cNvPr id="57" name="TextBox 57"/>
          <p:cNvSpPr txBox="1"/>
          <p:nvPr/>
        </p:nvSpPr>
        <p:spPr>
          <a:xfrm>
            <a:off x="13781317" y="8110680"/>
            <a:ext cx="3188142" cy="575870"/>
          </a:xfrm>
          <a:prstGeom prst="rect">
            <a:avLst/>
          </a:prstGeom>
        </p:spPr>
        <p:txBody>
          <a:bodyPr lIns="0" tIns="0" rIns="0" bIns="0" rtlCol="0" anchor="t">
            <a:spAutoFit/>
          </a:bodyPr>
          <a:lstStyle/>
          <a:p>
            <a:pPr algn="ctr">
              <a:lnSpc>
                <a:spcPts val="2380"/>
              </a:lnSpc>
            </a:pPr>
            <a:r>
              <a:rPr lang="en-US" sz="1700">
                <a:solidFill>
                  <a:srgbClr val="000000"/>
                </a:solidFill>
                <a:latin typeface="Garet"/>
                <a:ea typeface="Garet"/>
                <a:cs typeface="Garet"/>
                <a:sym typeface="Garet"/>
              </a:rPr>
              <a:t>Scale based on Morales et al. (2008), with 4 items.</a:t>
            </a:r>
          </a:p>
        </p:txBody>
      </p:sp>
      <p:sp>
        <p:nvSpPr>
          <p:cNvPr id="58" name="TextBox 58"/>
          <p:cNvSpPr txBox="1"/>
          <p:nvPr/>
        </p:nvSpPr>
        <p:spPr>
          <a:xfrm>
            <a:off x="991667" y="3886865"/>
            <a:ext cx="11057665" cy="1725237"/>
          </a:xfrm>
          <a:prstGeom prst="rect">
            <a:avLst/>
          </a:prstGeom>
        </p:spPr>
        <p:txBody>
          <a:bodyPr lIns="0" tIns="0" rIns="0" bIns="0" rtlCol="0" anchor="t">
            <a:spAutoFit/>
          </a:bodyPr>
          <a:lstStyle/>
          <a:p>
            <a:pPr algn="l">
              <a:lnSpc>
                <a:spcPts val="6822"/>
              </a:lnSpc>
            </a:pPr>
            <a:r>
              <a:rPr lang="en-US" sz="5685" b="1">
                <a:solidFill>
                  <a:srgbClr val="000000"/>
                </a:solidFill>
                <a:latin typeface="Garet Bold"/>
                <a:ea typeface="Garet Bold"/>
                <a:cs typeface="Garet Bold"/>
                <a:sym typeface="Garet Bold"/>
              </a:rPr>
              <a:t>VARIABLES </a:t>
            </a:r>
          </a:p>
          <a:p>
            <a:pPr algn="l">
              <a:lnSpc>
                <a:spcPts val="6822"/>
              </a:lnSpc>
            </a:pPr>
            <a:r>
              <a:rPr lang="en-US" sz="5685" b="1">
                <a:solidFill>
                  <a:srgbClr val="000000"/>
                </a:solidFill>
                <a:latin typeface="Garet Bold"/>
                <a:ea typeface="Garet Bold"/>
                <a:cs typeface="Garet Bold"/>
                <a:sym typeface="Garet Bold"/>
              </a:rPr>
              <a:t>MEASURED</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848883" y="1149118"/>
            <a:ext cx="10535259" cy="814491"/>
            <a:chOff x="0" y="0"/>
            <a:chExt cx="2774718" cy="214516"/>
          </a:xfrm>
        </p:grpSpPr>
        <p:sp>
          <p:nvSpPr>
            <p:cNvPr id="3" name="Freeform 3"/>
            <p:cNvSpPr/>
            <p:nvPr/>
          </p:nvSpPr>
          <p:spPr>
            <a:xfrm>
              <a:off x="0" y="0"/>
              <a:ext cx="2774718" cy="214516"/>
            </a:xfrm>
            <a:custGeom>
              <a:avLst/>
              <a:gdLst/>
              <a:ahLst/>
              <a:cxnLst/>
              <a:rect l="l" t="t" r="r" b="b"/>
              <a:pathLst>
                <a:path w="2774718" h="214516">
                  <a:moveTo>
                    <a:pt x="203200" y="0"/>
                  </a:moveTo>
                  <a:lnTo>
                    <a:pt x="2774718" y="0"/>
                  </a:lnTo>
                  <a:lnTo>
                    <a:pt x="2571518" y="214516"/>
                  </a:lnTo>
                  <a:lnTo>
                    <a:pt x="0" y="214516"/>
                  </a:lnTo>
                  <a:lnTo>
                    <a:pt x="203200" y="0"/>
                  </a:lnTo>
                  <a:close/>
                </a:path>
              </a:pathLst>
            </a:custGeom>
            <a:solidFill>
              <a:srgbClr val="1468A2">
                <a:alpha val="7843"/>
              </a:srgbClr>
            </a:solidFill>
          </p:spPr>
          <p:txBody>
            <a:bodyPr/>
            <a:lstStyle/>
            <a:p>
              <a:endParaRPr lang="en-PK"/>
            </a:p>
          </p:txBody>
        </p:sp>
        <p:sp>
          <p:nvSpPr>
            <p:cNvPr id="4" name="TextBox 4"/>
            <p:cNvSpPr txBox="1"/>
            <p:nvPr/>
          </p:nvSpPr>
          <p:spPr>
            <a:xfrm>
              <a:off x="101600" y="-38100"/>
              <a:ext cx="2571518" cy="252616"/>
            </a:xfrm>
            <a:prstGeom prst="rect">
              <a:avLst/>
            </a:prstGeom>
          </p:spPr>
          <p:txBody>
            <a:bodyPr lIns="50800" tIns="50800" rIns="50800" bIns="50800" rtlCol="0" anchor="ctr"/>
            <a:lstStyle/>
            <a:p>
              <a:pPr algn="ctr">
                <a:lnSpc>
                  <a:spcPts val="2659"/>
                </a:lnSpc>
              </a:pPr>
              <a:endParaRPr/>
            </a:p>
          </p:txBody>
        </p:sp>
      </p:grpSp>
      <p:grpSp>
        <p:nvGrpSpPr>
          <p:cNvPr id="5" name="Group 5"/>
          <p:cNvGrpSpPr/>
          <p:nvPr/>
        </p:nvGrpSpPr>
        <p:grpSpPr>
          <a:xfrm>
            <a:off x="1028700" y="5558998"/>
            <a:ext cx="3767825" cy="3233923"/>
            <a:chOff x="0" y="0"/>
            <a:chExt cx="1080158" cy="927100"/>
          </a:xfrm>
        </p:grpSpPr>
        <p:sp>
          <p:nvSpPr>
            <p:cNvPr id="6" name="Freeform 6"/>
            <p:cNvSpPr/>
            <p:nvPr/>
          </p:nvSpPr>
          <p:spPr>
            <a:xfrm>
              <a:off x="0" y="0"/>
              <a:ext cx="1080158" cy="927100"/>
            </a:xfrm>
            <a:custGeom>
              <a:avLst/>
              <a:gdLst/>
              <a:ahLst/>
              <a:cxnLst/>
              <a:rect l="l" t="t" r="r" b="b"/>
              <a:pathLst>
                <a:path w="1080158" h="927100">
                  <a:moveTo>
                    <a:pt x="113011" y="0"/>
                  </a:moveTo>
                  <a:lnTo>
                    <a:pt x="967147" y="0"/>
                  </a:lnTo>
                  <a:cubicBezTo>
                    <a:pt x="997120" y="0"/>
                    <a:pt x="1025865" y="11906"/>
                    <a:pt x="1047058" y="33100"/>
                  </a:cubicBezTo>
                  <a:cubicBezTo>
                    <a:pt x="1068252" y="54294"/>
                    <a:pt x="1080158" y="83039"/>
                    <a:pt x="1080158" y="113011"/>
                  </a:cubicBezTo>
                  <a:lnTo>
                    <a:pt x="1080158" y="814089"/>
                  </a:lnTo>
                  <a:cubicBezTo>
                    <a:pt x="1080158" y="876503"/>
                    <a:pt x="1029562" y="927100"/>
                    <a:pt x="967147" y="927100"/>
                  </a:cubicBezTo>
                  <a:lnTo>
                    <a:pt x="113011" y="927100"/>
                  </a:lnTo>
                  <a:cubicBezTo>
                    <a:pt x="50597" y="927100"/>
                    <a:pt x="0" y="876503"/>
                    <a:pt x="0" y="814089"/>
                  </a:cubicBezTo>
                  <a:lnTo>
                    <a:pt x="0" y="113011"/>
                  </a:lnTo>
                  <a:cubicBezTo>
                    <a:pt x="0" y="50597"/>
                    <a:pt x="50597" y="0"/>
                    <a:pt x="113011" y="0"/>
                  </a:cubicBezTo>
                  <a:close/>
                </a:path>
              </a:pathLst>
            </a:custGeom>
            <a:solidFill>
              <a:srgbClr val="EBF2F1"/>
            </a:solidFill>
            <a:ln cap="rnd">
              <a:noFill/>
              <a:prstDash val="solid"/>
              <a:round/>
            </a:ln>
          </p:spPr>
          <p:txBody>
            <a:bodyPr/>
            <a:lstStyle/>
            <a:p>
              <a:endParaRPr lang="en-PK"/>
            </a:p>
          </p:txBody>
        </p:sp>
        <p:sp>
          <p:nvSpPr>
            <p:cNvPr id="7" name="TextBox 7"/>
            <p:cNvSpPr txBox="1"/>
            <p:nvPr/>
          </p:nvSpPr>
          <p:spPr>
            <a:xfrm>
              <a:off x="0" y="-38100"/>
              <a:ext cx="1080158" cy="965200"/>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5182958" y="5558998"/>
            <a:ext cx="3767825" cy="3233923"/>
            <a:chOff x="0" y="0"/>
            <a:chExt cx="1080158" cy="927100"/>
          </a:xfrm>
        </p:grpSpPr>
        <p:sp>
          <p:nvSpPr>
            <p:cNvPr id="9" name="Freeform 9"/>
            <p:cNvSpPr/>
            <p:nvPr/>
          </p:nvSpPr>
          <p:spPr>
            <a:xfrm>
              <a:off x="0" y="0"/>
              <a:ext cx="1080158" cy="927100"/>
            </a:xfrm>
            <a:custGeom>
              <a:avLst/>
              <a:gdLst/>
              <a:ahLst/>
              <a:cxnLst/>
              <a:rect l="l" t="t" r="r" b="b"/>
              <a:pathLst>
                <a:path w="1080158" h="927100">
                  <a:moveTo>
                    <a:pt x="113011" y="0"/>
                  </a:moveTo>
                  <a:lnTo>
                    <a:pt x="967147" y="0"/>
                  </a:lnTo>
                  <a:cubicBezTo>
                    <a:pt x="997120" y="0"/>
                    <a:pt x="1025865" y="11906"/>
                    <a:pt x="1047058" y="33100"/>
                  </a:cubicBezTo>
                  <a:cubicBezTo>
                    <a:pt x="1068252" y="54294"/>
                    <a:pt x="1080158" y="83039"/>
                    <a:pt x="1080158" y="113011"/>
                  </a:cubicBezTo>
                  <a:lnTo>
                    <a:pt x="1080158" y="814089"/>
                  </a:lnTo>
                  <a:cubicBezTo>
                    <a:pt x="1080158" y="876503"/>
                    <a:pt x="1029562" y="927100"/>
                    <a:pt x="967147" y="927100"/>
                  </a:cubicBezTo>
                  <a:lnTo>
                    <a:pt x="113011" y="927100"/>
                  </a:lnTo>
                  <a:cubicBezTo>
                    <a:pt x="50597" y="927100"/>
                    <a:pt x="0" y="876503"/>
                    <a:pt x="0" y="814089"/>
                  </a:cubicBezTo>
                  <a:lnTo>
                    <a:pt x="0" y="113011"/>
                  </a:lnTo>
                  <a:cubicBezTo>
                    <a:pt x="0" y="50597"/>
                    <a:pt x="50597" y="0"/>
                    <a:pt x="113011" y="0"/>
                  </a:cubicBezTo>
                  <a:close/>
                </a:path>
              </a:pathLst>
            </a:custGeom>
            <a:solidFill>
              <a:srgbClr val="EBF2F1"/>
            </a:solidFill>
            <a:ln cap="rnd">
              <a:noFill/>
              <a:prstDash val="solid"/>
              <a:round/>
            </a:ln>
          </p:spPr>
          <p:txBody>
            <a:bodyPr/>
            <a:lstStyle/>
            <a:p>
              <a:endParaRPr lang="en-PK"/>
            </a:p>
          </p:txBody>
        </p:sp>
        <p:sp>
          <p:nvSpPr>
            <p:cNvPr id="10" name="TextBox 10"/>
            <p:cNvSpPr txBox="1"/>
            <p:nvPr/>
          </p:nvSpPr>
          <p:spPr>
            <a:xfrm>
              <a:off x="0" y="-38100"/>
              <a:ext cx="1080158" cy="965200"/>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2366241" y="5143500"/>
            <a:ext cx="1092742" cy="1128939"/>
            <a:chOff x="0" y="0"/>
            <a:chExt cx="812800" cy="839724"/>
          </a:xfrm>
        </p:grpSpPr>
        <p:sp>
          <p:nvSpPr>
            <p:cNvPr id="12" name="Freeform 12"/>
            <p:cNvSpPr/>
            <p:nvPr/>
          </p:nvSpPr>
          <p:spPr>
            <a:xfrm>
              <a:off x="0" y="0"/>
              <a:ext cx="812800" cy="839724"/>
            </a:xfrm>
            <a:custGeom>
              <a:avLst/>
              <a:gdLst/>
              <a:ahLst/>
              <a:cxnLst/>
              <a:rect l="l" t="t" r="r" b="b"/>
              <a:pathLst>
                <a:path w="812800" h="839724">
                  <a:moveTo>
                    <a:pt x="406400" y="0"/>
                  </a:moveTo>
                  <a:cubicBezTo>
                    <a:pt x="181951" y="0"/>
                    <a:pt x="0" y="187979"/>
                    <a:pt x="0" y="419862"/>
                  </a:cubicBezTo>
                  <a:cubicBezTo>
                    <a:pt x="0" y="651745"/>
                    <a:pt x="181951" y="839724"/>
                    <a:pt x="406400" y="839724"/>
                  </a:cubicBezTo>
                  <a:cubicBezTo>
                    <a:pt x="630849" y="839724"/>
                    <a:pt x="812800" y="651745"/>
                    <a:pt x="812800" y="419862"/>
                  </a:cubicBezTo>
                  <a:cubicBezTo>
                    <a:pt x="812800" y="187979"/>
                    <a:pt x="630849" y="0"/>
                    <a:pt x="406400" y="0"/>
                  </a:cubicBezTo>
                  <a:close/>
                </a:path>
              </a:pathLst>
            </a:custGeom>
            <a:solidFill>
              <a:srgbClr val="1468A2"/>
            </a:solidFill>
          </p:spPr>
          <p:txBody>
            <a:bodyPr/>
            <a:lstStyle/>
            <a:p>
              <a:endParaRPr lang="en-PK"/>
            </a:p>
          </p:txBody>
        </p:sp>
        <p:sp>
          <p:nvSpPr>
            <p:cNvPr id="13" name="TextBox 13"/>
            <p:cNvSpPr txBox="1"/>
            <p:nvPr/>
          </p:nvSpPr>
          <p:spPr>
            <a:xfrm>
              <a:off x="76200" y="40624"/>
              <a:ext cx="660400" cy="720376"/>
            </a:xfrm>
            <a:prstGeom prst="rect">
              <a:avLst/>
            </a:prstGeom>
          </p:spPr>
          <p:txBody>
            <a:bodyPr lIns="50800" tIns="50800" rIns="50800" bIns="50800" rtlCol="0" anchor="ctr"/>
            <a:lstStyle/>
            <a:p>
              <a:pPr algn="ctr">
                <a:lnSpc>
                  <a:spcPts val="2659"/>
                </a:lnSpc>
              </a:pPr>
              <a:endParaRPr/>
            </a:p>
          </p:txBody>
        </p:sp>
      </p:grpSp>
      <p:grpSp>
        <p:nvGrpSpPr>
          <p:cNvPr id="14" name="Group 14"/>
          <p:cNvGrpSpPr/>
          <p:nvPr/>
        </p:nvGrpSpPr>
        <p:grpSpPr>
          <a:xfrm>
            <a:off x="6520500" y="5143500"/>
            <a:ext cx="1092742" cy="1128939"/>
            <a:chOff x="0" y="0"/>
            <a:chExt cx="812800" cy="839724"/>
          </a:xfrm>
        </p:grpSpPr>
        <p:sp>
          <p:nvSpPr>
            <p:cNvPr id="15" name="Freeform 15"/>
            <p:cNvSpPr/>
            <p:nvPr/>
          </p:nvSpPr>
          <p:spPr>
            <a:xfrm>
              <a:off x="0" y="0"/>
              <a:ext cx="812800" cy="839724"/>
            </a:xfrm>
            <a:custGeom>
              <a:avLst/>
              <a:gdLst/>
              <a:ahLst/>
              <a:cxnLst/>
              <a:rect l="l" t="t" r="r" b="b"/>
              <a:pathLst>
                <a:path w="812800" h="839724">
                  <a:moveTo>
                    <a:pt x="406400" y="0"/>
                  </a:moveTo>
                  <a:cubicBezTo>
                    <a:pt x="181951" y="0"/>
                    <a:pt x="0" y="187979"/>
                    <a:pt x="0" y="419862"/>
                  </a:cubicBezTo>
                  <a:cubicBezTo>
                    <a:pt x="0" y="651745"/>
                    <a:pt x="181951" y="839724"/>
                    <a:pt x="406400" y="839724"/>
                  </a:cubicBezTo>
                  <a:cubicBezTo>
                    <a:pt x="630849" y="839724"/>
                    <a:pt x="812800" y="651745"/>
                    <a:pt x="812800" y="419862"/>
                  </a:cubicBezTo>
                  <a:cubicBezTo>
                    <a:pt x="812800" y="187979"/>
                    <a:pt x="630849" y="0"/>
                    <a:pt x="406400" y="0"/>
                  </a:cubicBezTo>
                  <a:close/>
                </a:path>
              </a:pathLst>
            </a:custGeom>
            <a:solidFill>
              <a:srgbClr val="1468A2"/>
            </a:solidFill>
          </p:spPr>
          <p:txBody>
            <a:bodyPr/>
            <a:lstStyle/>
            <a:p>
              <a:endParaRPr lang="en-PK"/>
            </a:p>
          </p:txBody>
        </p:sp>
        <p:sp>
          <p:nvSpPr>
            <p:cNvPr id="16" name="TextBox 16"/>
            <p:cNvSpPr txBox="1"/>
            <p:nvPr/>
          </p:nvSpPr>
          <p:spPr>
            <a:xfrm>
              <a:off x="76200" y="40624"/>
              <a:ext cx="660400" cy="720376"/>
            </a:xfrm>
            <a:prstGeom prst="rect">
              <a:avLst/>
            </a:prstGeom>
          </p:spPr>
          <p:txBody>
            <a:bodyPr lIns="50800" tIns="50800" rIns="50800" bIns="50800" rtlCol="0" anchor="ctr"/>
            <a:lstStyle/>
            <a:p>
              <a:pPr algn="ctr">
                <a:lnSpc>
                  <a:spcPts val="2659"/>
                </a:lnSpc>
              </a:pPr>
              <a:endParaRPr/>
            </a:p>
          </p:txBody>
        </p:sp>
      </p:grpSp>
      <p:grpSp>
        <p:nvGrpSpPr>
          <p:cNvPr id="17" name="Group 17"/>
          <p:cNvGrpSpPr/>
          <p:nvPr/>
        </p:nvGrpSpPr>
        <p:grpSpPr>
          <a:xfrm rot="2700000">
            <a:off x="11596093" y="4514252"/>
            <a:ext cx="10363565" cy="11228294"/>
            <a:chOff x="0" y="0"/>
            <a:chExt cx="3471252" cy="3760892"/>
          </a:xfrm>
        </p:grpSpPr>
        <p:sp>
          <p:nvSpPr>
            <p:cNvPr id="18" name="Freeform 18"/>
            <p:cNvSpPr/>
            <p:nvPr/>
          </p:nvSpPr>
          <p:spPr>
            <a:xfrm>
              <a:off x="0" y="0"/>
              <a:ext cx="3471252" cy="3760892"/>
            </a:xfrm>
            <a:custGeom>
              <a:avLst/>
              <a:gdLst/>
              <a:ahLst/>
              <a:cxnLst/>
              <a:rect l="l" t="t" r="r" b="b"/>
              <a:pathLst>
                <a:path w="3471252" h="3760892">
                  <a:moveTo>
                    <a:pt x="0" y="0"/>
                  </a:moveTo>
                  <a:lnTo>
                    <a:pt x="3471252" y="0"/>
                  </a:lnTo>
                  <a:lnTo>
                    <a:pt x="3471252" y="3760892"/>
                  </a:lnTo>
                  <a:lnTo>
                    <a:pt x="0" y="3760892"/>
                  </a:lnTo>
                  <a:close/>
                </a:path>
              </a:pathLst>
            </a:custGeom>
            <a:solidFill>
              <a:srgbClr val="1468A2"/>
            </a:solidFill>
          </p:spPr>
          <p:txBody>
            <a:bodyPr/>
            <a:lstStyle/>
            <a:p>
              <a:endParaRPr lang="en-PK"/>
            </a:p>
          </p:txBody>
        </p:sp>
        <p:sp>
          <p:nvSpPr>
            <p:cNvPr id="19" name="TextBox 19"/>
            <p:cNvSpPr txBox="1"/>
            <p:nvPr/>
          </p:nvSpPr>
          <p:spPr>
            <a:xfrm>
              <a:off x="0" y="-38100"/>
              <a:ext cx="3471252" cy="3798992"/>
            </a:xfrm>
            <a:prstGeom prst="rect">
              <a:avLst/>
            </a:prstGeom>
          </p:spPr>
          <p:txBody>
            <a:bodyPr lIns="50800" tIns="50800" rIns="50800" bIns="50800" rtlCol="0" anchor="ctr"/>
            <a:lstStyle/>
            <a:p>
              <a:pPr algn="ctr">
                <a:lnSpc>
                  <a:spcPts val="2659"/>
                </a:lnSpc>
                <a:spcBef>
                  <a:spcPct val="0"/>
                </a:spcBef>
              </a:pPr>
              <a:endParaRPr/>
            </a:p>
          </p:txBody>
        </p:sp>
      </p:grpSp>
      <p:grpSp>
        <p:nvGrpSpPr>
          <p:cNvPr id="20" name="Group 20"/>
          <p:cNvGrpSpPr/>
          <p:nvPr/>
        </p:nvGrpSpPr>
        <p:grpSpPr>
          <a:xfrm>
            <a:off x="9337217" y="5558998"/>
            <a:ext cx="3767825" cy="3233923"/>
            <a:chOff x="0" y="0"/>
            <a:chExt cx="1080158" cy="927100"/>
          </a:xfrm>
        </p:grpSpPr>
        <p:sp>
          <p:nvSpPr>
            <p:cNvPr id="21" name="Freeform 21"/>
            <p:cNvSpPr/>
            <p:nvPr/>
          </p:nvSpPr>
          <p:spPr>
            <a:xfrm>
              <a:off x="0" y="0"/>
              <a:ext cx="1080158" cy="927100"/>
            </a:xfrm>
            <a:custGeom>
              <a:avLst/>
              <a:gdLst/>
              <a:ahLst/>
              <a:cxnLst/>
              <a:rect l="l" t="t" r="r" b="b"/>
              <a:pathLst>
                <a:path w="1080158" h="927100">
                  <a:moveTo>
                    <a:pt x="113011" y="0"/>
                  </a:moveTo>
                  <a:lnTo>
                    <a:pt x="967147" y="0"/>
                  </a:lnTo>
                  <a:cubicBezTo>
                    <a:pt x="997120" y="0"/>
                    <a:pt x="1025865" y="11906"/>
                    <a:pt x="1047058" y="33100"/>
                  </a:cubicBezTo>
                  <a:cubicBezTo>
                    <a:pt x="1068252" y="54294"/>
                    <a:pt x="1080158" y="83039"/>
                    <a:pt x="1080158" y="113011"/>
                  </a:cubicBezTo>
                  <a:lnTo>
                    <a:pt x="1080158" y="814089"/>
                  </a:lnTo>
                  <a:cubicBezTo>
                    <a:pt x="1080158" y="876503"/>
                    <a:pt x="1029562" y="927100"/>
                    <a:pt x="967147" y="927100"/>
                  </a:cubicBezTo>
                  <a:lnTo>
                    <a:pt x="113011" y="927100"/>
                  </a:lnTo>
                  <a:cubicBezTo>
                    <a:pt x="50597" y="927100"/>
                    <a:pt x="0" y="876503"/>
                    <a:pt x="0" y="814089"/>
                  </a:cubicBezTo>
                  <a:lnTo>
                    <a:pt x="0" y="113011"/>
                  </a:lnTo>
                  <a:cubicBezTo>
                    <a:pt x="0" y="50597"/>
                    <a:pt x="50597" y="0"/>
                    <a:pt x="113011" y="0"/>
                  </a:cubicBezTo>
                  <a:close/>
                </a:path>
              </a:pathLst>
            </a:custGeom>
            <a:solidFill>
              <a:srgbClr val="EBF2F1"/>
            </a:solidFill>
            <a:ln cap="rnd">
              <a:noFill/>
              <a:prstDash val="solid"/>
              <a:round/>
            </a:ln>
          </p:spPr>
          <p:txBody>
            <a:bodyPr/>
            <a:lstStyle/>
            <a:p>
              <a:endParaRPr lang="en-PK"/>
            </a:p>
          </p:txBody>
        </p:sp>
        <p:sp>
          <p:nvSpPr>
            <p:cNvPr id="22" name="TextBox 22"/>
            <p:cNvSpPr txBox="1"/>
            <p:nvPr/>
          </p:nvSpPr>
          <p:spPr>
            <a:xfrm>
              <a:off x="0" y="-38100"/>
              <a:ext cx="1080158" cy="965200"/>
            </a:xfrm>
            <a:prstGeom prst="rect">
              <a:avLst/>
            </a:prstGeom>
          </p:spPr>
          <p:txBody>
            <a:bodyPr lIns="50800" tIns="50800" rIns="50800" bIns="50800" rtlCol="0" anchor="ctr"/>
            <a:lstStyle/>
            <a:p>
              <a:pPr algn="ctr">
                <a:lnSpc>
                  <a:spcPts val="2659"/>
                </a:lnSpc>
              </a:pPr>
              <a:endParaRPr/>
            </a:p>
          </p:txBody>
        </p:sp>
      </p:grpSp>
      <p:grpSp>
        <p:nvGrpSpPr>
          <p:cNvPr id="23" name="Group 23"/>
          <p:cNvGrpSpPr/>
          <p:nvPr/>
        </p:nvGrpSpPr>
        <p:grpSpPr>
          <a:xfrm>
            <a:off x="10674758" y="5143500"/>
            <a:ext cx="1092742" cy="1128939"/>
            <a:chOff x="0" y="0"/>
            <a:chExt cx="812800" cy="839724"/>
          </a:xfrm>
        </p:grpSpPr>
        <p:sp>
          <p:nvSpPr>
            <p:cNvPr id="24" name="Freeform 24"/>
            <p:cNvSpPr/>
            <p:nvPr/>
          </p:nvSpPr>
          <p:spPr>
            <a:xfrm>
              <a:off x="0" y="0"/>
              <a:ext cx="812800" cy="839724"/>
            </a:xfrm>
            <a:custGeom>
              <a:avLst/>
              <a:gdLst/>
              <a:ahLst/>
              <a:cxnLst/>
              <a:rect l="l" t="t" r="r" b="b"/>
              <a:pathLst>
                <a:path w="812800" h="839724">
                  <a:moveTo>
                    <a:pt x="406400" y="0"/>
                  </a:moveTo>
                  <a:cubicBezTo>
                    <a:pt x="181951" y="0"/>
                    <a:pt x="0" y="187979"/>
                    <a:pt x="0" y="419862"/>
                  </a:cubicBezTo>
                  <a:cubicBezTo>
                    <a:pt x="0" y="651745"/>
                    <a:pt x="181951" y="839724"/>
                    <a:pt x="406400" y="839724"/>
                  </a:cubicBezTo>
                  <a:cubicBezTo>
                    <a:pt x="630849" y="839724"/>
                    <a:pt x="812800" y="651745"/>
                    <a:pt x="812800" y="419862"/>
                  </a:cubicBezTo>
                  <a:cubicBezTo>
                    <a:pt x="812800" y="187979"/>
                    <a:pt x="630849" y="0"/>
                    <a:pt x="406400" y="0"/>
                  </a:cubicBezTo>
                  <a:close/>
                </a:path>
              </a:pathLst>
            </a:custGeom>
            <a:solidFill>
              <a:srgbClr val="1468A2"/>
            </a:solidFill>
          </p:spPr>
          <p:txBody>
            <a:bodyPr/>
            <a:lstStyle/>
            <a:p>
              <a:endParaRPr lang="en-PK"/>
            </a:p>
          </p:txBody>
        </p:sp>
        <p:sp>
          <p:nvSpPr>
            <p:cNvPr id="25" name="TextBox 25"/>
            <p:cNvSpPr txBox="1"/>
            <p:nvPr/>
          </p:nvSpPr>
          <p:spPr>
            <a:xfrm>
              <a:off x="76200" y="40624"/>
              <a:ext cx="660400" cy="720376"/>
            </a:xfrm>
            <a:prstGeom prst="rect">
              <a:avLst/>
            </a:prstGeom>
          </p:spPr>
          <p:txBody>
            <a:bodyPr lIns="50800" tIns="50800" rIns="50800" bIns="50800" rtlCol="0" anchor="ctr"/>
            <a:lstStyle/>
            <a:p>
              <a:pPr algn="ctr">
                <a:lnSpc>
                  <a:spcPts val="2659"/>
                </a:lnSpc>
              </a:pPr>
              <a:endParaRPr/>
            </a:p>
          </p:txBody>
        </p:sp>
      </p:grpSp>
      <p:grpSp>
        <p:nvGrpSpPr>
          <p:cNvPr id="26" name="Group 26"/>
          <p:cNvGrpSpPr/>
          <p:nvPr/>
        </p:nvGrpSpPr>
        <p:grpSpPr>
          <a:xfrm>
            <a:off x="13491475" y="5558998"/>
            <a:ext cx="3767825" cy="3233923"/>
            <a:chOff x="0" y="0"/>
            <a:chExt cx="1080158" cy="927100"/>
          </a:xfrm>
        </p:grpSpPr>
        <p:sp>
          <p:nvSpPr>
            <p:cNvPr id="27" name="Freeform 27"/>
            <p:cNvSpPr/>
            <p:nvPr/>
          </p:nvSpPr>
          <p:spPr>
            <a:xfrm>
              <a:off x="0" y="0"/>
              <a:ext cx="1080158" cy="927100"/>
            </a:xfrm>
            <a:custGeom>
              <a:avLst/>
              <a:gdLst/>
              <a:ahLst/>
              <a:cxnLst/>
              <a:rect l="l" t="t" r="r" b="b"/>
              <a:pathLst>
                <a:path w="1080158" h="927100">
                  <a:moveTo>
                    <a:pt x="113011" y="0"/>
                  </a:moveTo>
                  <a:lnTo>
                    <a:pt x="967147" y="0"/>
                  </a:lnTo>
                  <a:cubicBezTo>
                    <a:pt x="997120" y="0"/>
                    <a:pt x="1025865" y="11906"/>
                    <a:pt x="1047058" y="33100"/>
                  </a:cubicBezTo>
                  <a:cubicBezTo>
                    <a:pt x="1068252" y="54294"/>
                    <a:pt x="1080158" y="83039"/>
                    <a:pt x="1080158" y="113011"/>
                  </a:cubicBezTo>
                  <a:lnTo>
                    <a:pt x="1080158" y="814089"/>
                  </a:lnTo>
                  <a:cubicBezTo>
                    <a:pt x="1080158" y="876503"/>
                    <a:pt x="1029562" y="927100"/>
                    <a:pt x="967147" y="927100"/>
                  </a:cubicBezTo>
                  <a:lnTo>
                    <a:pt x="113011" y="927100"/>
                  </a:lnTo>
                  <a:cubicBezTo>
                    <a:pt x="50597" y="927100"/>
                    <a:pt x="0" y="876503"/>
                    <a:pt x="0" y="814089"/>
                  </a:cubicBezTo>
                  <a:lnTo>
                    <a:pt x="0" y="113011"/>
                  </a:lnTo>
                  <a:cubicBezTo>
                    <a:pt x="0" y="50597"/>
                    <a:pt x="50597" y="0"/>
                    <a:pt x="113011" y="0"/>
                  </a:cubicBezTo>
                  <a:close/>
                </a:path>
              </a:pathLst>
            </a:custGeom>
            <a:solidFill>
              <a:srgbClr val="EBF2F1"/>
            </a:solidFill>
            <a:ln cap="rnd">
              <a:noFill/>
              <a:prstDash val="solid"/>
              <a:round/>
            </a:ln>
          </p:spPr>
          <p:txBody>
            <a:bodyPr/>
            <a:lstStyle/>
            <a:p>
              <a:endParaRPr lang="en-PK"/>
            </a:p>
          </p:txBody>
        </p:sp>
        <p:sp>
          <p:nvSpPr>
            <p:cNvPr id="28" name="TextBox 28"/>
            <p:cNvSpPr txBox="1"/>
            <p:nvPr/>
          </p:nvSpPr>
          <p:spPr>
            <a:xfrm>
              <a:off x="0" y="-38100"/>
              <a:ext cx="1080158" cy="965200"/>
            </a:xfrm>
            <a:prstGeom prst="rect">
              <a:avLst/>
            </a:prstGeom>
          </p:spPr>
          <p:txBody>
            <a:bodyPr lIns="50800" tIns="50800" rIns="50800" bIns="50800" rtlCol="0" anchor="ctr"/>
            <a:lstStyle/>
            <a:p>
              <a:pPr algn="ctr">
                <a:lnSpc>
                  <a:spcPts val="2659"/>
                </a:lnSpc>
              </a:pPr>
              <a:endParaRPr/>
            </a:p>
          </p:txBody>
        </p:sp>
      </p:grpSp>
      <p:grpSp>
        <p:nvGrpSpPr>
          <p:cNvPr id="29" name="Group 29"/>
          <p:cNvGrpSpPr/>
          <p:nvPr/>
        </p:nvGrpSpPr>
        <p:grpSpPr>
          <a:xfrm>
            <a:off x="14829017" y="5143500"/>
            <a:ext cx="1092742" cy="1128939"/>
            <a:chOff x="0" y="0"/>
            <a:chExt cx="812800" cy="839724"/>
          </a:xfrm>
        </p:grpSpPr>
        <p:sp>
          <p:nvSpPr>
            <p:cNvPr id="30" name="Freeform 30"/>
            <p:cNvSpPr/>
            <p:nvPr/>
          </p:nvSpPr>
          <p:spPr>
            <a:xfrm>
              <a:off x="0" y="0"/>
              <a:ext cx="812800" cy="839724"/>
            </a:xfrm>
            <a:custGeom>
              <a:avLst/>
              <a:gdLst/>
              <a:ahLst/>
              <a:cxnLst/>
              <a:rect l="l" t="t" r="r" b="b"/>
              <a:pathLst>
                <a:path w="812800" h="839724">
                  <a:moveTo>
                    <a:pt x="406400" y="0"/>
                  </a:moveTo>
                  <a:cubicBezTo>
                    <a:pt x="181951" y="0"/>
                    <a:pt x="0" y="187979"/>
                    <a:pt x="0" y="419862"/>
                  </a:cubicBezTo>
                  <a:cubicBezTo>
                    <a:pt x="0" y="651745"/>
                    <a:pt x="181951" y="839724"/>
                    <a:pt x="406400" y="839724"/>
                  </a:cubicBezTo>
                  <a:cubicBezTo>
                    <a:pt x="630849" y="839724"/>
                    <a:pt x="812800" y="651745"/>
                    <a:pt x="812800" y="419862"/>
                  </a:cubicBezTo>
                  <a:cubicBezTo>
                    <a:pt x="812800" y="187979"/>
                    <a:pt x="630849" y="0"/>
                    <a:pt x="406400" y="0"/>
                  </a:cubicBezTo>
                  <a:close/>
                </a:path>
              </a:pathLst>
            </a:custGeom>
            <a:solidFill>
              <a:srgbClr val="1468A2"/>
            </a:solidFill>
          </p:spPr>
          <p:txBody>
            <a:bodyPr/>
            <a:lstStyle/>
            <a:p>
              <a:endParaRPr lang="en-PK"/>
            </a:p>
          </p:txBody>
        </p:sp>
        <p:sp>
          <p:nvSpPr>
            <p:cNvPr id="31" name="TextBox 31"/>
            <p:cNvSpPr txBox="1"/>
            <p:nvPr/>
          </p:nvSpPr>
          <p:spPr>
            <a:xfrm>
              <a:off x="76200" y="40624"/>
              <a:ext cx="660400" cy="720376"/>
            </a:xfrm>
            <a:prstGeom prst="rect">
              <a:avLst/>
            </a:prstGeom>
          </p:spPr>
          <p:txBody>
            <a:bodyPr lIns="50800" tIns="50800" rIns="50800" bIns="50800" rtlCol="0" anchor="ctr"/>
            <a:lstStyle/>
            <a:p>
              <a:pPr algn="ctr">
                <a:lnSpc>
                  <a:spcPts val="2659"/>
                </a:lnSpc>
              </a:pPr>
              <a:endParaRPr/>
            </a:p>
          </p:txBody>
        </p:sp>
      </p:grpSp>
      <p:grpSp>
        <p:nvGrpSpPr>
          <p:cNvPr id="32" name="Group 32"/>
          <p:cNvGrpSpPr/>
          <p:nvPr/>
        </p:nvGrpSpPr>
        <p:grpSpPr>
          <a:xfrm rot="2700000">
            <a:off x="11395055" y="-1384818"/>
            <a:ext cx="10363565" cy="5323328"/>
            <a:chOff x="0" y="0"/>
            <a:chExt cx="3471252" cy="1783037"/>
          </a:xfrm>
        </p:grpSpPr>
        <p:sp>
          <p:nvSpPr>
            <p:cNvPr id="33" name="Freeform 33"/>
            <p:cNvSpPr/>
            <p:nvPr/>
          </p:nvSpPr>
          <p:spPr>
            <a:xfrm>
              <a:off x="0" y="0"/>
              <a:ext cx="3471252" cy="1783037"/>
            </a:xfrm>
            <a:custGeom>
              <a:avLst/>
              <a:gdLst/>
              <a:ahLst/>
              <a:cxnLst/>
              <a:rect l="l" t="t" r="r" b="b"/>
              <a:pathLst>
                <a:path w="3471252" h="1783037">
                  <a:moveTo>
                    <a:pt x="0" y="0"/>
                  </a:moveTo>
                  <a:lnTo>
                    <a:pt x="3471252" y="0"/>
                  </a:lnTo>
                  <a:lnTo>
                    <a:pt x="3471252" y="1783037"/>
                  </a:lnTo>
                  <a:lnTo>
                    <a:pt x="0" y="1783037"/>
                  </a:lnTo>
                  <a:close/>
                </a:path>
              </a:pathLst>
            </a:custGeom>
            <a:solidFill>
              <a:srgbClr val="1468A2"/>
            </a:solidFill>
          </p:spPr>
          <p:txBody>
            <a:bodyPr/>
            <a:lstStyle/>
            <a:p>
              <a:endParaRPr lang="en-PK"/>
            </a:p>
          </p:txBody>
        </p:sp>
        <p:sp>
          <p:nvSpPr>
            <p:cNvPr id="34" name="TextBox 34"/>
            <p:cNvSpPr txBox="1"/>
            <p:nvPr/>
          </p:nvSpPr>
          <p:spPr>
            <a:xfrm>
              <a:off x="0" y="-38100"/>
              <a:ext cx="3471252" cy="1821137"/>
            </a:xfrm>
            <a:prstGeom prst="rect">
              <a:avLst/>
            </a:prstGeom>
          </p:spPr>
          <p:txBody>
            <a:bodyPr lIns="50800" tIns="50800" rIns="50800" bIns="50800" rtlCol="0" anchor="ctr"/>
            <a:lstStyle/>
            <a:p>
              <a:pPr algn="ctr">
                <a:lnSpc>
                  <a:spcPts val="2659"/>
                </a:lnSpc>
                <a:spcBef>
                  <a:spcPct val="0"/>
                </a:spcBef>
              </a:pPr>
              <a:endParaRPr/>
            </a:p>
          </p:txBody>
        </p:sp>
      </p:grpSp>
      <p:grpSp>
        <p:nvGrpSpPr>
          <p:cNvPr id="35" name="Group 35"/>
          <p:cNvGrpSpPr/>
          <p:nvPr/>
        </p:nvGrpSpPr>
        <p:grpSpPr>
          <a:xfrm>
            <a:off x="13901581" y="-2446736"/>
            <a:ext cx="8843781" cy="8843781"/>
            <a:chOff x="0" y="0"/>
            <a:chExt cx="812800" cy="812800"/>
          </a:xfrm>
        </p:grpSpPr>
        <p:sp>
          <p:nvSpPr>
            <p:cNvPr id="36" name="Freeform 36"/>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3"/>
              <a:stretch>
                <a:fillRect l="-46982" r="-3017"/>
              </a:stretch>
            </a:blipFill>
          </p:spPr>
          <p:txBody>
            <a:bodyPr/>
            <a:lstStyle/>
            <a:p>
              <a:endParaRPr lang="en-PK"/>
            </a:p>
          </p:txBody>
        </p:sp>
      </p:grpSp>
      <p:sp>
        <p:nvSpPr>
          <p:cNvPr id="37" name="Freeform 37"/>
          <p:cNvSpPr/>
          <p:nvPr/>
        </p:nvSpPr>
        <p:spPr>
          <a:xfrm>
            <a:off x="13280237" y="-456941"/>
            <a:ext cx="3393170" cy="4729590"/>
          </a:xfrm>
          <a:custGeom>
            <a:avLst/>
            <a:gdLst/>
            <a:ahLst/>
            <a:cxnLst/>
            <a:rect l="l" t="t" r="r" b="b"/>
            <a:pathLst>
              <a:path w="3393170" h="4729590">
                <a:moveTo>
                  <a:pt x="0" y="0"/>
                </a:moveTo>
                <a:lnTo>
                  <a:pt x="3393170" y="0"/>
                </a:lnTo>
                <a:lnTo>
                  <a:pt x="3393170" y="4729589"/>
                </a:lnTo>
                <a:lnTo>
                  <a:pt x="0" y="4729589"/>
                </a:lnTo>
                <a:lnTo>
                  <a:pt x="0" y="0"/>
                </a:lnTo>
                <a:close/>
              </a:path>
            </a:pathLst>
          </a:custGeom>
          <a:blipFill>
            <a:blip r:embed="rId4"/>
            <a:stretch>
              <a:fillRect t="-25377" b="-12492"/>
            </a:stretch>
          </a:blipFill>
        </p:spPr>
        <p:txBody>
          <a:bodyPr/>
          <a:lstStyle/>
          <a:p>
            <a:endParaRPr lang="en-PK"/>
          </a:p>
        </p:txBody>
      </p:sp>
      <p:sp>
        <p:nvSpPr>
          <p:cNvPr id="38" name="AutoShape 38"/>
          <p:cNvSpPr/>
          <p:nvPr/>
        </p:nvSpPr>
        <p:spPr>
          <a:xfrm>
            <a:off x="9350687" y="-1475052"/>
            <a:ext cx="7226150" cy="7226150"/>
          </a:xfrm>
          <a:prstGeom prst="line">
            <a:avLst/>
          </a:prstGeom>
          <a:ln w="38100" cap="flat">
            <a:solidFill>
              <a:srgbClr val="1468A2"/>
            </a:solidFill>
            <a:prstDash val="solid"/>
            <a:headEnd type="none" w="sm" len="sm"/>
            <a:tailEnd type="none" w="sm" len="sm"/>
          </a:ln>
        </p:spPr>
        <p:txBody>
          <a:bodyPr/>
          <a:lstStyle/>
          <a:p>
            <a:endParaRPr lang="en-PK"/>
          </a:p>
        </p:txBody>
      </p:sp>
      <p:sp>
        <p:nvSpPr>
          <p:cNvPr id="43" name="Freeform 43"/>
          <p:cNvSpPr/>
          <p:nvPr/>
        </p:nvSpPr>
        <p:spPr>
          <a:xfrm>
            <a:off x="2616921" y="5323621"/>
            <a:ext cx="591382" cy="725622"/>
          </a:xfrm>
          <a:custGeom>
            <a:avLst/>
            <a:gdLst/>
            <a:ahLst/>
            <a:cxnLst/>
            <a:rect l="l" t="t" r="r" b="b"/>
            <a:pathLst>
              <a:path w="591382" h="725622">
                <a:moveTo>
                  <a:pt x="0" y="0"/>
                </a:moveTo>
                <a:lnTo>
                  <a:pt x="591382" y="0"/>
                </a:lnTo>
                <a:lnTo>
                  <a:pt x="591382" y="725623"/>
                </a:lnTo>
                <a:lnTo>
                  <a:pt x="0" y="725623"/>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PK"/>
          </a:p>
        </p:txBody>
      </p:sp>
      <p:sp>
        <p:nvSpPr>
          <p:cNvPr id="44" name="Freeform 44"/>
          <p:cNvSpPr/>
          <p:nvPr/>
        </p:nvSpPr>
        <p:spPr>
          <a:xfrm>
            <a:off x="6778755" y="5353831"/>
            <a:ext cx="576232" cy="665203"/>
          </a:xfrm>
          <a:custGeom>
            <a:avLst/>
            <a:gdLst/>
            <a:ahLst/>
            <a:cxnLst/>
            <a:rect l="l" t="t" r="r" b="b"/>
            <a:pathLst>
              <a:path w="576232" h="665203">
                <a:moveTo>
                  <a:pt x="0" y="0"/>
                </a:moveTo>
                <a:lnTo>
                  <a:pt x="576232" y="0"/>
                </a:lnTo>
                <a:lnTo>
                  <a:pt x="576232" y="665203"/>
                </a:lnTo>
                <a:lnTo>
                  <a:pt x="0" y="665203"/>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PK"/>
          </a:p>
        </p:txBody>
      </p:sp>
      <p:sp>
        <p:nvSpPr>
          <p:cNvPr id="45" name="Freeform 45"/>
          <p:cNvSpPr/>
          <p:nvPr/>
        </p:nvSpPr>
        <p:spPr>
          <a:xfrm>
            <a:off x="10874186" y="5339489"/>
            <a:ext cx="693886" cy="693886"/>
          </a:xfrm>
          <a:custGeom>
            <a:avLst/>
            <a:gdLst/>
            <a:ahLst/>
            <a:cxnLst/>
            <a:rect l="l" t="t" r="r" b="b"/>
            <a:pathLst>
              <a:path w="693886" h="693886">
                <a:moveTo>
                  <a:pt x="0" y="0"/>
                </a:moveTo>
                <a:lnTo>
                  <a:pt x="693886" y="0"/>
                </a:lnTo>
                <a:lnTo>
                  <a:pt x="693886" y="693887"/>
                </a:lnTo>
                <a:lnTo>
                  <a:pt x="0" y="693887"/>
                </a:lnTo>
                <a:lnTo>
                  <a:pt x="0" y="0"/>
                </a:lnTo>
                <a:close/>
              </a:path>
            </a:pathLst>
          </a:custGeom>
          <a:blipFill>
            <a:blip r:embed="rId9">
              <a:extLst>
                <a:ext uri="{96DAC541-7B7A-43D3-8B79-37D633B846F1}">
                  <asvg:svgBlip xmlns:asvg="http://schemas.microsoft.com/office/drawing/2016/SVG/main" r:embed="rId10"/>
                </a:ext>
              </a:extLst>
            </a:blip>
            <a:stretch>
              <a:fillRect/>
            </a:stretch>
          </a:blipFill>
        </p:spPr>
        <p:txBody>
          <a:bodyPr/>
          <a:lstStyle/>
          <a:p>
            <a:endParaRPr lang="en-PK"/>
          </a:p>
        </p:txBody>
      </p:sp>
      <p:sp>
        <p:nvSpPr>
          <p:cNvPr id="46" name="Freeform 46"/>
          <p:cNvSpPr/>
          <p:nvPr/>
        </p:nvSpPr>
        <p:spPr>
          <a:xfrm>
            <a:off x="15098810" y="5339489"/>
            <a:ext cx="553156" cy="692527"/>
          </a:xfrm>
          <a:custGeom>
            <a:avLst/>
            <a:gdLst/>
            <a:ahLst/>
            <a:cxnLst/>
            <a:rect l="l" t="t" r="r" b="b"/>
            <a:pathLst>
              <a:path w="553156" h="692527">
                <a:moveTo>
                  <a:pt x="0" y="0"/>
                </a:moveTo>
                <a:lnTo>
                  <a:pt x="553156" y="0"/>
                </a:lnTo>
                <a:lnTo>
                  <a:pt x="553156" y="692527"/>
                </a:lnTo>
                <a:lnTo>
                  <a:pt x="0" y="692527"/>
                </a:lnTo>
                <a:lnTo>
                  <a:pt x="0" y="0"/>
                </a:lnTo>
                <a:close/>
              </a:path>
            </a:pathLst>
          </a:custGeom>
          <a:blipFill>
            <a:blip r:embed="rId11">
              <a:extLst>
                <a:ext uri="{96DAC541-7B7A-43D3-8B79-37D633B846F1}">
                  <asvg:svgBlip xmlns:asvg="http://schemas.microsoft.com/office/drawing/2016/SVG/main" r:embed="rId12"/>
                </a:ext>
              </a:extLst>
            </a:blip>
            <a:stretch>
              <a:fillRect/>
            </a:stretch>
          </a:blipFill>
        </p:spPr>
        <p:txBody>
          <a:bodyPr/>
          <a:lstStyle/>
          <a:p>
            <a:endParaRPr lang="en-PK"/>
          </a:p>
        </p:txBody>
      </p:sp>
      <p:sp>
        <p:nvSpPr>
          <p:cNvPr id="47" name="TextBox 47"/>
          <p:cNvSpPr txBox="1"/>
          <p:nvPr/>
        </p:nvSpPr>
        <p:spPr>
          <a:xfrm>
            <a:off x="1028700" y="1276846"/>
            <a:ext cx="8115300" cy="565732"/>
          </a:xfrm>
          <a:prstGeom prst="rect">
            <a:avLst/>
          </a:prstGeom>
        </p:spPr>
        <p:txBody>
          <a:bodyPr lIns="0" tIns="0" rIns="0" bIns="0" rtlCol="0" anchor="t">
            <a:spAutoFit/>
          </a:bodyPr>
          <a:lstStyle/>
          <a:p>
            <a:pPr algn="l">
              <a:lnSpc>
                <a:spcPts val="4446"/>
              </a:lnSpc>
            </a:pPr>
            <a:r>
              <a:rPr lang="en-US" sz="3705" b="1" dirty="0">
                <a:solidFill>
                  <a:srgbClr val="000000"/>
                </a:solidFill>
                <a:latin typeface="Garet Bold"/>
                <a:ea typeface="Garet Bold"/>
                <a:cs typeface="Garet Bold"/>
                <a:sym typeface="Garet Bold"/>
              </a:rPr>
              <a:t>Analysis and Findings</a:t>
            </a:r>
          </a:p>
        </p:txBody>
      </p:sp>
      <p:sp>
        <p:nvSpPr>
          <p:cNvPr id="48" name="TextBox 48"/>
          <p:cNvSpPr txBox="1"/>
          <p:nvPr/>
        </p:nvSpPr>
        <p:spPr>
          <a:xfrm>
            <a:off x="1353751" y="6543014"/>
            <a:ext cx="3117723" cy="1128514"/>
          </a:xfrm>
          <a:prstGeom prst="rect">
            <a:avLst/>
          </a:prstGeom>
        </p:spPr>
        <p:txBody>
          <a:bodyPr lIns="0" tIns="0" rIns="0" bIns="0" rtlCol="0" anchor="t">
            <a:spAutoFit/>
          </a:bodyPr>
          <a:lstStyle/>
          <a:p>
            <a:pPr algn="ctr">
              <a:lnSpc>
                <a:spcPts val="2171"/>
              </a:lnSpc>
            </a:pPr>
            <a:r>
              <a:rPr lang="en-US" sz="1809" b="1" dirty="0">
                <a:solidFill>
                  <a:srgbClr val="000000"/>
                </a:solidFill>
                <a:latin typeface="Garet Bold"/>
                <a:ea typeface="Garet Bold"/>
                <a:cs typeface="Garet Bold"/>
                <a:sym typeface="Garet Bold"/>
              </a:rPr>
              <a:t>Ethical leadership styles continue to evolve and influence organizational performance</a:t>
            </a:r>
          </a:p>
        </p:txBody>
      </p:sp>
      <p:sp>
        <p:nvSpPr>
          <p:cNvPr id="49" name="TextBox 49"/>
          <p:cNvSpPr txBox="1"/>
          <p:nvPr/>
        </p:nvSpPr>
        <p:spPr>
          <a:xfrm>
            <a:off x="5380267" y="6543014"/>
            <a:ext cx="3373208" cy="1128514"/>
          </a:xfrm>
          <a:prstGeom prst="rect">
            <a:avLst/>
          </a:prstGeom>
        </p:spPr>
        <p:txBody>
          <a:bodyPr lIns="0" tIns="0" rIns="0" bIns="0" rtlCol="0" anchor="t">
            <a:spAutoFit/>
          </a:bodyPr>
          <a:lstStyle/>
          <a:p>
            <a:pPr algn="ctr">
              <a:lnSpc>
                <a:spcPts val="2171"/>
              </a:lnSpc>
            </a:pPr>
            <a:r>
              <a:rPr lang="en-US" sz="1809" b="1" dirty="0">
                <a:solidFill>
                  <a:srgbClr val="000000"/>
                </a:solidFill>
                <a:latin typeface="Garet Bold"/>
                <a:ea typeface="Garet Bold"/>
                <a:cs typeface="Garet Bold"/>
                <a:sym typeface="Garet Bold"/>
              </a:rPr>
              <a:t>No single leadership style is universally the most effective for superior performance</a:t>
            </a:r>
          </a:p>
        </p:txBody>
      </p:sp>
      <p:sp>
        <p:nvSpPr>
          <p:cNvPr id="54" name="TextBox 54"/>
          <p:cNvSpPr txBox="1"/>
          <p:nvPr/>
        </p:nvSpPr>
        <p:spPr>
          <a:xfrm>
            <a:off x="9477860" y="6543014"/>
            <a:ext cx="3486538" cy="1128514"/>
          </a:xfrm>
          <a:prstGeom prst="rect">
            <a:avLst/>
          </a:prstGeom>
        </p:spPr>
        <p:txBody>
          <a:bodyPr lIns="0" tIns="0" rIns="0" bIns="0" rtlCol="0" anchor="t">
            <a:spAutoFit/>
          </a:bodyPr>
          <a:lstStyle/>
          <a:p>
            <a:pPr algn="ctr">
              <a:lnSpc>
                <a:spcPts val="2171"/>
              </a:lnSpc>
            </a:pPr>
            <a:r>
              <a:rPr lang="en-US" sz="1809" b="1" dirty="0">
                <a:solidFill>
                  <a:srgbClr val="000000"/>
                </a:solidFill>
                <a:latin typeface="Garet Bold"/>
                <a:ea typeface="Garet Bold"/>
                <a:cs typeface="Garet Bold"/>
                <a:sym typeface="Garet Bold"/>
              </a:rPr>
              <a:t>Improves knowledge transfer and absorptive capacity, leading to enhanced performance</a:t>
            </a:r>
          </a:p>
        </p:txBody>
      </p:sp>
      <p:sp>
        <p:nvSpPr>
          <p:cNvPr id="55" name="TextBox 55"/>
          <p:cNvSpPr txBox="1"/>
          <p:nvPr/>
        </p:nvSpPr>
        <p:spPr>
          <a:xfrm>
            <a:off x="13816526" y="6543014"/>
            <a:ext cx="3117723" cy="846386"/>
          </a:xfrm>
          <a:prstGeom prst="rect">
            <a:avLst/>
          </a:prstGeom>
        </p:spPr>
        <p:txBody>
          <a:bodyPr lIns="0" tIns="0" rIns="0" bIns="0" rtlCol="0" anchor="t">
            <a:spAutoFit/>
          </a:bodyPr>
          <a:lstStyle/>
          <a:p>
            <a:pPr algn="ctr">
              <a:lnSpc>
                <a:spcPts val="2171"/>
              </a:lnSpc>
            </a:pPr>
            <a:r>
              <a:rPr lang="en-US" sz="1809" b="1" dirty="0">
                <a:solidFill>
                  <a:srgbClr val="000000"/>
                </a:solidFill>
                <a:latin typeface="Garet Bold"/>
                <a:ea typeface="Garet Bold"/>
                <a:cs typeface="Garet Bold"/>
                <a:sym typeface="Garet Bold"/>
              </a:rPr>
              <a:t>Demonstrates a stronger positive relationship with organizational learning</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2802CCB6-002A-0DC3-367E-C71E08265F6F}"/>
              </a:ext>
            </a:extLst>
          </p:cNvPr>
          <p:cNvPicPr>
            <a:picLocks noChangeAspect="1"/>
          </p:cNvPicPr>
          <p:nvPr/>
        </p:nvPicPr>
        <p:blipFill>
          <a:blip r:embed="rId3"/>
          <a:srcRect t="6000"/>
          <a:stretch/>
        </p:blipFill>
        <p:spPr>
          <a:xfrm>
            <a:off x="71011" y="3395733"/>
            <a:ext cx="17877385" cy="6624567"/>
          </a:xfrm>
          <a:prstGeom prst="rect">
            <a:avLst/>
          </a:prstGeom>
        </p:spPr>
      </p:pic>
      <p:grpSp>
        <p:nvGrpSpPr>
          <p:cNvPr id="2" name="Group 2"/>
          <p:cNvGrpSpPr/>
          <p:nvPr/>
        </p:nvGrpSpPr>
        <p:grpSpPr>
          <a:xfrm rot="2700000">
            <a:off x="14086836" y="-2601670"/>
            <a:ext cx="9677692" cy="6768089"/>
            <a:chOff x="0" y="0"/>
            <a:chExt cx="2548857" cy="1782542"/>
          </a:xfrm>
        </p:grpSpPr>
        <p:sp>
          <p:nvSpPr>
            <p:cNvPr id="3" name="Freeform 3"/>
            <p:cNvSpPr/>
            <p:nvPr/>
          </p:nvSpPr>
          <p:spPr>
            <a:xfrm>
              <a:off x="0" y="0"/>
              <a:ext cx="2548857" cy="1782542"/>
            </a:xfrm>
            <a:custGeom>
              <a:avLst/>
              <a:gdLst/>
              <a:ahLst/>
              <a:cxnLst/>
              <a:rect l="l" t="t" r="r" b="b"/>
              <a:pathLst>
                <a:path w="2548857" h="1782542">
                  <a:moveTo>
                    <a:pt x="0" y="0"/>
                  </a:moveTo>
                  <a:lnTo>
                    <a:pt x="2548857" y="0"/>
                  </a:lnTo>
                  <a:lnTo>
                    <a:pt x="2548857" y="1782542"/>
                  </a:lnTo>
                  <a:lnTo>
                    <a:pt x="0" y="1782542"/>
                  </a:lnTo>
                  <a:close/>
                </a:path>
              </a:pathLst>
            </a:custGeom>
            <a:solidFill>
              <a:srgbClr val="1468A2"/>
            </a:solidFill>
          </p:spPr>
          <p:txBody>
            <a:bodyPr/>
            <a:lstStyle/>
            <a:p>
              <a:endParaRPr lang="en-PK"/>
            </a:p>
          </p:txBody>
        </p:sp>
        <p:sp>
          <p:nvSpPr>
            <p:cNvPr id="4" name="TextBox 4"/>
            <p:cNvSpPr txBox="1"/>
            <p:nvPr/>
          </p:nvSpPr>
          <p:spPr>
            <a:xfrm>
              <a:off x="0" y="-38100"/>
              <a:ext cx="2548857" cy="182064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14429998" y="-1897173"/>
            <a:ext cx="3663740" cy="7040673"/>
          </a:xfrm>
          <a:custGeom>
            <a:avLst/>
            <a:gdLst/>
            <a:ahLst/>
            <a:cxnLst/>
            <a:rect l="l" t="t" r="r" b="b"/>
            <a:pathLst>
              <a:path w="3663740" h="7040673">
                <a:moveTo>
                  <a:pt x="0" y="0"/>
                </a:moveTo>
                <a:lnTo>
                  <a:pt x="3663740" y="0"/>
                </a:lnTo>
                <a:lnTo>
                  <a:pt x="3663740" y="7040673"/>
                </a:lnTo>
                <a:lnTo>
                  <a:pt x="0" y="7040673"/>
                </a:lnTo>
                <a:lnTo>
                  <a:pt x="0" y="0"/>
                </a:lnTo>
                <a:close/>
              </a:path>
            </a:pathLst>
          </a:custGeom>
          <a:blipFill>
            <a:blip r:embed="rId4"/>
            <a:stretch>
              <a:fillRect/>
            </a:stretch>
          </a:blipFill>
        </p:spPr>
        <p:txBody>
          <a:bodyPr/>
          <a:lstStyle/>
          <a:p>
            <a:endParaRPr lang="en-PK"/>
          </a:p>
        </p:txBody>
      </p:sp>
      <p:grpSp>
        <p:nvGrpSpPr>
          <p:cNvPr id="6" name="Group 6"/>
          <p:cNvGrpSpPr/>
          <p:nvPr/>
        </p:nvGrpSpPr>
        <p:grpSpPr>
          <a:xfrm>
            <a:off x="5176780" y="2306248"/>
            <a:ext cx="7934440" cy="1008452"/>
            <a:chOff x="0" y="0"/>
            <a:chExt cx="2089729" cy="159509"/>
          </a:xfrm>
        </p:grpSpPr>
        <p:sp>
          <p:nvSpPr>
            <p:cNvPr id="7" name="Freeform 7"/>
            <p:cNvSpPr/>
            <p:nvPr/>
          </p:nvSpPr>
          <p:spPr>
            <a:xfrm>
              <a:off x="0" y="0"/>
              <a:ext cx="2089729" cy="159509"/>
            </a:xfrm>
            <a:custGeom>
              <a:avLst/>
              <a:gdLst/>
              <a:ahLst/>
              <a:cxnLst/>
              <a:rect l="l" t="t" r="r" b="b"/>
              <a:pathLst>
                <a:path w="2089729" h="159509">
                  <a:moveTo>
                    <a:pt x="79754" y="0"/>
                  </a:moveTo>
                  <a:lnTo>
                    <a:pt x="2009975" y="0"/>
                  </a:lnTo>
                  <a:cubicBezTo>
                    <a:pt x="2031127" y="0"/>
                    <a:pt x="2051413" y="8403"/>
                    <a:pt x="2066370" y="23359"/>
                  </a:cubicBezTo>
                  <a:cubicBezTo>
                    <a:pt x="2081327" y="38316"/>
                    <a:pt x="2089729" y="58602"/>
                    <a:pt x="2089729" y="79754"/>
                  </a:cubicBezTo>
                  <a:lnTo>
                    <a:pt x="2089729" y="79754"/>
                  </a:lnTo>
                  <a:cubicBezTo>
                    <a:pt x="2089729" y="100906"/>
                    <a:pt x="2081327" y="121192"/>
                    <a:pt x="2066370" y="136149"/>
                  </a:cubicBezTo>
                  <a:cubicBezTo>
                    <a:pt x="2051413" y="151106"/>
                    <a:pt x="2031127" y="159509"/>
                    <a:pt x="2009975" y="159509"/>
                  </a:cubicBezTo>
                  <a:lnTo>
                    <a:pt x="79754" y="159509"/>
                  </a:lnTo>
                  <a:cubicBezTo>
                    <a:pt x="58602" y="159509"/>
                    <a:pt x="38316" y="151106"/>
                    <a:pt x="23359" y="136149"/>
                  </a:cubicBezTo>
                  <a:cubicBezTo>
                    <a:pt x="8403" y="121192"/>
                    <a:pt x="0" y="100906"/>
                    <a:pt x="0" y="79754"/>
                  </a:cubicBezTo>
                  <a:lnTo>
                    <a:pt x="0" y="79754"/>
                  </a:lnTo>
                  <a:cubicBezTo>
                    <a:pt x="0" y="58602"/>
                    <a:pt x="8403" y="38316"/>
                    <a:pt x="23359" y="23359"/>
                  </a:cubicBezTo>
                  <a:cubicBezTo>
                    <a:pt x="38316" y="8403"/>
                    <a:pt x="58602" y="0"/>
                    <a:pt x="79754" y="0"/>
                  </a:cubicBezTo>
                  <a:close/>
                </a:path>
              </a:pathLst>
            </a:custGeom>
            <a:solidFill>
              <a:srgbClr val="EBF2F1"/>
            </a:solidFill>
          </p:spPr>
          <p:txBody>
            <a:bodyPr/>
            <a:lstStyle/>
            <a:p>
              <a:endParaRPr lang="en-PK"/>
            </a:p>
          </p:txBody>
        </p:sp>
        <p:sp>
          <p:nvSpPr>
            <p:cNvPr id="8" name="TextBox 8"/>
            <p:cNvSpPr txBox="1"/>
            <p:nvPr/>
          </p:nvSpPr>
          <p:spPr>
            <a:xfrm>
              <a:off x="0" y="-38100"/>
              <a:ext cx="2089729" cy="197609"/>
            </a:xfrm>
            <a:prstGeom prst="rect">
              <a:avLst/>
            </a:prstGeom>
          </p:spPr>
          <p:txBody>
            <a:bodyPr lIns="50800" tIns="50800" rIns="50800" bIns="50800" rtlCol="0" anchor="ctr"/>
            <a:lstStyle/>
            <a:p>
              <a:pPr algn="ctr">
                <a:lnSpc>
                  <a:spcPts val="2659"/>
                </a:lnSpc>
              </a:pPr>
              <a:endParaRPr/>
            </a:p>
          </p:txBody>
        </p:sp>
      </p:grpSp>
      <p:sp>
        <p:nvSpPr>
          <p:cNvPr id="11" name="TextBox 11"/>
          <p:cNvSpPr txBox="1"/>
          <p:nvPr/>
        </p:nvSpPr>
        <p:spPr>
          <a:xfrm>
            <a:off x="5985689" y="1290251"/>
            <a:ext cx="6316622" cy="866775"/>
          </a:xfrm>
          <a:prstGeom prst="rect">
            <a:avLst/>
          </a:prstGeom>
        </p:spPr>
        <p:txBody>
          <a:bodyPr lIns="0" tIns="0" rIns="0" bIns="0" rtlCol="0" anchor="t">
            <a:spAutoFit/>
          </a:bodyPr>
          <a:lstStyle/>
          <a:p>
            <a:pPr algn="ctr">
              <a:lnSpc>
                <a:spcPts val="6822"/>
              </a:lnSpc>
            </a:pPr>
            <a:r>
              <a:rPr lang="en-US" sz="5685" b="1" dirty="0">
                <a:solidFill>
                  <a:srgbClr val="000000"/>
                </a:solidFill>
                <a:latin typeface="Garet Bold"/>
                <a:ea typeface="Garet Bold"/>
                <a:cs typeface="Garet Bold"/>
                <a:sym typeface="Garet Bold"/>
              </a:rPr>
              <a:t>Framework</a:t>
            </a:r>
          </a:p>
        </p:txBody>
      </p:sp>
      <p:sp>
        <p:nvSpPr>
          <p:cNvPr id="12" name="TextBox 12"/>
          <p:cNvSpPr txBox="1"/>
          <p:nvPr/>
        </p:nvSpPr>
        <p:spPr>
          <a:xfrm>
            <a:off x="5487815" y="2387281"/>
            <a:ext cx="7312371" cy="846386"/>
          </a:xfrm>
          <a:prstGeom prst="rect">
            <a:avLst/>
          </a:prstGeom>
        </p:spPr>
        <p:txBody>
          <a:bodyPr lIns="0" tIns="0" rIns="0" bIns="0" rtlCol="0" anchor="t">
            <a:spAutoFit/>
          </a:bodyPr>
          <a:lstStyle/>
          <a:p>
            <a:pPr algn="ctr">
              <a:lnSpc>
                <a:spcPts val="3260"/>
              </a:lnSpc>
            </a:pPr>
            <a:r>
              <a:rPr lang="en-US" sz="2717" b="1" dirty="0">
                <a:solidFill>
                  <a:srgbClr val="000000"/>
                </a:solidFill>
                <a:latin typeface="Garet Bold"/>
                <a:ea typeface="Garet Bold"/>
                <a:cs typeface="Garet Bold"/>
                <a:sym typeface="Garet Bold"/>
              </a:rPr>
              <a:t>Leadership styles impact on OP with mediating effect of OL</a:t>
            </a:r>
          </a:p>
        </p:txBody>
      </p:sp>
      <p:grpSp>
        <p:nvGrpSpPr>
          <p:cNvPr id="20" name="Group 20"/>
          <p:cNvGrpSpPr/>
          <p:nvPr/>
        </p:nvGrpSpPr>
        <p:grpSpPr>
          <a:xfrm>
            <a:off x="1028700" y="1411710"/>
            <a:ext cx="1281097" cy="422907"/>
            <a:chOff x="0" y="0"/>
            <a:chExt cx="1708130" cy="563877"/>
          </a:xfrm>
        </p:grpSpPr>
        <p:sp>
          <p:nvSpPr>
            <p:cNvPr id="21" name="Freeform 21"/>
            <p:cNvSpPr/>
            <p:nvPr/>
          </p:nvSpPr>
          <p:spPr>
            <a:xfrm>
              <a:off x="0" y="0"/>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5">
                <a:extLst>
                  <a:ext uri="{96DAC541-7B7A-43D3-8B79-37D633B846F1}">
                    <asvg:svgBlip xmlns:asvg="http://schemas.microsoft.com/office/drawing/2016/SVG/main" r:embed="rId6"/>
                  </a:ext>
                </a:extLst>
              </a:blip>
              <a:stretch>
                <a:fillRect t="-357762"/>
              </a:stretch>
            </a:blipFill>
          </p:spPr>
          <p:txBody>
            <a:bodyPr/>
            <a:lstStyle/>
            <a:p>
              <a:endParaRPr lang="en-PK"/>
            </a:p>
          </p:txBody>
        </p:sp>
        <p:sp>
          <p:nvSpPr>
            <p:cNvPr id="22" name="Freeform 22"/>
            <p:cNvSpPr/>
            <p:nvPr/>
          </p:nvSpPr>
          <p:spPr>
            <a:xfrm>
              <a:off x="0" y="347451"/>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5">
                <a:extLst>
                  <a:ext uri="{96DAC541-7B7A-43D3-8B79-37D633B846F1}">
                    <asvg:svgBlip xmlns:asvg="http://schemas.microsoft.com/office/drawing/2016/SVG/main" r:embed="rId6"/>
                  </a:ext>
                </a:extLst>
              </a:blip>
              <a:stretch>
                <a:fillRect t="-357762"/>
              </a:stretch>
            </a:blipFill>
          </p:spPr>
          <p:txBody>
            <a:bodyPr/>
            <a:lstStyle/>
            <a:p>
              <a:endParaRPr lang="en-PK"/>
            </a:p>
          </p:txBody>
        </p:sp>
      </p:gr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CFA861-29E8-0CF1-4832-0A9BC7EEEF4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785EF30-5893-3306-0896-10B50DE53E0D}"/>
              </a:ext>
            </a:extLst>
          </p:cNvPr>
          <p:cNvGrpSpPr/>
          <p:nvPr/>
        </p:nvGrpSpPr>
        <p:grpSpPr>
          <a:xfrm rot="2700000">
            <a:off x="14086836" y="-2601670"/>
            <a:ext cx="9677692" cy="6768089"/>
            <a:chOff x="0" y="0"/>
            <a:chExt cx="2548857" cy="1782542"/>
          </a:xfrm>
        </p:grpSpPr>
        <p:sp>
          <p:nvSpPr>
            <p:cNvPr id="3" name="Freeform 3">
              <a:extLst>
                <a:ext uri="{FF2B5EF4-FFF2-40B4-BE49-F238E27FC236}">
                  <a16:creationId xmlns:a16="http://schemas.microsoft.com/office/drawing/2014/main" id="{56DAA774-AFA0-0D8C-1457-B12CB4E954B1}"/>
                </a:ext>
              </a:extLst>
            </p:cNvPr>
            <p:cNvSpPr/>
            <p:nvPr/>
          </p:nvSpPr>
          <p:spPr>
            <a:xfrm>
              <a:off x="0" y="0"/>
              <a:ext cx="2548857" cy="1782542"/>
            </a:xfrm>
            <a:custGeom>
              <a:avLst/>
              <a:gdLst/>
              <a:ahLst/>
              <a:cxnLst/>
              <a:rect l="l" t="t" r="r" b="b"/>
              <a:pathLst>
                <a:path w="2548857" h="1782542">
                  <a:moveTo>
                    <a:pt x="0" y="0"/>
                  </a:moveTo>
                  <a:lnTo>
                    <a:pt x="2548857" y="0"/>
                  </a:lnTo>
                  <a:lnTo>
                    <a:pt x="2548857" y="1782542"/>
                  </a:lnTo>
                  <a:lnTo>
                    <a:pt x="0" y="1782542"/>
                  </a:lnTo>
                  <a:close/>
                </a:path>
              </a:pathLst>
            </a:custGeom>
            <a:solidFill>
              <a:srgbClr val="1468A2"/>
            </a:solidFill>
          </p:spPr>
          <p:txBody>
            <a:bodyPr/>
            <a:lstStyle/>
            <a:p>
              <a:endParaRPr lang="en-PK"/>
            </a:p>
          </p:txBody>
        </p:sp>
        <p:sp>
          <p:nvSpPr>
            <p:cNvPr id="4" name="TextBox 4">
              <a:extLst>
                <a:ext uri="{FF2B5EF4-FFF2-40B4-BE49-F238E27FC236}">
                  <a16:creationId xmlns:a16="http://schemas.microsoft.com/office/drawing/2014/main" id="{47E74F5B-D5A9-1936-093C-207837CC0C5E}"/>
                </a:ext>
              </a:extLst>
            </p:cNvPr>
            <p:cNvSpPr txBox="1"/>
            <p:nvPr/>
          </p:nvSpPr>
          <p:spPr>
            <a:xfrm>
              <a:off x="0" y="-38100"/>
              <a:ext cx="2548857" cy="182064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a:extLst>
              <a:ext uri="{FF2B5EF4-FFF2-40B4-BE49-F238E27FC236}">
                <a16:creationId xmlns:a16="http://schemas.microsoft.com/office/drawing/2014/main" id="{9BEF6338-F188-E79E-6675-AC18A8325A9A}"/>
              </a:ext>
            </a:extLst>
          </p:cNvPr>
          <p:cNvSpPr/>
          <p:nvPr/>
        </p:nvSpPr>
        <p:spPr>
          <a:xfrm>
            <a:off x="14429998" y="-1897173"/>
            <a:ext cx="3663740" cy="7040673"/>
          </a:xfrm>
          <a:custGeom>
            <a:avLst/>
            <a:gdLst/>
            <a:ahLst/>
            <a:cxnLst/>
            <a:rect l="l" t="t" r="r" b="b"/>
            <a:pathLst>
              <a:path w="3663740" h="7040673">
                <a:moveTo>
                  <a:pt x="0" y="0"/>
                </a:moveTo>
                <a:lnTo>
                  <a:pt x="3663740" y="0"/>
                </a:lnTo>
                <a:lnTo>
                  <a:pt x="3663740" y="7040673"/>
                </a:lnTo>
                <a:lnTo>
                  <a:pt x="0" y="7040673"/>
                </a:lnTo>
                <a:lnTo>
                  <a:pt x="0" y="0"/>
                </a:lnTo>
                <a:close/>
              </a:path>
            </a:pathLst>
          </a:custGeom>
          <a:blipFill>
            <a:blip r:embed="rId3"/>
            <a:stretch>
              <a:fillRect/>
            </a:stretch>
          </a:blipFill>
        </p:spPr>
        <p:txBody>
          <a:bodyPr/>
          <a:lstStyle/>
          <a:p>
            <a:endParaRPr lang="en-PK"/>
          </a:p>
        </p:txBody>
      </p:sp>
      <p:sp>
        <p:nvSpPr>
          <p:cNvPr id="11" name="TextBox 11">
            <a:extLst>
              <a:ext uri="{FF2B5EF4-FFF2-40B4-BE49-F238E27FC236}">
                <a16:creationId xmlns:a16="http://schemas.microsoft.com/office/drawing/2014/main" id="{EC93AACE-315C-ED61-8A99-B5340B84F0D3}"/>
              </a:ext>
            </a:extLst>
          </p:cNvPr>
          <p:cNvSpPr txBox="1"/>
          <p:nvPr/>
        </p:nvSpPr>
        <p:spPr>
          <a:xfrm>
            <a:off x="4648200" y="1290251"/>
            <a:ext cx="8991600" cy="872739"/>
          </a:xfrm>
          <a:prstGeom prst="rect">
            <a:avLst/>
          </a:prstGeom>
        </p:spPr>
        <p:txBody>
          <a:bodyPr wrap="square" lIns="0" tIns="0" rIns="0" bIns="0" rtlCol="0" anchor="t">
            <a:spAutoFit/>
          </a:bodyPr>
          <a:lstStyle/>
          <a:p>
            <a:pPr algn="ctr">
              <a:lnSpc>
                <a:spcPts val="6822"/>
              </a:lnSpc>
            </a:pPr>
            <a:r>
              <a:rPr lang="en-US" sz="5685" b="1" dirty="0">
                <a:solidFill>
                  <a:srgbClr val="000000"/>
                </a:solidFill>
                <a:latin typeface="Garet Bold"/>
                <a:ea typeface="Garet Bold"/>
                <a:cs typeface="Garet Bold"/>
                <a:sym typeface="Garet Bold"/>
              </a:rPr>
              <a:t>Demographic Results</a:t>
            </a:r>
          </a:p>
        </p:txBody>
      </p:sp>
      <p:grpSp>
        <p:nvGrpSpPr>
          <p:cNvPr id="20" name="Group 20">
            <a:extLst>
              <a:ext uri="{FF2B5EF4-FFF2-40B4-BE49-F238E27FC236}">
                <a16:creationId xmlns:a16="http://schemas.microsoft.com/office/drawing/2014/main" id="{2C80EA84-8425-C063-7F9C-EACA390589E2}"/>
              </a:ext>
            </a:extLst>
          </p:cNvPr>
          <p:cNvGrpSpPr/>
          <p:nvPr/>
        </p:nvGrpSpPr>
        <p:grpSpPr>
          <a:xfrm>
            <a:off x="1028700" y="1411710"/>
            <a:ext cx="1281097" cy="422907"/>
            <a:chOff x="0" y="0"/>
            <a:chExt cx="1708130" cy="563877"/>
          </a:xfrm>
        </p:grpSpPr>
        <p:sp>
          <p:nvSpPr>
            <p:cNvPr id="21" name="Freeform 21">
              <a:extLst>
                <a:ext uri="{FF2B5EF4-FFF2-40B4-BE49-F238E27FC236}">
                  <a16:creationId xmlns:a16="http://schemas.microsoft.com/office/drawing/2014/main" id="{3F336444-669D-4E1C-B537-79ABCD7B2BD7}"/>
                </a:ext>
              </a:extLst>
            </p:cNvPr>
            <p:cNvSpPr/>
            <p:nvPr/>
          </p:nvSpPr>
          <p:spPr>
            <a:xfrm>
              <a:off x="0" y="0"/>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4">
                <a:extLst>
                  <a:ext uri="{96DAC541-7B7A-43D3-8B79-37D633B846F1}">
                    <asvg:svgBlip xmlns:asvg="http://schemas.microsoft.com/office/drawing/2016/SVG/main" r:embed="rId5"/>
                  </a:ext>
                </a:extLst>
              </a:blip>
              <a:stretch>
                <a:fillRect t="-357762"/>
              </a:stretch>
            </a:blipFill>
          </p:spPr>
          <p:txBody>
            <a:bodyPr/>
            <a:lstStyle/>
            <a:p>
              <a:endParaRPr lang="en-PK"/>
            </a:p>
          </p:txBody>
        </p:sp>
        <p:sp>
          <p:nvSpPr>
            <p:cNvPr id="22" name="Freeform 22">
              <a:extLst>
                <a:ext uri="{FF2B5EF4-FFF2-40B4-BE49-F238E27FC236}">
                  <a16:creationId xmlns:a16="http://schemas.microsoft.com/office/drawing/2014/main" id="{8C2B4E65-1E23-C18F-D555-E8A926D8298B}"/>
                </a:ext>
              </a:extLst>
            </p:cNvPr>
            <p:cNvSpPr/>
            <p:nvPr/>
          </p:nvSpPr>
          <p:spPr>
            <a:xfrm>
              <a:off x="0" y="347451"/>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4">
                <a:extLst>
                  <a:ext uri="{96DAC541-7B7A-43D3-8B79-37D633B846F1}">
                    <asvg:svgBlip xmlns:asvg="http://schemas.microsoft.com/office/drawing/2016/SVG/main" r:embed="rId5"/>
                  </a:ext>
                </a:extLst>
              </a:blip>
              <a:stretch>
                <a:fillRect t="-357762"/>
              </a:stretch>
            </a:blipFill>
          </p:spPr>
          <p:txBody>
            <a:bodyPr/>
            <a:lstStyle/>
            <a:p>
              <a:endParaRPr lang="en-PK"/>
            </a:p>
          </p:txBody>
        </p:sp>
      </p:grpSp>
      <p:graphicFrame>
        <p:nvGraphicFramePr>
          <p:cNvPr id="13" name="Table 12">
            <a:extLst>
              <a:ext uri="{FF2B5EF4-FFF2-40B4-BE49-F238E27FC236}">
                <a16:creationId xmlns:a16="http://schemas.microsoft.com/office/drawing/2014/main" id="{71AF2EE9-A9AB-2860-4305-A75FD477DA32}"/>
              </a:ext>
            </a:extLst>
          </p:cNvPr>
          <p:cNvGraphicFramePr>
            <a:graphicFrameLocks noGrp="1"/>
          </p:cNvGraphicFramePr>
          <p:nvPr>
            <p:extLst>
              <p:ext uri="{D42A27DB-BD31-4B8C-83A1-F6EECF244321}">
                <p14:modId xmlns:p14="http://schemas.microsoft.com/office/powerpoint/2010/main" val="2289444938"/>
              </p:ext>
            </p:extLst>
          </p:nvPr>
        </p:nvGraphicFramePr>
        <p:xfrm>
          <a:off x="2324100" y="2419804"/>
          <a:ext cx="13639800" cy="7559040"/>
        </p:xfrm>
        <a:graphic>
          <a:graphicData uri="http://schemas.openxmlformats.org/drawingml/2006/table">
            <a:tbl>
              <a:tblPr firstRow="1" bandRow="1">
                <a:tableStyleId>{5C22544A-7EE6-4342-B048-85BDC9FD1C3A}</a:tableStyleId>
              </a:tblPr>
              <a:tblGrid>
                <a:gridCol w="4546600">
                  <a:extLst>
                    <a:ext uri="{9D8B030D-6E8A-4147-A177-3AD203B41FA5}">
                      <a16:colId xmlns:a16="http://schemas.microsoft.com/office/drawing/2014/main" val="2697776107"/>
                    </a:ext>
                  </a:extLst>
                </a:gridCol>
                <a:gridCol w="4546600">
                  <a:extLst>
                    <a:ext uri="{9D8B030D-6E8A-4147-A177-3AD203B41FA5}">
                      <a16:colId xmlns:a16="http://schemas.microsoft.com/office/drawing/2014/main" val="3302177101"/>
                    </a:ext>
                  </a:extLst>
                </a:gridCol>
                <a:gridCol w="4546600">
                  <a:extLst>
                    <a:ext uri="{9D8B030D-6E8A-4147-A177-3AD203B41FA5}">
                      <a16:colId xmlns:a16="http://schemas.microsoft.com/office/drawing/2014/main" val="3327344262"/>
                    </a:ext>
                  </a:extLst>
                </a:gridCol>
              </a:tblGrid>
              <a:tr h="455981">
                <a:tc>
                  <a:txBody>
                    <a:bodyPr/>
                    <a:lstStyle/>
                    <a:p>
                      <a:r>
                        <a:rPr lang="en-US" sz="2400" dirty="0"/>
                        <a:t>Meta</a:t>
                      </a:r>
                      <a:endParaRPr lang="en-PK" sz="2400" dirty="0"/>
                    </a:p>
                  </a:txBody>
                  <a:tcPr/>
                </a:tc>
                <a:tc>
                  <a:txBody>
                    <a:bodyPr/>
                    <a:lstStyle/>
                    <a:p>
                      <a:r>
                        <a:rPr lang="en-US" sz="2400" dirty="0"/>
                        <a:t>Researchers</a:t>
                      </a:r>
                      <a:endParaRPr lang="en-PK" sz="2400" dirty="0"/>
                    </a:p>
                  </a:txBody>
                  <a:tcPr/>
                </a:tc>
                <a:tc>
                  <a:txBody>
                    <a:bodyPr/>
                    <a:lstStyle/>
                    <a:p>
                      <a:r>
                        <a:rPr lang="en-US" sz="2400" dirty="0"/>
                        <a:t>Ours</a:t>
                      </a:r>
                      <a:endParaRPr lang="en-PK" sz="2400" dirty="0"/>
                    </a:p>
                  </a:txBody>
                  <a:tcPr/>
                </a:tc>
                <a:extLst>
                  <a:ext uri="{0D108BD9-81ED-4DB2-BD59-A6C34878D82A}">
                    <a16:rowId xmlns:a16="http://schemas.microsoft.com/office/drawing/2014/main" val="4266963113"/>
                  </a:ext>
                </a:extLst>
              </a:tr>
              <a:tr h="455981">
                <a:tc gridSpan="3">
                  <a:txBody>
                    <a:bodyPr/>
                    <a:lstStyle/>
                    <a:p>
                      <a:pPr algn="ctr"/>
                      <a:r>
                        <a:rPr lang="en-US" sz="2800" b="1" dirty="0"/>
                        <a:t>Gender</a:t>
                      </a:r>
                      <a:endParaRPr lang="en-PK" sz="2800" b="1" dirty="0"/>
                    </a:p>
                  </a:txBody>
                  <a:tcPr/>
                </a:tc>
                <a:tc hMerge="1">
                  <a:txBody>
                    <a:bodyPr/>
                    <a:lstStyle/>
                    <a:p>
                      <a:endParaRPr lang="en-PK" sz="2400" dirty="0"/>
                    </a:p>
                  </a:txBody>
                  <a:tcPr/>
                </a:tc>
                <a:tc hMerge="1">
                  <a:txBody>
                    <a:bodyPr/>
                    <a:lstStyle/>
                    <a:p>
                      <a:endParaRPr lang="en-PK" sz="2400" dirty="0"/>
                    </a:p>
                  </a:txBody>
                  <a:tcPr/>
                </a:tc>
                <a:extLst>
                  <a:ext uri="{0D108BD9-81ED-4DB2-BD59-A6C34878D82A}">
                    <a16:rowId xmlns:a16="http://schemas.microsoft.com/office/drawing/2014/main" val="3201017268"/>
                  </a:ext>
                </a:extLst>
              </a:tr>
              <a:tr h="455981">
                <a:tc>
                  <a:txBody>
                    <a:bodyPr/>
                    <a:lstStyle/>
                    <a:p>
                      <a:r>
                        <a:rPr lang="en-US" sz="2400" dirty="0"/>
                        <a:t>Male</a:t>
                      </a:r>
                      <a:endParaRPr lang="en-PK" sz="2400" dirty="0"/>
                    </a:p>
                  </a:txBody>
                  <a:tcPr/>
                </a:tc>
                <a:tc>
                  <a:txBody>
                    <a:bodyPr/>
                    <a:lstStyle/>
                    <a:p>
                      <a:r>
                        <a:rPr lang="en-US" sz="2400" dirty="0"/>
                        <a:t>107</a:t>
                      </a:r>
                      <a:endParaRPr lang="en-PK" sz="2400" dirty="0"/>
                    </a:p>
                  </a:txBody>
                  <a:tcPr/>
                </a:tc>
                <a:tc>
                  <a:txBody>
                    <a:bodyPr/>
                    <a:lstStyle/>
                    <a:p>
                      <a:r>
                        <a:rPr lang="en-US" sz="2400" dirty="0"/>
                        <a:t>22</a:t>
                      </a:r>
                      <a:endParaRPr lang="en-PK" sz="2400" dirty="0"/>
                    </a:p>
                  </a:txBody>
                  <a:tcPr/>
                </a:tc>
                <a:extLst>
                  <a:ext uri="{0D108BD9-81ED-4DB2-BD59-A6C34878D82A}">
                    <a16:rowId xmlns:a16="http://schemas.microsoft.com/office/drawing/2014/main" val="710966281"/>
                  </a:ext>
                </a:extLst>
              </a:tr>
              <a:tr h="455981">
                <a:tc>
                  <a:txBody>
                    <a:bodyPr/>
                    <a:lstStyle/>
                    <a:p>
                      <a:r>
                        <a:rPr lang="en-US" sz="2400" dirty="0"/>
                        <a:t>Female</a:t>
                      </a:r>
                      <a:endParaRPr lang="en-PK" sz="2400" dirty="0"/>
                    </a:p>
                  </a:txBody>
                  <a:tcPr/>
                </a:tc>
                <a:tc>
                  <a:txBody>
                    <a:bodyPr/>
                    <a:lstStyle/>
                    <a:p>
                      <a:r>
                        <a:rPr lang="en-US" sz="2400" dirty="0"/>
                        <a:t>48</a:t>
                      </a:r>
                      <a:endParaRPr lang="en-PK" sz="2400" dirty="0"/>
                    </a:p>
                  </a:txBody>
                  <a:tcPr/>
                </a:tc>
                <a:tc>
                  <a:txBody>
                    <a:bodyPr/>
                    <a:lstStyle/>
                    <a:p>
                      <a:r>
                        <a:rPr lang="en-US" sz="2400" dirty="0"/>
                        <a:t>16</a:t>
                      </a:r>
                      <a:endParaRPr lang="en-PK" sz="2400" dirty="0"/>
                    </a:p>
                  </a:txBody>
                  <a:tcPr/>
                </a:tc>
                <a:extLst>
                  <a:ext uri="{0D108BD9-81ED-4DB2-BD59-A6C34878D82A}">
                    <a16:rowId xmlns:a16="http://schemas.microsoft.com/office/drawing/2014/main" val="2563414637"/>
                  </a:ext>
                </a:extLst>
              </a:tr>
              <a:tr h="455981">
                <a:tc gridSpan="3">
                  <a:txBody>
                    <a:bodyPr/>
                    <a:lstStyle/>
                    <a:p>
                      <a:pPr algn="ctr"/>
                      <a:r>
                        <a:rPr lang="en-US" sz="2800" b="1" dirty="0"/>
                        <a:t>Age</a:t>
                      </a:r>
                      <a:endParaRPr lang="en-PK" sz="2800" b="1" dirty="0"/>
                    </a:p>
                  </a:txBody>
                  <a:tcPr/>
                </a:tc>
                <a:tc hMerge="1">
                  <a:txBody>
                    <a:bodyPr/>
                    <a:lstStyle/>
                    <a:p>
                      <a:endParaRPr lang="en-PK" sz="2400" dirty="0"/>
                    </a:p>
                  </a:txBody>
                  <a:tcPr/>
                </a:tc>
                <a:tc hMerge="1">
                  <a:txBody>
                    <a:bodyPr/>
                    <a:lstStyle/>
                    <a:p>
                      <a:endParaRPr lang="en-PK" sz="2400" dirty="0"/>
                    </a:p>
                  </a:txBody>
                  <a:tcPr/>
                </a:tc>
                <a:extLst>
                  <a:ext uri="{0D108BD9-81ED-4DB2-BD59-A6C34878D82A}">
                    <a16:rowId xmlns:a16="http://schemas.microsoft.com/office/drawing/2014/main" val="1830304951"/>
                  </a:ext>
                </a:extLst>
              </a:tr>
              <a:tr h="455981">
                <a:tc>
                  <a:txBody>
                    <a:bodyPr/>
                    <a:lstStyle/>
                    <a:p>
                      <a:r>
                        <a:rPr lang="en-US" sz="2400" dirty="0"/>
                        <a:t>Below 35</a:t>
                      </a:r>
                      <a:endParaRPr lang="en-PK" sz="2400" dirty="0"/>
                    </a:p>
                  </a:txBody>
                  <a:tcPr/>
                </a:tc>
                <a:tc>
                  <a:txBody>
                    <a:bodyPr/>
                    <a:lstStyle/>
                    <a:p>
                      <a:r>
                        <a:rPr lang="en-US" sz="2400" dirty="0"/>
                        <a:t>141</a:t>
                      </a:r>
                      <a:endParaRPr lang="en-PK" sz="2400" dirty="0"/>
                    </a:p>
                  </a:txBody>
                  <a:tcPr/>
                </a:tc>
                <a:tc>
                  <a:txBody>
                    <a:bodyPr/>
                    <a:lstStyle/>
                    <a:p>
                      <a:r>
                        <a:rPr lang="en-US" sz="2400" dirty="0"/>
                        <a:t>33</a:t>
                      </a:r>
                      <a:endParaRPr lang="en-PK" sz="2400" dirty="0"/>
                    </a:p>
                  </a:txBody>
                  <a:tcPr/>
                </a:tc>
                <a:extLst>
                  <a:ext uri="{0D108BD9-81ED-4DB2-BD59-A6C34878D82A}">
                    <a16:rowId xmlns:a16="http://schemas.microsoft.com/office/drawing/2014/main" val="3493689226"/>
                  </a:ext>
                </a:extLst>
              </a:tr>
              <a:tr h="455981">
                <a:tc>
                  <a:txBody>
                    <a:bodyPr/>
                    <a:lstStyle/>
                    <a:p>
                      <a:r>
                        <a:rPr lang="en-US" sz="2400" dirty="0"/>
                        <a:t>35-50</a:t>
                      </a:r>
                      <a:endParaRPr lang="en-PK" sz="2400" dirty="0"/>
                    </a:p>
                  </a:txBody>
                  <a:tcPr/>
                </a:tc>
                <a:tc>
                  <a:txBody>
                    <a:bodyPr/>
                    <a:lstStyle/>
                    <a:p>
                      <a:r>
                        <a:rPr lang="en-US" sz="2400" dirty="0"/>
                        <a:t>9</a:t>
                      </a:r>
                      <a:endParaRPr lang="en-PK" sz="2400" dirty="0"/>
                    </a:p>
                  </a:txBody>
                  <a:tcPr/>
                </a:tc>
                <a:tc>
                  <a:txBody>
                    <a:bodyPr/>
                    <a:lstStyle/>
                    <a:p>
                      <a:r>
                        <a:rPr lang="en-US" sz="2400" dirty="0"/>
                        <a:t>4</a:t>
                      </a:r>
                      <a:endParaRPr lang="en-PK" sz="2400" dirty="0"/>
                    </a:p>
                  </a:txBody>
                  <a:tcPr/>
                </a:tc>
                <a:extLst>
                  <a:ext uri="{0D108BD9-81ED-4DB2-BD59-A6C34878D82A}">
                    <a16:rowId xmlns:a16="http://schemas.microsoft.com/office/drawing/2014/main" val="4089600485"/>
                  </a:ext>
                </a:extLst>
              </a:tr>
              <a:tr h="455981">
                <a:tc>
                  <a:txBody>
                    <a:bodyPr/>
                    <a:lstStyle/>
                    <a:p>
                      <a:r>
                        <a:rPr lang="en-US" sz="2400" dirty="0"/>
                        <a:t>50 above</a:t>
                      </a:r>
                      <a:endParaRPr lang="en-PK" sz="2400" dirty="0"/>
                    </a:p>
                  </a:txBody>
                  <a:tcPr/>
                </a:tc>
                <a:tc>
                  <a:txBody>
                    <a:bodyPr/>
                    <a:lstStyle/>
                    <a:p>
                      <a:r>
                        <a:rPr lang="en-US" sz="2400" dirty="0"/>
                        <a:t>5</a:t>
                      </a:r>
                      <a:endParaRPr lang="en-PK" sz="2400" dirty="0"/>
                    </a:p>
                  </a:txBody>
                  <a:tcPr/>
                </a:tc>
                <a:tc>
                  <a:txBody>
                    <a:bodyPr/>
                    <a:lstStyle/>
                    <a:p>
                      <a:r>
                        <a:rPr lang="en-US" sz="2400" dirty="0"/>
                        <a:t>1</a:t>
                      </a:r>
                      <a:endParaRPr lang="en-PK" sz="2400" dirty="0"/>
                    </a:p>
                  </a:txBody>
                  <a:tcPr/>
                </a:tc>
                <a:extLst>
                  <a:ext uri="{0D108BD9-81ED-4DB2-BD59-A6C34878D82A}">
                    <a16:rowId xmlns:a16="http://schemas.microsoft.com/office/drawing/2014/main" val="3087453501"/>
                  </a:ext>
                </a:extLst>
              </a:tr>
              <a:tr h="455981">
                <a:tc gridSpan="3">
                  <a:txBody>
                    <a:bodyPr/>
                    <a:lstStyle/>
                    <a:p>
                      <a:pPr algn="ctr" rtl="0"/>
                      <a:r>
                        <a:rPr lang="en-US" sz="2800" b="1" dirty="0"/>
                        <a:t>Income Level</a:t>
                      </a:r>
                      <a:endParaRPr lang="en-PK" sz="2800" b="1" dirty="0"/>
                    </a:p>
                  </a:txBody>
                  <a:tcPr/>
                </a:tc>
                <a:tc hMerge="1">
                  <a:txBody>
                    <a:bodyPr/>
                    <a:lstStyle/>
                    <a:p>
                      <a:endParaRPr lang="en-PK" sz="2400" dirty="0"/>
                    </a:p>
                  </a:txBody>
                  <a:tcPr/>
                </a:tc>
                <a:tc hMerge="1">
                  <a:txBody>
                    <a:bodyPr/>
                    <a:lstStyle/>
                    <a:p>
                      <a:endParaRPr lang="en-PK" sz="2400" dirty="0"/>
                    </a:p>
                  </a:txBody>
                  <a:tcPr/>
                </a:tc>
                <a:extLst>
                  <a:ext uri="{0D108BD9-81ED-4DB2-BD59-A6C34878D82A}">
                    <a16:rowId xmlns:a16="http://schemas.microsoft.com/office/drawing/2014/main" val="481957898"/>
                  </a:ext>
                </a:extLst>
              </a:tr>
              <a:tr h="455981">
                <a:tc>
                  <a:txBody>
                    <a:bodyPr/>
                    <a:lstStyle/>
                    <a:p>
                      <a:r>
                        <a:rPr lang="en-US" sz="2400" dirty="0"/>
                        <a:t>Less than 10,000</a:t>
                      </a:r>
                      <a:endParaRPr lang="en-PK" sz="2400" dirty="0"/>
                    </a:p>
                  </a:txBody>
                  <a:tcPr/>
                </a:tc>
                <a:tc>
                  <a:txBody>
                    <a:bodyPr/>
                    <a:lstStyle/>
                    <a:p>
                      <a:r>
                        <a:rPr lang="en-US" sz="2400" dirty="0"/>
                        <a:t>14</a:t>
                      </a:r>
                      <a:endParaRPr lang="en-PK" sz="2400" dirty="0"/>
                    </a:p>
                  </a:txBody>
                  <a:tcPr/>
                </a:tc>
                <a:tc>
                  <a:txBody>
                    <a:bodyPr/>
                    <a:lstStyle/>
                    <a:p>
                      <a:r>
                        <a:rPr lang="en-US" sz="2400" dirty="0"/>
                        <a:t>5</a:t>
                      </a:r>
                      <a:endParaRPr lang="en-PK" sz="2400" dirty="0"/>
                    </a:p>
                  </a:txBody>
                  <a:tcPr/>
                </a:tc>
                <a:extLst>
                  <a:ext uri="{0D108BD9-81ED-4DB2-BD59-A6C34878D82A}">
                    <a16:rowId xmlns:a16="http://schemas.microsoft.com/office/drawing/2014/main" val="1905331736"/>
                  </a:ext>
                </a:extLst>
              </a:tr>
              <a:tr h="455981">
                <a:tc>
                  <a:txBody>
                    <a:bodyPr/>
                    <a:lstStyle/>
                    <a:p>
                      <a:r>
                        <a:rPr lang="en-US" sz="2400" dirty="0"/>
                        <a:t>10,000-50,000</a:t>
                      </a:r>
                      <a:endParaRPr lang="en-PK" sz="2400" dirty="0"/>
                    </a:p>
                  </a:txBody>
                  <a:tcPr/>
                </a:tc>
                <a:tc>
                  <a:txBody>
                    <a:bodyPr/>
                    <a:lstStyle/>
                    <a:p>
                      <a:r>
                        <a:rPr lang="en-US" sz="2400" dirty="0"/>
                        <a:t>129</a:t>
                      </a:r>
                      <a:endParaRPr lang="en-PK" sz="2400" dirty="0"/>
                    </a:p>
                  </a:txBody>
                  <a:tcPr/>
                </a:tc>
                <a:tc>
                  <a:txBody>
                    <a:bodyPr/>
                    <a:lstStyle/>
                    <a:p>
                      <a:r>
                        <a:rPr lang="en-US" sz="2400" dirty="0"/>
                        <a:t>16</a:t>
                      </a:r>
                      <a:endParaRPr lang="en-PK" sz="2400" dirty="0"/>
                    </a:p>
                  </a:txBody>
                  <a:tcPr/>
                </a:tc>
                <a:extLst>
                  <a:ext uri="{0D108BD9-81ED-4DB2-BD59-A6C34878D82A}">
                    <a16:rowId xmlns:a16="http://schemas.microsoft.com/office/drawing/2014/main" val="4053640560"/>
                  </a:ext>
                </a:extLst>
              </a:tr>
              <a:tr h="455981">
                <a:tc>
                  <a:txBody>
                    <a:bodyPr/>
                    <a:lstStyle/>
                    <a:p>
                      <a:r>
                        <a:rPr lang="en-US" sz="2400" dirty="0"/>
                        <a:t>50,000 above</a:t>
                      </a:r>
                      <a:endParaRPr lang="en-PK" sz="2400" dirty="0"/>
                    </a:p>
                  </a:txBody>
                  <a:tcPr/>
                </a:tc>
                <a:tc>
                  <a:txBody>
                    <a:bodyPr/>
                    <a:lstStyle/>
                    <a:p>
                      <a:r>
                        <a:rPr lang="en-US" sz="2400" dirty="0"/>
                        <a:t>12</a:t>
                      </a:r>
                      <a:endParaRPr lang="en-PK" sz="2400" dirty="0"/>
                    </a:p>
                  </a:txBody>
                  <a:tcPr/>
                </a:tc>
                <a:tc>
                  <a:txBody>
                    <a:bodyPr/>
                    <a:lstStyle/>
                    <a:p>
                      <a:r>
                        <a:rPr lang="en-US" sz="2400" dirty="0"/>
                        <a:t>17</a:t>
                      </a:r>
                      <a:endParaRPr lang="en-PK" sz="2400" dirty="0"/>
                    </a:p>
                  </a:txBody>
                  <a:tcPr/>
                </a:tc>
                <a:extLst>
                  <a:ext uri="{0D108BD9-81ED-4DB2-BD59-A6C34878D82A}">
                    <a16:rowId xmlns:a16="http://schemas.microsoft.com/office/drawing/2014/main" val="2719228783"/>
                  </a:ext>
                </a:extLst>
              </a:tr>
              <a:tr h="455981">
                <a:tc gridSpan="3">
                  <a:txBody>
                    <a:bodyPr/>
                    <a:lstStyle/>
                    <a:p>
                      <a:pPr algn="ctr"/>
                      <a:r>
                        <a:rPr lang="en-US" sz="2800" b="1" dirty="0"/>
                        <a:t>Education</a:t>
                      </a:r>
                      <a:endParaRPr lang="en-PK" sz="2800" b="1" dirty="0"/>
                    </a:p>
                  </a:txBody>
                  <a:tcPr/>
                </a:tc>
                <a:tc hMerge="1">
                  <a:txBody>
                    <a:bodyPr/>
                    <a:lstStyle/>
                    <a:p>
                      <a:pPr algn="ctr"/>
                      <a:endParaRPr lang="en-PK" sz="2400" dirty="0"/>
                    </a:p>
                  </a:txBody>
                  <a:tcPr/>
                </a:tc>
                <a:tc hMerge="1">
                  <a:txBody>
                    <a:bodyPr/>
                    <a:lstStyle/>
                    <a:p>
                      <a:pPr algn="ctr"/>
                      <a:endParaRPr lang="en-PK" sz="2400" dirty="0"/>
                    </a:p>
                  </a:txBody>
                  <a:tcPr/>
                </a:tc>
                <a:extLst>
                  <a:ext uri="{0D108BD9-81ED-4DB2-BD59-A6C34878D82A}">
                    <a16:rowId xmlns:a16="http://schemas.microsoft.com/office/drawing/2014/main" val="1221676361"/>
                  </a:ext>
                </a:extLst>
              </a:tr>
              <a:tr h="455981">
                <a:tc>
                  <a:txBody>
                    <a:bodyPr/>
                    <a:lstStyle/>
                    <a:p>
                      <a:r>
                        <a:rPr lang="en-US" sz="2400" dirty="0"/>
                        <a:t>Below or High</a:t>
                      </a:r>
                      <a:endParaRPr lang="en-PK" sz="2400" dirty="0"/>
                    </a:p>
                  </a:txBody>
                  <a:tcPr/>
                </a:tc>
                <a:tc>
                  <a:txBody>
                    <a:bodyPr/>
                    <a:lstStyle/>
                    <a:p>
                      <a:r>
                        <a:rPr lang="en-US" sz="2400" dirty="0"/>
                        <a:t>3</a:t>
                      </a:r>
                      <a:endParaRPr lang="en-PK" sz="2400" dirty="0"/>
                    </a:p>
                  </a:txBody>
                  <a:tcPr/>
                </a:tc>
                <a:tc>
                  <a:txBody>
                    <a:bodyPr/>
                    <a:lstStyle/>
                    <a:p>
                      <a:r>
                        <a:rPr lang="en-US" sz="2400" dirty="0"/>
                        <a:t>0</a:t>
                      </a:r>
                      <a:endParaRPr lang="en-PK" sz="2400" dirty="0"/>
                    </a:p>
                  </a:txBody>
                  <a:tcPr/>
                </a:tc>
                <a:extLst>
                  <a:ext uri="{0D108BD9-81ED-4DB2-BD59-A6C34878D82A}">
                    <a16:rowId xmlns:a16="http://schemas.microsoft.com/office/drawing/2014/main" val="3428782325"/>
                  </a:ext>
                </a:extLst>
              </a:tr>
              <a:tr h="455981">
                <a:tc>
                  <a:txBody>
                    <a:bodyPr/>
                    <a:lstStyle/>
                    <a:p>
                      <a:r>
                        <a:rPr lang="en-US" sz="2400" dirty="0"/>
                        <a:t>College graduate</a:t>
                      </a:r>
                      <a:endParaRPr lang="en-PK" sz="2400" dirty="0"/>
                    </a:p>
                  </a:txBody>
                  <a:tcPr/>
                </a:tc>
                <a:tc>
                  <a:txBody>
                    <a:bodyPr/>
                    <a:lstStyle/>
                    <a:p>
                      <a:r>
                        <a:rPr lang="en-US" sz="2400" dirty="0"/>
                        <a:t>6</a:t>
                      </a:r>
                      <a:endParaRPr lang="en-PK" sz="2400" dirty="0"/>
                    </a:p>
                  </a:txBody>
                  <a:tcPr/>
                </a:tc>
                <a:tc>
                  <a:txBody>
                    <a:bodyPr/>
                    <a:lstStyle/>
                    <a:p>
                      <a:r>
                        <a:rPr lang="en-US" sz="2400" dirty="0"/>
                        <a:t>8</a:t>
                      </a:r>
                      <a:endParaRPr lang="en-PK" sz="2400" dirty="0"/>
                    </a:p>
                  </a:txBody>
                  <a:tcPr/>
                </a:tc>
                <a:extLst>
                  <a:ext uri="{0D108BD9-81ED-4DB2-BD59-A6C34878D82A}">
                    <a16:rowId xmlns:a16="http://schemas.microsoft.com/office/drawing/2014/main" val="926848706"/>
                  </a:ext>
                </a:extLst>
              </a:tr>
              <a:tr h="455981">
                <a:tc>
                  <a:txBody>
                    <a:bodyPr/>
                    <a:lstStyle/>
                    <a:p>
                      <a:r>
                        <a:rPr lang="en-US" sz="2400" dirty="0"/>
                        <a:t>University Graduate</a:t>
                      </a:r>
                      <a:endParaRPr lang="en-PK" sz="2400" dirty="0"/>
                    </a:p>
                  </a:txBody>
                  <a:tcPr/>
                </a:tc>
                <a:tc>
                  <a:txBody>
                    <a:bodyPr/>
                    <a:lstStyle/>
                    <a:p>
                      <a:r>
                        <a:rPr lang="en-US" sz="2400" dirty="0"/>
                        <a:t>146</a:t>
                      </a:r>
                      <a:endParaRPr lang="en-PK" sz="2400" dirty="0"/>
                    </a:p>
                  </a:txBody>
                  <a:tcPr/>
                </a:tc>
                <a:tc>
                  <a:txBody>
                    <a:bodyPr/>
                    <a:lstStyle/>
                    <a:p>
                      <a:r>
                        <a:rPr lang="en-US" sz="2400" dirty="0"/>
                        <a:t>30</a:t>
                      </a:r>
                      <a:endParaRPr lang="en-PK" sz="2400" dirty="0"/>
                    </a:p>
                  </a:txBody>
                  <a:tcPr/>
                </a:tc>
                <a:extLst>
                  <a:ext uri="{0D108BD9-81ED-4DB2-BD59-A6C34878D82A}">
                    <a16:rowId xmlns:a16="http://schemas.microsoft.com/office/drawing/2014/main" val="2604997985"/>
                  </a:ext>
                </a:extLst>
              </a:tr>
            </a:tbl>
          </a:graphicData>
        </a:graphic>
      </p:graphicFrame>
    </p:spTree>
    <p:extLst>
      <p:ext uri="{BB962C8B-B14F-4D97-AF65-F5344CB8AC3E}">
        <p14:creationId xmlns:p14="http://schemas.microsoft.com/office/powerpoint/2010/main" val="174931513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A44A2073-3F77-57F3-1285-1A96EADE4BA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D5E52782-8D9F-9C8F-1700-C892B414A04D}"/>
              </a:ext>
            </a:extLst>
          </p:cNvPr>
          <p:cNvGrpSpPr/>
          <p:nvPr/>
        </p:nvGrpSpPr>
        <p:grpSpPr>
          <a:xfrm rot="2700000">
            <a:off x="14086836" y="-2601670"/>
            <a:ext cx="9677692" cy="6768089"/>
            <a:chOff x="0" y="0"/>
            <a:chExt cx="2548857" cy="1782542"/>
          </a:xfrm>
        </p:grpSpPr>
        <p:sp>
          <p:nvSpPr>
            <p:cNvPr id="3" name="Freeform 3">
              <a:extLst>
                <a:ext uri="{FF2B5EF4-FFF2-40B4-BE49-F238E27FC236}">
                  <a16:creationId xmlns:a16="http://schemas.microsoft.com/office/drawing/2014/main" id="{69F98EDC-B74B-0A1A-197C-6D4ECE9DE628}"/>
                </a:ext>
              </a:extLst>
            </p:cNvPr>
            <p:cNvSpPr/>
            <p:nvPr/>
          </p:nvSpPr>
          <p:spPr>
            <a:xfrm>
              <a:off x="0" y="0"/>
              <a:ext cx="2548857" cy="1782542"/>
            </a:xfrm>
            <a:custGeom>
              <a:avLst/>
              <a:gdLst/>
              <a:ahLst/>
              <a:cxnLst/>
              <a:rect l="l" t="t" r="r" b="b"/>
              <a:pathLst>
                <a:path w="2548857" h="1782542">
                  <a:moveTo>
                    <a:pt x="0" y="0"/>
                  </a:moveTo>
                  <a:lnTo>
                    <a:pt x="2548857" y="0"/>
                  </a:lnTo>
                  <a:lnTo>
                    <a:pt x="2548857" y="1782542"/>
                  </a:lnTo>
                  <a:lnTo>
                    <a:pt x="0" y="1782542"/>
                  </a:lnTo>
                  <a:close/>
                </a:path>
              </a:pathLst>
            </a:custGeom>
            <a:solidFill>
              <a:srgbClr val="1468A2"/>
            </a:solidFill>
          </p:spPr>
          <p:txBody>
            <a:bodyPr/>
            <a:lstStyle/>
            <a:p>
              <a:endParaRPr lang="en-PK"/>
            </a:p>
          </p:txBody>
        </p:sp>
        <p:sp>
          <p:nvSpPr>
            <p:cNvPr id="4" name="TextBox 4">
              <a:extLst>
                <a:ext uri="{FF2B5EF4-FFF2-40B4-BE49-F238E27FC236}">
                  <a16:creationId xmlns:a16="http://schemas.microsoft.com/office/drawing/2014/main" id="{716767B4-C732-1C6B-5DBD-44967979D62E}"/>
                </a:ext>
              </a:extLst>
            </p:cNvPr>
            <p:cNvSpPr txBox="1"/>
            <p:nvPr/>
          </p:nvSpPr>
          <p:spPr>
            <a:xfrm>
              <a:off x="0" y="-38100"/>
              <a:ext cx="2548857" cy="182064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a:extLst>
              <a:ext uri="{FF2B5EF4-FFF2-40B4-BE49-F238E27FC236}">
                <a16:creationId xmlns:a16="http://schemas.microsoft.com/office/drawing/2014/main" id="{0E89BC16-B6E1-5E37-A42F-1B68C06192A4}"/>
              </a:ext>
            </a:extLst>
          </p:cNvPr>
          <p:cNvSpPr/>
          <p:nvPr/>
        </p:nvSpPr>
        <p:spPr>
          <a:xfrm>
            <a:off x="14429998" y="-1897173"/>
            <a:ext cx="3663740" cy="7040673"/>
          </a:xfrm>
          <a:custGeom>
            <a:avLst/>
            <a:gdLst/>
            <a:ahLst/>
            <a:cxnLst/>
            <a:rect l="l" t="t" r="r" b="b"/>
            <a:pathLst>
              <a:path w="3663740" h="7040673">
                <a:moveTo>
                  <a:pt x="0" y="0"/>
                </a:moveTo>
                <a:lnTo>
                  <a:pt x="3663740" y="0"/>
                </a:lnTo>
                <a:lnTo>
                  <a:pt x="3663740" y="7040673"/>
                </a:lnTo>
                <a:lnTo>
                  <a:pt x="0" y="7040673"/>
                </a:lnTo>
                <a:lnTo>
                  <a:pt x="0" y="0"/>
                </a:lnTo>
                <a:close/>
              </a:path>
            </a:pathLst>
          </a:custGeom>
          <a:blipFill>
            <a:blip r:embed="rId3"/>
            <a:stretch>
              <a:fillRect/>
            </a:stretch>
          </a:blipFill>
        </p:spPr>
        <p:txBody>
          <a:bodyPr/>
          <a:lstStyle/>
          <a:p>
            <a:endParaRPr lang="en-PK"/>
          </a:p>
        </p:txBody>
      </p:sp>
      <p:sp>
        <p:nvSpPr>
          <p:cNvPr id="11" name="TextBox 11">
            <a:extLst>
              <a:ext uri="{FF2B5EF4-FFF2-40B4-BE49-F238E27FC236}">
                <a16:creationId xmlns:a16="http://schemas.microsoft.com/office/drawing/2014/main" id="{77DB6F01-B827-3A40-B45F-BD2EEF216AB2}"/>
              </a:ext>
            </a:extLst>
          </p:cNvPr>
          <p:cNvSpPr txBox="1"/>
          <p:nvPr/>
        </p:nvSpPr>
        <p:spPr>
          <a:xfrm>
            <a:off x="5985689" y="1290251"/>
            <a:ext cx="6316622" cy="866775"/>
          </a:xfrm>
          <a:prstGeom prst="rect">
            <a:avLst/>
          </a:prstGeom>
        </p:spPr>
        <p:txBody>
          <a:bodyPr lIns="0" tIns="0" rIns="0" bIns="0" rtlCol="0" anchor="t">
            <a:spAutoFit/>
          </a:bodyPr>
          <a:lstStyle/>
          <a:p>
            <a:pPr algn="ctr">
              <a:lnSpc>
                <a:spcPts val="6822"/>
              </a:lnSpc>
            </a:pPr>
            <a:r>
              <a:rPr lang="en-US" sz="5685" b="1" dirty="0">
                <a:solidFill>
                  <a:srgbClr val="000000"/>
                </a:solidFill>
                <a:latin typeface="Garet Bold"/>
                <a:ea typeface="Garet Bold"/>
                <a:cs typeface="Garet Bold"/>
                <a:sym typeface="Garet Bold"/>
              </a:rPr>
              <a:t>Results</a:t>
            </a:r>
          </a:p>
        </p:txBody>
      </p:sp>
      <p:grpSp>
        <p:nvGrpSpPr>
          <p:cNvPr id="20" name="Group 20">
            <a:extLst>
              <a:ext uri="{FF2B5EF4-FFF2-40B4-BE49-F238E27FC236}">
                <a16:creationId xmlns:a16="http://schemas.microsoft.com/office/drawing/2014/main" id="{4671AEC5-80F2-A6D0-1F07-CE6CCE5C75E8}"/>
              </a:ext>
            </a:extLst>
          </p:cNvPr>
          <p:cNvGrpSpPr/>
          <p:nvPr/>
        </p:nvGrpSpPr>
        <p:grpSpPr>
          <a:xfrm>
            <a:off x="1028700" y="1411710"/>
            <a:ext cx="1281097" cy="422907"/>
            <a:chOff x="0" y="0"/>
            <a:chExt cx="1708130" cy="563877"/>
          </a:xfrm>
        </p:grpSpPr>
        <p:sp>
          <p:nvSpPr>
            <p:cNvPr id="21" name="Freeform 21">
              <a:extLst>
                <a:ext uri="{FF2B5EF4-FFF2-40B4-BE49-F238E27FC236}">
                  <a16:creationId xmlns:a16="http://schemas.microsoft.com/office/drawing/2014/main" id="{7D3BF82F-23C6-4C9C-75DD-8D2E74841873}"/>
                </a:ext>
              </a:extLst>
            </p:cNvPr>
            <p:cNvSpPr/>
            <p:nvPr/>
          </p:nvSpPr>
          <p:spPr>
            <a:xfrm>
              <a:off x="0" y="0"/>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4">
                <a:extLst>
                  <a:ext uri="{96DAC541-7B7A-43D3-8B79-37D633B846F1}">
                    <asvg:svgBlip xmlns:asvg="http://schemas.microsoft.com/office/drawing/2016/SVG/main" r:embed="rId5"/>
                  </a:ext>
                </a:extLst>
              </a:blip>
              <a:stretch>
                <a:fillRect t="-357762"/>
              </a:stretch>
            </a:blipFill>
          </p:spPr>
          <p:txBody>
            <a:bodyPr/>
            <a:lstStyle/>
            <a:p>
              <a:endParaRPr lang="en-PK"/>
            </a:p>
          </p:txBody>
        </p:sp>
        <p:sp>
          <p:nvSpPr>
            <p:cNvPr id="22" name="Freeform 22">
              <a:extLst>
                <a:ext uri="{FF2B5EF4-FFF2-40B4-BE49-F238E27FC236}">
                  <a16:creationId xmlns:a16="http://schemas.microsoft.com/office/drawing/2014/main" id="{09318AC1-67EC-60D5-36D8-539F3B2A6D8D}"/>
                </a:ext>
              </a:extLst>
            </p:cNvPr>
            <p:cNvSpPr/>
            <p:nvPr/>
          </p:nvSpPr>
          <p:spPr>
            <a:xfrm>
              <a:off x="0" y="347451"/>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4">
                <a:extLst>
                  <a:ext uri="{96DAC541-7B7A-43D3-8B79-37D633B846F1}">
                    <asvg:svgBlip xmlns:asvg="http://schemas.microsoft.com/office/drawing/2016/SVG/main" r:embed="rId5"/>
                  </a:ext>
                </a:extLst>
              </a:blip>
              <a:stretch>
                <a:fillRect t="-357762"/>
              </a:stretch>
            </a:blipFill>
          </p:spPr>
          <p:txBody>
            <a:bodyPr/>
            <a:lstStyle/>
            <a:p>
              <a:endParaRPr lang="en-PK"/>
            </a:p>
          </p:txBody>
        </p:sp>
      </p:grpSp>
      <p:graphicFrame>
        <p:nvGraphicFramePr>
          <p:cNvPr id="13" name="Table 12">
            <a:extLst>
              <a:ext uri="{FF2B5EF4-FFF2-40B4-BE49-F238E27FC236}">
                <a16:creationId xmlns:a16="http://schemas.microsoft.com/office/drawing/2014/main" id="{F6A14445-C6AD-BB66-82DF-E0B72C2D0F75}"/>
              </a:ext>
            </a:extLst>
          </p:cNvPr>
          <p:cNvGraphicFramePr>
            <a:graphicFrameLocks noGrp="1"/>
          </p:cNvGraphicFramePr>
          <p:nvPr>
            <p:extLst>
              <p:ext uri="{D42A27DB-BD31-4B8C-83A1-F6EECF244321}">
                <p14:modId xmlns:p14="http://schemas.microsoft.com/office/powerpoint/2010/main" val="1473669427"/>
              </p:ext>
            </p:extLst>
          </p:nvPr>
        </p:nvGraphicFramePr>
        <p:xfrm>
          <a:off x="2340277" y="3086100"/>
          <a:ext cx="13639800" cy="5638800"/>
        </p:xfrm>
        <a:graphic>
          <a:graphicData uri="http://schemas.openxmlformats.org/drawingml/2006/table">
            <a:tbl>
              <a:tblPr firstRow="1" bandRow="1">
                <a:tableStyleId>{5C22544A-7EE6-4342-B048-85BDC9FD1C3A}</a:tableStyleId>
              </a:tblPr>
              <a:tblGrid>
                <a:gridCol w="4546600">
                  <a:extLst>
                    <a:ext uri="{9D8B030D-6E8A-4147-A177-3AD203B41FA5}">
                      <a16:colId xmlns:a16="http://schemas.microsoft.com/office/drawing/2014/main" val="2697776107"/>
                    </a:ext>
                  </a:extLst>
                </a:gridCol>
                <a:gridCol w="4546600">
                  <a:extLst>
                    <a:ext uri="{9D8B030D-6E8A-4147-A177-3AD203B41FA5}">
                      <a16:colId xmlns:a16="http://schemas.microsoft.com/office/drawing/2014/main" val="3302177101"/>
                    </a:ext>
                  </a:extLst>
                </a:gridCol>
                <a:gridCol w="4546600">
                  <a:extLst>
                    <a:ext uri="{9D8B030D-6E8A-4147-A177-3AD203B41FA5}">
                      <a16:colId xmlns:a16="http://schemas.microsoft.com/office/drawing/2014/main" val="3327344262"/>
                    </a:ext>
                  </a:extLst>
                </a:gridCol>
              </a:tblGrid>
              <a:tr h="1127760">
                <a:tc>
                  <a:txBody>
                    <a:bodyPr/>
                    <a:lstStyle/>
                    <a:p>
                      <a:r>
                        <a:rPr lang="en-US" sz="3600" b="1" dirty="0"/>
                        <a:t>Measures</a:t>
                      </a:r>
                      <a:endParaRPr lang="en-PK" sz="3600" b="1" dirty="0"/>
                    </a:p>
                  </a:txBody>
                  <a:tcPr/>
                </a:tc>
                <a:tc>
                  <a:txBody>
                    <a:bodyPr/>
                    <a:lstStyle/>
                    <a:p>
                      <a:r>
                        <a:rPr lang="en-US" sz="3600" b="1" dirty="0"/>
                        <a:t>Researchers</a:t>
                      </a:r>
                      <a:endParaRPr lang="en-PK" sz="3600" b="1" dirty="0"/>
                    </a:p>
                  </a:txBody>
                  <a:tcPr/>
                </a:tc>
                <a:tc>
                  <a:txBody>
                    <a:bodyPr/>
                    <a:lstStyle/>
                    <a:p>
                      <a:r>
                        <a:rPr lang="en-US" sz="3600" b="1" dirty="0"/>
                        <a:t>Ours</a:t>
                      </a:r>
                      <a:endParaRPr lang="en-PK" sz="3600" b="1" dirty="0"/>
                    </a:p>
                  </a:txBody>
                  <a:tcPr/>
                </a:tc>
                <a:extLst>
                  <a:ext uri="{0D108BD9-81ED-4DB2-BD59-A6C34878D82A}">
                    <a16:rowId xmlns:a16="http://schemas.microsoft.com/office/drawing/2014/main" val="4266963113"/>
                  </a:ext>
                </a:extLst>
              </a:tr>
              <a:tr h="1127760">
                <a:tc>
                  <a:txBody>
                    <a:bodyPr/>
                    <a:lstStyle/>
                    <a:p>
                      <a:r>
                        <a:rPr lang="en-US" sz="2800" dirty="0"/>
                        <a:t>Transformational Leadership</a:t>
                      </a:r>
                      <a:endParaRPr lang="en-PK" sz="2800" dirty="0"/>
                    </a:p>
                  </a:txBody>
                  <a:tcPr/>
                </a:tc>
                <a:tc>
                  <a:txBody>
                    <a:bodyPr/>
                    <a:lstStyle/>
                    <a:p>
                      <a:r>
                        <a:rPr lang="en-US" sz="2800" dirty="0"/>
                        <a:t>2.2581</a:t>
                      </a:r>
                      <a:endParaRPr lang="en-PK" sz="2800" dirty="0"/>
                    </a:p>
                  </a:txBody>
                  <a:tcPr/>
                </a:tc>
                <a:tc>
                  <a:txBody>
                    <a:bodyPr/>
                    <a:lstStyle/>
                    <a:p>
                      <a:r>
                        <a:rPr lang="en-US" sz="2800" dirty="0"/>
                        <a:t>3.125</a:t>
                      </a:r>
                      <a:endParaRPr lang="en-PK" sz="2800" dirty="0"/>
                    </a:p>
                  </a:txBody>
                  <a:tcPr/>
                </a:tc>
                <a:extLst>
                  <a:ext uri="{0D108BD9-81ED-4DB2-BD59-A6C34878D82A}">
                    <a16:rowId xmlns:a16="http://schemas.microsoft.com/office/drawing/2014/main" val="3201017268"/>
                  </a:ext>
                </a:extLst>
              </a:tr>
              <a:tr h="1127760">
                <a:tc>
                  <a:txBody>
                    <a:bodyPr/>
                    <a:lstStyle/>
                    <a:p>
                      <a:r>
                        <a:rPr lang="en-US" sz="2800" dirty="0"/>
                        <a:t>Servant Leadership</a:t>
                      </a:r>
                      <a:endParaRPr lang="en-PK" sz="2800" dirty="0"/>
                    </a:p>
                  </a:txBody>
                  <a:tcPr/>
                </a:tc>
                <a:tc>
                  <a:txBody>
                    <a:bodyPr/>
                    <a:lstStyle/>
                    <a:p>
                      <a:r>
                        <a:rPr lang="en-US" sz="2800" dirty="0"/>
                        <a:t>2.5520</a:t>
                      </a:r>
                      <a:endParaRPr lang="en-PK" sz="2800" dirty="0"/>
                    </a:p>
                  </a:txBody>
                  <a:tcPr/>
                </a:tc>
                <a:tc>
                  <a:txBody>
                    <a:bodyPr/>
                    <a:lstStyle/>
                    <a:p>
                      <a:r>
                        <a:rPr lang="en-US" sz="2800" dirty="0"/>
                        <a:t>2.999</a:t>
                      </a:r>
                      <a:endParaRPr lang="en-PK" sz="2800" dirty="0"/>
                    </a:p>
                  </a:txBody>
                  <a:tcPr/>
                </a:tc>
                <a:extLst>
                  <a:ext uri="{0D108BD9-81ED-4DB2-BD59-A6C34878D82A}">
                    <a16:rowId xmlns:a16="http://schemas.microsoft.com/office/drawing/2014/main" val="710966281"/>
                  </a:ext>
                </a:extLst>
              </a:tr>
              <a:tr h="1127760">
                <a:tc>
                  <a:txBody>
                    <a:bodyPr/>
                    <a:lstStyle/>
                    <a:p>
                      <a:r>
                        <a:rPr lang="en-US" sz="2800" dirty="0"/>
                        <a:t>Organizational Learning</a:t>
                      </a:r>
                      <a:endParaRPr lang="en-PK" sz="2800" dirty="0"/>
                    </a:p>
                  </a:txBody>
                  <a:tcPr/>
                </a:tc>
                <a:tc>
                  <a:txBody>
                    <a:bodyPr/>
                    <a:lstStyle/>
                    <a:p>
                      <a:r>
                        <a:rPr lang="en-US" sz="2800" dirty="0"/>
                        <a:t>2.3403</a:t>
                      </a:r>
                      <a:endParaRPr lang="en-PK" sz="2800" dirty="0"/>
                    </a:p>
                  </a:txBody>
                  <a:tcPr/>
                </a:tc>
                <a:tc>
                  <a:txBody>
                    <a:bodyPr/>
                    <a:lstStyle/>
                    <a:p>
                      <a:r>
                        <a:rPr lang="en-US" sz="2800" dirty="0"/>
                        <a:t>2.981</a:t>
                      </a:r>
                      <a:endParaRPr lang="en-PK" sz="2800" dirty="0"/>
                    </a:p>
                  </a:txBody>
                  <a:tcPr/>
                </a:tc>
                <a:extLst>
                  <a:ext uri="{0D108BD9-81ED-4DB2-BD59-A6C34878D82A}">
                    <a16:rowId xmlns:a16="http://schemas.microsoft.com/office/drawing/2014/main" val="2563414637"/>
                  </a:ext>
                </a:extLst>
              </a:tr>
              <a:tr h="1127760">
                <a:tc>
                  <a:txBody>
                    <a:bodyPr/>
                    <a:lstStyle/>
                    <a:p>
                      <a:r>
                        <a:rPr lang="en-US" sz="2800" dirty="0"/>
                        <a:t>Organizational Performance</a:t>
                      </a:r>
                      <a:endParaRPr lang="en-PK" sz="2800" dirty="0"/>
                    </a:p>
                  </a:txBody>
                  <a:tcPr/>
                </a:tc>
                <a:tc>
                  <a:txBody>
                    <a:bodyPr/>
                    <a:lstStyle/>
                    <a:p>
                      <a:r>
                        <a:rPr lang="en-US" sz="2800" dirty="0"/>
                        <a:t>2.3839</a:t>
                      </a:r>
                      <a:endParaRPr lang="en-PK" sz="2800" dirty="0"/>
                    </a:p>
                  </a:txBody>
                  <a:tcPr/>
                </a:tc>
                <a:tc>
                  <a:txBody>
                    <a:bodyPr/>
                    <a:lstStyle/>
                    <a:p>
                      <a:r>
                        <a:rPr lang="en-US" sz="2800" dirty="0"/>
                        <a:t>2.770</a:t>
                      </a:r>
                      <a:endParaRPr lang="en-PK" sz="2800" dirty="0"/>
                    </a:p>
                  </a:txBody>
                  <a:tcPr/>
                </a:tc>
                <a:extLst>
                  <a:ext uri="{0D108BD9-81ED-4DB2-BD59-A6C34878D82A}">
                    <a16:rowId xmlns:a16="http://schemas.microsoft.com/office/drawing/2014/main" val="1830304951"/>
                  </a:ext>
                </a:extLst>
              </a:tr>
            </a:tbl>
          </a:graphicData>
        </a:graphic>
      </p:graphicFrame>
    </p:spTree>
    <p:extLst>
      <p:ext uri="{BB962C8B-B14F-4D97-AF65-F5344CB8AC3E}">
        <p14:creationId xmlns:p14="http://schemas.microsoft.com/office/powerpoint/2010/main" val="191199306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FB0CBF-D4E3-8DB3-096A-CBD577D53690}"/>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10C4BD79-CFFE-2A9C-EE2C-52A657BCC6D5}"/>
              </a:ext>
            </a:extLst>
          </p:cNvPr>
          <p:cNvGrpSpPr/>
          <p:nvPr/>
        </p:nvGrpSpPr>
        <p:grpSpPr>
          <a:xfrm rot="2700000">
            <a:off x="14086836" y="-2601670"/>
            <a:ext cx="9677692" cy="6768089"/>
            <a:chOff x="0" y="0"/>
            <a:chExt cx="2548857" cy="1782542"/>
          </a:xfrm>
        </p:grpSpPr>
        <p:sp>
          <p:nvSpPr>
            <p:cNvPr id="3" name="Freeform 3">
              <a:extLst>
                <a:ext uri="{FF2B5EF4-FFF2-40B4-BE49-F238E27FC236}">
                  <a16:creationId xmlns:a16="http://schemas.microsoft.com/office/drawing/2014/main" id="{DE96FEC8-2EB6-4A1A-AC22-8E5EE84BD16A}"/>
                </a:ext>
              </a:extLst>
            </p:cNvPr>
            <p:cNvSpPr/>
            <p:nvPr/>
          </p:nvSpPr>
          <p:spPr>
            <a:xfrm>
              <a:off x="0" y="0"/>
              <a:ext cx="2548857" cy="1782542"/>
            </a:xfrm>
            <a:custGeom>
              <a:avLst/>
              <a:gdLst/>
              <a:ahLst/>
              <a:cxnLst/>
              <a:rect l="l" t="t" r="r" b="b"/>
              <a:pathLst>
                <a:path w="2548857" h="1782542">
                  <a:moveTo>
                    <a:pt x="0" y="0"/>
                  </a:moveTo>
                  <a:lnTo>
                    <a:pt x="2548857" y="0"/>
                  </a:lnTo>
                  <a:lnTo>
                    <a:pt x="2548857" y="1782542"/>
                  </a:lnTo>
                  <a:lnTo>
                    <a:pt x="0" y="1782542"/>
                  </a:lnTo>
                  <a:close/>
                </a:path>
              </a:pathLst>
            </a:custGeom>
            <a:solidFill>
              <a:srgbClr val="1468A2"/>
            </a:solidFill>
          </p:spPr>
          <p:txBody>
            <a:bodyPr/>
            <a:lstStyle/>
            <a:p>
              <a:endParaRPr lang="en-PK"/>
            </a:p>
          </p:txBody>
        </p:sp>
        <p:sp>
          <p:nvSpPr>
            <p:cNvPr id="4" name="TextBox 4">
              <a:extLst>
                <a:ext uri="{FF2B5EF4-FFF2-40B4-BE49-F238E27FC236}">
                  <a16:creationId xmlns:a16="http://schemas.microsoft.com/office/drawing/2014/main" id="{375743AB-B0BE-7E70-E080-A6CDF491B0F6}"/>
                </a:ext>
              </a:extLst>
            </p:cNvPr>
            <p:cNvSpPr txBox="1"/>
            <p:nvPr/>
          </p:nvSpPr>
          <p:spPr>
            <a:xfrm>
              <a:off x="0" y="-38100"/>
              <a:ext cx="2548857" cy="1820642"/>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a:extLst>
              <a:ext uri="{FF2B5EF4-FFF2-40B4-BE49-F238E27FC236}">
                <a16:creationId xmlns:a16="http://schemas.microsoft.com/office/drawing/2014/main" id="{C1B1FECE-C24C-CC4E-508A-70A39229618D}"/>
              </a:ext>
            </a:extLst>
          </p:cNvPr>
          <p:cNvSpPr/>
          <p:nvPr/>
        </p:nvSpPr>
        <p:spPr>
          <a:xfrm>
            <a:off x="14429998" y="-1897173"/>
            <a:ext cx="3663740" cy="7040673"/>
          </a:xfrm>
          <a:custGeom>
            <a:avLst/>
            <a:gdLst/>
            <a:ahLst/>
            <a:cxnLst/>
            <a:rect l="l" t="t" r="r" b="b"/>
            <a:pathLst>
              <a:path w="3663740" h="7040673">
                <a:moveTo>
                  <a:pt x="0" y="0"/>
                </a:moveTo>
                <a:lnTo>
                  <a:pt x="3663740" y="0"/>
                </a:lnTo>
                <a:lnTo>
                  <a:pt x="3663740" y="7040673"/>
                </a:lnTo>
                <a:lnTo>
                  <a:pt x="0" y="7040673"/>
                </a:lnTo>
                <a:lnTo>
                  <a:pt x="0" y="0"/>
                </a:lnTo>
                <a:close/>
              </a:path>
            </a:pathLst>
          </a:custGeom>
          <a:blipFill>
            <a:blip r:embed="rId3"/>
            <a:stretch>
              <a:fillRect/>
            </a:stretch>
          </a:blipFill>
        </p:spPr>
        <p:txBody>
          <a:bodyPr/>
          <a:lstStyle/>
          <a:p>
            <a:endParaRPr lang="en-PK"/>
          </a:p>
        </p:txBody>
      </p:sp>
      <p:sp>
        <p:nvSpPr>
          <p:cNvPr id="11" name="TextBox 11">
            <a:extLst>
              <a:ext uri="{FF2B5EF4-FFF2-40B4-BE49-F238E27FC236}">
                <a16:creationId xmlns:a16="http://schemas.microsoft.com/office/drawing/2014/main" id="{FCD8B58E-865C-5405-1169-8725600BF5DF}"/>
              </a:ext>
            </a:extLst>
          </p:cNvPr>
          <p:cNvSpPr txBox="1"/>
          <p:nvPr/>
        </p:nvSpPr>
        <p:spPr>
          <a:xfrm>
            <a:off x="5985689" y="1290251"/>
            <a:ext cx="6316622" cy="1744773"/>
          </a:xfrm>
          <a:prstGeom prst="rect">
            <a:avLst/>
          </a:prstGeom>
        </p:spPr>
        <p:txBody>
          <a:bodyPr lIns="0" tIns="0" rIns="0" bIns="0" rtlCol="0" anchor="t">
            <a:spAutoFit/>
          </a:bodyPr>
          <a:lstStyle/>
          <a:p>
            <a:pPr algn="ctr">
              <a:lnSpc>
                <a:spcPts val="6822"/>
              </a:lnSpc>
            </a:pPr>
            <a:r>
              <a:rPr lang="en-US" sz="5685" b="1" dirty="0">
                <a:solidFill>
                  <a:srgbClr val="000000"/>
                </a:solidFill>
                <a:latin typeface="Garet Bold"/>
                <a:ea typeface="Garet Bold"/>
                <a:cs typeface="Garet Bold"/>
                <a:sym typeface="Garet Bold"/>
              </a:rPr>
              <a:t>Pearson Correlation</a:t>
            </a:r>
          </a:p>
        </p:txBody>
      </p:sp>
      <p:grpSp>
        <p:nvGrpSpPr>
          <p:cNvPr id="20" name="Group 20">
            <a:extLst>
              <a:ext uri="{FF2B5EF4-FFF2-40B4-BE49-F238E27FC236}">
                <a16:creationId xmlns:a16="http://schemas.microsoft.com/office/drawing/2014/main" id="{547BF578-830F-E7E6-959D-60B0681191F8}"/>
              </a:ext>
            </a:extLst>
          </p:cNvPr>
          <p:cNvGrpSpPr/>
          <p:nvPr/>
        </p:nvGrpSpPr>
        <p:grpSpPr>
          <a:xfrm>
            <a:off x="1028700" y="1411710"/>
            <a:ext cx="1281097" cy="422907"/>
            <a:chOff x="0" y="0"/>
            <a:chExt cx="1708130" cy="563877"/>
          </a:xfrm>
        </p:grpSpPr>
        <p:sp>
          <p:nvSpPr>
            <p:cNvPr id="21" name="Freeform 21">
              <a:extLst>
                <a:ext uri="{FF2B5EF4-FFF2-40B4-BE49-F238E27FC236}">
                  <a16:creationId xmlns:a16="http://schemas.microsoft.com/office/drawing/2014/main" id="{A012B93D-9A4C-676B-FD8C-26583E0F578C}"/>
                </a:ext>
              </a:extLst>
            </p:cNvPr>
            <p:cNvSpPr/>
            <p:nvPr/>
          </p:nvSpPr>
          <p:spPr>
            <a:xfrm>
              <a:off x="0" y="0"/>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4">
                <a:extLst>
                  <a:ext uri="{96DAC541-7B7A-43D3-8B79-37D633B846F1}">
                    <asvg:svgBlip xmlns:asvg="http://schemas.microsoft.com/office/drawing/2016/SVG/main" r:embed="rId5"/>
                  </a:ext>
                </a:extLst>
              </a:blip>
              <a:stretch>
                <a:fillRect t="-357762"/>
              </a:stretch>
            </a:blipFill>
          </p:spPr>
          <p:txBody>
            <a:bodyPr/>
            <a:lstStyle/>
            <a:p>
              <a:endParaRPr lang="en-PK"/>
            </a:p>
          </p:txBody>
        </p:sp>
        <p:sp>
          <p:nvSpPr>
            <p:cNvPr id="22" name="Freeform 22">
              <a:extLst>
                <a:ext uri="{FF2B5EF4-FFF2-40B4-BE49-F238E27FC236}">
                  <a16:creationId xmlns:a16="http://schemas.microsoft.com/office/drawing/2014/main" id="{C4586746-3FAA-9C1D-9E4C-FC868FC0C907}"/>
                </a:ext>
              </a:extLst>
            </p:cNvPr>
            <p:cNvSpPr/>
            <p:nvPr/>
          </p:nvSpPr>
          <p:spPr>
            <a:xfrm>
              <a:off x="0" y="347451"/>
              <a:ext cx="1708130" cy="216426"/>
            </a:xfrm>
            <a:custGeom>
              <a:avLst/>
              <a:gdLst/>
              <a:ahLst/>
              <a:cxnLst/>
              <a:rect l="l" t="t" r="r" b="b"/>
              <a:pathLst>
                <a:path w="1708130" h="216426">
                  <a:moveTo>
                    <a:pt x="0" y="0"/>
                  </a:moveTo>
                  <a:lnTo>
                    <a:pt x="1708130" y="0"/>
                  </a:lnTo>
                  <a:lnTo>
                    <a:pt x="1708130" y="216426"/>
                  </a:lnTo>
                  <a:lnTo>
                    <a:pt x="0" y="216426"/>
                  </a:lnTo>
                  <a:lnTo>
                    <a:pt x="0" y="0"/>
                  </a:lnTo>
                  <a:close/>
                </a:path>
              </a:pathLst>
            </a:custGeom>
            <a:blipFill>
              <a:blip r:embed="rId4">
                <a:extLst>
                  <a:ext uri="{96DAC541-7B7A-43D3-8B79-37D633B846F1}">
                    <asvg:svgBlip xmlns:asvg="http://schemas.microsoft.com/office/drawing/2016/SVG/main" r:embed="rId5"/>
                  </a:ext>
                </a:extLst>
              </a:blip>
              <a:stretch>
                <a:fillRect t="-357762"/>
              </a:stretch>
            </a:blipFill>
          </p:spPr>
          <p:txBody>
            <a:bodyPr/>
            <a:lstStyle/>
            <a:p>
              <a:endParaRPr lang="en-PK"/>
            </a:p>
          </p:txBody>
        </p:sp>
      </p:grpSp>
      <p:graphicFrame>
        <p:nvGraphicFramePr>
          <p:cNvPr id="13" name="Table 12">
            <a:extLst>
              <a:ext uri="{FF2B5EF4-FFF2-40B4-BE49-F238E27FC236}">
                <a16:creationId xmlns:a16="http://schemas.microsoft.com/office/drawing/2014/main" id="{8EF56AA2-9707-EDCD-5A22-8C9943696954}"/>
              </a:ext>
            </a:extLst>
          </p:cNvPr>
          <p:cNvGraphicFramePr>
            <a:graphicFrameLocks noGrp="1"/>
          </p:cNvGraphicFramePr>
          <p:nvPr>
            <p:extLst>
              <p:ext uri="{D42A27DB-BD31-4B8C-83A1-F6EECF244321}">
                <p14:modId xmlns:p14="http://schemas.microsoft.com/office/powerpoint/2010/main" val="3158442804"/>
              </p:ext>
            </p:extLst>
          </p:nvPr>
        </p:nvGraphicFramePr>
        <p:xfrm>
          <a:off x="2340277" y="3086100"/>
          <a:ext cx="13639800" cy="5638800"/>
        </p:xfrm>
        <a:graphic>
          <a:graphicData uri="http://schemas.openxmlformats.org/drawingml/2006/table">
            <a:tbl>
              <a:tblPr firstRow="1" bandRow="1">
                <a:tableStyleId>{5C22544A-7EE6-4342-B048-85BDC9FD1C3A}</a:tableStyleId>
              </a:tblPr>
              <a:tblGrid>
                <a:gridCol w="4546600">
                  <a:extLst>
                    <a:ext uri="{9D8B030D-6E8A-4147-A177-3AD203B41FA5}">
                      <a16:colId xmlns:a16="http://schemas.microsoft.com/office/drawing/2014/main" val="2697776107"/>
                    </a:ext>
                  </a:extLst>
                </a:gridCol>
                <a:gridCol w="4546600">
                  <a:extLst>
                    <a:ext uri="{9D8B030D-6E8A-4147-A177-3AD203B41FA5}">
                      <a16:colId xmlns:a16="http://schemas.microsoft.com/office/drawing/2014/main" val="3302177101"/>
                    </a:ext>
                  </a:extLst>
                </a:gridCol>
                <a:gridCol w="4546600">
                  <a:extLst>
                    <a:ext uri="{9D8B030D-6E8A-4147-A177-3AD203B41FA5}">
                      <a16:colId xmlns:a16="http://schemas.microsoft.com/office/drawing/2014/main" val="3327344262"/>
                    </a:ext>
                  </a:extLst>
                </a:gridCol>
              </a:tblGrid>
              <a:tr h="1127760">
                <a:tc>
                  <a:txBody>
                    <a:bodyPr/>
                    <a:lstStyle/>
                    <a:p>
                      <a:r>
                        <a:rPr lang="en-US" sz="3600" b="1" dirty="0"/>
                        <a:t>Measures</a:t>
                      </a:r>
                      <a:endParaRPr lang="en-PK" sz="3600" b="1" dirty="0"/>
                    </a:p>
                  </a:txBody>
                  <a:tcPr/>
                </a:tc>
                <a:tc>
                  <a:txBody>
                    <a:bodyPr/>
                    <a:lstStyle/>
                    <a:p>
                      <a:r>
                        <a:rPr lang="en-US" sz="3600" b="1" dirty="0"/>
                        <a:t>Researchers</a:t>
                      </a:r>
                      <a:endParaRPr lang="en-PK" sz="3600" b="1" dirty="0"/>
                    </a:p>
                  </a:txBody>
                  <a:tcPr/>
                </a:tc>
                <a:tc>
                  <a:txBody>
                    <a:bodyPr/>
                    <a:lstStyle/>
                    <a:p>
                      <a:r>
                        <a:rPr lang="en-US" sz="3600" b="1" dirty="0"/>
                        <a:t>Ours</a:t>
                      </a:r>
                      <a:endParaRPr lang="en-PK" sz="3600" b="1" dirty="0"/>
                    </a:p>
                  </a:txBody>
                  <a:tcPr/>
                </a:tc>
                <a:extLst>
                  <a:ext uri="{0D108BD9-81ED-4DB2-BD59-A6C34878D82A}">
                    <a16:rowId xmlns:a16="http://schemas.microsoft.com/office/drawing/2014/main" val="4266963113"/>
                  </a:ext>
                </a:extLst>
              </a:tr>
              <a:tr h="1127760">
                <a:tc>
                  <a:txBody>
                    <a:bodyPr/>
                    <a:lstStyle/>
                    <a:p>
                      <a:r>
                        <a:rPr lang="en-US" sz="2800" dirty="0"/>
                        <a:t>Transformational Leadership – Servant Leadership</a:t>
                      </a:r>
                      <a:endParaRPr lang="en-PK" sz="2800" dirty="0"/>
                    </a:p>
                  </a:txBody>
                  <a:tcPr/>
                </a:tc>
                <a:tc>
                  <a:txBody>
                    <a:bodyPr/>
                    <a:lstStyle/>
                    <a:p>
                      <a:r>
                        <a:rPr lang="en-US" sz="2800" dirty="0"/>
                        <a:t>0.549</a:t>
                      </a:r>
                      <a:endParaRPr lang="en-PK" sz="2800" dirty="0"/>
                    </a:p>
                  </a:txBody>
                  <a:tcPr/>
                </a:tc>
                <a:tc>
                  <a:txBody>
                    <a:bodyPr/>
                    <a:lstStyle/>
                    <a:p>
                      <a:r>
                        <a:rPr lang="en-US" sz="2800" dirty="0"/>
                        <a:t>0.1464</a:t>
                      </a:r>
                      <a:endParaRPr lang="en-PK" sz="2800" dirty="0"/>
                    </a:p>
                  </a:txBody>
                  <a:tcPr/>
                </a:tc>
                <a:extLst>
                  <a:ext uri="{0D108BD9-81ED-4DB2-BD59-A6C34878D82A}">
                    <a16:rowId xmlns:a16="http://schemas.microsoft.com/office/drawing/2014/main" val="3201017268"/>
                  </a:ext>
                </a:extLst>
              </a:tr>
              <a:tr h="1127760">
                <a:tc>
                  <a:txBody>
                    <a:bodyPr/>
                    <a:lstStyle/>
                    <a:p>
                      <a:r>
                        <a:rPr lang="en-US" sz="2800" dirty="0"/>
                        <a:t>Transformational Leadership – Organizational Learning</a:t>
                      </a:r>
                      <a:endParaRPr lang="en-PK" sz="2800" dirty="0"/>
                    </a:p>
                  </a:txBody>
                  <a:tcPr/>
                </a:tc>
                <a:tc>
                  <a:txBody>
                    <a:bodyPr/>
                    <a:lstStyle/>
                    <a:p>
                      <a:r>
                        <a:rPr lang="en-US" sz="2800" dirty="0"/>
                        <a:t>0.664</a:t>
                      </a:r>
                      <a:endParaRPr lang="en-PK" sz="2800" dirty="0"/>
                    </a:p>
                  </a:txBody>
                  <a:tcPr/>
                </a:tc>
                <a:tc>
                  <a:txBody>
                    <a:bodyPr/>
                    <a:lstStyle/>
                    <a:p>
                      <a:r>
                        <a:rPr lang="en-US" sz="2800" dirty="0"/>
                        <a:t>0.2576</a:t>
                      </a:r>
                      <a:endParaRPr lang="en-PK" sz="2800" dirty="0"/>
                    </a:p>
                  </a:txBody>
                  <a:tcPr/>
                </a:tc>
                <a:extLst>
                  <a:ext uri="{0D108BD9-81ED-4DB2-BD59-A6C34878D82A}">
                    <a16:rowId xmlns:a16="http://schemas.microsoft.com/office/drawing/2014/main" val="710966281"/>
                  </a:ext>
                </a:extLst>
              </a:tr>
              <a:tr h="1127760">
                <a:tc>
                  <a:txBody>
                    <a:bodyPr/>
                    <a:lstStyle/>
                    <a:p>
                      <a:r>
                        <a:rPr lang="en-US" sz="2800" dirty="0"/>
                        <a:t>Servant Leadership – Organizational Learning</a:t>
                      </a:r>
                      <a:endParaRPr lang="en-PK" sz="2800" dirty="0"/>
                    </a:p>
                  </a:txBody>
                  <a:tcPr/>
                </a:tc>
                <a:tc>
                  <a:txBody>
                    <a:bodyPr/>
                    <a:lstStyle/>
                    <a:p>
                      <a:r>
                        <a:rPr lang="en-US" sz="2800" dirty="0"/>
                        <a:t>0.580</a:t>
                      </a:r>
                      <a:endParaRPr lang="en-PK" sz="2800" dirty="0"/>
                    </a:p>
                  </a:txBody>
                  <a:tcPr/>
                </a:tc>
                <a:tc>
                  <a:txBody>
                    <a:bodyPr/>
                    <a:lstStyle/>
                    <a:p>
                      <a:r>
                        <a:rPr lang="en-US" sz="2800" dirty="0"/>
                        <a:t>0.6287</a:t>
                      </a:r>
                      <a:endParaRPr lang="en-PK" sz="2800" dirty="0"/>
                    </a:p>
                  </a:txBody>
                  <a:tcPr/>
                </a:tc>
                <a:extLst>
                  <a:ext uri="{0D108BD9-81ED-4DB2-BD59-A6C34878D82A}">
                    <a16:rowId xmlns:a16="http://schemas.microsoft.com/office/drawing/2014/main" val="2563414637"/>
                  </a:ext>
                </a:extLst>
              </a:tr>
              <a:tr h="1127760">
                <a:tc>
                  <a:txBody>
                    <a:bodyPr/>
                    <a:lstStyle/>
                    <a:p>
                      <a:r>
                        <a:rPr lang="en-US" sz="2800" dirty="0"/>
                        <a:t>Organizational Learning – Organizational Performance</a:t>
                      </a:r>
                      <a:endParaRPr lang="en-PK" sz="2800" dirty="0"/>
                    </a:p>
                  </a:txBody>
                  <a:tcPr/>
                </a:tc>
                <a:tc>
                  <a:txBody>
                    <a:bodyPr/>
                    <a:lstStyle/>
                    <a:p>
                      <a:r>
                        <a:rPr lang="en-US" sz="2800" dirty="0"/>
                        <a:t>0.617</a:t>
                      </a:r>
                      <a:endParaRPr lang="en-PK" sz="2800" dirty="0"/>
                    </a:p>
                  </a:txBody>
                  <a:tcPr/>
                </a:tc>
                <a:tc>
                  <a:txBody>
                    <a:bodyPr/>
                    <a:lstStyle/>
                    <a:p>
                      <a:r>
                        <a:rPr lang="en-US" sz="2800" dirty="0"/>
                        <a:t>0.6973</a:t>
                      </a:r>
                      <a:endParaRPr lang="en-PK" sz="2800" dirty="0"/>
                    </a:p>
                  </a:txBody>
                  <a:tcPr/>
                </a:tc>
                <a:extLst>
                  <a:ext uri="{0D108BD9-81ED-4DB2-BD59-A6C34878D82A}">
                    <a16:rowId xmlns:a16="http://schemas.microsoft.com/office/drawing/2014/main" val="1830304951"/>
                  </a:ext>
                </a:extLst>
              </a:tr>
            </a:tbl>
          </a:graphicData>
        </a:graphic>
      </p:graphicFrame>
    </p:spTree>
    <p:extLst>
      <p:ext uri="{BB962C8B-B14F-4D97-AF65-F5344CB8AC3E}">
        <p14:creationId xmlns:p14="http://schemas.microsoft.com/office/powerpoint/2010/main" val="149174161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5"/>
        <p:cNvGrpSpPr/>
        <p:nvPr/>
      </p:nvGrpSpPr>
      <p:grpSpPr>
        <a:xfrm>
          <a:off x="0" y="0"/>
          <a:ext cx="0" cy="0"/>
          <a:chOff x="0" y="0"/>
          <a:chExt cx="0" cy="0"/>
        </a:xfrm>
      </p:grpSpPr>
      <p:grpSp>
        <p:nvGrpSpPr>
          <p:cNvPr id="486" name="Google Shape;486;p26"/>
          <p:cNvGrpSpPr/>
          <p:nvPr/>
        </p:nvGrpSpPr>
        <p:grpSpPr>
          <a:xfrm rot="2700000">
            <a:off x="12285169" y="2355415"/>
            <a:ext cx="6900451" cy="12605226"/>
            <a:chOff x="0" y="-38100"/>
            <a:chExt cx="1817400" cy="3319890"/>
          </a:xfrm>
        </p:grpSpPr>
        <p:sp>
          <p:nvSpPr>
            <p:cNvPr id="487" name="Google Shape;487;p26"/>
            <p:cNvSpPr/>
            <p:nvPr/>
          </p:nvSpPr>
          <p:spPr>
            <a:xfrm>
              <a:off x="0" y="0"/>
              <a:ext cx="1817264" cy="3281790"/>
            </a:xfrm>
            <a:custGeom>
              <a:avLst/>
              <a:gdLst/>
              <a:ahLst/>
              <a:cxnLst/>
              <a:rect l="l" t="t" r="r" b="b"/>
              <a:pathLst>
                <a:path w="1817264" h="3281790" extrusionOk="0">
                  <a:moveTo>
                    <a:pt x="0" y="0"/>
                  </a:moveTo>
                  <a:lnTo>
                    <a:pt x="1817264" y="0"/>
                  </a:lnTo>
                  <a:lnTo>
                    <a:pt x="1817264" y="3281790"/>
                  </a:lnTo>
                  <a:lnTo>
                    <a:pt x="0" y="3281790"/>
                  </a:lnTo>
                  <a:close/>
                </a:path>
              </a:pathLst>
            </a:custGeom>
            <a:solidFill>
              <a:srgbClr val="1468A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8" name="Google Shape;488;p26"/>
            <p:cNvSpPr txBox="1"/>
            <p:nvPr/>
          </p:nvSpPr>
          <p:spPr>
            <a:xfrm>
              <a:off x="0" y="-38100"/>
              <a:ext cx="1817400" cy="33198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489" name="Google Shape;489;p26"/>
          <p:cNvSpPr/>
          <p:nvPr/>
        </p:nvSpPr>
        <p:spPr>
          <a:xfrm>
            <a:off x="10737289" y="-1988820"/>
            <a:ext cx="11247120" cy="1124712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blipFill rotWithShape="1">
            <a:blip r:embed="rId3">
              <a:alphaModFix/>
            </a:blip>
            <a:stretch>
              <a:fillRect l="-48558" r="-12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0" name="Google Shape;490;p26"/>
          <p:cNvSpPr/>
          <p:nvPr/>
        </p:nvSpPr>
        <p:spPr>
          <a:xfrm flipH="1">
            <a:off x="7978798" y="6664398"/>
            <a:ext cx="4282420" cy="4251612"/>
          </a:xfrm>
          <a:custGeom>
            <a:avLst/>
            <a:gdLst/>
            <a:ahLst/>
            <a:cxnLst/>
            <a:rect l="l" t="t" r="r" b="b"/>
            <a:pathLst>
              <a:path w="4282420" h="4251612" extrusionOk="0">
                <a:moveTo>
                  <a:pt x="4282420" y="0"/>
                </a:moveTo>
                <a:lnTo>
                  <a:pt x="0" y="0"/>
                </a:lnTo>
                <a:lnTo>
                  <a:pt x="0" y="4251612"/>
                </a:lnTo>
                <a:lnTo>
                  <a:pt x="4282420" y="4251612"/>
                </a:lnTo>
                <a:lnTo>
                  <a:pt x="4282420" y="0"/>
                </a:lnTo>
                <a:close/>
              </a:path>
            </a:pathLst>
          </a:custGeom>
          <a:blipFill rotWithShape="1">
            <a:blip r:embed="rId4">
              <a:alphaModFix/>
            </a:blip>
            <a:stretch>
              <a:fillRect t="-35627" b="-5792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491" name="Google Shape;491;p26"/>
          <p:cNvCxnSpPr/>
          <p:nvPr/>
        </p:nvCxnSpPr>
        <p:spPr>
          <a:xfrm rot="10800000" flipH="1">
            <a:off x="7657041" y="6826578"/>
            <a:ext cx="4525200" cy="4525200"/>
          </a:xfrm>
          <a:prstGeom prst="straightConnector1">
            <a:avLst/>
          </a:prstGeom>
          <a:noFill/>
          <a:ln w="38100" cap="flat" cmpd="sng">
            <a:solidFill>
              <a:srgbClr val="1468A2"/>
            </a:solidFill>
            <a:prstDash val="solid"/>
            <a:round/>
            <a:headEnd type="none" w="sm" len="sm"/>
            <a:tailEnd type="none" w="sm" len="sm"/>
          </a:ln>
        </p:spPr>
      </p:cxnSp>
      <p:cxnSp>
        <p:nvCxnSpPr>
          <p:cNvPr id="492" name="Google Shape;492;p26"/>
          <p:cNvCxnSpPr/>
          <p:nvPr/>
        </p:nvCxnSpPr>
        <p:spPr>
          <a:xfrm rot="10800000" flipH="1">
            <a:off x="11105977" y="-1975403"/>
            <a:ext cx="4525200" cy="4525200"/>
          </a:xfrm>
          <a:prstGeom prst="straightConnector1">
            <a:avLst/>
          </a:prstGeom>
          <a:noFill/>
          <a:ln w="38100" cap="flat" cmpd="sng">
            <a:solidFill>
              <a:srgbClr val="1468A2"/>
            </a:solidFill>
            <a:prstDash val="solid"/>
            <a:round/>
            <a:headEnd type="none" w="sm" len="sm"/>
            <a:tailEnd type="none" w="sm" len="sm"/>
          </a:ln>
        </p:spPr>
      </p:cxnSp>
      <p:sp>
        <p:nvSpPr>
          <p:cNvPr id="493" name="Google Shape;493;p26"/>
          <p:cNvSpPr txBox="1"/>
          <p:nvPr/>
        </p:nvSpPr>
        <p:spPr>
          <a:xfrm>
            <a:off x="1028700" y="1276846"/>
            <a:ext cx="4633200" cy="570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705" b="1"/>
              <a:t>CONCLUSION</a:t>
            </a:r>
            <a:endParaRPr/>
          </a:p>
        </p:txBody>
      </p:sp>
      <p:grpSp>
        <p:nvGrpSpPr>
          <p:cNvPr id="494" name="Google Shape;494;p26"/>
          <p:cNvGrpSpPr/>
          <p:nvPr/>
        </p:nvGrpSpPr>
        <p:grpSpPr>
          <a:xfrm>
            <a:off x="-799658" y="994194"/>
            <a:ext cx="6694569" cy="959881"/>
            <a:chOff x="0" y="-38100"/>
            <a:chExt cx="1763167" cy="252806"/>
          </a:xfrm>
        </p:grpSpPr>
        <p:sp>
          <p:nvSpPr>
            <p:cNvPr id="495" name="Google Shape;495;p26"/>
            <p:cNvSpPr/>
            <p:nvPr/>
          </p:nvSpPr>
          <p:spPr>
            <a:xfrm>
              <a:off x="0" y="34513"/>
              <a:ext cx="1763167" cy="180193"/>
            </a:xfrm>
            <a:custGeom>
              <a:avLst/>
              <a:gdLst/>
              <a:ahLst/>
              <a:cxnLst/>
              <a:rect l="l" t="t" r="r" b="b"/>
              <a:pathLst>
                <a:path w="1763167" h="214516" extrusionOk="0">
                  <a:moveTo>
                    <a:pt x="203200" y="0"/>
                  </a:moveTo>
                  <a:lnTo>
                    <a:pt x="1763167" y="0"/>
                  </a:lnTo>
                  <a:lnTo>
                    <a:pt x="1559967" y="214516"/>
                  </a:lnTo>
                  <a:lnTo>
                    <a:pt x="0" y="214516"/>
                  </a:lnTo>
                  <a:lnTo>
                    <a:pt x="203200" y="0"/>
                  </a:lnTo>
                  <a:close/>
                </a:path>
              </a:pathLst>
            </a:custGeom>
            <a:solidFill>
              <a:srgbClr val="1468A2">
                <a:alpha val="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6" name="Google Shape;496;p26"/>
            <p:cNvSpPr txBox="1"/>
            <p:nvPr/>
          </p:nvSpPr>
          <p:spPr>
            <a:xfrm>
              <a:off x="101600" y="-38100"/>
              <a:ext cx="1560000" cy="252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grpSp>
        <p:nvGrpSpPr>
          <p:cNvPr id="497" name="Google Shape;497;p26"/>
          <p:cNvGrpSpPr/>
          <p:nvPr/>
        </p:nvGrpSpPr>
        <p:grpSpPr>
          <a:xfrm>
            <a:off x="8651496" y="1127858"/>
            <a:ext cx="1281097" cy="422908"/>
            <a:chOff x="0" y="0"/>
            <a:chExt cx="1708130" cy="563877"/>
          </a:xfrm>
        </p:grpSpPr>
        <p:sp>
          <p:nvSpPr>
            <p:cNvPr id="498" name="Google Shape;498;p26"/>
            <p:cNvSpPr/>
            <p:nvPr/>
          </p:nvSpPr>
          <p:spPr>
            <a:xfrm>
              <a:off x="0" y="0"/>
              <a:ext cx="1708130" cy="216426"/>
            </a:xfrm>
            <a:custGeom>
              <a:avLst/>
              <a:gdLst/>
              <a:ahLst/>
              <a:cxnLst/>
              <a:rect l="l" t="t" r="r" b="b"/>
              <a:pathLst>
                <a:path w="1708130" h="216426" extrusionOk="0">
                  <a:moveTo>
                    <a:pt x="0" y="0"/>
                  </a:moveTo>
                  <a:lnTo>
                    <a:pt x="1708130" y="0"/>
                  </a:lnTo>
                  <a:lnTo>
                    <a:pt x="1708130" y="216426"/>
                  </a:lnTo>
                  <a:lnTo>
                    <a:pt x="0" y="216426"/>
                  </a:lnTo>
                  <a:lnTo>
                    <a:pt x="0" y="0"/>
                  </a:lnTo>
                  <a:close/>
                </a:path>
              </a:pathLst>
            </a:custGeom>
            <a:blipFill rotWithShape="1">
              <a:blip r:embed="rId5">
                <a:alphaModFix/>
              </a:blip>
              <a:stretch>
                <a:fillRect t="-3577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9" name="Google Shape;499;p26"/>
            <p:cNvSpPr/>
            <p:nvPr/>
          </p:nvSpPr>
          <p:spPr>
            <a:xfrm>
              <a:off x="0" y="347451"/>
              <a:ext cx="1708130" cy="216426"/>
            </a:xfrm>
            <a:custGeom>
              <a:avLst/>
              <a:gdLst/>
              <a:ahLst/>
              <a:cxnLst/>
              <a:rect l="l" t="t" r="r" b="b"/>
              <a:pathLst>
                <a:path w="1708130" h="216426" extrusionOk="0">
                  <a:moveTo>
                    <a:pt x="0" y="0"/>
                  </a:moveTo>
                  <a:lnTo>
                    <a:pt x="1708130" y="0"/>
                  </a:lnTo>
                  <a:lnTo>
                    <a:pt x="1708130" y="216426"/>
                  </a:lnTo>
                  <a:lnTo>
                    <a:pt x="0" y="216426"/>
                  </a:lnTo>
                  <a:lnTo>
                    <a:pt x="0" y="0"/>
                  </a:lnTo>
                  <a:close/>
                </a:path>
              </a:pathLst>
            </a:custGeom>
            <a:blipFill rotWithShape="1">
              <a:blip r:embed="rId5">
                <a:alphaModFix/>
              </a:blip>
              <a:stretch>
                <a:fillRect t="-3577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500" name="Google Shape;500;p26"/>
          <p:cNvSpPr txBox="1"/>
          <p:nvPr/>
        </p:nvSpPr>
        <p:spPr>
          <a:xfrm>
            <a:off x="1028700" y="1954084"/>
            <a:ext cx="6417000" cy="738900"/>
          </a:xfrm>
          <a:prstGeom prst="rect">
            <a:avLst/>
          </a:prstGeom>
          <a:noFill/>
          <a:ln>
            <a:noFill/>
          </a:ln>
        </p:spPr>
        <p:txBody>
          <a:bodyPr spcFirstLastPara="1" wrap="square" lIns="0" tIns="0" rIns="0" bIns="0" anchor="t" anchorCtr="0">
            <a:spAutoFit/>
          </a:bodyPr>
          <a:lstStyle/>
          <a:p>
            <a:pPr marL="0" marR="0" lvl="0" indent="0" algn="l" rtl="0">
              <a:lnSpc>
                <a:spcPct val="142125"/>
              </a:lnSpc>
              <a:spcBef>
                <a:spcPts val="0"/>
              </a:spcBef>
              <a:spcAft>
                <a:spcPts val="0"/>
              </a:spcAft>
              <a:buNone/>
            </a:pPr>
            <a:r>
              <a:rPr lang="en-US" sz="4800" b="1"/>
              <a:t>Results</a:t>
            </a:r>
            <a:r>
              <a:rPr lang="en-US" sz="4800" b="1">
                <a:solidFill>
                  <a:srgbClr val="000000"/>
                </a:solidFill>
                <a:latin typeface="Arial"/>
                <a:ea typeface="Arial"/>
                <a:cs typeface="Arial"/>
                <a:sym typeface="Arial"/>
              </a:rPr>
              <a:t> of Study</a:t>
            </a:r>
            <a:endParaRPr/>
          </a:p>
        </p:txBody>
      </p:sp>
      <p:sp>
        <p:nvSpPr>
          <p:cNvPr id="501" name="Google Shape;501;p26"/>
          <p:cNvSpPr/>
          <p:nvPr/>
        </p:nvSpPr>
        <p:spPr>
          <a:xfrm>
            <a:off x="506661" y="2476724"/>
            <a:ext cx="10599300" cy="5170500"/>
          </a:xfrm>
          <a:prstGeom prst="rect">
            <a:avLst/>
          </a:prstGeom>
          <a:noFill/>
          <a:ln>
            <a:noFill/>
          </a:ln>
        </p:spPr>
        <p:txBody>
          <a:bodyPr spcFirstLastPara="1" wrap="square" lIns="91425" tIns="45700" rIns="91425" bIns="45700" anchor="ctr" anchorCtr="0">
            <a:noAutofit/>
          </a:bodyPr>
          <a:lstStyle/>
          <a:p>
            <a:pPr marL="342900" marR="0" lvl="0" indent="-190500" algn="l" rtl="0">
              <a:lnSpc>
                <a:spcPct val="200000"/>
              </a:lnSpc>
              <a:spcBef>
                <a:spcPts val="0"/>
              </a:spcBef>
              <a:spcAft>
                <a:spcPts val="0"/>
              </a:spcAft>
              <a:buClr>
                <a:schemeClr val="dk1"/>
              </a:buClr>
              <a:buSzPts val="2400"/>
              <a:buFont typeface="Arial"/>
              <a:buNone/>
            </a:pPr>
            <a:endParaRPr sz="2400" b="0" i="0" u="none" strike="noStrike" cap="none" dirty="0">
              <a:solidFill>
                <a:schemeClr val="dk1"/>
              </a:solidFill>
              <a:latin typeface="Arial"/>
              <a:ea typeface="Arial"/>
              <a:cs typeface="Arial"/>
              <a:sym typeface="Arial"/>
            </a:endParaRPr>
          </a:p>
          <a:p>
            <a:pPr marL="457200" lvl="0" indent="-381000" algn="l" rtl="0">
              <a:lnSpc>
                <a:spcPct val="200000"/>
              </a:lnSpc>
              <a:spcBef>
                <a:spcPts val="0"/>
              </a:spcBef>
              <a:spcAft>
                <a:spcPts val="0"/>
              </a:spcAft>
              <a:buClr>
                <a:schemeClr val="dk1"/>
              </a:buClr>
              <a:buSzPts val="2400"/>
              <a:buChar char="•"/>
            </a:pPr>
            <a:r>
              <a:rPr lang="en-US" sz="2400" dirty="0">
                <a:solidFill>
                  <a:schemeClr val="dk1"/>
                </a:solidFill>
              </a:rPr>
              <a:t>Both transformational and servant leadership impact organizational learning and performance.</a:t>
            </a:r>
            <a:endParaRPr sz="2400" dirty="0">
              <a:solidFill>
                <a:schemeClr val="dk1"/>
              </a:solidFill>
            </a:endParaRPr>
          </a:p>
          <a:p>
            <a:pPr marL="457200" lvl="0" indent="-381000" algn="l" rtl="0">
              <a:lnSpc>
                <a:spcPct val="200000"/>
              </a:lnSpc>
              <a:spcBef>
                <a:spcPts val="0"/>
              </a:spcBef>
              <a:spcAft>
                <a:spcPts val="0"/>
              </a:spcAft>
              <a:buClr>
                <a:schemeClr val="dk1"/>
              </a:buClr>
              <a:buSzPts val="2400"/>
              <a:buChar char="•"/>
            </a:pPr>
            <a:r>
              <a:rPr lang="en-US" sz="2400" dirty="0">
                <a:solidFill>
                  <a:schemeClr val="dk1"/>
                </a:solidFill>
              </a:rPr>
              <a:t>Transformational leadership has a greater influence on organizational learning than servant leadership.</a:t>
            </a:r>
            <a:endParaRPr sz="2400" dirty="0">
              <a:solidFill>
                <a:schemeClr val="dk1"/>
              </a:solidFill>
            </a:endParaRPr>
          </a:p>
          <a:p>
            <a:pPr marL="457200" lvl="0" indent="-381000" algn="l" rtl="0">
              <a:lnSpc>
                <a:spcPct val="200000"/>
              </a:lnSpc>
              <a:spcBef>
                <a:spcPts val="0"/>
              </a:spcBef>
              <a:spcAft>
                <a:spcPts val="0"/>
              </a:spcAft>
              <a:buClr>
                <a:schemeClr val="dk1"/>
              </a:buClr>
              <a:buSzPts val="2400"/>
              <a:buChar char="•"/>
            </a:pPr>
            <a:r>
              <a:rPr lang="en-US" sz="2400" dirty="0">
                <a:solidFill>
                  <a:schemeClr val="dk1"/>
                </a:solidFill>
              </a:rPr>
              <a:t>Empirical evidence supports the mediation role of organizational learning between leadership styles and performance.</a:t>
            </a:r>
            <a:r>
              <a:rPr lang="en-US" sz="2400" b="0" i="0" u="none" strike="noStrike" cap="none" dirty="0">
                <a:solidFill>
                  <a:schemeClr val="dk1"/>
                </a:solidFill>
                <a:latin typeface="Arial"/>
                <a:ea typeface="Arial"/>
                <a:cs typeface="Arial"/>
                <a:sym typeface="Arial"/>
              </a:rPr>
              <a:t> </a:t>
            </a:r>
            <a:endParaRPr dirty="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grpSp>
        <p:nvGrpSpPr>
          <p:cNvPr id="506" name="Google Shape;506;p27"/>
          <p:cNvGrpSpPr/>
          <p:nvPr/>
        </p:nvGrpSpPr>
        <p:grpSpPr>
          <a:xfrm rot="2700000">
            <a:off x="12285169" y="2355415"/>
            <a:ext cx="6900451" cy="12605226"/>
            <a:chOff x="0" y="-38100"/>
            <a:chExt cx="1817400" cy="3319890"/>
          </a:xfrm>
        </p:grpSpPr>
        <p:sp>
          <p:nvSpPr>
            <p:cNvPr id="507" name="Google Shape;507;p27"/>
            <p:cNvSpPr/>
            <p:nvPr/>
          </p:nvSpPr>
          <p:spPr>
            <a:xfrm>
              <a:off x="0" y="0"/>
              <a:ext cx="1817264" cy="3281790"/>
            </a:xfrm>
            <a:custGeom>
              <a:avLst/>
              <a:gdLst/>
              <a:ahLst/>
              <a:cxnLst/>
              <a:rect l="l" t="t" r="r" b="b"/>
              <a:pathLst>
                <a:path w="1817264" h="3281790" extrusionOk="0">
                  <a:moveTo>
                    <a:pt x="0" y="0"/>
                  </a:moveTo>
                  <a:lnTo>
                    <a:pt x="1817264" y="0"/>
                  </a:lnTo>
                  <a:lnTo>
                    <a:pt x="1817264" y="3281790"/>
                  </a:lnTo>
                  <a:lnTo>
                    <a:pt x="0" y="3281790"/>
                  </a:lnTo>
                  <a:close/>
                </a:path>
              </a:pathLst>
            </a:custGeom>
            <a:solidFill>
              <a:srgbClr val="1468A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8" name="Google Shape;508;p27"/>
            <p:cNvSpPr txBox="1"/>
            <p:nvPr/>
          </p:nvSpPr>
          <p:spPr>
            <a:xfrm>
              <a:off x="0" y="-38100"/>
              <a:ext cx="1817400" cy="33198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509" name="Google Shape;509;p27"/>
          <p:cNvSpPr/>
          <p:nvPr/>
        </p:nvSpPr>
        <p:spPr>
          <a:xfrm>
            <a:off x="10737289" y="-1988820"/>
            <a:ext cx="11247120" cy="1124712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blipFill rotWithShape="1">
            <a:blip r:embed="rId3">
              <a:alphaModFix/>
            </a:blip>
            <a:stretch>
              <a:fillRect l="-48558" r="-12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0" name="Google Shape;510;p27"/>
          <p:cNvSpPr/>
          <p:nvPr/>
        </p:nvSpPr>
        <p:spPr>
          <a:xfrm flipH="1">
            <a:off x="7978798" y="6664398"/>
            <a:ext cx="4282420" cy="4251612"/>
          </a:xfrm>
          <a:custGeom>
            <a:avLst/>
            <a:gdLst/>
            <a:ahLst/>
            <a:cxnLst/>
            <a:rect l="l" t="t" r="r" b="b"/>
            <a:pathLst>
              <a:path w="4282420" h="4251612" extrusionOk="0">
                <a:moveTo>
                  <a:pt x="4282420" y="0"/>
                </a:moveTo>
                <a:lnTo>
                  <a:pt x="0" y="0"/>
                </a:lnTo>
                <a:lnTo>
                  <a:pt x="0" y="4251612"/>
                </a:lnTo>
                <a:lnTo>
                  <a:pt x="4282420" y="4251612"/>
                </a:lnTo>
                <a:lnTo>
                  <a:pt x="4282420" y="0"/>
                </a:lnTo>
                <a:close/>
              </a:path>
            </a:pathLst>
          </a:custGeom>
          <a:blipFill rotWithShape="1">
            <a:blip r:embed="rId4">
              <a:alphaModFix/>
            </a:blip>
            <a:stretch>
              <a:fillRect t="-35627" b="-5792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511" name="Google Shape;511;p27"/>
          <p:cNvCxnSpPr/>
          <p:nvPr/>
        </p:nvCxnSpPr>
        <p:spPr>
          <a:xfrm rot="10800000" flipH="1">
            <a:off x="7657041" y="6826578"/>
            <a:ext cx="4525200" cy="4525200"/>
          </a:xfrm>
          <a:prstGeom prst="straightConnector1">
            <a:avLst/>
          </a:prstGeom>
          <a:noFill/>
          <a:ln w="38100" cap="flat" cmpd="sng">
            <a:solidFill>
              <a:srgbClr val="1468A2"/>
            </a:solidFill>
            <a:prstDash val="solid"/>
            <a:round/>
            <a:headEnd type="none" w="sm" len="sm"/>
            <a:tailEnd type="none" w="sm" len="sm"/>
          </a:ln>
        </p:spPr>
      </p:cxnSp>
      <p:cxnSp>
        <p:nvCxnSpPr>
          <p:cNvPr id="512" name="Google Shape;512;p27"/>
          <p:cNvCxnSpPr/>
          <p:nvPr/>
        </p:nvCxnSpPr>
        <p:spPr>
          <a:xfrm rot="10800000" flipH="1">
            <a:off x="11105977" y="-1975403"/>
            <a:ext cx="4525200" cy="4525200"/>
          </a:xfrm>
          <a:prstGeom prst="straightConnector1">
            <a:avLst/>
          </a:prstGeom>
          <a:noFill/>
          <a:ln w="38100" cap="flat" cmpd="sng">
            <a:solidFill>
              <a:srgbClr val="1468A2"/>
            </a:solidFill>
            <a:prstDash val="solid"/>
            <a:round/>
            <a:headEnd type="none" w="sm" len="sm"/>
            <a:tailEnd type="none" w="sm" len="sm"/>
          </a:ln>
        </p:spPr>
      </p:cxnSp>
      <p:grpSp>
        <p:nvGrpSpPr>
          <p:cNvPr id="513" name="Google Shape;513;p27"/>
          <p:cNvGrpSpPr/>
          <p:nvPr/>
        </p:nvGrpSpPr>
        <p:grpSpPr>
          <a:xfrm>
            <a:off x="-799650" y="994199"/>
            <a:ext cx="8067900" cy="959881"/>
            <a:chOff x="0" y="-38100"/>
            <a:chExt cx="1763167" cy="252806"/>
          </a:xfrm>
        </p:grpSpPr>
        <p:sp>
          <p:nvSpPr>
            <p:cNvPr id="514" name="Google Shape;514;p27"/>
            <p:cNvSpPr/>
            <p:nvPr/>
          </p:nvSpPr>
          <p:spPr>
            <a:xfrm>
              <a:off x="0" y="34513"/>
              <a:ext cx="1763167" cy="180193"/>
            </a:xfrm>
            <a:custGeom>
              <a:avLst/>
              <a:gdLst/>
              <a:ahLst/>
              <a:cxnLst/>
              <a:rect l="l" t="t" r="r" b="b"/>
              <a:pathLst>
                <a:path w="1763167" h="214516" extrusionOk="0">
                  <a:moveTo>
                    <a:pt x="203200" y="0"/>
                  </a:moveTo>
                  <a:lnTo>
                    <a:pt x="1763167" y="0"/>
                  </a:lnTo>
                  <a:lnTo>
                    <a:pt x="1559967" y="214516"/>
                  </a:lnTo>
                  <a:lnTo>
                    <a:pt x="0" y="214516"/>
                  </a:lnTo>
                  <a:lnTo>
                    <a:pt x="203200" y="0"/>
                  </a:lnTo>
                  <a:close/>
                </a:path>
              </a:pathLst>
            </a:custGeom>
            <a:solidFill>
              <a:srgbClr val="1468A2">
                <a:alpha val="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5" name="Google Shape;515;p27"/>
            <p:cNvSpPr txBox="1"/>
            <p:nvPr/>
          </p:nvSpPr>
          <p:spPr>
            <a:xfrm>
              <a:off x="101600" y="-38100"/>
              <a:ext cx="1560000" cy="252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516" name="Google Shape;516;p27"/>
          <p:cNvSpPr txBox="1"/>
          <p:nvPr/>
        </p:nvSpPr>
        <p:spPr>
          <a:xfrm>
            <a:off x="1028700" y="1276850"/>
            <a:ext cx="5156700" cy="570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705" b="1"/>
              <a:t>RECOMMENDATIONS</a:t>
            </a:r>
            <a:endParaRPr/>
          </a:p>
        </p:txBody>
      </p:sp>
      <p:grpSp>
        <p:nvGrpSpPr>
          <p:cNvPr id="517" name="Google Shape;517;p27"/>
          <p:cNvGrpSpPr/>
          <p:nvPr/>
        </p:nvGrpSpPr>
        <p:grpSpPr>
          <a:xfrm>
            <a:off x="8651496" y="1127858"/>
            <a:ext cx="1281097" cy="422908"/>
            <a:chOff x="0" y="0"/>
            <a:chExt cx="1708130" cy="563877"/>
          </a:xfrm>
        </p:grpSpPr>
        <p:sp>
          <p:nvSpPr>
            <p:cNvPr id="518" name="Google Shape;518;p27"/>
            <p:cNvSpPr/>
            <p:nvPr/>
          </p:nvSpPr>
          <p:spPr>
            <a:xfrm>
              <a:off x="0" y="0"/>
              <a:ext cx="1708130" cy="216426"/>
            </a:xfrm>
            <a:custGeom>
              <a:avLst/>
              <a:gdLst/>
              <a:ahLst/>
              <a:cxnLst/>
              <a:rect l="l" t="t" r="r" b="b"/>
              <a:pathLst>
                <a:path w="1708130" h="216426" extrusionOk="0">
                  <a:moveTo>
                    <a:pt x="0" y="0"/>
                  </a:moveTo>
                  <a:lnTo>
                    <a:pt x="1708130" y="0"/>
                  </a:lnTo>
                  <a:lnTo>
                    <a:pt x="1708130" y="216426"/>
                  </a:lnTo>
                  <a:lnTo>
                    <a:pt x="0" y="216426"/>
                  </a:lnTo>
                  <a:lnTo>
                    <a:pt x="0" y="0"/>
                  </a:lnTo>
                  <a:close/>
                </a:path>
              </a:pathLst>
            </a:custGeom>
            <a:blipFill rotWithShape="1">
              <a:blip r:embed="rId5">
                <a:alphaModFix/>
              </a:blip>
              <a:stretch>
                <a:fillRect t="-3577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9" name="Google Shape;519;p27"/>
            <p:cNvSpPr/>
            <p:nvPr/>
          </p:nvSpPr>
          <p:spPr>
            <a:xfrm>
              <a:off x="0" y="347451"/>
              <a:ext cx="1708130" cy="216426"/>
            </a:xfrm>
            <a:custGeom>
              <a:avLst/>
              <a:gdLst/>
              <a:ahLst/>
              <a:cxnLst/>
              <a:rect l="l" t="t" r="r" b="b"/>
              <a:pathLst>
                <a:path w="1708130" h="216426" extrusionOk="0">
                  <a:moveTo>
                    <a:pt x="0" y="0"/>
                  </a:moveTo>
                  <a:lnTo>
                    <a:pt x="1708130" y="0"/>
                  </a:lnTo>
                  <a:lnTo>
                    <a:pt x="1708130" y="216426"/>
                  </a:lnTo>
                  <a:lnTo>
                    <a:pt x="0" y="216426"/>
                  </a:lnTo>
                  <a:lnTo>
                    <a:pt x="0" y="0"/>
                  </a:lnTo>
                  <a:close/>
                </a:path>
              </a:pathLst>
            </a:custGeom>
            <a:blipFill rotWithShape="1">
              <a:blip r:embed="rId5">
                <a:alphaModFix/>
              </a:blip>
              <a:stretch>
                <a:fillRect t="-3577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520" name="Google Shape;520;p27"/>
          <p:cNvSpPr txBox="1"/>
          <p:nvPr/>
        </p:nvSpPr>
        <p:spPr>
          <a:xfrm>
            <a:off x="1028700" y="1954084"/>
            <a:ext cx="6417000" cy="215400"/>
          </a:xfrm>
          <a:prstGeom prst="rect">
            <a:avLst/>
          </a:prstGeom>
          <a:noFill/>
          <a:ln>
            <a:noFill/>
          </a:ln>
        </p:spPr>
        <p:txBody>
          <a:bodyPr spcFirstLastPara="1" wrap="square" lIns="0" tIns="0" rIns="0" bIns="0" anchor="t" anchorCtr="0">
            <a:spAutoFit/>
          </a:bodyPr>
          <a:lstStyle/>
          <a:p>
            <a:pPr marL="0" marR="0" lvl="0" indent="0" algn="l" rtl="0">
              <a:lnSpc>
                <a:spcPct val="142125"/>
              </a:lnSpc>
              <a:spcBef>
                <a:spcPts val="0"/>
              </a:spcBef>
              <a:spcAft>
                <a:spcPts val="0"/>
              </a:spcAft>
              <a:buNone/>
            </a:pPr>
            <a:endParaRPr/>
          </a:p>
        </p:txBody>
      </p:sp>
      <p:sp>
        <p:nvSpPr>
          <p:cNvPr id="521" name="Google Shape;521;p27"/>
          <p:cNvSpPr/>
          <p:nvPr/>
        </p:nvSpPr>
        <p:spPr>
          <a:xfrm>
            <a:off x="506661" y="2476724"/>
            <a:ext cx="10599300" cy="5170500"/>
          </a:xfrm>
          <a:prstGeom prst="rect">
            <a:avLst/>
          </a:prstGeom>
          <a:noFill/>
          <a:ln>
            <a:noFill/>
          </a:ln>
        </p:spPr>
        <p:txBody>
          <a:bodyPr spcFirstLastPara="1" wrap="square" lIns="91425" tIns="45700" rIns="91425" bIns="45700" anchor="ctr" anchorCtr="0">
            <a:noAutofit/>
          </a:bodyPr>
          <a:lstStyle/>
          <a:p>
            <a:pPr marL="342900" marR="0" lvl="0" indent="-190500" algn="l" rtl="0">
              <a:lnSpc>
                <a:spcPct val="200000"/>
              </a:lnSpc>
              <a:spcBef>
                <a:spcPts val="0"/>
              </a:spcBef>
              <a:spcAft>
                <a:spcPts val="0"/>
              </a:spcAft>
              <a:buClr>
                <a:schemeClr val="dk1"/>
              </a:buClr>
              <a:buSzPts val="2400"/>
              <a:buFont typeface="Arial"/>
              <a:buNone/>
            </a:pPr>
            <a:endParaRPr sz="2400" b="0" i="0" u="none" strike="noStrike" cap="none">
              <a:solidFill>
                <a:schemeClr val="dk1"/>
              </a:solidFill>
              <a:latin typeface="Arial"/>
              <a:ea typeface="Arial"/>
              <a:cs typeface="Arial"/>
              <a:sym typeface="Arial"/>
            </a:endParaRPr>
          </a:p>
          <a:p>
            <a:pPr marL="457200" lvl="0" indent="-381000" algn="l" rtl="0">
              <a:lnSpc>
                <a:spcPct val="200000"/>
              </a:lnSpc>
              <a:spcBef>
                <a:spcPts val="0"/>
              </a:spcBef>
              <a:spcAft>
                <a:spcPts val="0"/>
              </a:spcAft>
              <a:buClr>
                <a:schemeClr val="dk1"/>
              </a:buClr>
              <a:buSzPts val="2400"/>
              <a:buChar char="•"/>
            </a:pPr>
            <a:r>
              <a:rPr lang="en-US" sz="2400">
                <a:solidFill>
                  <a:schemeClr val="dk1"/>
                </a:solidFill>
              </a:rPr>
              <a:t>Organizations should foster a leadership style that enhances organizational learning to drive performance.</a:t>
            </a:r>
            <a:endParaRPr sz="2400">
              <a:solidFill>
                <a:schemeClr val="dk1"/>
              </a:solidFill>
            </a:endParaRPr>
          </a:p>
          <a:p>
            <a:pPr marL="457200" lvl="0" indent="-381000" algn="l" rtl="0">
              <a:lnSpc>
                <a:spcPct val="200000"/>
              </a:lnSpc>
              <a:spcBef>
                <a:spcPts val="0"/>
              </a:spcBef>
              <a:spcAft>
                <a:spcPts val="0"/>
              </a:spcAft>
              <a:buClr>
                <a:schemeClr val="dk1"/>
              </a:buClr>
              <a:buSzPts val="2400"/>
              <a:buChar char="•"/>
            </a:pPr>
            <a:r>
              <a:rPr lang="en-US" sz="2400">
                <a:solidFill>
                  <a:schemeClr val="dk1"/>
                </a:solidFill>
              </a:rPr>
              <a:t>Leadership development programs should focus on cultivating qualities of both transformational and servant leadership.</a:t>
            </a:r>
            <a:endParaRPr sz="2400">
              <a:solidFill>
                <a:schemeClr val="dk1"/>
              </a:solidFill>
            </a:endParaRPr>
          </a:p>
          <a:p>
            <a:pPr marL="457200" lvl="0" indent="-381000" algn="l" rtl="0">
              <a:lnSpc>
                <a:spcPct val="200000"/>
              </a:lnSpc>
              <a:spcBef>
                <a:spcPts val="0"/>
              </a:spcBef>
              <a:spcAft>
                <a:spcPts val="0"/>
              </a:spcAft>
              <a:buClr>
                <a:schemeClr val="dk1"/>
              </a:buClr>
              <a:buSzPts val="2400"/>
              <a:buChar char="•"/>
            </a:pPr>
            <a:r>
              <a:rPr lang="en-US" sz="2400">
                <a:solidFill>
                  <a:schemeClr val="dk1"/>
                </a:solidFill>
              </a:rPr>
              <a:t>Implement periodic training sessions to reinforce the principles and practices of effective leadership styles.</a:t>
            </a:r>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25"/>
        <p:cNvGrpSpPr/>
        <p:nvPr/>
      </p:nvGrpSpPr>
      <p:grpSpPr>
        <a:xfrm>
          <a:off x="0" y="0"/>
          <a:ext cx="0" cy="0"/>
          <a:chOff x="0" y="0"/>
          <a:chExt cx="0" cy="0"/>
        </a:xfrm>
      </p:grpSpPr>
      <p:grpSp>
        <p:nvGrpSpPr>
          <p:cNvPr id="526" name="Google Shape;526;p28"/>
          <p:cNvGrpSpPr/>
          <p:nvPr/>
        </p:nvGrpSpPr>
        <p:grpSpPr>
          <a:xfrm rot="2700000">
            <a:off x="12285169" y="2355415"/>
            <a:ext cx="6900451" cy="12605226"/>
            <a:chOff x="0" y="-38100"/>
            <a:chExt cx="1817400" cy="3319890"/>
          </a:xfrm>
        </p:grpSpPr>
        <p:sp>
          <p:nvSpPr>
            <p:cNvPr id="527" name="Google Shape;527;p28"/>
            <p:cNvSpPr/>
            <p:nvPr/>
          </p:nvSpPr>
          <p:spPr>
            <a:xfrm>
              <a:off x="0" y="0"/>
              <a:ext cx="1817264" cy="3281790"/>
            </a:xfrm>
            <a:custGeom>
              <a:avLst/>
              <a:gdLst/>
              <a:ahLst/>
              <a:cxnLst/>
              <a:rect l="l" t="t" r="r" b="b"/>
              <a:pathLst>
                <a:path w="1817264" h="3281790" extrusionOk="0">
                  <a:moveTo>
                    <a:pt x="0" y="0"/>
                  </a:moveTo>
                  <a:lnTo>
                    <a:pt x="1817264" y="0"/>
                  </a:lnTo>
                  <a:lnTo>
                    <a:pt x="1817264" y="3281790"/>
                  </a:lnTo>
                  <a:lnTo>
                    <a:pt x="0" y="3281790"/>
                  </a:lnTo>
                  <a:close/>
                </a:path>
              </a:pathLst>
            </a:custGeom>
            <a:solidFill>
              <a:srgbClr val="1468A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28" name="Google Shape;528;p28"/>
            <p:cNvSpPr txBox="1"/>
            <p:nvPr/>
          </p:nvSpPr>
          <p:spPr>
            <a:xfrm>
              <a:off x="0" y="-38100"/>
              <a:ext cx="1817400" cy="33198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529" name="Google Shape;529;p28"/>
          <p:cNvSpPr/>
          <p:nvPr/>
        </p:nvSpPr>
        <p:spPr>
          <a:xfrm>
            <a:off x="10737289" y="-1988820"/>
            <a:ext cx="11247120" cy="1124712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blipFill rotWithShape="1">
            <a:blip r:embed="rId3">
              <a:alphaModFix/>
            </a:blip>
            <a:stretch>
              <a:fillRect l="-48558" r="-12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0" name="Google Shape;530;p28"/>
          <p:cNvSpPr/>
          <p:nvPr/>
        </p:nvSpPr>
        <p:spPr>
          <a:xfrm flipH="1">
            <a:off x="7978798" y="6664398"/>
            <a:ext cx="4282420" cy="4251612"/>
          </a:xfrm>
          <a:custGeom>
            <a:avLst/>
            <a:gdLst/>
            <a:ahLst/>
            <a:cxnLst/>
            <a:rect l="l" t="t" r="r" b="b"/>
            <a:pathLst>
              <a:path w="4282420" h="4251612" extrusionOk="0">
                <a:moveTo>
                  <a:pt x="4282420" y="0"/>
                </a:moveTo>
                <a:lnTo>
                  <a:pt x="0" y="0"/>
                </a:lnTo>
                <a:lnTo>
                  <a:pt x="0" y="4251612"/>
                </a:lnTo>
                <a:lnTo>
                  <a:pt x="4282420" y="4251612"/>
                </a:lnTo>
                <a:lnTo>
                  <a:pt x="4282420" y="0"/>
                </a:lnTo>
                <a:close/>
              </a:path>
            </a:pathLst>
          </a:custGeom>
          <a:blipFill rotWithShape="1">
            <a:blip r:embed="rId4">
              <a:alphaModFix/>
            </a:blip>
            <a:stretch>
              <a:fillRect t="-35627" b="-5792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531" name="Google Shape;531;p28"/>
          <p:cNvCxnSpPr/>
          <p:nvPr/>
        </p:nvCxnSpPr>
        <p:spPr>
          <a:xfrm rot="10800000" flipH="1">
            <a:off x="7657041" y="6826578"/>
            <a:ext cx="4525200" cy="4525200"/>
          </a:xfrm>
          <a:prstGeom prst="straightConnector1">
            <a:avLst/>
          </a:prstGeom>
          <a:noFill/>
          <a:ln w="38100" cap="flat" cmpd="sng">
            <a:solidFill>
              <a:srgbClr val="1468A2"/>
            </a:solidFill>
            <a:prstDash val="solid"/>
            <a:round/>
            <a:headEnd type="none" w="sm" len="sm"/>
            <a:tailEnd type="none" w="sm" len="sm"/>
          </a:ln>
        </p:spPr>
      </p:cxnSp>
      <p:cxnSp>
        <p:nvCxnSpPr>
          <p:cNvPr id="532" name="Google Shape;532;p28"/>
          <p:cNvCxnSpPr/>
          <p:nvPr/>
        </p:nvCxnSpPr>
        <p:spPr>
          <a:xfrm rot="10800000" flipH="1">
            <a:off x="11105977" y="-1975403"/>
            <a:ext cx="4525200" cy="4525200"/>
          </a:xfrm>
          <a:prstGeom prst="straightConnector1">
            <a:avLst/>
          </a:prstGeom>
          <a:noFill/>
          <a:ln w="38100" cap="flat" cmpd="sng">
            <a:solidFill>
              <a:srgbClr val="1468A2"/>
            </a:solidFill>
            <a:prstDash val="solid"/>
            <a:round/>
            <a:headEnd type="none" w="sm" len="sm"/>
            <a:tailEnd type="none" w="sm" len="sm"/>
          </a:ln>
        </p:spPr>
      </p:cxnSp>
      <p:grpSp>
        <p:nvGrpSpPr>
          <p:cNvPr id="533" name="Google Shape;533;p28"/>
          <p:cNvGrpSpPr/>
          <p:nvPr/>
        </p:nvGrpSpPr>
        <p:grpSpPr>
          <a:xfrm>
            <a:off x="-799650" y="994199"/>
            <a:ext cx="8067900" cy="959881"/>
            <a:chOff x="0" y="-38100"/>
            <a:chExt cx="1763167" cy="252806"/>
          </a:xfrm>
        </p:grpSpPr>
        <p:sp>
          <p:nvSpPr>
            <p:cNvPr id="534" name="Google Shape;534;p28"/>
            <p:cNvSpPr/>
            <p:nvPr/>
          </p:nvSpPr>
          <p:spPr>
            <a:xfrm>
              <a:off x="0" y="34513"/>
              <a:ext cx="1763167" cy="180193"/>
            </a:xfrm>
            <a:custGeom>
              <a:avLst/>
              <a:gdLst/>
              <a:ahLst/>
              <a:cxnLst/>
              <a:rect l="l" t="t" r="r" b="b"/>
              <a:pathLst>
                <a:path w="1763167" h="214516" extrusionOk="0">
                  <a:moveTo>
                    <a:pt x="203200" y="0"/>
                  </a:moveTo>
                  <a:lnTo>
                    <a:pt x="1763167" y="0"/>
                  </a:lnTo>
                  <a:lnTo>
                    <a:pt x="1559967" y="214516"/>
                  </a:lnTo>
                  <a:lnTo>
                    <a:pt x="0" y="214516"/>
                  </a:lnTo>
                  <a:lnTo>
                    <a:pt x="203200" y="0"/>
                  </a:lnTo>
                  <a:close/>
                </a:path>
              </a:pathLst>
            </a:custGeom>
            <a:solidFill>
              <a:srgbClr val="1468A2">
                <a:alpha val="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5" name="Google Shape;535;p28"/>
            <p:cNvSpPr txBox="1"/>
            <p:nvPr/>
          </p:nvSpPr>
          <p:spPr>
            <a:xfrm>
              <a:off x="101600" y="-38100"/>
              <a:ext cx="1560000" cy="252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536" name="Google Shape;536;p28"/>
          <p:cNvSpPr txBox="1"/>
          <p:nvPr/>
        </p:nvSpPr>
        <p:spPr>
          <a:xfrm>
            <a:off x="1028700" y="1276850"/>
            <a:ext cx="5156700" cy="570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705" b="1"/>
              <a:t>LIMITATIONS</a:t>
            </a:r>
            <a:endParaRPr/>
          </a:p>
        </p:txBody>
      </p:sp>
      <p:grpSp>
        <p:nvGrpSpPr>
          <p:cNvPr id="537" name="Google Shape;537;p28"/>
          <p:cNvGrpSpPr/>
          <p:nvPr/>
        </p:nvGrpSpPr>
        <p:grpSpPr>
          <a:xfrm>
            <a:off x="8651496" y="1127858"/>
            <a:ext cx="1281097" cy="422908"/>
            <a:chOff x="0" y="0"/>
            <a:chExt cx="1708130" cy="563877"/>
          </a:xfrm>
        </p:grpSpPr>
        <p:sp>
          <p:nvSpPr>
            <p:cNvPr id="538" name="Google Shape;538;p28"/>
            <p:cNvSpPr/>
            <p:nvPr/>
          </p:nvSpPr>
          <p:spPr>
            <a:xfrm>
              <a:off x="0" y="0"/>
              <a:ext cx="1708130" cy="216426"/>
            </a:xfrm>
            <a:custGeom>
              <a:avLst/>
              <a:gdLst/>
              <a:ahLst/>
              <a:cxnLst/>
              <a:rect l="l" t="t" r="r" b="b"/>
              <a:pathLst>
                <a:path w="1708130" h="216426" extrusionOk="0">
                  <a:moveTo>
                    <a:pt x="0" y="0"/>
                  </a:moveTo>
                  <a:lnTo>
                    <a:pt x="1708130" y="0"/>
                  </a:lnTo>
                  <a:lnTo>
                    <a:pt x="1708130" y="216426"/>
                  </a:lnTo>
                  <a:lnTo>
                    <a:pt x="0" y="216426"/>
                  </a:lnTo>
                  <a:lnTo>
                    <a:pt x="0" y="0"/>
                  </a:lnTo>
                  <a:close/>
                </a:path>
              </a:pathLst>
            </a:custGeom>
            <a:blipFill rotWithShape="1">
              <a:blip r:embed="rId5">
                <a:alphaModFix/>
              </a:blip>
              <a:stretch>
                <a:fillRect t="-3577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9" name="Google Shape;539;p28"/>
            <p:cNvSpPr/>
            <p:nvPr/>
          </p:nvSpPr>
          <p:spPr>
            <a:xfrm>
              <a:off x="0" y="347451"/>
              <a:ext cx="1708130" cy="216426"/>
            </a:xfrm>
            <a:custGeom>
              <a:avLst/>
              <a:gdLst/>
              <a:ahLst/>
              <a:cxnLst/>
              <a:rect l="l" t="t" r="r" b="b"/>
              <a:pathLst>
                <a:path w="1708130" h="216426" extrusionOk="0">
                  <a:moveTo>
                    <a:pt x="0" y="0"/>
                  </a:moveTo>
                  <a:lnTo>
                    <a:pt x="1708130" y="0"/>
                  </a:lnTo>
                  <a:lnTo>
                    <a:pt x="1708130" y="216426"/>
                  </a:lnTo>
                  <a:lnTo>
                    <a:pt x="0" y="216426"/>
                  </a:lnTo>
                  <a:lnTo>
                    <a:pt x="0" y="0"/>
                  </a:lnTo>
                  <a:close/>
                </a:path>
              </a:pathLst>
            </a:custGeom>
            <a:blipFill rotWithShape="1">
              <a:blip r:embed="rId5">
                <a:alphaModFix/>
              </a:blip>
              <a:stretch>
                <a:fillRect t="-3577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540" name="Google Shape;540;p28"/>
          <p:cNvSpPr txBox="1"/>
          <p:nvPr/>
        </p:nvSpPr>
        <p:spPr>
          <a:xfrm>
            <a:off x="1028700" y="1954084"/>
            <a:ext cx="6417000" cy="215400"/>
          </a:xfrm>
          <a:prstGeom prst="rect">
            <a:avLst/>
          </a:prstGeom>
          <a:noFill/>
          <a:ln>
            <a:noFill/>
          </a:ln>
        </p:spPr>
        <p:txBody>
          <a:bodyPr spcFirstLastPara="1" wrap="square" lIns="0" tIns="0" rIns="0" bIns="0" anchor="t" anchorCtr="0">
            <a:spAutoFit/>
          </a:bodyPr>
          <a:lstStyle/>
          <a:p>
            <a:pPr marL="0" marR="0" lvl="0" indent="0" algn="l" rtl="0">
              <a:lnSpc>
                <a:spcPct val="142125"/>
              </a:lnSpc>
              <a:spcBef>
                <a:spcPts val="0"/>
              </a:spcBef>
              <a:spcAft>
                <a:spcPts val="0"/>
              </a:spcAft>
              <a:buNone/>
            </a:pPr>
            <a:endParaRPr/>
          </a:p>
        </p:txBody>
      </p:sp>
      <p:sp>
        <p:nvSpPr>
          <p:cNvPr id="541" name="Google Shape;541;p28"/>
          <p:cNvSpPr/>
          <p:nvPr/>
        </p:nvSpPr>
        <p:spPr>
          <a:xfrm>
            <a:off x="506661" y="2476724"/>
            <a:ext cx="10599300" cy="5170500"/>
          </a:xfrm>
          <a:prstGeom prst="rect">
            <a:avLst/>
          </a:prstGeom>
          <a:noFill/>
          <a:ln>
            <a:noFill/>
          </a:ln>
        </p:spPr>
        <p:txBody>
          <a:bodyPr spcFirstLastPara="1" wrap="square" lIns="91425" tIns="45700" rIns="91425" bIns="45700" anchor="ctr" anchorCtr="0">
            <a:noAutofit/>
          </a:bodyPr>
          <a:lstStyle/>
          <a:p>
            <a:pPr marL="457200" lvl="0" indent="-381000" algn="l" rtl="0">
              <a:lnSpc>
                <a:spcPct val="200000"/>
              </a:lnSpc>
              <a:spcBef>
                <a:spcPts val="0"/>
              </a:spcBef>
              <a:spcAft>
                <a:spcPts val="0"/>
              </a:spcAft>
              <a:buClr>
                <a:schemeClr val="dk1"/>
              </a:buClr>
              <a:buSzPts val="2400"/>
              <a:buChar char="•"/>
            </a:pPr>
            <a:r>
              <a:rPr lang="en-US" sz="2400">
                <a:solidFill>
                  <a:schemeClr val="dk1"/>
                </a:solidFill>
              </a:rPr>
              <a:t>The study's findings are primarily applicable to profit-oriented service sectors and may not generalize to non-profit or manufacturing sectors.</a:t>
            </a:r>
            <a:endParaRPr sz="2400">
              <a:solidFill>
                <a:schemeClr val="dk1"/>
              </a:solidFill>
            </a:endParaRPr>
          </a:p>
          <a:p>
            <a:pPr marL="457200" lvl="0" indent="-381000" algn="l" rtl="0">
              <a:lnSpc>
                <a:spcPct val="200000"/>
              </a:lnSpc>
              <a:spcBef>
                <a:spcPts val="0"/>
              </a:spcBef>
              <a:spcAft>
                <a:spcPts val="0"/>
              </a:spcAft>
              <a:buClr>
                <a:schemeClr val="dk1"/>
              </a:buClr>
              <a:buSzPts val="2400"/>
              <a:buChar char="•"/>
            </a:pPr>
            <a:r>
              <a:rPr lang="en-US" sz="2400">
                <a:solidFill>
                  <a:schemeClr val="dk1"/>
                </a:solidFill>
              </a:rPr>
              <a:t>The research was limited to specific regions and cultural contexts, which may affect the applicability of the results in different global contexts.</a:t>
            </a:r>
            <a:endParaRPr sz="2400">
              <a:solidFill>
                <a:schemeClr val="dk1"/>
              </a:solidFill>
            </a:endParaRPr>
          </a:p>
          <a:p>
            <a:pPr marL="457200" lvl="0" indent="-381000" algn="l" rtl="0">
              <a:lnSpc>
                <a:spcPct val="200000"/>
              </a:lnSpc>
              <a:spcBef>
                <a:spcPts val="0"/>
              </a:spcBef>
              <a:spcAft>
                <a:spcPts val="0"/>
              </a:spcAft>
              <a:buClr>
                <a:schemeClr val="dk1"/>
              </a:buClr>
              <a:buSzPts val="2400"/>
              <a:buChar char="•"/>
            </a:pPr>
            <a:r>
              <a:rPr lang="en-US" sz="2400">
                <a:solidFill>
                  <a:schemeClr val="dk1"/>
                </a:solidFill>
              </a:rPr>
              <a:t>Sample size and response rates may limit the generalizability of the conclusions.</a:t>
            </a:r>
            <a:endParaRPr sz="2400">
              <a:solidFill>
                <a:schemeClr val="dk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45"/>
        <p:cNvGrpSpPr/>
        <p:nvPr/>
      </p:nvGrpSpPr>
      <p:grpSpPr>
        <a:xfrm>
          <a:off x="0" y="0"/>
          <a:ext cx="0" cy="0"/>
          <a:chOff x="0" y="0"/>
          <a:chExt cx="0" cy="0"/>
        </a:xfrm>
      </p:grpSpPr>
      <p:grpSp>
        <p:nvGrpSpPr>
          <p:cNvPr id="546" name="Google Shape;546;p29"/>
          <p:cNvGrpSpPr/>
          <p:nvPr/>
        </p:nvGrpSpPr>
        <p:grpSpPr>
          <a:xfrm rot="2700000">
            <a:off x="12285169" y="2355415"/>
            <a:ext cx="6900451" cy="12605226"/>
            <a:chOff x="0" y="-38100"/>
            <a:chExt cx="1817400" cy="3319890"/>
          </a:xfrm>
        </p:grpSpPr>
        <p:sp>
          <p:nvSpPr>
            <p:cNvPr id="547" name="Google Shape;547;p29"/>
            <p:cNvSpPr/>
            <p:nvPr/>
          </p:nvSpPr>
          <p:spPr>
            <a:xfrm>
              <a:off x="0" y="0"/>
              <a:ext cx="1817264" cy="3281790"/>
            </a:xfrm>
            <a:custGeom>
              <a:avLst/>
              <a:gdLst/>
              <a:ahLst/>
              <a:cxnLst/>
              <a:rect l="l" t="t" r="r" b="b"/>
              <a:pathLst>
                <a:path w="1817264" h="3281790" extrusionOk="0">
                  <a:moveTo>
                    <a:pt x="0" y="0"/>
                  </a:moveTo>
                  <a:lnTo>
                    <a:pt x="1817264" y="0"/>
                  </a:lnTo>
                  <a:lnTo>
                    <a:pt x="1817264" y="3281790"/>
                  </a:lnTo>
                  <a:lnTo>
                    <a:pt x="0" y="3281790"/>
                  </a:lnTo>
                  <a:close/>
                </a:path>
              </a:pathLst>
            </a:custGeom>
            <a:solidFill>
              <a:srgbClr val="1468A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8" name="Google Shape;548;p29"/>
            <p:cNvSpPr txBox="1"/>
            <p:nvPr/>
          </p:nvSpPr>
          <p:spPr>
            <a:xfrm>
              <a:off x="0" y="-38100"/>
              <a:ext cx="1817400" cy="33198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549" name="Google Shape;549;p29"/>
          <p:cNvSpPr/>
          <p:nvPr/>
        </p:nvSpPr>
        <p:spPr>
          <a:xfrm>
            <a:off x="10737289" y="-1988820"/>
            <a:ext cx="11247120" cy="11247120"/>
          </a:xfrm>
          <a:custGeom>
            <a:avLst/>
            <a:gdLst/>
            <a:ahLst/>
            <a:cxnLst/>
            <a:rect l="l" t="t" r="r" b="b"/>
            <a:pathLst>
              <a:path w="812800" h="812800" extrusionOk="0">
                <a:moveTo>
                  <a:pt x="406400" y="0"/>
                </a:moveTo>
                <a:lnTo>
                  <a:pt x="812800" y="406400"/>
                </a:lnTo>
                <a:lnTo>
                  <a:pt x="406400" y="812800"/>
                </a:lnTo>
                <a:lnTo>
                  <a:pt x="0" y="406400"/>
                </a:lnTo>
                <a:lnTo>
                  <a:pt x="406400" y="0"/>
                </a:lnTo>
                <a:close/>
              </a:path>
            </a:pathLst>
          </a:custGeom>
          <a:blipFill rotWithShape="1">
            <a:blip r:embed="rId3">
              <a:alphaModFix/>
            </a:blip>
            <a:stretch>
              <a:fillRect l="-48558" r="-12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0" name="Google Shape;550;p29"/>
          <p:cNvSpPr/>
          <p:nvPr/>
        </p:nvSpPr>
        <p:spPr>
          <a:xfrm flipH="1">
            <a:off x="7978798" y="6664398"/>
            <a:ext cx="4282420" cy="4251612"/>
          </a:xfrm>
          <a:custGeom>
            <a:avLst/>
            <a:gdLst/>
            <a:ahLst/>
            <a:cxnLst/>
            <a:rect l="l" t="t" r="r" b="b"/>
            <a:pathLst>
              <a:path w="4282420" h="4251612" extrusionOk="0">
                <a:moveTo>
                  <a:pt x="4282420" y="0"/>
                </a:moveTo>
                <a:lnTo>
                  <a:pt x="0" y="0"/>
                </a:lnTo>
                <a:lnTo>
                  <a:pt x="0" y="4251612"/>
                </a:lnTo>
                <a:lnTo>
                  <a:pt x="4282420" y="4251612"/>
                </a:lnTo>
                <a:lnTo>
                  <a:pt x="4282420" y="0"/>
                </a:lnTo>
                <a:close/>
              </a:path>
            </a:pathLst>
          </a:custGeom>
          <a:blipFill rotWithShape="1">
            <a:blip r:embed="rId4">
              <a:alphaModFix/>
            </a:blip>
            <a:stretch>
              <a:fillRect t="-35627" b="-57927"/>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cxnSp>
        <p:nvCxnSpPr>
          <p:cNvPr id="551" name="Google Shape;551;p29"/>
          <p:cNvCxnSpPr/>
          <p:nvPr/>
        </p:nvCxnSpPr>
        <p:spPr>
          <a:xfrm rot="10800000" flipH="1">
            <a:off x="7657041" y="6826578"/>
            <a:ext cx="4525200" cy="4525200"/>
          </a:xfrm>
          <a:prstGeom prst="straightConnector1">
            <a:avLst/>
          </a:prstGeom>
          <a:noFill/>
          <a:ln w="38100" cap="flat" cmpd="sng">
            <a:solidFill>
              <a:srgbClr val="1468A2"/>
            </a:solidFill>
            <a:prstDash val="solid"/>
            <a:round/>
            <a:headEnd type="none" w="sm" len="sm"/>
            <a:tailEnd type="none" w="sm" len="sm"/>
          </a:ln>
        </p:spPr>
      </p:cxnSp>
      <p:cxnSp>
        <p:nvCxnSpPr>
          <p:cNvPr id="552" name="Google Shape;552;p29"/>
          <p:cNvCxnSpPr/>
          <p:nvPr/>
        </p:nvCxnSpPr>
        <p:spPr>
          <a:xfrm rot="10800000" flipH="1">
            <a:off x="11105977" y="-1975403"/>
            <a:ext cx="4525200" cy="4525200"/>
          </a:xfrm>
          <a:prstGeom prst="straightConnector1">
            <a:avLst/>
          </a:prstGeom>
          <a:noFill/>
          <a:ln w="38100" cap="flat" cmpd="sng">
            <a:solidFill>
              <a:srgbClr val="1468A2"/>
            </a:solidFill>
            <a:prstDash val="solid"/>
            <a:round/>
            <a:headEnd type="none" w="sm" len="sm"/>
            <a:tailEnd type="none" w="sm" len="sm"/>
          </a:ln>
        </p:spPr>
      </p:cxnSp>
      <p:grpSp>
        <p:nvGrpSpPr>
          <p:cNvPr id="553" name="Google Shape;553;p29"/>
          <p:cNvGrpSpPr/>
          <p:nvPr/>
        </p:nvGrpSpPr>
        <p:grpSpPr>
          <a:xfrm>
            <a:off x="-799650" y="994199"/>
            <a:ext cx="8067900" cy="959881"/>
            <a:chOff x="0" y="-38100"/>
            <a:chExt cx="1763167" cy="252806"/>
          </a:xfrm>
        </p:grpSpPr>
        <p:sp>
          <p:nvSpPr>
            <p:cNvPr id="554" name="Google Shape;554;p29"/>
            <p:cNvSpPr/>
            <p:nvPr/>
          </p:nvSpPr>
          <p:spPr>
            <a:xfrm>
              <a:off x="0" y="34513"/>
              <a:ext cx="1763167" cy="180193"/>
            </a:xfrm>
            <a:custGeom>
              <a:avLst/>
              <a:gdLst/>
              <a:ahLst/>
              <a:cxnLst/>
              <a:rect l="l" t="t" r="r" b="b"/>
              <a:pathLst>
                <a:path w="1763167" h="214516" extrusionOk="0">
                  <a:moveTo>
                    <a:pt x="203200" y="0"/>
                  </a:moveTo>
                  <a:lnTo>
                    <a:pt x="1763167" y="0"/>
                  </a:lnTo>
                  <a:lnTo>
                    <a:pt x="1559967" y="214516"/>
                  </a:lnTo>
                  <a:lnTo>
                    <a:pt x="0" y="214516"/>
                  </a:lnTo>
                  <a:lnTo>
                    <a:pt x="203200" y="0"/>
                  </a:lnTo>
                  <a:close/>
                </a:path>
              </a:pathLst>
            </a:custGeom>
            <a:solidFill>
              <a:srgbClr val="1468A2">
                <a:alpha val="7450"/>
              </a:srgbClr>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5" name="Google Shape;555;p29"/>
            <p:cNvSpPr txBox="1"/>
            <p:nvPr/>
          </p:nvSpPr>
          <p:spPr>
            <a:xfrm>
              <a:off x="101600" y="-38100"/>
              <a:ext cx="1560000" cy="252600"/>
            </a:xfrm>
            <a:prstGeom prst="rect">
              <a:avLst/>
            </a:prstGeom>
            <a:noFill/>
            <a:ln>
              <a:noFill/>
            </a:ln>
          </p:spPr>
          <p:txBody>
            <a:bodyPr spcFirstLastPara="1" wrap="square" lIns="50800" tIns="50800" rIns="50800" bIns="50800" anchor="ctr" anchorCtr="0">
              <a:noAutofit/>
            </a:bodyPr>
            <a:lstStyle/>
            <a:p>
              <a:pPr marL="0" marR="0" lvl="0" indent="0" algn="ctr" rtl="0">
                <a:lnSpc>
                  <a:spcPct val="147722"/>
                </a:lnSpc>
                <a:spcBef>
                  <a:spcPts val="0"/>
                </a:spcBef>
                <a:spcAft>
                  <a:spcPts val="0"/>
                </a:spcAft>
                <a:buNone/>
              </a:pPr>
              <a:endParaRPr sz="1800">
                <a:solidFill>
                  <a:schemeClr val="dk1"/>
                </a:solidFill>
                <a:latin typeface="Calibri"/>
                <a:ea typeface="Calibri"/>
                <a:cs typeface="Calibri"/>
                <a:sym typeface="Calibri"/>
              </a:endParaRPr>
            </a:p>
          </p:txBody>
        </p:sp>
      </p:grpSp>
      <p:sp>
        <p:nvSpPr>
          <p:cNvPr id="556" name="Google Shape;556;p29"/>
          <p:cNvSpPr txBox="1"/>
          <p:nvPr/>
        </p:nvSpPr>
        <p:spPr>
          <a:xfrm>
            <a:off x="1028700" y="1276850"/>
            <a:ext cx="5156700" cy="570300"/>
          </a:xfrm>
          <a:prstGeom prst="rect">
            <a:avLst/>
          </a:prstGeom>
          <a:noFill/>
          <a:ln>
            <a:noFill/>
          </a:ln>
        </p:spPr>
        <p:txBody>
          <a:bodyPr spcFirstLastPara="1" wrap="square" lIns="0" tIns="0" rIns="0" bIns="0" anchor="t" anchorCtr="0">
            <a:spAutoFit/>
          </a:bodyPr>
          <a:lstStyle/>
          <a:p>
            <a:pPr marL="0" marR="0" lvl="0" indent="0" algn="l" rtl="0">
              <a:lnSpc>
                <a:spcPct val="120000"/>
              </a:lnSpc>
              <a:spcBef>
                <a:spcPts val="0"/>
              </a:spcBef>
              <a:spcAft>
                <a:spcPts val="0"/>
              </a:spcAft>
              <a:buNone/>
            </a:pPr>
            <a:r>
              <a:rPr lang="en-US" sz="3705" b="1"/>
              <a:t>FUTURE RESEARCH</a:t>
            </a:r>
            <a:endParaRPr/>
          </a:p>
        </p:txBody>
      </p:sp>
      <p:grpSp>
        <p:nvGrpSpPr>
          <p:cNvPr id="557" name="Google Shape;557;p29"/>
          <p:cNvGrpSpPr/>
          <p:nvPr/>
        </p:nvGrpSpPr>
        <p:grpSpPr>
          <a:xfrm>
            <a:off x="8651496" y="1127858"/>
            <a:ext cx="1281097" cy="422908"/>
            <a:chOff x="0" y="0"/>
            <a:chExt cx="1708130" cy="563877"/>
          </a:xfrm>
        </p:grpSpPr>
        <p:sp>
          <p:nvSpPr>
            <p:cNvPr id="558" name="Google Shape;558;p29"/>
            <p:cNvSpPr/>
            <p:nvPr/>
          </p:nvSpPr>
          <p:spPr>
            <a:xfrm>
              <a:off x="0" y="0"/>
              <a:ext cx="1708130" cy="216426"/>
            </a:xfrm>
            <a:custGeom>
              <a:avLst/>
              <a:gdLst/>
              <a:ahLst/>
              <a:cxnLst/>
              <a:rect l="l" t="t" r="r" b="b"/>
              <a:pathLst>
                <a:path w="1708130" h="216426" extrusionOk="0">
                  <a:moveTo>
                    <a:pt x="0" y="0"/>
                  </a:moveTo>
                  <a:lnTo>
                    <a:pt x="1708130" y="0"/>
                  </a:lnTo>
                  <a:lnTo>
                    <a:pt x="1708130" y="216426"/>
                  </a:lnTo>
                  <a:lnTo>
                    <a:pt x="0" y="216426"/>
                  </a:lnTo>
                  <a:lnTo>
                    <a:pt x="0" y="0"/>
                  </a:lnTo>
                  <a:close/>
                </a:path>
              </a:pathLst>
            </a:custGeom>
            <a:blipFill rotWithShape="1">
              <a:blip r:embed="rId5">
                <a:alphaModFix/>
              </a:blip>
              <a:stretch>
                <a:fillRect t="-3577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9" name="Google Shape;559;p29"/>
            <p:cNvSpPr/>
            <p:nvPr/>
          </p:nvSpPr>
          <p:spPr>
            <a:xfrm>
              <a:off x="0" y="347451"/>
              <a:ext cx="1708130" cy="216426"/>
            </a:xfrm>
            <a:custGeom>
              <a:avLst/>
              <a:gdLst/>
              <a:ahLst/>
              <a:cxnLst/>
              <a:rect l="l" t="t" r="r" b="b"/>
              <a:pathLst>
                <a:path w="1708130" h="216426" extrusionOk="0">
                  <a:moveTo>
                    <a:pt x="0" y="0"/>
                  </a:moveTo>
                  <a:lnTo>
                    <a:pt x="1708130" y="0"/>
                  </a:lnTo>
                  <a:lnTo>
                    <a:pt x="1708130" y="216426"/>
                  </a:lnTo>
                  <a:lnTo>
                    <a:pt x="0" y="216426"/>
                  </a:lnTo>
                  <a:lnTo>
                    <a:pt x="0" y="0"/>
                  </a:lnTo>
                  <a:close/>
                </a:path>
              </a:pathLst>
            </a:custGeom>
            <a:blipFill rotWithShape="1">
              <a:blip r:embed="rId5">
                <a:alphaModFix/>
              </a:blip>
              <a:stretch>
                <a:fillRect t="-357749"/>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grpSp>
      <p:sp>
        <p:nvSpPr>
          <p:cNvPr id="560" name="Google Shape;560;p29"/>
          <p:cNvSpPr txBox="1"/>
          <p:nvPr/>
        </p:nvSpPr>
        <p:spPr>
          <a:xfrm>
            <a:off x="1028700" y="1954084"/>
            <a:ext cx="6417000" cy="215400"/>
          </a:xfrm>
          <a:prstGeom prst="rect">
            <a:avLst/>
          </a:prstGeom>
          <a:noFill/>
          <a:ln>
            <a:noFill/>
          </a:ln>
        </p:spPr>
        <p:txBody>
          <a:bodyPr spcFirstLastPara="1" wrap="square" lIns="0" tIns="0" rIns="0" bIns="0" anchor="t" anchorCtr="0">
            <a:spAutoFit/>
          </a:bodyPr>
          <a:lstStyle/>
          <a:p>
            <a:pPr marL="0" marR="0" lvl="0" indent="0" algn="l" rtl="0">
              <a:lnSpc>
                <a:spcPct val="142125"/>
              </a:lnSpc>
              <a:spcBef>
                <a:spcPts val="0"/>
              </a:spcBef>
              <a:spcAft>
                <a:spcPts val="0"/>
              </a:spcAft>
              <a:buNone/>
            </a:pPr>
            <a:endParaRPr/>
          </a:p>
        </p:txBody>
      </p:sp>
      <p:sp>
        <p:nvSpPr>
          <p:cNvPr id="561" name="Google Shape;561;p29"/>
          <p:cNvSpPr/>
          <p:nvPr/>
        </p:nvSpPr>
        <p:spPr>
          <a:xfrm>
            <a:off x="506661" y="2476724"/>
            <a:ext cx="10599300" cy="5170500"/>
          </a:xfrm>
          <a:prstGeom prst="rect">
            <a:avLst/>
          </a:prstGeom>
          <a:noFill/>
          <a:ln>
            <a:noFill/>
          </a:ln>
        </p:spPr>
        <p:txBody>
          <a:bodyPr spcFirstLastPara="1" wrap="square" lIns="91425" tIns="45700" rIns="91425" bIns="45700" anchor="ctr" anchorCtr="0">
            <a:noAutofit/>
          </a:bodyPr>
          <a:lstStyle/>
          <a:p>
            <a:pPr marL="457200" lvl="0" indent="-381000" algn="l" rtl="0">
              <a:lnSpc>
                <a:spcPct val="200000"/>
              </a:lnSpc>
              <a:spcBef>
                <a:spcPts val="0"/>
              </a:spcBef>
              <a:spcAft>
                <a:spcPts val="0"/>
              </a:spcAft>
              <a:buClr>
                <a:schemeClr val="dk1"/>
              </a:buClr>
              <a:buSzPts val="2400"/>
              <a:buChar char="•"/>
            </a:pPr>
            <a:r>
              <a:rPr lang="en-US" sz="2400" dirty="0">
                <a:solidFill>
                  <a:schemeClr val="dk1"/>
                </a:solidFill>
              </a:rPr>
              <a:t>Further research is needed to explore these leadership styles in non-profit and manufacturing sectors.</a:t>
            </a:r>
            <a:endParaRPr sz="2400" dirty="0">
              <a:solidFill>
                <a:schemeClr val="dk1"/>
              </a:solidFill>
            </a:endParaRPr>
          </a:p>
          <a:p>
            <a:pPr marL="457200" lvl="0" indent="-381000" algn="l" rtl="0">
              <a:lnSpc>
                <a:spcPct val="200000"/>
              </a:lnSpc>
              <a:spcBef>
                <a:spcPts val="0"/>
              </a:spcBef>
              <a:spcAft>
                <a:spcPts val="0"/>
              </a:spcAft>
              <a:buClr>
                <a:schemeClr val="dk1"/>
              </a:buClr>
              <a:buSzPts val="2400"/>
              <a:buChar char="•"/>
            </a:pPr>
            <a:r>
              <a:rPr lang="en-US" sz="2400" dirty="0">
                <a:solidFill>
                  <a:schemeClr val="dk1"/>
                </a:solidFill>
              </a:rPr>
              <a:t>Examine the long-term effects of transformational and servant leadership on organizational culture and employee development.</a:t>
            </a:r>
            <a:endParaRPr sz="2400" dirty="0">
              <a:solidFill>
                <a:schemeClr val="dk1"/>
              </a:solidFill>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32B3BC-0CC5-DEA4-ECE4-F7FD1530A774}"/>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C71CEF0-3B8D-A902-6418-A34B951EBCB2}"/>
              </a:ext>
            </a:extLst>
          </p:cNvPr>
          <p:cNvGrpSpPr/>
          <p:nvPr/>
        </p:nvGrpSpPr>
        <p:grpSpPr>
          <a:xfrm rot="2700000">
            <a:off x="7977732" y="-6524474"/>
            <a:ext cx="17310228" cy="14279050"/>
            <a:chOff x="0" y="0"/>
            <a:chExt cx="4559072" cy="3760737"/>
          </a:xfrm>
        </p:grpSpPr>
        <p:sp>
          <p:nvSpPr>
            <p:cNvPr id="3" name="Freeform 3">
              <a:extLst>
                <a:ext uri="{FF2B5EF4-FFF2-40B4-BE49-F238E27FC236}">
                  <a16:creationId xmlns:a16="http://schemas.microsoft.com/office/drawing/2014/main" id="{B0386CDB-847C-5602-03FD-E601499BB233}"/>
                </a:ext>
              </a:extLst>
            </p:cNvPr>
            <p:cNvSpPr/>
            <p:nvPr/>
          </p:nvSpPr>
          <p:spPr>
            <a:xfrm>
              <a:off x="0" y="0"/>
              <a:ext cx="4559072" cy="3760738"/>
            </a:xfrm>
            <a:custGeom>
              <a:avLst/>
              <a:gdLst/>
              <a:ahLst/>
              <a:cxnLst/>
              <a:rect l="l" t="t" r="r" b="b"/>
              <a:pathLst>
                <a:path w="4559072" h="3760738">
                  <a:moveTo>
                    <a:pt x="0" y="0"/>
                  </a:moveTo>
                  <a:lnTo>
                    <a:pt x="4559072" y="0"/>
                  </a:lnTo>
                  <a:lnTo>
                    <a:pt x="4559072" y="3760738"/>
                  </a:lnTo>
                  <a:lnTo>
                    <a:pt x="0" y="3760738"/>
                  </a:lnTo>
                  <a:close/>
                </a:path>
              </a:pathLst>
            </a:custGeom>
            <a:solidFill>
              <a:srgbClr val="1468A2"/>
            </a:solidFill>
          </p:spPr>
          <p:txBody>
            <a:bodyPr/>
            <a:lstStyle/>
            <a:p>
              <a:endParaRPr lang="en-PK"/>
            </a:p>
          </p:txBody>
        </p:sp>
        <p:sp>
          <p:nvSpPr>
            <p:cNvPr id="4" name="TextBox 4">
              <a:extLst>
                <a:ext uri="{FF2B5EF4-FFF2-40B4-BE49-F238E27FC236}">
                  <a16:creationId xmlns:a16="http://schemas.microsoft.com/office/drawing/2014/main" id="{63591899-F211-94CB-11F1-882ED9B78770}"/>
                </a:ext>
              </a:extLst>
            </p:cNvPr>
            <p:cNvSpPr txBox="1"/>
            <p:nvPr/>
          </p:nvSpPr>
          <p:spPr>
            <a:xfrm>
              <a:off x="0" y="-38100"/>
              <a:ext cx="4559072" cy="3798837"/>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a:extLst>
              <a:ext uri="{FF2B5EF4-FFF2-40B4-BE49-F238E27FC236}">
                <a16:creationId xmlns:a16="http://schemas.microsoft.com/office/drawing/2014/main" id="{27E14FC7-F1C1-CF6F-864E-C974FE84FC3F}"/>
              </a:ext>
            </a:extLst>
          </p:cNvPr>
          <p:cNvGrpSpPr/>
          <p:nvPr/>
        </p:nvGrpSpPr>
        <p:grpSpPr>
          <a:xfrm rot="2700000">
            <a:off x="11624573" y="7348901"/>
            <a:ext cx="6170533" cy="6299239"/>
            <a:chOff x="0" y="0"/>
            <a:chExt cx="1625161" cy="1659059"/>
          </a:xfrm>
        </p:grpSpPr>
        <p:sp>
          <p:nvSpPr>
            <p:cNvPr id="6" name="Freeform 6">
              <a:extLst>
                <a:ext uri="{FF2B5EF4-FFF2-40B4-BE49-F238E27FC236}">
                  <a16:creationId xmlns:a16="http://schemas.microsoft.com/office/drawing/2014/main" id="{49F8DA8E-7DE9-3440-D07C-1B27BC19245F}"/>
                </a:ext>
              </a:extLst>
            </p:cNvPr>
            <p:cNvSpPr/>
            <p:nvPr/>
          </p:nvSpPr>
          <p:spPr>
            <a:xfrm>
              <a:off x="0" y="0"/>
              <a:ext cx="1625161" cy="1659059"/>
            </a:xfrm>
            <a:custGeom>
              <a:avLst/>
              <a:gdLst/>
              <a:ahLst/>
              <a:cxnLst/>
              <a:rect l="l" t="t" r="r" b="b"/>
              <a:pathLst>
                <a:path w="1625161" h="1659059">
                  <a:moveTo>
                    <a:pt x="0" y="0"/>
                  </a:moveTo>
                  <a:lnTo>
                    <a:pt x="1625161" y="0"/>
                  </a:lnTo>
                  <a:lnTo>
                    <a:pt x="1625161" y="1659059"/>
                  </a:lnTo>
                  <a:lnTo>
                    <a:pt x="0" y="1659059"/>
                  </a:lnTo>
                  <a:close/>
                </a:path>
              </a:pathLst>
            </a:custGeom>
            <a:solidFill>
              <a:srgbClr val="1468A2"/>
            </a:solidFill>
          </p:spPr>
          <p:txBody>
            <a:bodyPr/>
            <a:lstStyle/>
            <a:p>
              <a:endParaRPr lang="en-PK"/>
            </a:p>
          </p:txBody>
        </p:sp>
        <p:sp>
          <p:nvSpPr>
            <p:cNvPr id="7" name="TextBox 7">
              <a:extLst>
                <a:ext uri="{FF2B5EF4-FFF2-40B4-BE49-F238E27FC236}">
                  <a16:creationId xmlns:a16="http://schemas.microsoft.com/office/drawing/2014/main" id="{75789F19-4D26-5313-2712-CB386AC1D7A9}"/>
                </a:ext>
              </a:extLst>
            </p:cNvPr>
            <p:cNvSpPr txBox="1"/>
            <p:nvPr/>
          </p:nvSpPr>
          <p:spPr>
            <a:xfrm>
              <a:off x="0" y="-38100"/>
              <a:ext cx="1625161" cy="1697159"/>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a:extLst>
              <a:ext uri="{FF2B5EF4-FFF2-40B4-BE49-F238E27FC236}">
                <a16:creationId xmlns:a16="http://schemas.microsoft.com/office/drawing/2014/main" id="{3E8AA62A-4DB2-89F6-4F4F-E4F0A00FC6EF}"/>
              </a:ext>
            </a:extLst>
          </p:cNvPr>
          <p:cNvGrpSpPr/>
          <p:nvPr/>
        </p:nvGrpSpPr>
        <p:grpSpPr>
          <a:xfrm>
            <a:off x="10737289" y="-1988820"/>
            <a:ext cx="11247120" cy="11247120"/>
            <a:chOff x="0" y="0"/>
            <a:chExt cx="812800" cy="812800"/>
          </a:xfrm>
        </p:grpSpPr>
        <p:sp>
          <p:nvSpPr>
            <p:cNvPr id="9" name="Freeform 9">
              <a:extLst>
                <a:ext uri="{FF2B5EF4-FFF2-40B4-BE49-F238E27FC236}">
                  <a16:creationId xmlns:a16="http://schemas.microsoft.com/office/drawing/2014/main" id="{9A7E2E74-82B8-4AFD-44B8-883232699E9C}"/>
                </a:ext>
              </a:extLst>
            </p:cNvPr>
            <p:cNvSpPr/>
            <p:nvPr/>
          </p:nvSpPr>
          <p:spPr>
            <a:xfrm>
              <a:off x="0" y="0"/>
              <a:ext cx="812800" cy="812800"/>
            </a:xfrm>
            <a:custGeom>
              <a:avLst/>
              <a:gdLst/>
              <a:ahLst/>
              <a:cxnLst/>
              <a:rect l="l" t="t" r="r" b="b"/>
              <a:pathLst>
                <a:path w="812800" h="812800">
                  <a:moveTo>
                    <a:pt x="406400" y="0"/>
                  </a:moveTo>
                  <a:lnTo>
                    <a:pt x="812800" y="406400"/>
                  </a:lnTo>
                  <a:lnTo>
                    <a:pt x="406400" y="812800"/>
                  </a:lnTo>
                  <a:lnTo>
                    <a:pt x="0" y="406400"/>
                  </a:lnTo>
                  <a:lnTo>
                    <a:pt x="406400" y="0"/>
                  </a:lnTo>
                  <a:close/>
                </a:path>
              </a:pathLst>
            </a:custGeom>
            <a:blipFill>
              <a:blip r:embed="rId2"/>
              <a:stretch>
                <a:fillRect l="-56409" r="-68943"/>
              </a:stretch>
            </a:blipFill>
          </p:spPr>
          <p:txBody>
            <a:bodyPr/>
            <a:lstStyle/>
            <a:p>
              <a:endParaRPr lang="en-PK"/>
            </a:p>
          </p:txBody>
        </p:sp>
      </p:grpSp>
      <p:sp>
        <p:nvSpPr>
          <p:cNvPr id="10" name="Freeform 10">
            <a:extLst>
              <a:ext uri="{FF2B5EF4-FFF2-40B4-BE49-F238E27FC236}">
                <a16:creationId xmlns:a16="http://schemas.microsoft.com/office/drawing/2014/main" id="{ADD3D83C-E744-180A-3B6D-AAA6BA9BDC49}"/>
              </a:ext>
            </a:extLst>
          </p:cNvPr>
          <p:cNvSpPr/>
          <p:nvPr/>
        </p:nvSpPr>
        <p:spPr>
          <a:xfrm>
            <a:off x="9500694" y="-764605"/>
            <a:ext cx="4282420" cy="8229600"/>
          </a:xfrm>
          <a:custGeom>
            <a:avLst/>
            <a:gdLst/>
            <a:ahLst/>
            <a:cxnLst/>
            <a:rect l="l" t="t" r="r" b="b"/>
            <a:pathLst>
              <a:path w="4282420" h="8229600">
                <a:moveTo>
                  <a:pt x="0" y="0"/>
                </a:moveTo>
                <a:lnTo>
                  <a:pt x="4282420" y="0"/>
                </a:lnTo>
                <a:lnTo>
                  <a:pt x="4282420" y="8229600"/>
                </a:lnTo>
                <a:lnTo>
                  <a:pt x="0" y="8229600"/>
                </a:lnTo>
                <a:lnTo>
                  <a:pt x="0" y="0"/>
                </a:lnTo>
                <a:close/>
              </a:path>
            </a:pathLst>
          </a:custGeom>
          <a:blipFill>
            <a:blip r:embed="rId3"/>
            <a:stretch>
              <a:fillRect/>
            </a:stretch>
          </a:blipFill>
        </p:spPr>
        <p:txBody>
          <a:bodyPr/>
          <a:lstStyle/>
          <a:p>
            <a:endParaRPr lang="en-PK"/>
          </a:p>
        </p:txBody>
      </p:sp>
      <p:sp>
        <p:nvSpPr>
          <p:cNvPr id="11" name="Freeform 11">
            <a:extLst>
              <a:ext uri="{FF2B5EF4-FFF2-40B4-BE49-F238E27FC236}">
                <a16:creationId xmlns:a16="http://schemas.microsoft.com/office/drawing/2014/main" id="{D6092BA5-2A7D-56F5-3BD4-B78E90A124AD}"/>
              </a:ext>
            </a:extLst>
          </p:cNvPr>
          <p:cNvSpPr/>
          <p:nvPr/>
        </p:nvSpPr>
        <p:spPr>
          <a:xfrm>
            <a:off x="13783114" y="5753894"/>
            <a:ext cx="4282420" cy="8229600"/>
          </a:xfrm>
          <a:custGeom>
            <a:avLst/>
            <a:gdLst/>
            <a:ahLst/>
            <a:cxnLst/>
            <a:rect l="l" t="t" r="r" b="b"/>
            <a:pathLst>
              <a:path w="4282420" h="8229600">
                <a:moveTo>
                  <a:pt x="0" y="0"/>
                </a:moveTo>
                <a:lnTo>
                  <a:pt x="4282420" y="0"/>
                </a:lnTo>
                <a:lnTo>
                  <a:pt x="4282420" y="8229600"/>
                </a:lnTo>
                <a:lnTo>
                  <a:pt x="0" y="8229600"/>
                </a:lnTo>
                <a:lnTo>
                  <a:pt x="0" y="0"/>
                </a:lnTo>
                <a:close/>
              </a:path>
            </a:pathLst>
          </a:custGeom>
          <a:blipFill>
            <a:blip r:embed="rId3"/>
            <a:stretch>
              <a:fillRect/>
            </a:stretch>
          </a:blipFill>
        </p:spPr>
        <p:txBody>
          <a:bodyPr/>
          <a:lstStyle/>
          <a:p>
            <a:endParaRPr lang="en-PK"/>
          </a:p>
        </p:txBody>
      </p:sp>
      <p:grpSp>
        <p:nvGrpSpPr>
          <p:cNvPr id="12" name="Group 12">
            <a:extLst>
              <a:ext uri="{FF2B5EF4-FFF2-40B4-BE49-F238E27FC236}">
                <a16:creationId xmlns:a16="http://schemas.microsoft.com/office/drawing/2014/main" id="{5A331BA0-BB56-EE19-19C6-6913C01AC7B3}"/>
              </a:ext>
            </a:extLst>
          </p:cNvPr>
          <p:cNvGrpSpPr/>
          <p:nvPr/>
        </p:nvGrpSpPr>
        <p:grpSpPr>
          <a:xfrm>
            <a:off x="-888755" y="7057750"/>
            <a:ext cx="8867554" cy="814491"/>
            <a:chOff x="0" y="0"/>
            <a:chExt cx="2335487" cy="214516"/>
          </a:xfrm>
        </p:grpSpPr>
        <p:sp>
          <p:nvSpPr>
            <p:cNvPr id="13" name="Freeform 13">
              <a:extLst>
                <a:ext uri="{FF2B5EF4-FFF2-40B4-BE49-F238E27FC236}">
                  <a16:creationId xmlns:a16="http://schemas.microsoft.com/office/drawing/2014/main" id="{A4C31501-EA2B-952E-5D76-B37350162F63}"/>
                </a:ext>
              </a:extLst>
            </p:cNvPr>
            <p:cNvSpPr/>
            <p:nvPr/>
          </p:nvSpPr>
          <p:spPr>
            <a:xfrm>
              <a:off x="0" y="0"/>
              <a:ext cx="2335487" cy="214516"/>
            </a:xfrm>
            <a:custGeom>
              <a:avLst/>
              <a:gdLst/>
              <a:ahLst/>
              <a:cxnLst/>
              <a:rect l="l" t="t" r="r" b="b"/>
              <a:pathLst>
                <a:path w="2335487" h="214516">
                  <a:moveTo>
                    <a:pt x="203200" y="0"/>
                  </a:moveTo>
                  <a:lnTo>
                    <a:pt x="2335487" y="0"/>
                  </a:lnTo>
                  <a:lnTo>
                    <a:pt x="2132287" y="214516"/>
                  </a:lnTo>
                  <a:lnTo>
                    <a:pt x="0" y="214516"/>
                  </a:lnTo>
                  <a:lnTo>
                    <a:pt x="203200" y="0"/>
                  </a:lnTo>
                  <a:close/>
                </a:path>
              </a:pathLst>
            </a:custGeom>
            <a:solidFill>
              <a:srgbClr val="1468A2"/>
            </a:solidFill>
          </p:spPr>
          <p:txBody>
            <a:bodyPr/>
            <a:lstStyle/>
            <a:p>
              <a:endParaRPr lang="en-PK"/>
            </a:p>
          </p:txBody>
        </p:sp>
        <p:sp>
          <p:nvSpPr>
            <p:cNvPr id="14" name="TextBox 14">
              <a:extLst>
                <a:ext uri="{FF2B5EF4-FFF2-40B4-BE49-F238E27FC236}">
                  <a16:creationId xmlns:a16="http://schemas.microsoft.com/office/drawing/2014/main" id="{DCF7D136-4489-7497-E6F6-2B93EC73FA96}"/>
                </a:ext>
              </a:extLst>
            </p:cNvPr>
            <p:cNvSpPr txBox="1"/>
            <p:nvPr/>
          </p:nvSpPr>
          <p:spPr>
            <a:xfrm>
              <a:off x="101600" y="-38100"/>
              <a:ext cx="2132287" cy="252616"/>
            </a:xfrm>
            <a:prstGeom prst="rect">
              <a:avLst/>
            </a:prstGeom>
          </p:spPr>
          <p:txBody>
            <a:bodyPr lIns="50800" tIns="50800" rIns="50800" bIns="50800" rtlCol="0" anchor="ctr"/>
            <a:lstStyle/>
            <a:p>
              <a:pPr algn="ctr">
                <a:lnSpc>
                  <a:spcPts val="2659"/>
                </a:lnSpc>
              </a:pPr>
              <a:endParaRPr/>
            </a:p>
          </p:txBody>
        </p:sp>
      </p:grpSp>
      <p:sp>
        <p:nvSpPr>
          <p:cNvPr id="15" name="AutoShape 15">
            <a:extLst>
              <a:ext uri="{FF2B5EF4-FFF2-40B4-BE49-F238E27FC236}">
                <a16:creationId xmlns:a16="http://schemas.microsoft.com/office/drawing/2014/main" id="{062EA624-E2ED-20BC-FB5A-40D46BFADC30}"/>
              </a:ext>
            </a:extLst>
          </p:cNvPr>
          <p:cNvSpPr/>
          <p:nvPr/>
        </p:nvSpPr>
        <p:spPr>
          <a:xfrm flipV="1">
            <a:off x="8324853" y="7478465"/>
            <a:ext cx="4525147" cy="4525147"/>
          </a:xfrm>
          <a:prstGeom prst="line">
            <a:avLst/>
          </a:prstGeom>
          <a:ln w="38100" cap="flat">
            <a:solidFill>
              <a:srgbClr val="1468A2"/>
            </a:solidFill>
            <a:prstDash val="solid"/>
            <a:headEnd type="none" w="sm" len="sm"/>
            <a:tailEnd type="none" w="sm" len="sm"/>
          </a:ln>
        </p:spPr>
        <p:txBody>
          <a:bodyPr/>
          <a:lstStyle/>
          <a:p>
            <a:endParaRPr lang="en-PK"/>
          </a:p>
        </p:txBody>
      </p:sp>
      <p:sp>
        <p:nvSpPr>
          <p:cNvPr id="16" name="AutoShape 16">
            <a:extLst>
              <a:ext uri="{FF2B5EF4-FFF2-40B4-BE49-F238E27FC236}">
                <a16:creationId xmlns:a16="http://schemas.microsoft.com/office/drawing/2014/main" id="{2DDCB593-9653-946F-EC03-96853071F9BD}"/>
              </a:ext>
            </a:extLst>
          </p:cNvPr>
          <p:cNvSpPr/>
          <p:nvPr/>
        </p:nvSpPr>
        <p:spPr>
          <a:xfrm>
            <a:off x="3390789" y="-1975350"/>
            <a:ext cx="5007503" cy="5007503"/>
          </a:xfrm>
          <a:prstGeom prst="line">
            <a:avLst/>
          </a:prstGeom>
          <a:ln w="38100" cap="flat">
            <a:solidFill>
              <a:srgbClr val="1468A2"/>
            </a:solidFill>
            <a:prstDash val="solid"/>
            <a:headEnd type="none" w="sm" len="sm"/>
            <a:tailEnd type="none" w="sm" len="sm"/>
          </a:ln>
        </p:spPr>
        <p:txBody>
          <a:bodyPr/>
          <a:lstStyle/>
          <a:p>
            <a:endParaRPr lang="en-PK"/>
          </a:p>
        </p:txBody>
      </p:sp>
      <p:sp>
        <p:nvSpPr>
          <p:cNvPr id="17" name="AutoShape 17">
            <a:extLst>
              <a:ext uri="{FF2B5EF4-FFF2-40B4-BE49-F238E27FC236}">
                <a16:creationId xmlns:a16="http://schemas.microsoft.com/office/drawing/2014/main" id="{B3D55EF8-9BCA-0706-802C-B980B2594ACA}"/>
              </a:ext>
            </a:extLst>
          </p:cNvPr>
          <p:cNvSpPr/>
          <p:nvPr/>
        </p:nvSpPr>
        <p:spPr>
          <a:xfrm>
            <a:off x="9216089" y="3817613"/>
            <a:ext cx="3647382" cy="3647382"/>
          </a:xfrm>
          <a:prstGeom prst="line">
            <a:avLst/>
          </a:prstGeom>
          <a:ln w="38100" cap="flat">
            <a:solidFill>
              <a:srgbClr val="1468A2"/>
            </a:solidFill>
            <a:prstDash val="solid"/>
            <a:headEnd type="none" w="sm" len="sm"/>
            <a:tailEnd type="none" w="sm" len="sm"/>
          </a:ln>
        </p:spPr>
        <p:txBody>
          <a:bodyPr/>
          <a:lstStyle/>
          <a:p>
            <a:endParaRPr lang="en-PK"/>
          </a:p>
        </p:txBody>
      </p:sp>
      <p:sp>
        <p:nvSpPr>
          <p:cNvPr id="20" name="TextBox 20">
            <a:extLst>
              <a:ext uri="{FF2B5EF4-FFF2-40B4-BE49-F238E27FC236}">
                <a16:creationId xmlns:a16="http://schemas.microsoft.com/office/drawing/2014/main" id="{9C9F8318-ADF3-B245-2CA9-09B7839232D4}"/>
              </a:ext>
            </a:extLst>
          </p:cNvPr>
          <p:cNvSpPr txBox="1"/>
          <p:nvPr/>
        </p:nvSpPr>
        <p:spPr>
          <a:xfrm>
            <a:off x="1028700" y="3032154"/>
            <a:ext cx="8029159" cy="1167243"/>
          </a:xfrm>
          <a:prstGeom prst="rect">
            <a:avLst/>
          </a:prstGeom>
        </p:spPr>
        <p:txBody>
          <a:bodyPr lIns="0" tIns="0" rIns="0" bIns="0" rtlCol="0" anchor="t">
            <a:spAutoFit/>
          </a:bodyPr>
          <a:lstStyle/>
          <a:p>
            <a:pPr algn="l">
              <a:lnSpc>
                <a:spcPts val="9108"/>
              </a:lnSpc>
            </a:pPr>
            <a:r>
              <a:rPr lang="en-US" sz="7590" b="1" i="1" dirty="0">
                <a:solidFill>
                  <a:srgbClr val="000000"/>
                </a:solidFill>
                <a:latin typeface="Garet Bold Italics"/>
                <a:ea typeface="Garet Bold Italics"/>
                <a:cs typeface="Garet Bold Italics"/>
                <a:sym typeface="Garet Bold Italics"/>
              </a:rPr>
              <a:t>THANK YOU</a:t>
            </a:r>
          </a:p>
        </p:txBody>
      </p:sp>
      <p:sp>
        <p:nvSpPr>
          <p:cNvPr id="21" name="TextBox 21">
            <a:extLst>
              <a:ext uri="{FF2B5EF4-FFF2-40B4-BE49-F238E27FC236}">
                <a16:creationId xmlns:a16="http://schemas.microsoft.com/office/drawing/2014/main" id="{843724D9-3802-9AF0-0599-7EE83A066559}"/>
              </a:ext>
            </a:extLst>
          </p:cNvPr>
          <p:cNvSpPr txBox="1"/>
          <p:nvPr/>
        </p:nvSpPr>
        <p:spPr>
          <a:xfrm>
            <a:off x="964638" y="7179245"/>
            <a:ext cx="6572922" cy="577915"/>
          </a:xfrm>
          <a:prstGeom prst="rect">
            <a:avLst/>
          </a:prstGeom>
        </p:spPr>
        <p:txBody>
          <a:bodyPr wrap="square" lIns="0" tIns="0" rIns="0" bIns="0" rtlCol="0" anchor="t">
            <a:spAutoFit/>
          </a:bodyPr>
          <a:lstStyle/>
          <a:p>
            <a:pPr algn="l">
              <a:lnSpc>
                <a:spcPts val="4527"/>
              </a:lnSpc>
            </a:pPr>
            <a:r>
              <a:rPr lang="en-US" sz="3773" b="1" dirty="0">
                <a:solidFill>
                  <a:srgbClr val="FFFFFF"/>
                </a:solidFill>
                <a:latin typeface="Garet Bold"/>
                <a:ea typeface="Garet Bold"/>
                <a:cs typeface="Garet Bold"/>
                <a:sym typeface="Garet Bold"/>
              </a:rPr>
              <a:t>LEADERSHIP STRATEGIES</a:t>
            </a:r>
          </a:p>
        </p:txBody>
      </p:sp>
    </p:spTree>
    <p:extLst>
      <p:ext uri="{BB962C8B-B14F-4D97-AF65-F5344CB8AC3E}">
        <p14:creationId xmlns:p14="http://schemas.microsoft.com/office/powerpoint/2010/main" val="234532350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481</TotalTime>
  <Words>1697</Words>
  <Application>Microsoft Office PowerPoint</Application>
  <PresentationFormat>Custom</PresentationFormat>
  <Paragraphs>291</Paragraphs>
  <Slides>21</Slides>
  <Notes>14</Notes>
  <HiddenSlides>1</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21</vt:i4>
      </vt:variant>
    </vt:vector>
  </HeadingPairs>
  <TitlesOfParts>
    <vt:vector size="29" baseType="lpstr">
      <vt:lpstr>Calibri</vt:lpstr>
      <vt:lpstr>AdvPTimes</vt:lpstr>
      <vt:lpstr>Garet Bold Italics</vt:lpstr>
      <vt:lpstr>Garet Bold</vt:lpstr>
      <vt:lpstr>Garet</vt:lpstr>
      <vt:lpstr>AdvTir_symb</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 And White Modern Transformative Business Leadership Presentation</dc:title>
  <cp:lastModifiedBy>Umair Noor</cp:lastModifiedBy>
  <cp:revision>69</cp:revision>
  <dcterms:created xsi:type="dcterms:W3CDTF">2006-08-16T00:00:00Z</dcterms:created>
  <dcterms:modified xsi:type="dcterms:W3CDTF">2025-01-27T05:26:12Z</dcterms:modified>
  <dc:identifier>DAGcu-e0Ugc</dc:identifier>
</cp:coreProperties>
</file>