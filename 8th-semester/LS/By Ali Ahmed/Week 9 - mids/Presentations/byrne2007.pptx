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League Spartan" charset="1" panose="00000800000000000000"/>
      <p:regular r:id="rId30"/>
    </p:embeddedFont>
    <p:embeddedFont>
      <p:font typeface="Glacial Indifference" charset="1" panose="00000000000000000000"/>
      <p:regular r:id="rId31"/>
    </p:embeddedFont>
    <p:embeddedFont>
      <p:font typeface="Glacial Indifference Bold" charset="1" panose="00000800000000000000"/>
      <p:regular r:id="rId32"/>
    </p:embeddedFont>
    <p:embeddedFont>
      <p:font typeface="Roboto" charset="1" panose="020000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299043">
            <a:off x="-1746670" y="4230785"/>
            <a:ext cx="11240987" cy="1825430"/>
          </a:xfrm>
          <a:custGeom>
            <a:avLst/>
            <a:gdLst/>
            <a:ahLst/>
            <a:cxnLst/>
            <a:rect r="r" b="b" t="t" l="l"/>
            <a:pathLst>
              <a:path h="1825430" w="11240987">
                <a:moveTo>
                  <a:pt x="0" y="0"/>
                </a:moveTo>
                <a:lnTo>
                  <a:pt x="11240987" y="0"/>
                </a:lnTo>
                <a:lnTo>
                  <a:pt x="11240987" y="1825430"/>
                </a:lnTo>
                <a:lnTo>
                  <a:pt x="0" y="1825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995"/>
            </a:stretch>
          </a:blipFill>
        </p:spPr>
      </p:sp>
      <p:grpSp>
        <p:nvGrpSpPr>
          <p:cNvPr name="Group 3" id="3"/>
          <p:cNvGrpSpPr/>
          <p:nvPr/>
        </p:nvGrpSpPr>
        <p:grpSpPr>
          <a:xfrm rot="1107706">
            <a:off x="-921467" y="-1570623"/>
            <a:ext cx="5280133" cy="12462121"/>
            <a:chOff x="0" y="0"/>
            <a:chExt cx="1390652" cy="32822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4299043">
            <a:off x="-2646668" y="4025505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1107706">
            <a:off x="-1880460" y="-1819814"/>
            <a:ext cx="5280133" cy="12462121"/>
            <a:chOff x="0" y="0"/>
            <a:chExt cx="1390652" cy="32822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195997" y="1054100"/>
            <a:ext cx="12874262" cy="227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CULTURE’S INFLUENCE ON LEADERSHIP EFFICIENCY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91643" y="4723360"/>
            <a:ext cx="7657124" cy="75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5"/>
              </a:lnSpc>
            </a:pPr>
            <a:r>
              <a:rPr lang="en-US" sz="4418" spc="30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25010" y="3270250"/>
            <a:ext cx="7525614" cy="472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768" spc="193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Authors</a:t>
            </a:r>
            <a:r>
              <a:rPr lang="en-US" sz="2768" spc="19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Gabriel J. Byrne &amp; Frank Bradley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71251" y="5668757"/>
            <a:ext cx="7871987" cy="1939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768" spc="1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Muqaddas Nazeer           2021-CS-183</a:t>
            </a:r>
          </a:p>
          <a:p>
            <a:pPr algn="l">
              <a:lnSpc>
                <a:spcPts val="3875"/>
              </a:lnSpc>
            </a:pPr>
            <a:r>
              <a:rPr lang="en-US" sz="2768" spc="1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Kanzul Zoha                    2021-CS-186</a:t>
            </a:r>
          </a:p>
          <a:p>
            <a:pPr algn="l">
              <a:lnSpc>
                <a:spcPts val="3875"/>
              </a:lnSpc>
            </a:pPr>
            <a:r>
              <a:rPr lang="en-US" sz="2768" spc="1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Khadim Hussain              2021-CS-204</a:t>
            </a:r>
          </a:p>
          <a:p>
            <a:pPr algn="l">
              <a:lnSpc>
                <a:spcPts val="3875"/>
              </a:lnSpc>
            </a:pPr>
            <a:r>
              <a:rPr lang="en-US" sz="2768" spc="1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Yasir Baig                        2021-CS-215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91643" y="7805388"/>
            <a:ext cx="7657124" cy="754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5"/>
              </a:lnSpc>
            </a:pPr>
            <a:r>
              <a:rPr lang="en-US" sz="4418" spc="30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TO: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71251" y="8779019"/>
            <a:ext cx="7871987" cy="482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768" spc="1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Ms. Samina Yaqub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220834">
            <a:off x="-1286186" y="7656554"/>
            <a:ext cx="7912983" cy="1374881"/>
          </a:xfrm>
          <a:custGeom>
            <a:avLst/>
            <a:gdLst/>
            <a:ahLst/>
            <a:cxnLst/>
            <a:rect r="r" b="b" t="t" l="l"/>
            <a:pathLst>
              <a:path h="1374881" w="7912983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814084">
            <a:off x="-101335" y="5268511"/>
            <a:ext cx="3716898" cy="8772589"/>
            <a:chOff x="0" y="0"/>
            <a:chExt cx="1390652" cy="32822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8220834">
            <a:off x="-1598870" y="8278662"/>
            <a:ext cx="7912983" cy="1374881"/>
          </a:xfrm>
          <a:custGeom>
            <a:avLst/>
            <a:gdLst/>
            <a:ahLst/>
            <a:cxnLst/>
            <a:rect r="r" b="b" t="t" l="l"/>
            <a:pathLst>
              <a:path h="1374881" w="7912983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2814084">
            <a:off x="-542197" y="5809008"/>
            <a:ext cx="3716898" cy="8772589"/>
            <a:chOff x="0" y="0"/>
            <a:chExt cx="1390652" cy="32822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595438" y="3561698"/>
            <a:ext cx="996612" cy="996612"/>
          </a:xfrm>
          <a:custGeom>
            <a:avLst/>
            <a:gdLst/>
            <a:ahLst/>
            <a:cxnLst/>
            <a:rect r="r" b="b" t="t" l="l"/>
            <a:pathLst>
              <a:path h="996612" w="996612">
                <a:moveTo>
                  <a:pt x="0" y="0"/>
                </a:moveTo>
                <a:lnTo>
                  <a:pt x="996613" y="0"/>
                </a:lnTo>
                <a:lnTo>
                  <a:pt x="996613" y="996613"/>
                </a:lnTo>
                <a:lnTo>
                  <a:pt x="0" y="996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23697" y="3789958"/>
            <a:ext cx="540094" cy="54009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739067" y="3705328"/>
            <a:ext cx="709354" cy="709354"/>
          </a:xfrm>
          <a:custGeom>
            <a:avLst/>
            <a:gdLst/>
            <a:ahLst/>
            <a:cxnLst/>
            <a:rect r="r" b="b" t="t" l="l"/>
            <a:pathLst>
              <a:path h="709354" w="709354">
                <a:moveTo>
                  <a:pt x="0" y="0"/>
                </a:moveTo>
                <a:lnTo>
                  <a:pt x="709355" y="0"/>
                </a:lnTo>
                <a:lnTo>
                  <a:pt x="709355" y="709354"/>
                </a:lnTo>
                <a:lnTo>
                  <a:pt x="0" y="7093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823697" y="3874627"/>
            <a:ext cx="422096" cy="42209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093787" y="847725"/>
            <a:ext cx="8457523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4595438" y="5267665"/>
            <a:ext cx="996612" cy="996612"/>
          </a:xfrm>
          <a:custGeom>
            <a:avLst/>
            <a:gdLst/>
            <a:ahLst/>
            <a:cxnLst/>
            <a:rect r="r" b="b" t="t" l="l"/>
            <a:pathLst>
              <a:path h="996612" w="996612">
                <a:moveTo>
                  <a:pt x="0" y="0"/>
                </a:moveTo>
                <a:lnTo>
                  <a:pt x="996613" y="0"/>
                </a:lnTo>
                <a:lnTo>
                  <a:pt x="996613" y="996613"/>
                </a:lnTo>
                <a:lnTo>
                  <a:pt x="0" y="996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4823697" y="5495924"/>
            <a:ext cx="540094" cy="54009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4739067" y="5411294"/>
            <a:ext cx="709354" cy="709354"/>
          </a:xfrm>
          <a:custGeom>
            <a:avLst/>
            <a:gdLst/>
            <a:ahLst/>
            <a:cxnLst/>
            <a:rect r="r" b="b" t="t" l="l"/>
            <a:pathLst>
              <a:path h="709354" w="709354">
                <a:moveTo>
                  <a:pt x="0" y="0"/>
                </a:moveTo>
                <a:lnTo>
                  <a:pt x="709355" y="0"/>
                </a:lnTo>
                <a:lnTo>
                  <a:pt x="709355" y="709354"/>
                </a:lnTo>
                <a:lnTo>
                  <a:pt x="0" y="7093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595438" y="6120648"/>
            <a:ext cx="996612" cy="996612"/>
          </a:xfrm>
          <a:custGeom>
            <a:avLst/>
            <a:gdLst/>
            <a:ahLst/>
            <a:cxnLst/>
            <a:rect r="r" b="b" t="t" l="l"/>
            <a:pathLst>
              <a:path h="996612" w="996612">
                <a:moveTo>
                  <a:pt x="0" y="0"/>
                </a:moveTo>
                <a:lnTo>
                  <a:pt x="996613" y="0"/>
                </a:lnTo>
                <a:lnTo>
                  <a:pt x="996613" y="996613"/>
                </a:lnTo>
                <a:lnTo>
                  <a:pt x="0" y="996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4823697" y="6348907"/>
            <a:ext cx="540094" cy="54009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4739067" y="6264278"/>
            <a:ext cx="709354" cy="709354"/>
          </a:xfrm>
          <a:custGeom>
            <a:avLst/>
            <a:gdLst/>
            <a:ahLst/>
            <a:cxnLst/>
            <a:rect r="r" b="b" t="t" l="l"/>
            <a:pathLst>
              <a:path h="709354" w="709354">
                <a:moveTo>
                  <a:pt x="0" y="0"/>
                </a:moveTo>
                <a:lnTo>
                  <a:pt x="709355" y="0"/>
                </a:lnTo>
                <a:lnTo>
                  <a:pt x="709355" y="709354"/>
                </a:lnTo>
                <a:lnTo>
                  <a:pt x="0" y="7093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4823697" y="5612827"/>
            <a:ext cx="422096" cy="422096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4595438" y="6973632"/>
            <a:ext cx="996612" cy="996612"/>
          </a:xfrm>
          <a:custGeom>
            <a:avLst/>
            <a:gdLst/>
            <a:ahLst/>
            <a:cxnLst/>
            <a:rect r="r" b="b" t="t" l="l"/>
            <a:pathLst>
              <a:path h="996612" w="996612">
                <a:moveTo>
                  <a:pt x="0" y="0"/>
                </a:moveTo>
                <a:lnTo>
                  <a:pt x="996613" y="0"/>
                </a:lnTo>
                <a:lnTo>
                  <a:pt x="996613" y="996612"/>
                </a:lnTo>
                <a:lnTo>
                  <a:pt x="0" y="996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4823697" y="7201891"/>
            <a:ext cx="540094" cy="540094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4739067" y="7117261"/>
            <a:ext cx="709354" cy="709354"/>
          </a:xfrm>
          <a:custGeom>
            <a:avLst/>
            <a:gdLst/>
            <a:ahLst/>
            <a:cxnLst/>
            <a:rect r="r" b="b" t="t" l="l"/>
            <a:pathLst>
              <a:path h="709354" w="709354">
                <a:moveTo>
                  <a:pt x="0" y="0"/>
                </a:moveTo>
                <a:lnTo>
                  <a:pt x="709355" y="0"/>
                </a:lnTo>
                <a:lnTo>
                  <a:pt x="709355" y="709354"/>
                </a:lnTo>
                <a:lnTo>
                  <a:pt x="0" y="7093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4823697" y="7530937"/>
            <a:ext cx="422096" cy="422096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5592051" y="3761713"/>
            <a:ext cx="5550385" cy="52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7"/>
              </a:lnSpc>
            </a:pPr>
            <a:r>
              <a:rPr lang="en-US" sz="3048" spc="21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INTRODUCTION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676681" y="5546680"/>
            <a:ext cx="5550385" cy="52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7"/>
              </a:lnSpc>
            </a:pPr>
            <a:r>
              <a:rPr lang="en-US" sz="3048" spc="21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KEY RESEARCH FOCUS 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582526" y="7441111"/>
            <a:ext cx="5263881" cy="52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7"/>
              </a:lnSpc>
            </a:pPr>
            <a:r>
              <a:rPr lang="en-US" sz="3048" spc="21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CONCEPTUAL FRAMEWORK</a:t>
            </a:r>
            <a:r>
              <a:rPr lang="en-US" sz="3048" spc="21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186824" y="3976666"/>
            <a:ext cx="5263881" cy="52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7"/>
              </a:lnSpc>
            </a:pPr>
            <a:r>
              <a:rPr lang="en-US" sz="3048" spc="21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RESEARCH METHODOLOGY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1065482" y="3789958"/>
            <a:ext cx="996612" cy="996612"/>
          </a:xfrm>
          <a:custGeom>
            <a:avLst/>
            <a:gdLst/>
            <a:ahLst/>
            <a:cxnLst/>
            <a:rect r="r" b="b" t="t" l="l"/>
            <a:pathLst>
              <a:path h="996612" w="996612">
                <a:moveTo>
                  <a:pt x="0" y="0"/>
                </a:moveTo>
                <a:lnTo>
                  <a:pt x="996612" y="0"/>
                </a:lnTo>
                <a:lnTo>
                  <a:pt x="996612" y="996612"/>
                </a:lnTo>
                <a:lnTo>
                  <a:pt x="0" y="996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1293741" y="4018217"/>
            <a:ext cx="540094" cy="540094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11209111" y="3933587"/>
            <a:ext cx="709354" cy="709354"/>
          </a:xfrm>
          <a:custGeom>
            <a:avLst/>
            <a:gdLst/>
            <a:ahLst/>
            <a:cxnLst/>
            <a:rect r="r" b="b" t="t" l="l"/>
            <a:pathLst>
              <a:path h="709354" w="709354">
                <a:moveTo>
                  <a:pt x="0" y="0"/>
                </a:moveTo>
                <a:lnTo>
                  <a:pt x="709354" y="0"/>
                </a:lnTo>
                <a:lnTo>
                  <a:pt x="709354" y="709354"/>
                </a:lnTo>
                <a:lnTo>
                  <a:pt x="0" y="7093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11352740" y="4077216"/>
            <a:ext cx="422096" cy="422096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11065482" y="4642941"/>
            <a:ext cx="996612" cy="996612"/>
          </a:xfrm>
          <a:custGeom>
            <a:avLst/>
            <a:gdLst/>
            <a:ahLst/>
            <a:cxnLst/>
            <a:rect r="r" b="b" t="t" l="l"/>
            <a:pathLst>
              <a:path h="996612" w="996612">
                <a:moveTo>
                  <a:pt x="0" y="0"/>
                </a:moveTo>
                <a:lnTo>
                  <a:pt x="996612" y="0"/>
                </a:lnTo>
                <a:lnTo>
                  <a:pt x="996612" y="996612"/>
                </a:lnTo>
                <a:lnTo>
                  <a:pt x="0" y="996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1293741" y="4871200"/>
            <a:ext cx="540094" cy="540094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11209111" y="4786570"/>
            <a:ext cx="709354" cy="709354"/>
          </a:xfrm>
          <a:custGeom>
            <a:avLst/>
            <a:gdLst/>
            <a:ahLst/>
            <a:cxnLst/>
            <a:rect r="r" b="b" t="t" l="l"/>
            <a:pathLst>
              <a:path h="709354" w="709354">
                <a:moveTo>
                  <a:pt x="0" y="0"/>
                </a:moveTo>
                <a:lnTo>
                  <a:pt x="709354" y="0"/>
                </a:lnTo>
                <a:lnTo>
                  <a:pt x="709354" y="709354"/>
                </a:lnTo>
                <a:lnTo>
                  <a:pt x="0" y="7093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1352740" y="4930199"/>
            <a:ext cx="422096" cy="422096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11065482" y="5495924"/>
            <a:ext cx="996612" cy="996612"/>
          </a:xfrm>
          <a:custGeom>
            <a:avLst/>
            <a:gdLst/>
            <a:ahLst/>
            <a:cxnLst/>
            <a:rect r="r" b="b" t="t" l="l"/>
            <a:pathLst>
              <a:path h="996612" w="996612">
                <a:moveTo>
                  <a:pt x="0" y="0"/>
                </a:moveTo>
                <a:lnTo>
                  <a:pt x="996612" y="0"/>
                </a:lnTo>
                <a:lnTo>
                  <a:pt x="996612" y="996613"/>
                </a:lnTo>
                <a:lnTo>
                  <a:pt x="0" y="996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11293741" y="5724183"/>
            <a:ext cx="540094" cy="540094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11209111" y="5639553"/>
            <a:ext cx="709354" cy="709354"/>
          </a:xfrm>
          <a:custGeom>
            <a:avLst/>
            <a:gdLst/>
            <a:ahLst/>
            <a:cxnLst/>
            <a:rect r="r" b="b" t="t" l="l"/>
            <a:pathLst>
              <a:path h="709354" w="709354">
                <a:moveTo>
                  <a:pt x="0" y="0"/>
                </a:moveTo>
                <a:lnTo>
                  <a:pt x="709354" y="0"/>
                </a:lnTo>
                <a:lnTo>
                  <a:pt x="709354" y="709354"/>
                </a:lnTo>
                <a:lnTo>
                  <a:pt x="0" y="7093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11352740" y="5783182"/>
            <a:ext cx="422096" cy="422096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11065482" y="6348907"/>
            <a:ext cx="996612" cy="996612"/>
          </a:xfrm>
          <a:custGeom>
            <a:avLst/>
            <a:gdLst/>
            <a:ahLst/>
            <a:cxnLst/>
            <a:rect r="r" b="b" t="t" l="l"/>
            <a:pathLst>
              <a:path h="996612" w="996612">
                <a:moveTo>
                  <a:pt x="0" y="0"/>
                </a:moveTo>
                <a:lnTo>
                  <a:pt x="996612" y="0"/>
                </a:lnTo>
                <a:lnTo>
                  <a:pt x="996612" y="996613"/>
                </a:lnTo>
                <a:lnTo>
                  <a:pt x="0" y="996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1293741" y="6577167"/>
            <a:ext cx="540094" cy="540094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1209111" y="6492537"/>
            <a:ext cx="709354" cy="709354"/>
          </a:xfrm>
          <a:custGeom>
            <a:avLst/>
            <a:gdLst/>
            <a:ahLst/>
            <a:cxnLst/>
            <a:rect r="r" b="b" t="t" l="l"/>
            <a:pathLst>
              <a:path h="709354" w="709354">
                <a:moveTo>
                  <a:pt x="0" y="0"/>
                </a:moveTo>
                <a:lnTo>
                  <a:pt x="709354" y="0"/>
                </a:lnTo>
                <a:lnTo>
                  <a:pt x="709354" y="709354"/>
                </a:lnTo>
                <a:lnTo>
                  <a:pt x="0" y="7093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1352740" y="6636166"/>
            <a:ext cx="422096" cy="422096"/>
            <a:chOff x="0" y="0"/>
            <a:chExt cx="812800" cy="812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11065482" y="7201891"/>
            <a:ext cx="996612" cy="996612"/>
          </a:xfrm>
          <a:custGeom>
            <a:avLst/>
            <a:gdLst/>
            <a:ahLst/>
            <a:cxnLst/>
            <a:rect r="r" b="b" t="t" l="l"/>
            <a:pathLst>
              <a:path h="996612" w="996612">
                <a:moveTo>
                  <a:pt x="0" y="0"/>
                </a:moveTo>
                <a:lnTo>
                  <a:pt x="996612" y="0"/>
                </a:lnTo>
                <a:lnTo>
                  <a:pt x="996612" y="996612"/>
                </a:lnTo>
                <a:lnTo>
                  <a:pt x="0" y="996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1293741" y="7430150"/>
            <a:ext cx="540094" cy="540094"/>
            <a:chOff x="0" y="0"/>
            <a:chExt cx="812800" cy="812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0">
            <a:off x="11209111" y="7345520"/>
            <a:ext cx="709354" cy="709354"/>
          </a:xfrm>
          <a:custGeom>
            <a:avLst/>
            <a:gdLst/>
            <a:ahLst/>
            <a:cxnLst/>
            <a:rect r="r" b="b" t="t" l="l"/>
            <a:pathLst>
              <a:path h="709354" w="709354">
                <a:moveTo>
                  <a:pt x="0" y="0"/>
                </a:moveTo>
                <a:lnTo>
                  <a:pt x="709354" y="0"/>
                </a:lnTo>
                <a:lnTo>
                  <a:pt x="709354" y="709354"/>
                </a:lnTo>
                <a:lnTo>
                  <a:pt x="0" y="7093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1" id="81"/>
          <p:cNvGrpSpPr/>
          <p:nvPr/>
        </p:nvGrpSpPr>
        <p:grpSpPr>
          <a:xfrm rot="0">
            <a:off x="11352740" y="7489149"/>
            <a:ext cx="422096" cy="422096"/>
            <a:chOff x="0" y="0"/>
            <a:chExt cx="812800" cy="8128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12204969" y="4829649"/>
            <a:ext cx="4713929" cy="52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7"/>
              </a:lnSpc>
            </a:pPr>
            <a:r>
              <a:rPr lang="en-US" sz="3048" spc="21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STATISTICAL ANALYSIS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204969" y="5753848"/>
            <a:ext cx="3588356" cy="52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7"/>
              </a:lnSpc>
            </a:pPr>
            <a:r>
              <a:rPr lang="en-US" sz="3048" spc="21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HYPOTHESIS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252594" y="6594615"/>
            <a:ext cx="2756670" cy="52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7"/>
              </a:lnSpc>
            </a:pPr>
            <a:r>
              <a:rPr lang="en-US" sz="3048" spc="21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FINDINGS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2252594" y="7422474"/>
            <a:ext cx="3092919" cy="52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7"/>
              </a:lnSpc>
            </a:pPr>
            <a:r>
              <a:rPr lang="en-US" sz="3048" spc="21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CONCLUSION</a:t>
            </a:r>
          </a:p>
        </p:txBody>
      </p:sp>
      <p:sp>
        <p:nvSpPr>
          <p:cNvPr name="AutoShape 88" id="88"/>
          <p:cNvSpPr/>
          <p:nvPr/>
        </p:nvSpPr>
        <p:spPr>
          <a:xfrm>
            <a:off x="5093787" y="2470785"/>
            <a:ext cx="8457523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9" id="89"/>
          <p:cNvGrpSpPr/>
          <p:nvPr/>
        </p:nvGrpSpPr>
        <p:grpSpPr>
          <a:xfrm rot="0">
            <a:off x="4823697" y="4706298"/>
            <a:ext cx="422096" cy="422096"/>
            <a:chOff x="0" y="0"/>
            <a:chExt cx="812800" cy="812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5592051" y="4622685"/>
            <a:ext cx="5550385" cy="52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7"/>
              </a:lnSpc>
            </a:pPr>
            <a:r>
              <a:rPr lang="en-US" sz="3048" spc="21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RESEARCH BACKGROUND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4823697" y="6540503"/>
            <a:ext cx="422096" cy="422096"/>
            <a:chOff x="0" y="0"/>
            <a:chExt cx="812800" cy="8128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6" id="96"/>
          <p:cNvSpPr txBox="true"/>
          <p:nvPr/>
        </p:nvSpPr>
        <p:spPr>
          <a:xfrm rot="0">
            <a:off x="5634366" y="6473828"/>
            <a:ext cx="5550385" cy="52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7"/>
              </a:lnSpc>
            </a:pPr>
            <a:r>
              <a:rPr lang="en-US" sz="3048" spc="213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800474">
            <a:off x="-6360073" y="2811342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6" y="0"/>
                </a:lnTo>
                <a:lnTo>
                  <a:pt x="11240986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392774">
            <a:off x="-1189802" y="-1847427"/>
            <a:ext cx="5280133" cy="12462121"/>
            <a:chOff x="0" y="0"/>
            <a:chExt cx="1390652" cy="32822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6800474">
            <a:off x="-1468277" y="3980329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9392774">
            <a:off x="-815431" y="-1704187"/>
            <a:ext cx="4560347" cy="12462121"/>
            <a:chOff x="0" y="0"/>
            <a:chExt cx="1201079" cy="32822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01079" cy="3282205"/>
            </a:xfrm>
            <a:custGeom>
              <a:avLst/>
              <a:gdLst/>
              <a:ahLst/>
              <a:cxnLst/>
              <a:rect r="r" b="b" t="t" l="l"/>
              <a:pathLst>
                <a:path h="3282205" w="1201079">
                  <a:moveTo>
                    <a:pt x="0" y="0"/>
                  </a:moveTo>
                  <a:lnTo>
                    <a:pt x="1201079" y="0"/>
                  </a:lnTo>
                  <a:lnTo>
                    <a:pt x="1201079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01079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540086" y="3309700"/>
            <a:ext cx="12178469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LEADERSHIP &amp; GLOBALIZATION</a:t>
            </a:r>
          </a:p>
        </p:txBody>
      </p:sp>
      <p:sp>
        <p:nvSpPr>
          <p:cNvPr name="AutoShape 11" id="11"/>
          <p:cNvSpPr/>
          <p:nvPr/>
        </p:nvSpPr>
        <p:spPr>
          <a:xfrm>
            <a:off x="6249440" y="2749470"/>
            <a:ext cx="11224989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6598059" y="6089654"/>
            <a:ext cx="1006252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7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Adaptability is now the key to effective leadership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504963" y="3947875"/>
            <a:ext cx="939209" cy="939209"/>
          </a:xfrm>
          <a:custGeom>
            <a:avLst/>
            <a:gdLst/>
            <a:ahLst/>
            <a:cxnLst/>
            <a:rect r="r" b="b" t="t" l="l"/>
            <a:pathLst>
              <a:path h="939209" w="939209">
                <a:moveTo>
                  <a:pt x="0" y="0"/>
                </a:moveTo>
                <a:lnTo>
                  <a:pt x="939209" y="0"/>
                </a:lnTo>
                <a:lnTo>
                  <a:pt x="939209" y="939209"/>
                </a:lnTo>
                <a:lnTo>
                  <a:pt x="0" y="939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720004" y="4027691"/>
            <a:ext cx="668496" cy="668496"/>
          </a:xfrm>
          <a:custGeom>
            <a:avLst/>
            <a:gdLst/>
            <a:ahLst/>
            <a:cxnLst/>
            <a:rect r="r" b="b" t="t" l="l"/>
            <a:pathLst>
              <a:path h="668496" w="668496">
                <a:moveTo>
                  <a:pt x="0" y="0"/>
                </a:moveTo>
                <a:lnTo>
                  <a:pt x="668496" y="0"/>
                </a:lnTo>
                <a:lnTo>
                  <a:pt x="668496" y="668496"/>
                </a:lnTo>
                <a:lnTo>
                  <a:pt x="0" y="6684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830498" y="4138185"/>
            <a:ext cx="447507" cy="447507"/>
          </a:xfrm>
          <a:custGeom>
            <a:avLst/>
            <a:gdLst/>
            <a:ahLst/>
            <a:cxnLst/>
            <a:rect r="r" b="b" t="t" l="l"/>
            <a:pathLst>
              <a:path h="447507" w="447507">
                <a:moveTo>
                  <a:pt x="0" y="0"/>
                </a:moveTo>
                <a:lnTo>
                  <a:pt x="447507" y="0"/>
                </a:lnTo>
                <a:lnTo>
                  <a:pt x="447507" y="447507"/>
                </a:lnTo>
                <a:lnTo>
                  <a:pt x="0" y="4475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921109" y="4228796"/>
            <a:ext cx="266286" cy="26628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944870" y="4244896"/>
            <a:ext cx="218764" cy="234085"/>
          </a:xfrm>
          <a:custGeom>
            <a:avLst/>
            <a:gdLst/>
            <a:ahLst/>
            <a:cxnLst/>
            <a:rect r="r" b="b" t="t" l="l"/>
            <a:pathLst>
              <a:path h="234085" w="218764">
                <a:moveTo>
                  <a:pt x="0" y="0"/>
                </a:moveTo>
                <a:lnTo>
                  <a:pt x="218764" y="0"/>
                </a:lnTo>
                <a:lnTo>
                  <a:pt x="218764" y="234086"/>
                </a:lnTo>
                <a:lnTo>
                  <a:pt x="0" y="2340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598059" y="5172432"/>
            <a:ext cx="10876369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7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Traditional models (e.g., Porter’s framework) are losing relevance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98059" y="4135244"/>
            <a:ext cx="1030652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7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Leadership success is shaped by personal &amp; national culture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5502662" y="4956890"/>
            <a:ext cx="939209" cy="939209"/>
          </a:xfrm>
          <a:custGeom>
            <a:avLst/>
            <a:gdLst/>
            <a:ahLst/>
            <a:cxnLst/>
            <a:rect r="r" b="b" t="t" l="l"/>
            <a:pathLst>
              <a:path h="939209" w="939209">
                <a:moveTo>
                  <a:pt x="0" y="0"/>
                </a:moveTo>
                <a:lnTo>
                  <a:pt x="939209" y="0"/>
                </a:lnTo>
                <a:lnTo>
                  <a:pt x="939209" y="939208"/>
                </a:lnTo>
                <a:lnTo>
                  <a:pt x="0" y="9392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717703" y="5036706"/>
            <a:ext cx="668496" cy="668496"/>
          </a:xfrm>
          <a:custGeom>
            <a:avLst/>
            <a:gdLst/>
            <a:ahLst/>
            <a:cxnLst/>
            <a:rect r="r" b="b" t="t" l="l"/>
            <a:pathLst>
              <a:path h="668496" w="668496">
                <a:moveTo>
                  <a:pt x="0" y="0"/>
                </a:moveTo>
                <a:lnTo>
                  <a:pt x="668496" y="0"/>
                </a:lnTo>
                <a:lnTo>
                  <a:pt x="668496" y="668496"/>
                </a:lnTo>
                <a:lnTo>
                  <a:pt x="0" y="6684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828197" y="5147200"/>
            <a:ext cx="447507" cy="447507"/>
          </a:xfrm>
          <a:custGeom>
            <a:avLst/>
            <a:gdLst/>
            <a:ahLst/>
            <a:cxnLst/>
            <a:rect r="r" b="b" t="t" l="l"/>
            <a:pathLst>
              <a:path h="447507" w="447507">
                <a:moveTo>
                  <a:pt x="0" y="0"/>
                </a:moveTo>
                <a:lnTo>
                  <a:pt x="447507" y="0"/>
                </a:lnTo>
                <a:lnTo>
                  <a:pt x="447507" y="447507"/>
                </a:lnTo>
                <a:lnTo>
                  <a:pt x="0" y="4475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5918808" y="5237811"/>
            <a:ext cx="266286" cy="26628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5942569" y="5253911"/>
            <a:ext cx="218764" cy="234085"/>
          </a:xfrm>
          <a:custGeom>
            <a:avLst/>
            <a:gdLst/>
            <a:ahLst/>
            <a:cxnLst/>
            <a:rect r="r" b="b" t="t" l="l"/>
            <a:pathLst>
              <a:path h="234085" w="218764">
                <a:moveTo>
                  <a:pt x="0" y="0"/>
                </a:moveTo>
                <a:lnTo>
                  <a:pt x="218763" y="0"/>
                </a:lnTo>
                <a:lnTo>
                  <a:pt x="218763" y="234085"/>
                </a:lnTo>
                <a:lnTo>
                  <a:pt x="0" y="2340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502662" y="5857602"/>
            <a:ext cx="939209" cy="939209"/>
          </a:xfrm>
          <a:custGeom>
            <a:avLst/>
            <a:gdLst/>
            <a:ahLst/>
            <a:cxnLst/>
            <a:rect r="r" b="b" t="t" l="l"/>
            <a:pathLst>
              <a:path h="939209" w="939209">
                <a:moveTo>
                  <a:pt x="0" y="0"/>
                </a:moveTo>
                <a:lnTo>
                  <a:pt x="939209" y="0"/>
                </a:lnTo>
                <a:lnTo>
                  <a:pt x="939209" y="939208"/>
                </a:lnTo>
                <a:lnTo>
                  <a:pt x="0" y="9392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5717703" y="5937417"/>
            <a:ext cx="668496" cy="668496"/>
          </a:xfrm>
          <a:custGeom>
            <a:avLst/>
            <a:gdLst/>
            <a:ahLst/>
            <a:cxnLst/>
            <a:rect r="r" b="b" t="t" l="l"/>
            <a:pathLst>
              <a:path h="668496" w="668496">
                <a:moveTo>
                  <a:pt x="0" y="0"/>
                </a:moveTo>
                <a:lnTo>
                  <a:pt x="668496" y="0"/>
                </a:lnTo>
                <a:lnTo>
                  <a:pt x="668496" y="668496"/>
                </a:lnTo>
                <a:lnTo>
                  <a:pt x="0" y="6684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828197" y="6047912"/>
            <a:ext cx="447507" cy="447507"/>
          </a:xfrm>
          <a:custGeom>
            <a:avLst/>
            <a:gdLst/>
            <a:ahLst/>
            <a:cxnLst/>
            <a:rect r="r" b="b" t="t" l="l"/>
            <a:pathLst>
              <a:path h="447507" w="447507">
                <a:moveTo>
                  <a:pt x="0" y="0"/>
                </a:moveTo>
                <a:lnTo>
                  <a:pt x="447507" y="0"/>
                </a:lnTo>
                <a:lnTo>
                  <a:pt x="447507" y="447507"/>
                </a:lnTo>
                <a:lnTo>
                  <a:pt x="0" y="4475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5918808" y="6138522"/>
            <a:ext cx="266286" cy="266286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5942569" y="6154623"/>
            <a:ext cx="218764" cy="234085"/>
          </a:xfrm>
          <a:custGeom>
            <a:avLst/>
            <a:gdLst/>
            <a:ahLst/>
            <a:cxnLst/>
            <a:rect r="r" b="b" t="t" l="l"/>
            <a:pathLst>
              <a:path h="234085" w="218764">
                <a:moveTo>
                  <a:pt x="0" y="0"/>
                </a:moveTo>
                <a:lnTo>
                  <a:pt x="218763" y="0"/>
                </a:lnTo>
                <a:lnTo>
                  <a:pt x="218763" y="234085"/>
                </a:lnTo>
                <a:lnTo>
                  <a:pt x="0" y="2340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6448211" y="864790"/>
            <a:ext cx="12902369" cy="1837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 &amp; RESEARCH BACKGROUND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158369" y="9205439"/>
            <a:ext cx="1030652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7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Adaptive Leadership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507321" y="9205439"/>
            <a:ext cx="10306522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7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Values-Based Leadership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</p:txBody>
      </p:sp>
      <p:grpSp>
        <p:nvGrpSpPr>
          <p:cNvPr name="Group 39" id="39"/>
          <p:cNvGrpSpPr/>
          <p:nvPr/>
        </p:nvGrpSpPr>
        <p:grpSpPr>
          <a:xfrm rot="0">
            <a:off x="5766408" y="9367728"/>
            <a:ext cx="152400" cy="152400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5502662" y="6958735"/>
            <a:ext cx="12178469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QUESTION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05667" y="7609049"/>
            <a:ext cx="1055363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7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What makes a leader effective across different cultural settings?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502662" y="8357714"/>
            <a:ext cx="12178469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LEADERSHIP IN A GLOBAL MARKET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1159230" y="9367728"/>
            <a:ext cx="152400" cy="152400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0582" y="439175"/>
            <a:ext cx="12583722" cy="169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0"/>
              </a:lnSpc>
            </a:pPr>
            <a:r>
              <a:rPr lang="en-US" sz="4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RESEARCH FOCUS &amp; PROBLEM STATEMENT</a:t>
            </a:r>
          </a:p>
        </p:txBody>
      </p:sp>
      <p:sp>
        <p:nvSpPr>
          <p:cNvPr name="AutoShape 3" id="3"/>
          <p:cNvSpPr/>
          <p:nvPr/>
        </p:nvSpPr>
        <p:spPr>
          <a:xfrm>
            <a:off x="6023457" y="2153040"/>
            <a:ext cx="11224989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5646865" y="6054019"/>
            <a:ext cx="12178469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8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Which has a greater influence on leadership effectiveness: personal values or national culture?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446569" y="3184133"/>
            <a:ext cx="12378765" cy="2277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 spc="18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How do personal values and national culture influence leadership effectiveness?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 spc="18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2599" spc="18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 different leadership styles play in driving a firm's international success?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667950" y="2604578"/>
            <a:ext cx="1217846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77475" y="7385074"/>
            <a:ext cx="1217846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 FRAMEWORK: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8220834">
            <a:off x="-1286186" y="7656554"/>
            <a:ext cx="7912983" cy="1374881"/>
          </a:xfrm>
          <a:custGeom>
            <a:avLst/>
            <a:gdLst/>
            <a:ahLst/>
            <a:cxnLst/>
            <a:rect r="r" b="b" t="t" l="l"/>
            <a:pathLst>
              <a:path h="1374881" w="7912983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2814084">
            <a:off x="-101335" y="5268511"/>
            <a:ext cx="3716898" cy="8772589"/>
            <a:chOff x="0" y="0"/>
            <a:chExt cx="1390652" cy="32822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8220834">
            <a:off x="-1598870" y="8278662"/>
            <a:ext cx="7912983" cy="1374881"/>
          </a:xfrm>
          <a:custGeom>
            <a:avLst/>
            <a:gdLst/>
            <a:ahLst/>
            <a:cxnLst/>
            <a:rect r="r" b="b" t="t" l="l"/>
            <a:pathLst>
              <a:path h="1374881" w="7912983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-2814084">
            <a:off x="-542197" y="5809008"/>
            <a:ext cx="3716898" cy="8772589"/>
            <a:chOff x="0" y="0"/>
            <a:chExt cx="1390652" cy="32822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3234064">
            <a:off x="-3143540" y="352885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2172685">
            <a:off x="-2167342" y="-5966217"/>
            <a:ext cx="5280133" cy="12462121"/>
            <a:chOff x="0" y="0"/>
            <a:chExt cx="1390652" cy="32822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3234064">
            <a:off x="-4074180" y="17873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2172685">
            <a:off x="-3004718" y="-6495904"/>
            <a:ext cx="5280133" cy="12462121"/>
            <a:chOff x="0" y="0"/>
            <a:chExt cx="1390652" cy="328220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677475" y="5380061"/>
            <a:ext cx="12178469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RESEARCH QUESTIONS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5788829" y="7631304"/>
            <a:ext cx="12515476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17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Personal Value</a:t>
            </a:r>
            <a:r>
              <a:rPr lang="en-US" sz="2499" spc="17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 – The beliefs and principles that guide an individual’s behavior.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17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Cultural Values</a:t>
            </a:r>
            <a:r>
              <a:rPr lang="en-US" sz="2499" spc="17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– The collective expectations and traditions of a society.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713842" y="7309191"/>
            <a:ext cx="12378765" cy="104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spc="21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Schwartz’s Value Framework</a:t>
            </a:r>
          </a:p>
          <a:p>
            <a:pPr algn="l">
              <a:lnSpc>
                <a:spcPts val="40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46865" y="648725"/>
            <a:ext cx="12583722" cy="8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0"/>
              </a:lnSpc>
            </a:pPr>
            <a:r>
              <a:rPr lang="en-US" sz="4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CONCEPTUAL FRAMEWORK 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5630924" y="1476765"/>
            <a:ext cx="9074397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5720582" y="6794841"/>
            <a:ext cx="12178469" cy="273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8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Leaders hold a bundle of personal values that shape their style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8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These values create a holistic leadership approach rather than isolated traits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 spc="18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strongest influence on leadership comes from founders’ core values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646865" y="3376858"/>
            <a:ext cx="11069487" cy="2734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 spc="18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Leadership style is shaped by personal values (beliefs &amp; priorities)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 spc="18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National culture sets leadership expectations in organizations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 spc="18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Effective leadership balances personal values with cultural norms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677475" y="2614103"/>
            <a:ext cx="12178469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1.1 PERSONAL &amp; CULTURAL VALUES IN LEADERSHIP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8220834">
            <a:off x="-1286186" y="7656554"/>
            <a:ext cx="7912983" cy="1374881"/>
          </a:xfrm>
          <a:custGeom>
            <a:avLst/>
            <a:gdLst/>
            <a:ahLst/>
            <a:cxnLst/>
            <a:rect r="r" b="b" t="t" l="l"/>
            <a:pathLst>
              <a:path h="1374881" w="7912983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2814084">
            <a:off x="-101335" y="5268511"/>
            <a:ext cx="3716898" cy="8772589"/>
            <a:chOff x="0" y="0"/>
            <a:chExt cx="1390652" cy="32822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8220834">
            <a:off x="-1598870" y="8278662"/>
            <a:ext cx="7912983" cy="1374881"/>
          </a:xfrm>
          <a:custGeom>
            <a:avLst/>
            <a:gdLst/>
            <a:ahLst/>
            <a:cxnLst/>
            <a:rect r="r" b="b" t="t" l="l"/>
            <a:pathLst>
              <a:path h="1374881" w="7912983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2814084">
            <a:off x="-542197" y="5809008"/>
            <a:ext cx="3716898" cy="8772589"/>
            <a:chOff x="0" y="0"/>
            <a:chExt cx="1390652" cy="32822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234064">
            <a:off x="-3143540" y="352885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2172685">
            <a:off x="-2167342" y="-5966217"/>
            <a:ext cx="5280133" cy="12462121"/>
            <a:chOff x="0" y="0"/>
            <a:chExt cx="1390652" cy="32822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3234064">
            <a:off x="-4074180" y="17873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2172685">
            <a:off x="-3004718" y="-6495904"/>
            <a:ext cx="5280133" cy="12462121"/>
            <a:chOff x="0" y="0"/>
            <a:chExt cx="1390652" cy="328220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677475" y="6063544"/>
            <a:ext cx="12178469" cy="100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1.2 THE GESTALT EFFECT OF PERSONAL VALUES</a:t>
            </a:r>
          </a:p>
          <a:p>
            <a:pPr algn="l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89452" y="648725"/>
            <a:ext cx="12583722" cy="8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0"/>
              </a:lnSpc>
            </a:pPr>
            <a:r>
              <a:rPr lang="en-US" sz="4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CONCEPTUAL FRAMEWORK CONT..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4677540" y="1495815"/>
            <a:ext cx="11163575" cy="3810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611873" y="2406664"/>
            <a:ext cx="12178469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1.3 RESEARCH HYPOTHESES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8220834">
            <a:off x="-1286186" y="7656554"/>
            <a:ext cx="7912983" cy="1374881"/>
          </a:xfrm>
          <a:custGeom>
            <a:avLst/>
            <a:gdLst/>
            <a:ahLst/>
            <a:cxnLst/>
            <a:rect r="r" b="b" t="t" l="l"/>
            <a:pathLst>
              <a:path h="1374881" w="7912983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2814084">
            <a:off x="-101335" y="5268511"/>
            <a:ext cx="3716898" cy="8772589"/>
            <a:chOff x="0" y="0"/>
            <a:chExt cx="1390652" cy="32822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8220834">
            <a:off x="-1598870" y="8278662"/>
            <a:ext cx="7912983" cy="1374881"/>
          </a:xfrm>
          <a:custGeom>
            <a:avLst/>
            <a:gdLst/>
            <a:ahLst/>
            <a:cxnLst/>
            <a:rect r="r" b="b" t="t" l="l"/>
            <a:pathLst>
              <a:path h="1374881" w="7912983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814084">
            <a:off x="-542197" y="5809008"/>
            <a:ext cx="3716898" cy="8772589"/>
            <a:chOff x="0" y="0"/>
            <a:chExt cx="1390652" cy="32822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3234064">
            <a:off x="-3143540" y="352885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2172685">
            <a:off x="-2167342" y="-5966217"/>
            <a:ext cx="5280133" cy="12462121"/>
            <a:chOff x="0" y="0"/>
            <a:chExt cx="1390652" cy="32822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3234064">
            <a:off x="-4074180" y="17873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2172685">
            <a:off x="-3004718" y="-6495904"/>
            <a:ext cx="5280133" cy="12462121"/>
            <a:chOff x="0" y="0"/>
            <a:chExt cx="1390652" cy="32822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4611873" y="6010594"/>
            <a:ext cx="1264742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6319342" y="3447429"/>
            <a:ext cx="4456311" cy="227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18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Successful leadership is not one-size-fits-all. Different leadership styles succeed in different cultures.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92937" y="3457627"/>
            <a:ext cx="4456311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18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Leadership style directly impacts a company’s performance in global markets.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339164" y="6951006"/>
            <a:ext cx="4810077" cy="227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18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Personal values shape leadership at an individual level, but national culture shapes leadership expectations.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20366" y="7288687"/>
            <a:ext cx="445631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spc="18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National culture plays a more dominant role than personal values.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4611873" y="3613660"/>
            <a:ext cx="1544598" cy="1544598"/>
          </a:xfrm>
          <a:custGeom>
            <a:avLst/>
            <a:gdLst/>
            <a:ahLst/>
            <a:cxnLst/>
            <a:rect r="r" b="b" t="t" l="l"/>
            <a:pathLst>
              <a:path h="1544598" w="1544598">
                <a:moveTo>
                  <a:pt x="0" y="0"/>
                </a:moveTo>
                <a:lnTo>
                  <a:pt x="1544598" y="0"/>
                </a:lnTo>
                <a:lnTo>
                  <a:pt x="1544598" y="1544598"/>
                </a:lnTo>
                <a:lnTo>
                  <a:pt x="0" y="154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4965640" y="3967427"/>
            <a:ext cx="837064" cy="83706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4834477" y="3836264"/>
            <a:ext cx="1099391" cy="1099391"/>
          </a:xfrm>
          <a:custGeom>
            <a:avLst/>
            <a:gdLst/>
            <a:ahLst/>
            <a:cxnLst/>
            <a:rect r="r" b="b" t="t" l="l"/>
            <a:pathLst>
              <a:path h="1099391" w="1099391">
                <a:moveTo>
                  <a:pt x="0" y="0"/>
                </a:moveTo>
                <a:lnTo>
                  <a:pt x="1099391" y="0"/>
                </a:lnTo>
                <a:lnTo>
                  <a:pt x="1099391" y="1099391"/>
                </a:lnTo>
                <a:lnTo>
                  <a:pt x="0" y="109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5057080" y="4058867"/>
            <a:ext cx="654185" cy="654185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4866535" y="3836264"/>
            <a:ext cx="1099391" cy="1099391"/>
          </a:xfrm>
          <a:custGeom>
            <a:avLst/>
            <a:gdLst/>
            <a:ahLst/>
            <a:cxnLst/>
            <a:rect r="r" b="b" t="t" l="l"/>
            <a:pathLst>
              <a:path h="1099391" w="1099391">
                <a:moveTo>
                  <a:pt x="0" y="0"/>
                </a:moveTo>
                <a:lnTo>
                  <a:pt x="1099392" y="0"/>
                </a:lnTo>
                <a:lnTo>
                  <a:pt x="1099392" y="1099391"/>
                </a:lnTo>
                <a:lnTo>
                  <a:pt x="0" y="109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5052736" y="4032192"/>
            <a:ext cx="717732" cy="717732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197327" y="4098660"/>
            <a:ext cx="36001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H1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1286414" y="3618759"/>
            <a:ext cx="1544598" cy="1544598"/>
          </a:xfrm>
          <a:custGeom>
            <a:avLst/>
            <a:gdLst/>
            <a:ahLst/>
            <a:cxnLst/>
            <a:rect r="r" b="b" t="t" l="l"/>
            <a:pathLst>
              <a:path h="1544598" w="1544598">
                <a:moveTo>
                  <a:pt x="0" y="0"/>
                </a:moveTo>
                <a:lnTo>
                  <a:pt x="1544598" y="0"/>
                </a:lnTo>
                <a:lnTo>
                  <a:pt x="1544598" y="1544598"/>
                </a:lnTo>
                <a:lnTo>
                  <a:pt x="0" y="154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1640181" y="3972526"/>
            <a:ext cx="837064" cy="837064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1509017" y="3841363"/>
            <a:ext cx="1099391" cy="1099391"/>
          </a:xfrm>
          <a:custGeom>
            <a:avLst/>
            <a:gdLst/>
            <a:ahLst/>
            <a:cxnLst/>
            <a:rect r="r" b="b" t="t" l="l"/>
            <a:pathLst>
              <a:path h="1099391" w="1099391">
                <a:moveTo>
                  <a:pt x="0" y="0"/>
                </a:moveTo>
                <a:lnTo>
                  <a:pt x="1099392" y="0"/>
                </a:lnTo>
                <a:lnTo>
                  <a:pt x="1099392" y="1099391"/>
                </a:lnTo>
                <a:lnTo>
                  <a:pt x="0" y="109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1731621" y="4063966"/>
            <a:ext cx="654185" cy="65418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1541076" y="3841363"/>
            <a:ext cx="1099391" cy="1099391"/>
          </a:xfrm>
          <a:custGeom>
            <a:avLst/>
            <a:gdLst/>
            <a:ahLst/>
            <a:cxnLst/>
            <a:rect r="r" b="b" t="t" l="l"/>
            <a:pathLst>
              <a:path h="1099391" w="1099391">
                <a:moveTo>
                  <a:pt x="0" y="0"/>
                </a:moveTo>
                <a:lnTo>
                  <a:pt x="1099391" y="0"/>
                </a:lnTo>
                <a:lnTo>
                  <a:pt x="1099391" y="1099391"/>
                </a:lnTo>
                <a:lnTo>
                  <a:pt x="0" y="109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1727276" y="4037291"/>
            <a:ext cx="717732" cy="717732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1869642" y="4078937"/>
            <a:ext cx="46255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H2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4689452" y="7309125"/>
            <a:ext cx="1544598" cy="1544598"/>
          </a:xfrm>
          <a:custGeom>
            <a:avLst/>
            <a:gdLst/>
            <a:ahLst/>
            <a:cxnLst/>
            <a:rect r="r" b="b" t="t" l="l"/>
            <a:pathLst>
              <a:path h="1544598" w="1544598">
                <a:moveTo>
                  <a:pt x="0" y="0"/>
                </a:moveTo>
                <a:lnTo>
                  <a:pt x="1544598" y="0"/>
                </a:lnTo>
                <a:lnTo>
                  <a:pt x="1544598" y="1544598"/>
                </a:lnTo>
                <a:lnTo>
                  <a:pt x="0" y="154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5043219" y="7662892"/>
            <a:ext cx="837064" cy="837064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4912055" y="7531729"/>
            <a:ext cx="1099391" cy="1099391"/>
          </a:xfrm>
          <a:custGeom>
            <a:avLst/>
            <a:gdLst/>
            <a:ahLst/>
            <a:cxnLst/>
            <a:rect r="r" b="b" t="t" l="l"/>
            <a:pathLst>
              <a:path h="1099391" w="1099391">
                <a:moveTo>
                  <a:pt x="0" y="0"/>
                </a:moveTo>
                <a:lnTo>
                  <a:pt x="1099391" y="0"/>
                </a:lnTo>
                <a:lnTo>
                  <a:pt x="1099391" y="1099391"/>
                </a:lnTo>
                <a:lnTo>
                  <a:pt x="0" y="109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5134658" y="7754332"/>
            <a:ext cx="654185" cy="654185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4944114" y="7531729"/>
            <a:ext cx="1099391" cy="1099391"/>
          </a:xfrm>
          <a:custGeom>
            <a:avLst/>
            <a:gdLst/>
            <a:ahLst/>
            <a:cxnLst/>
            <a:rect r="r" b="b" t="t" l="l"/>
            <a:pathLst>
              <a:path h="1099391" w="1099391">
                <a:moveTo>
                  <a:pt x="0" y="0"/>
                </a:moveTo>
                <a:lnTo>
                  <a:pt x="1099391" y="0"/>
                </a:lnTo>
                <a:lnTo>
                  <a:pt x="1099391" y="1099391"/>
                </a:lnTo>
                <a:lnTo>
                  <a:pt x="0" y="109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5130314" y="7727657"/>
            <a:ext cx="717732" cy="717732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5275984" y="7779501"/>
            <a:ext cx="42639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H3</a:t>
            </a:r>
          </a:p>
        </p:txBody>
      </p:sp>
      <p:sp>
        <p:nvSpPr>
          <p:cNvPr name="Freeform 65" id="65"/>
          <p:cNvSpPr/>
          <p:nvPr/>
        </p:nvSpPr>
        <p:spPr>
          <a:xfrm flipH="false" flipV="false" rot="0">
            <a:off x="11313843" y="7345837"/>
            <a:ext cx="1544598" cy="1544598"/>
          </a:xfrm>
          <a:custGeom>
            <a:avLst/>
            <a:gdLst/>
            <a:ahLst/>
            <a:cxnLst/>
            <a:rect r="r" b="b" t="t" l="l"/>
            <a:pathLst>
              <a:path h="1544598" w="1544598">
                <a:moveTo>
                  <a:pt x="0" y="0"/>
                </a:moveTo>
                <a:lnTo>
                  <a:pt x="1544598" y="0"/>
                </a:lnTo>
                <a:lnTo>
                  <a:pt x="1544598" y="1544598"/>
                </a:lnTo>
                <a:lnTo>
                  <a:pt x="0" y="154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1667610" y="7699604"/>
            <a:ext cx="837064" cy="837064"/>
            <a:chOff x="0" y="0"/>
            <a:chExt cx="812800" cy="812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11536447" y="7568440"/>
            <a:ext cx="1099391" cy="1099391"/>
          </a:xfrm>
          <a:custGeom>
            <a:avLst/>
            <a:gdLst/>
            <a:ahLst/>
            <a:cxnLst/>
            <a:rect r="r" b="b" t="t" l="l"/>
            <a:pathLst>
              <a:path h="1099391" w="1099391">
                <a:moveTo>
                  <a:pt x="0" y="0"/>
                </a:moveTo>
                <a:lnTo>
                  <a:pt x="1099391" y="0"/>
                </a:lnTo>
                <a:lnTo>
                  <a:pt x="1099391" y="1099391"/>
                </a:lnTo>
                <a:lnTo>
                  <a:pt x="0" y="109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1759050" y="7791043"/>
            <a:ext cx="654185" cy="654185"/>
            <a:chOff x="0" y="0"/>
            <a:chExt cx="812800" cy="812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11568505" y="7568440"/>
            <a:ext cx="1099391" cy="1099391"/>
          </a:xfrm>
          <a:custGeom>
            <a:avLst/>
            <a:gdLst/>
            <a:ahLst/>
            <a:cxnLst/>
            <a:rect r="r" b="b" t="t" l="l"/>
            <a:pathLst>
              <a:path h="1099391" w="1099391">
                <a:moveTo>
                  <a:pt x="0" y="0"/>
                </a:moveTo>
                <a:lnTo>
                  <a:pt x="1099392" y="0"/>
                </a:lnTo>
                <a:lnTo>
                  <a:pt x="1099392" y="1099391"/>
                </a:lnTo>
                <a:lnTo>
                  <a:pt x="0" y="109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1754706" y="7764369"/>
            <a:ext cx="717732" cy="717732"/>
            <a:chOff x="0" y="0"/>
            <a:chExt cx="812800" cy="812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1863912" y="7782657"/>
            <a:ext cx="474018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89452" y="648725"/>
            <a:ext cx="14267079" cy="8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0"/>
              </a:lnSpc>
            </a:pPr>
            <a:r>
              <a:rPr lang="en-US" sz="4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 METHODOLOGY OVERVIEW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4677540" y="1476765"/>
            <a:ext cx="12581760" cy="571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8220834">
            <a:off x="-1286186" y="7656554"/>
            <a:ext cx="7912983" cy="1374881"/>
          </a:xfrm>
          <a:custGeom>
            <a:avLst/>
            <a:gdLst/>
            <a:ahLst/>
            <a:cxnLst/>
            <a:rect r="r" b="b" t="t" l="l"/>
            <a:pathLst>
              <a:path h="1374881" w="7912983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2814084">
            <a:off x="-101335" y="5268511"/>
            <a:ext cx="3716898" cy="8772589"/>
            <a:chOff x="0" y="0"/>
            <a:chExt cx="1390652" cy="32822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8220834">
            <a:off x="-1598870" y="8278662"/>
            <a:ext cx="7912983" cy="1374881"/>
          </a:xfrm>
          <a:custGeom>
            <a:avLst/>
            <a:gdLst/>
            <a:ahLst/>
            <a:cxnLst/>
            <a:rect r="r" b="b" t="t" l="l"/>
            <a:pathLst>
              <a:path h="1374881" w="7912983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2814084">
            <a:off x="-542197" y="5809008"/>
            <a:ext cx="3716898" cy="8772589"/>
            <a:chOff x="0" y="0"/>
            <a:chExt cx="1390652" cy="32822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3234064">
            <a:off x="-3143540" y="352885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2172685">
            <a:off x="-2167342" y="-5966217"/>
            <a:ext cx="5280133" cy="12462121"/>
            <a:chOff x="0" y="0"/>
            <a:chExt cx="1390652" cy="32822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3234064">
            <a:off x="-4074180" y="17873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2172685">
            <a:off x="-3004718" y="-6495904"/>
            <a:ext cx="5280133" cy="12462121"/>
            <a:chOff x="0" y="0"/>
            <a:chExt cx="1390652" cy="32822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4611873" y="6010594"/>
            <a:ext cx="1264742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4421293" y="6115556"/>
            <a:ext cx="7101934" cy="3539250"/>
            <a:chOff x="0" y="0"/>
            <a:chExt cx="9469246" cy="4719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1569780"/>
              <a:ext cx="2059464" cy="2059464"/>
            </a:xfrm>
            <a:custGeom>
              <a:avLst/>
              <a:gdLst/>
              <a:ahLst/>
              <a:cxnLst/>
              <a:rect r="r" b="b" t="t" l="l"/>
              <a:pathLst>
                <a:path h="2059464" w="2059464">
                  <a:moveTo>
                    <a:pt x="0" y="0"/>
                  </a:moveTo>
                  <a:lnTo>
                    <a:pt x="2059464" y="0"/>
                  </a:lnTo>
                  <a:lnTo>
                    <a:pt x="2059464" y="2059464"/>
                  </a:lnTo>
                  <a:lnTo>
                    <a:pt x="0" y="2059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3" id="23"/>
            <p:cNvGrpSpPr/>
            <p:nvPr/>
          </p:nvGrpSpPr>
          <p:grpSpPr>
            <a:xfrm rot="0">
              <a:off x="471689" y="2041469"/>
              <a:ext cx="1116085" cy="1116085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3E46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296804" y="1866584"/>
              <a:ext cx="1465855" cy="1465855"/>
            </a:xfrm>
            <a:custGeom>
              <a:avLst/>
              <a:gdLst/>
              <a:ahLst/>
              <a:cxnLst/>
              <a:rect r="r" b="b" t="t" l="l"/>
              <a:pathLst>
                <a:path h="1465855" w="1465855">
                  <a:moveTo>
                    <a:pt x="0" y="0"/>
                  </a:moveTo>
                  <a:lnTo>
                    <a:pt x="1465856" y="0"/>
                  </a:lnTo>
                  <a:lnTo>
                    <a:pt x="1465856" y="1465855"/>
                  </a:lnTo>
                  <a:lnTo>
                    <a:pt x="0" y="1465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7" id="27"/>
            <p:cNvGrpSpPr/>
            <p:nvPr/>
          </p:nvGrpSpPr>
          <p:grpSpPr>
            <a:xfrm rot="0">
              <a:off x="593609" y="2163389"/>
              <a:ext cx="872246" cy="872246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3E46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339549" y="1866584"/>
              <a:ext cx="1465855" cy="1465855"/>
            </a:xfrm>
            <a:custGeom>
              <a:avLst/>
              <a:gdLst/>
              <a:ahLst/>
              <a:cxnLst/>
              <a:rect r="r" b="b" t="t" l="l"/>
              <a:pathLst>
                <a:path h="1465855" w="1465855">
                  <a:moveTo>
                    <a:pt x="0" y="0"/>
                  </a:moveTo>
                  <a:lnTo>
                    <a:pt x="1465855" y="0"/>
                  </a:lnTo>
                  <a:lnTo>
                    <a:pt x="1465855" y="1465855"/>
                  </a:lnTo>
                  <a:lnTo>
                    <a:pt x="0" y="1465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1" id="31"/>
            <p:cNvGrpSpPr/>
            <p:nvPr/>
          </p:nvGrpSpPr>
          <p:grpSpPr>
            <a:xfrm rot="0">
              <a:off x="587816" y="2127823"/>
              <a:ext cx="956976" cy="956976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3E46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365382" y="-57150"/>
              <a:ext cx="9103863" cy="128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DATA RELIABILITY &amp; CONFIDENCE LEVEL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578981" y="1527401"/>
              <a:ext cx="7141360" cy="31915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2365" indent="-291182" lvl="1">
                <a:lnSpc>
                  <a:spcPts val="3776"/>
                </a:lnSpc>
                <a:buFont typeface="Arial"/>
                <a:buChar char="•"/>
              </a:pPr>
              <a:r>
                <a:rPr lang="en-US" b="true" sz="2697" spc="188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95% confidence</a:t>
              </a:r>
              <a:r>
                <a:rPr lang="en-US" sz="2697" spc="188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level ensures reliability</a:t>
              </a:r>
            </a:p>
            <a:p>
              <a:pPr algn="l" marL="603954" indent="-301977" lvl="1">
                <a:lnSpc>
                  <a:spcPts val="3916"/>
                </a:lnSpc>
                <a:buFont typeface="Arial"/>
                <a:buChar char="•"/>
              </a:pPr>
              <a:r>
                <a:rPr lang="en-US" sz="2797" spc="195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Validated data collection for accuracy</a:t>
              </a:r>
            </a:p>
            <a:p>
              <a:pPr algn="l">
                <a:lnSpc>
                  <a:spcPts val="3776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611873" y="1765644"/>
            <a:ext cx="6697956" cy="3711086"/>
            <a:chOff x="0" y="0"/>
            <a:chExt cx="8930608" cy="4948115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1641933" y="1013866"/>
              <a:ext cx="7288675" cy="3934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 spc="195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159 firms across the three countries</a:t>
              </a:r>
            </a:p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 spc="195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Data collected using surveys &amp; structured questionnaires</a:t>
              </a:r>
            </a:p>
            <a:p>
              <a:pPr algn="l">
                <a:lnSpc>
                  <a:spcPts val="3919"/>
                </a:lnSpc>
              </a:pPr>
            </a:p>
          </p:txBody>
        </p:sp>
        <p:sp>
          <p:nvSpPr>
            <p:cNvPr name="Freeform 38" id="38"/>
            <p:cNvSpPr/>
            <p:nvPr/>
          </p:nvSpPr>
          <p:spPr>
            <a:xfrm flipH="false" flipV="false" rot="0">
              <a:off x="0" y="1084209"/>
              <a:ext cx="2059464" cy="2059464"/>
            </a:xfrm>
            <a:custGeom>
              <a:avLst/>
              <a:gdLst/>
              <a:ahLst/>
              <a:cxnLst/>
              <a:rect r="r" b="b" t="t" l="l"/>
              <a:pathLst>
                <a:path h="2059464" w="2059464">
                  <a:moveTo>
                    <a:pt x="0" y="0"/>
                  </a:moveTo>
                  <a:lnTo>
                    <a:pt x="2059464" y="0"/>
                  </a:lnTo>
                  <a:lnTo>
                    <a:pt x="2059464" y="2059464"/>
                  </a:lnTo>
                  <a:lnTo>
                    <a:pt x="0" y="2059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9" id="39"/>
            <p:cNvGrpSpPr/>
            <p:nvPr/>
          </p:nvGrpSpPr>
          <p:grpSpPr>
            <a:xfrm rot="0">
              <a:off x="471689" y="1555899"/>
              <a:ext cx="1116085" cy="1116085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3E46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296804" y="1381014"/>
              <a:ext cx="1465855" cy="1465855"/>
            </a:xfrm>
            <a:custGeom>
              <a:avLst/>
              <a:gdLst/>
              <a:ahLst/>
              <a:cxnLst/>
              <a:rect r="r" b="b" t="t" l="l"/>
              <a:pathLst>
                <a:path h="1465855" w="1465855">
                  <a:moveTo>
                    <a:pt x="0" y="0"/>
                  </a:moveTo>
                  <a:lnTo>
                    <a:pt x="1465856" y="0"/>
                  </a:lnTo>
                  <a:lnTo>
                    <a:pt x="1465856" y="1465855"/>
                  </a:lnTo>
                  <a:lnTo>
                    <a:pt x="0" y="1465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3" id="43"/>
            <p:cNvGrpSpPr/>
            <p:nvPr/>
          </p:nvGrpSpPr>
          <p:grpSpPr>
            <a:xfrm rot="0">
              <a:off x="593609" y="1677818"/>
              <a:ext cx="872246" cy="872246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3E46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6" id="46"/>
            <p:cNvSpPr/>
            <p:nvPr/>
          </p:nvSpPr>
          <p:spPr>
            <a:xfrm flipH="false" flipV="false" rot="0">
              <a:off x="339549" y="1381014"/>
              <a:ext cx="1465855" cy="1465855"/>
            </a:xfrm>
            <a:custGeom>
              <a:avLst/>
              <a:gdLst/>
              <a:ahLst/>
              <a:cxnLst/>
              <a:rect r="r" b="b" t="t" l="l"/>
              <a:pathLst>
                <a:path h="1465855" w="1465855">
                  <a:moveTo>
                    <a:pt x="0" y="0"/>
                  </a:moveTo>
                  <a:lnTo>
                    <a:pt x="1465855" y="0"/>
                  </a:lnTo>
                  <a:lnTo>
                    <a:pt x="1465855" y="1465855"/>
                  </a:lnTo>
                  <a:lnTo>
                    <a:pt x="0" y="1465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7" id="47"/>
            <p:cNvGrpSpPr/>
            <p:nvPr/>
          </p:nvGrpSpPr>
          <p:grpSpPr>
            <a:xfrm rot="0">
              <a:off x="587816" y="1642252"/>
              <a:ext cx="956976" cy="956976"/>
              <a:chOff x="0" y="0"/>
              <a:chExt cx="812800" cy="8128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3E46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471689" y="-47625"/>
              <a:ext cx="7384747" cy="635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60"/>
                </a:lnSpc>
              </a:pPr>
              <a:r>
                <a:rPr lang="en-US" sz="29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FIRMS SAMPLED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309829" y="6127388"/>
            <a:ext cx="6259381" cy="4159612"/>
            <a:chOff x="0" y="0"/>
            <a:chExt cx="8345841" cy="5546149"/>
          </a:xfrm>
        </p:grpSpPr>
        <p:sp>
          <p:nvSpPr>
            <p:cNvPr name="TextBox 52" id="52"/>
            <p:cNvSpPr txBox="true"/>
            <p:nvPr/>
          </p:nvSpPr>
          <p:spPr>
            <a:xfrm rot="0">
              <a:off x="593609" y="-47625"/>
              <a:ext cx="7384747" cy="635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60"/>
                </a:lnSpc>
              </a:pPr>
              <a:r>
                <a:rPr lang="en-US" sz="29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OBJECTIVE</a:t>
              </a:r>
              <a:r>
                <a:rPr lang="en-US" sz="29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1582892" y="1309852"/>
              <a:ext cx="6762948" cy="4236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 spc="182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How leadership values affect firm performance</a:t>
              </a:r>
            </a:p>
            <a:p>
              <a:pPr algn="l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 spc="182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The relationship between personal values, cultural background, &amp; leadership style</a:t>
              </a:r>
            </a:p>
            <a:p>
              <a:pPr algn="l">
                <a:lnSpc>
                  <a:spcPts val="3640"/>
                </a:lnSpc>
              </a:pPr>
            </a:p>
          </p:txBody>
        </p:sp>
        <p:sp>
          <p:nvSpPr>
            <p:cNvPr name="Freeform 54" id="54"/>
            <p:cNvSpPr/>
            <p:nvPr/>
          </p:nvSpPr>
          <p:spPr>
            <a:xfrm flipH="false" flipV="false" rot="0">
              <a:off x="0" y="1500686"/>
              <a:ext cx="2059464" cy="2059464"/>
            </a:xfrm>
            <a:custGeom>
              <a:avLst/>
              <a:gdLst/>
              <a:ahLst/>
              <a:cxnLst/>
              <a:rect r="r" b="b" t="t" l="l"/>
              <a:pathLst>
                <a:path h="2059464" w="2059464">
                  <a:moveTo>
                    <a:pt x="0" y="0"/>
                  </a:moveTo>
                  <a:lnTo>
                    <a:pt x="2059464" y="0"/>
                  </a:lnTo>
                  <a:lnTo>
                    <a:pt x="2059464" y="2059464"/>
                  </a:lnTo>
                  <a:lnTo>
                    <a:pt x="0" y="2059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5" id="55"/>
            <p:cNvGrpSpPr/>
            <p:nvPr/>
          </p:nvGrpSpPr>
          <p:grpSpPr>
            <a:xfrm rot="0">
              <a:off x="471689" y="1972376"/>
              <a:ext cx="1116085" cy="1116085"/>
              <a:chOff x="0" y="0"/>
              <a:chExt cx="812800" cy="812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3E46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58" id="58"/>
            <p:cNvSpPr/>
            <p:nvPr/>
          </p:nvSpPr>
          <p:spPr>
            <a:xfrm flipH="false" flipV="false" rot="0">
              <a:off x="296804" y="1797491"/>
              <a:ext cx="1465855" cy="1465855"/>
            </a:xfrm>
            <a:custGeom>
              <a:avLst/>
              <a:gdLst/>
              <a:ahLst/>
              <a:cxnLst/>
              <a:rect r="r" b="b" t="t" l="l"/>
              <a:pathLst>
                <a:path h="1465855" w="1465855">
                  <a:moveTo>
                    <a:pt x="0" y="0"/>
                  </a:moveTo>
                  <a:lnTo>
                    <a:pt x="1465856" y="0"/>
                  </a:lnTo>
                  <a:lnTo>
                    <a:pt x="1465856" y="1465855"/>
                  </a:lnTo>
                  <a:lnTo>
                    <a:pt x="0" y="1465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9" id="59"/>
            <p:cNvGrpSpPr/>
            <p:nvPr/>
          </p:nvGrpSpPr>
          <p:grpSpPr>
            <a:xfrm rot="0">
              <a:off x="593609" y="2094295"/>
              <a:ext cx="872246" cy="872246"/>
              <a:chOff x="0" y="0"/>
              <a:chExt cx="812800" cy="8128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3E46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62" id="62"/>
            <p:cNvSpPr/>
            <p:nvPr/>
          </p:nvSpPr>
          <p:spPr>
            <a:xfrm flipH="false" flipV="false" rot="0">
              <a:off x="339549" y="1797491"/>
              <a:ext cx="1465855" cy="1465855"/>
            </a:xfrm>
            <a:custGeom>
              <a:avLst/>
              <a:gdLst/>
              <a:ahLst/>
              <a:cxnLst/>
              <a:rect r="r" b="b" t="t" l="l"/>
              <a:pathLst>
                <a:path h="1465855" w="1465855">
                  <a:moveTo>
                    <a:pt x="0" y="0"/>
                  </a:moveTo>
                  <a:lnTo>
                    <a:pt x="1465855" y="0"/>
                  </a:lnTo>
                  <a:lnTo>
                    <a:pt x="1465855" y="1465855"/>
                  </a:lnTo>
                  <a:lnTo>
                    <a:pt x="0" y="1465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3" id="63"/>
            <p:cNvGrpSpPr/>
            <p:nvPr/>
          </p:nvGrpSpPr>
          <p:grpSpPr>
            <a:xfrm rot="0">
              <a:off x="587816" y="2058729"/>
              <a:ext cx="956976" cy="956976"/>
              <a:chOff x="0" y="0"/>
              <a:chExt cx="812800" cy="81280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3E46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66" id="66"/>
          <p:cNvGrpSpPr/>
          <p:nvPr/>
        </p:nvGrpSpPr>
        <p:grpSpPr>
          <a:xfrm rot="0">
            <a:off x="11523228" y="1765644"/>
            <a:ext cx="6259381" cy="2722109"/>
            <a:chOff x="0" y="0"/>
            <a:chExt cx="8345841" cy="3629479"/>
          </a:xfrm>
        </p:grpSpPr>
        <p:sp>
          <p:nvSpPr>
            <p:cNvPr name="TextBox 67" id="67"/>
            <p:cNvSpPr txBox="true"/>
            <p:nvPr/>
          </p:nvSpPr>
          <p:spPr>
            <a:xfrm rot="0">
              <a:off x="1932404" y="1221983"/>
              <a:ext cx="6413437" cy="24074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 spc="182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Denmark (34)</a:t>
              </a:r>
            </a:p>
            <a:p>
              <a:pPr algn="l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 spc="182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Finland (58)</a:t>
              </a:r>
            </a:p>
            <a:p>
              <a:pPr algn="l" marL="561341" indent="-280670" lvl="1">
                <a:lnSpc>
                  <a:spcPts val="3640"/>
                </a:lnSpc>
                <a:buFont typeface="Arial"/>
                <a:buChar char="•"/>
              </a:pPr>
              <a:r>
                <a:rPr lang="en-US" sz="2600" spc="182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Ireland (68)</a:t>
              </a:r>
            </a:p>
            <a:p>
              <a:pPr algn="l">
                <a:lnSpc>
                  <a:spcPts val="3640"/>
                </a:lnSpc>
              </a:pPr>
            </a:p>
          </p:txBody>
        </p:sp>
        <p:sp>
          <p:nvSpPr>
            <p:cNvPr name="Freeform 68" id="68"/>
            <p:cNvSpPr/>
            <p:nvPr/>
          </p:nvSpPr>
          <p:spPr>
            <a:xfrm flipH="false" flipV="false" rot="0">
              <a:off x="0" y="1080541"/>
              <a:ext cx="2059464" cy="2059464"/>
            </a:xfrm>
            <a:custGeom>
              <a:avLst/>
              <a:gdLst/>
              <a:ahLst/>
              <a:cxnLst/>
              <a:rect r="r" b="b" t="t" l="l"/>
              <a:pathLst>
                <a:path h="2059464" w="2059464">
                  <a:moveTo>
                    <a:pt x="0" y="0"/>
                  </a:moveTo>
                  <a:lnTo>
                    <a:pt x="2059464" y="0"/>
                  </a:lnTo>
                  <a:lnTo>
                    <a:pt x="2059464" y="2059464"/>
                  </a:lnTo>
                  <a:lnTo>
                    <a:pt x="0" y="20594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9" id="69"/>
            <p:cNvGrpSpPr/>
            <p:nvPr/>
          </p:nvGrpSpPr>
          <p:grpSpPr>
            <a:xfrm rot="0">
              <a:off x="471689" y="1552231"/>
              <a:ext cx="1116085" cy="1116085"/>
              <a:chOff x="0" y="0"/>
              <a:chExt cx="812800" cy="8128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3E46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72" id="72"/>
            <p:cNvSpPr/>
            <p:nvPr/>
          </p:nvSpPr>
          <p:spPr>
            <a:xfrm flipH="false" flipV="false" rot="0">
              <a:off x="296804" y="1377346"/>
              <a:ext cx="1465855" cy="1465855"/>
            </a:xfrm>
            <a:custGeom>
              <a:avLst/>
              <a:gdLst/>
              <a:ahLst/>
              <a:cxnLst/>
              <a:rect r="r" b="b" t="t" l="l"/>
              <a:pathLst>
                <a:path h="1465855" w="1465855">
                  <a:moveTo>
                    <a:pt x="0" y="0"/>
                  </a:moveTo>
                  <a:lnTo>
                    <a:pt x="1465856" y="0"/>
                  </a:lnTo>
                  <a:lnTo>
                    <a:pt x="1465856" y="1465855"/>
                  </a:lnTo>
                  <a:lnTo>
                    <a:pt x="0" y="1465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3" id="73"/>
            <p:cNvGrpSpPr/>
            <p:nvPr/>
          </p:nvGrpSpPr>
          <p:grpSpPr>
            <a:xfrm rot="0">
              <a:off x="593609" y="1674150"/>
              <a:ext cx="872246" cy="872246"/>
              <a:chOff x="0" y="0"/>
              <a:chExt cx="812800" cy="81280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3E46"/>
              </a:soli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76" id="76"/>
            <p:cNvSpPr/>
            <p:nvPr/>
          </p:nvSpPr>
          <p:spPr>
            <a:xfrm flipH="false" flipV="false" rot="0">
              <a:off x="339549" y="1377346"/>
              <a:ext cx="1465855" cy="1465855"/>
            </a:xfrm>
            <a:custGeom>
              <a:avLst/>
              <a:gdLst/>
              <a:ahLst/>
              <a:cxnLst/>
              <a:rect r="r" b="b" t="t" l="l"/>
              <a:pathLst>
                <a:path h="1465855" w="1465855">
                  <a:moveTo>
                    <a:pt x="0" y="0"/>
                  </a:moveTo>
                  <a:lnTo>
                    <a:pt x="1465855" y="0"/>
                  </a:lnTo>
                  <a:lnTo>
                    <a:pt x="1465855" y="1465855"/>
                  </a:lnTo>
                  <a:lnTo>
                    <a:pt x="0" y="1465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7" id="77"/>
            <p:cNvGrpSpPr/>
            <p:nvPr/>
          </p:nvGrpSpPr>
          <p:grpSpPr>
            <a:xfrm rot="0">
              <a:off x="587816" y="1638584"/>
              <a:ext cx="956976" cy="956976"/>
              <a:chOff x="0" y="0"/>
              <a:chExt cx="812800" cy="812800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3E46"/>
              </a:solidFill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0" id="80"/>
            <p:cNvSpPr txBox="true"/>
            <p:nvPr/>
          </p:nvSpPr>
          <p:spPr>
            <a:xfrm rot="0">
              <a:off x="471689" y="-47625"/>
              <a:ext cx="7384747" cy="635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60"/>
                </a:lnSpc>
              </a:pPr>
              <a:r>
                <a:rPr lang="en-US" sz="2900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COUNTRIES STUDIED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89452" y="648725"/>
            <a:ext cx="12569848" cy="169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0"/>
              </a:lnSpc>
            </a:pPr>
            <a:r>
              <a:rPr lang="en-US" sz="4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MEASUREMENT OF LEADERSHIP &amp; CULTURAL VARIABLES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4689564" y="2343540"/>
            <a:ext cx="10835367" cy="7619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611873" y="3364205"/>
            <a:ext cx="12178469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VARIABLES MEASURED: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8220834">
            <a:off x="-1286186" y="7656554"/>
            <a:ext cx="7912983" cy="1374881"/>
          </a:xfrm>
          <a:custGeom>
            <a:avLst/>
            <a:gdLst/>
            <a:ahLst/>
            <a:cxnLst/>
            <a:rect r="r" b="b" t="t" l="l"/>
            <a:pathLst>
              <a:path h="1374881" w="7912983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2814084">
            <a:off x="-101335" y="5268511"/>
            <a:ext cx="3716898" cy="8772589"/>
            <a:chOff x="0" y="0"/>
            <a:chExt cx="1390652" cy="32822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8220834">
            <a:off x="-1598870" y="8278662"/>
            <a:ext cx="7912983" cy="1374881"/>
          </a:xfrm>
          <a:custGeom>
            <a:avLst/>
            <a:gdLst/>
            <a:ahLst/>
            <a:cxnLst/>
            <a:rect r="r" b="b" t="t" l="l"/>
            <a:pathLst>
              <a:path h="1374881" w="7912983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814084">
            <a:off x="-542197" y="5809008"/>
            <a:ext cx="3716898" cy="8772589"/>
            <a:chOff x="0" y="0"/>
            <a:chExt cx="1390652" cy="32822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3234064">
            <a:off x="-3143540" y="352885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2172685">
            <a:off x="-2167342" y="-5966217"/>
            <a:ext cx="5280133" cy="12462121"/>
            <a:chOff x="0" y="0"/>
            <a:chExt cx="1390652" cy="32822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3234064">
            <a:off x="-4074180" y="17873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2172685">
            <a:off x="-3004718" y="-6495904"/>
            <a:ext cx="5280133" cy="12462121"/>
            <a:chOff x="0" y="0"/>
            <a:chExt cx="1390652" cy="32822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4611873" y="6010594"/>
            <a:ext cx="1264742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5446569" y="7248821"/>
            <a:ext cx="11343774" cy="284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18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Leadership traits categorized based on behavioral alignment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18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Firm success linked to leadership effectiveness through performance indicators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 spc="18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Schwartz’s model used to classify personal &amp; cultural leadership influences</a:t>
            </a:r>
          </a:p>
          <a:p>
            <a:pPr algn="l">
              <a:lnSpc>
                <a:spcPts val="377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4611873" y="6550956"/>
            <a:ext cx="12178469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MEASUREMENT APPROACH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11873" y="4117024"/>
            <a:ext cx="12990990" cy="23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 spc="18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Hard Metrics: </a:t>
            </a:r>
            <a:r>
              <a:rPr lang="en-US" sz="2700" spc="18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Sales growth, profit over last 5 years.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 spc="18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Soft Metrics: </a:t>
            </a:r>
            <a:r>
              <a:rPr lang="en-US" sz="2700" spc="18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Leaders’ personal/cultural values (using Schwartz’s 57 personal and 45 cultural values).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89452" y="648725"/>
            <a:ext cx="12583722" cy="8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0"/>
              </a:lnSpc>
            </a:pPr>
            <a:r>
              <a:rPr lang="en-US" sz="4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STATISTICAL ANALYSIS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4677540" y="1495815"/>
            <a:ext cx="11163575" cy="3810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611873" y="2406664"/>
            <a:ext cx="5538560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</a:t>
            </a:r>
            <a:r>
              <a:rPr lang="en-US" sz="2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8220834">
            <a:off x="-1286186" y="7656554"/>
            <a:ext cx="7912983" cy="1374881"/>
          </a:xfrm>
          <a:custGeom>
            <a:avLst/>
            <a:gdLst/>
            <a:ahLst/>
            <a:cxnLst/>
            <a:rect r="r" b="b" t="t" l="l"/>
            <a:pathLst>
              <a:path h="1374881" w="7912983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2814084">
            <a:off x="-101335" y="5268511"/>
            <a:ext cx="3716898" cy="8772589"/>
            <a:chOff x="0" y="0"/>
            <a:chExt cx="1390652" cy="32822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8220834">
            <a:off x="-1598870" y="8278662"/>
            <a:ext cx="7912983" cy="1374881"/>
          </a:xfrm>
          <a:custGeom>
            <a:avLst/>
            <a:gdLst/>
            <a:ahLst/>
            <a:cxnLst/>
            <a:rect r="r" b="b" t="t" l="l"/>
            <a:pathLst>
              <a:path h="1374881" w="7912983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2814084">
            <a:off x="-542197" y="5809008"/>
            <a:ext cx="3716898" cy="8772589"/>
            <a:chOff x="0" y="0"/>
            <a:chExt cx="1390652" cy="32822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3234064">
            <a:off x="-3143540" y="352885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2172685">
            <a:off x="-2167342" y="-5966217"/>
            <a:ext cx="5280133" cy="12462121"/>
            <a:chOff x="0" y="0"/>
            <a:chExt cx="1390652" cy="32822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3234064">
            <a:off x="-4074180" y="17873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2172685">
            <a:off x="-3004718" y="-6495904"/>
            <a:ext cx="5280133" cy="12462121"/>
            <a:chOff x="0" y="0"/>
            <a:chExt cx="1390652" cy="32822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4611873" y="6010594"/>
            <a:ext cx="1264742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6319342" y="3732050"/>
            <a:ext cx="4456311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18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identify personal values that correlate with overall and international performance.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19342" y="7383242"/>
            <a:ext cx="4810077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18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Denmark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18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Finland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 spc="18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Ireland.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3144191" y="7670507"/>
            <a:ext cx="4456311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spc="18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159 firms across the three countries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4611873" y="3613660"/>
            <a:ext cx="1544598" cy="1544598"/>
          </a:xfrm>
          <a:custGeom>
            <a:avLst/>
            <a:gdLst/>
            <a:ahLst/>
            <a:cxnLst/>
            <a:rect r="r" b="b" t="t" l="l"/>
            <a:pathLst>
              <a:path h="1544598" w="1544598">
                <a:moveTo>
                  <a:pt x="0" y="0"/>
                </a:moveTo>
                <a:lnTo>
                  <a:pt x="1544598" y="0"/>
                </a:lnTo>
                <a:lnTo>
                  <a:pt x="1544598" y="1544598"/>
                </a:lnTo>
                <a:lnTo>
                  <a:pt x="0" y="154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4965640" y="3967427"/>
            <a:ext cx="837064" cy="83706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4834477" y="3836264"/>
            <a:ext cx="1099391" cy="1099391"/>
          </a:xfrm>
          <a:custGeom>
            <a:avLst/>
            <a:gdLst/>
            <a:ahLst/>
            <a:cxnLst/>
            <a:rect r="r" b="b" t="t" l="l"/>
            <a:pathLst>
              <a:path h="1099391" w="1099391">
                <a:moveTo>
                  <a:pt x="0" y="0"/>
                </a:moveTo>
                <a:lnTo>
                  <a:pt x="1099391" y="0"/>
                </a:lnTo>
                <a:lnTo>
                  <a:pt x="1099391" y="1099391"/>
                </a:lnTo>
                <a:lnTo>
                  <a:pt x="0" y="109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5057080" y="4058867"/>
            <a:ext cx="654185" cy="65418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4866535" y="3836264"/>
            <a:ext cx="1099391" cy="1099391"/>
          </a:xfrm>
          <a:custGeom>
            <a:avLst/>
            <a:gdLst/>
            <a:ahLst/>
            <a:cxnLst/>
            <a:rect r="r" b="b" t="t" l="l"/>
            <a:pathLst>
              <a:path h="1099391" w="1099391">
                <a:moveTo>
                  <a:pt x="0" y="0"/>
                </a:moveTo>
                <a:lnTo>
                  <a:pt x="1099392" y="0"/>
                </a:lnTo>
                <a:lnTo>
                  <a:pt x="1099392" y="1099391"/>
                </a:lnTo>
                <a:lnTo>
                  <a:pt x="0" y="109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5052736" y="4032192"/>
            <a:ext cx="717732" cy="717732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1286414" y="3618759"/>
            <a:ext cx="1544598" cy="1544598"/>
          </a:xfrm>
          <a:custGeom>
            <a:avLst/>
            <a:gdLst/>
            <a:ahLst/>
            <a:cxnLst/>
            <a:rect r="r" b="b" t="t" l="l"/>
            <a:pathLst>
              <a:path h="1544598" w="1544598">
                <a:moveTo>
                  <a:pt x="0" y="0"/>
                </a:moveTo>
                <a:lnTo>
                  <a:pt x="1544598" y="0"/>
                </a:lnTo>
                <a:lnTo>
                  <a:pt x="1544598" y="1544598"/>
                </a:lnTo>
                <a:lnTo>
                  <a:pt x="0" y="154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1640181" y="3972526"/>
            <a:ext cx="837064" cy="837064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11509017" y="3841363"/>
            <a:ext cx="1099391" cy="1099391"/>
          </a:xfrm>
          <a:custGeom>
            <a:avLst/>
            <a:gdLst/>
            <a:ahLst/>
            <a:cxnLst/>
            <a:rect r="r" b="b" t="t" l="l"/>
            <a:pathLst>
              <a:path h="1099391" w="1099391">
                <a:moveTo>
                  <a:pt x="0" y="0"/>
                </a:moveTo>
                <a:lnTo>
                  <a:pt x="1099392" y="0"/>
                </a:lnTo>
                <a:lnTo>
                  <a:pt x="1099392" y="1099391"/>
                </a:lnTo>
                <a:lnTo>
                  <a:pt x="0" y="109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1731621" y="4063966"/>
            <a:ext cx="654185" cy="654185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1541076" y="3841363"/>
            <a:ext cx="1099391" cy="1099391"/>
          </a:xfrm>
          <a:custGeom>
            <a:avLst/>
            <a:gdLst/>
            <a:ahLst/>
            <a:cxnLst/>
            <a:rect r="r" b="b" t="t" l="l"/>
            <a:pathLst>
              <a:path h="1099391" w="1099391">
                <a:moveTo>
                  <a:pt x="0" y="0"/>
                </a:moveTo>
                <a:lnTo>
                  <a:pt x="1099391" y="0"/>
                </a:lnTo>
                <a:lnTo>
                  <a:pt x="1099391" y="1099391"/>
                </a:lnTo>
                <a:lnTo>
                  <a:pt x="0" y="109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1727276" y="4037291"/>
            <a:ext cx="717732" cy="717732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4689452" y="7309125"/>
            <a:ext cx="1544598" cy="1544598"/>
          </a:xfrm>
          <a:custGeom>
            <a:avLst/>
            <a:gdLst/>
            <a:ahLst/>
            <a:cxnLst/>
            <a:rect r="r" b="b" t="t" l="l"/>
            <a:pathLst>
              <a:path h="1544598" w="1544598">
                <a:moveTo>
                  <a:pt x="0" y="0"/>
                </a:moveTo>
                <a:lnTo>
                  <a:pt x="1544598" y="0"/>
                </a:lnTo>
                <a:lnTo>
                  <a:pt x="1544598" y="1544598"/>
                </a:lnTo>
                <a:lnTo>
                  <a:pt x="0" y="154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5043219" y="7662892"/>
            <a:ext cx="837064" cy="837064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4912055" y="7531729"/>
            <a:ext cx="1099391" cy="1099391"/>
          </a:xfrm>
          <a:custGeom>
            <a:avLst/>
            <a:gdLst/>
            <a:ahLst/>
            <a:cxnLst/>
            <a:rect r="r" b="b" t="t" l="l"/>
            <a:pathLst>
              <a:path h="1099391" w="1099391">
                <a:moveTo>
                  <a:pt x="0" y="0"/>
                </a:moveTo>
                <a:lnTo>
                  <a:pt x="1099391" y="0"/>
                </a:lnTo>
                <a:lnTo>
                  <a:pt x="1099391" y="1099391"/>
                </a:lnTo>
                <a:lnTo>
                  <a:pt x="0" y="109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5134658" y="7754332"/>
            <a:ext cx="654185" cy="654185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4944114" y="7531729"/>
            <a:ext cx="1099391" cy="1099391"/>
          </a:xfrm>
          <a:custGeom>
            <a:avLst/>
            <a:gdLst/>
            <a:ahLst/>
            <a:cxnLst/>
            <a:rect r="r" b="b" t="t" l="l"/>
            <a:pathLst>
              <a:path h="1099391" w="1099391">
                <a:moveTo>
                  <a:pt x="0" y="0"/>
                </a:moveTo>
                <a:lnTo>
                  <a:pt x="1099391" y="0"/>
                </a:lnTo>
                <a:lnTo>
                  <a:pt x="1099391" y="1099391"/>
                </a:lnTo>
                <a:lnTo>
                  <a:pt x="0" y="109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5130314" y="7727657"/>
            <a:ext cx="717732" cy="717732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11313843" y="7345837"/>
            <a:ext cx="1544598" cy="1544598"/>
          </a:xfrm>
          <a:custGeom>
            <a:avLst/>
            <a:gdLst/>
            <a:ahLst/>
            <a:cxnLst/>
            <a:rect r="r" b="b" t="t" l="l"/>
            <a:pathLst>
              <a:path h="1544598" w="1544598">
                <a:moveTo>
                  <a:pt x="0" y="0"/>
                </a:moveTo>
                <a:lnTo>
                  <a:pt x="1544598" y="0"/>
                </a:lnTo>
                <a:lnTo>
                  <a:pt x="1544598" y="1544598"/>
                </a:lnTo>
                <a:lnTo>
                  <a:pt x="0" y="154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1667610" y="7699604"/>
            <a:ext cx="837064" cy="837064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5" id="65"/>
          <p:cNvSpPr/>
          <p:nvPr/>
        </p:nvSpPr>
        <p:spPr>
          <a:xfrm flipH="false" flipV="false" rot="0">
            <a:off x="11536447" y="7568440"/>
            <a:ext cx="1099391" cy="1099391"/>
          </a:xfrm>
          <a:custGeom>
            <a:avLst/>
            <a:gdLst/>
            <a:ahLst/>
            <a:cxnLst/>
            <a:rect r="r" b="b" t="t" l="l"/>
            <a:pathLst>
              <a:path h="1099391" w="1099391">
                <a:moveTo>
                  <a:pt x="0" y="0"/>
                </a:moveTo>
                <a:lnTo>
                  <a:pt x="1099391" y="0"/>
                </a:lnTo>
                <a:lnTo>
                  <a:pt x="1099391" y="1099391"/>
                </a:lnTo>
                <a:lnTo>
                  <a:pt x="0" y="109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1759050" y="7791043"/>
            <a:ext cx="654185" cy="654185"/>
            <a:chOff x="0" y="0"/>
            <a:chExt cx="812800" cy="812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11568505" y="7568440"/>
            <a:ext cx="1099391" cy="1099391"/>
          </a:xfrm>
          <a:custGeom>
            <a:avLst/>
            <a:gdLst/>
            <a:ahLst/>
            <a:cxnLst/>
            <a:rect r="r" b="b" t="t" l="l"/>
            <a:pathLst>
              <a:path h="1099391" w="1099391">
                <a:moveTo>
                  <a:pt x="0" y="0"/>
                </a:moveTo>
                <a:lnTo>
                  <a:pt x="1099392" y="0"/>
                </a:lnTo>
                <a:lnTo>
                  <a:pt x="1099392" y="1099391"/>
                </a:lnTo>
                <a:lnTo>
                  <a:pt x="0" y="1099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1754706" y="7764369"/>
            <a:ext cx="717732" cy="717732"/>
            <a:chOff x="0" y="0"/>
            <a:chExt cx="812800" cy="812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1568505" y="2406664"/>
            <a:ext cx="5538560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METHODOLOGY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562970" y="3570021"/>
            <a:ext cx="5356020" cy="312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203" indent="-271101" lvl="1">
              <a:lnSpc>
                <a:spcPts val="3515"/>
              </a:lnSpc>
              <a:buFont typeface="Arial"/>
              <a:buChar char="•"/>
            </a:pPr>
            <a:r>
              <a:rPr lang="en-US" b="true" sz="2511" spc="17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Cross-product Deviation Analysis</a:t>
            </a:r>
          </a:p>
          <a:p>
            <a:pPr algn="l" marL="542203" indent="-271101" lvl="1">
              <a:lnSpc>
                <a:spcPts val="3515"/>
              </a:lnSpc>
              <a:buFont typeface="Arial"/>
              <a:buChar char="•"/>
            </a:pPr>
            <a:r>
              <a:rPr lang="en-US" b="true" sz="2511" spc="17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Pearson Bivariate Analysis</a:t>
            </a:r>
          </a:p>
          <a:p>
            <a:pPr algn="l" marL="542203" indent="-271101" lvl="1">
              <a:lnSpc>
                <a:spcPts val="3515"/>
              </a:lnSpc>
              <a:buFont typeface="Arial"/>
              <a:buChar char="•"/>
            </a:pPr>
            <a:r>
              <a:rPr lang="en-US" b="true" sz="2511" spc="175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Factor Analysis</a:t>
            </a:r>
          </a:p>
          <a:p>
            <a:pPr algn="l">
              <a:lnSpc>
                <a:spcPts val="3515"/>
              </a:lnSpc>
            </a:pPr>
          </a:p>
          <a:p>
            <a:pPr algn="l">
              <a:lnSpc>
                <a:spcPts val="3515"/>
              </a:lnSpc>
            </a:pPr>
          </a:p>
          <a:p>
            <a:pPr algn="l">
              <a:lnSpc>
                <a:spcPts val="3776"/>
              </a:lnSpc>
            </a:pPr>
          </a:p>
        </p:txBody>
      </p:sp>
      <p:sp>
        <p:nvSpPr>
          <p:cNvPr name="TextBox 75" id="75"/>
          <p:cNvSpPr txBox="true"/>
          <p:nvPr/>
        </p:nvSpPr>
        <p:spPr>
          <a:xfrm rot="0">
            <a:off x="4689452" y="6398556"/>
            <a:ext cx="5538560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COUNTRIES STUDIED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509017" y="6398556"/>
            <a:ext cx="5538560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FIRMS SAMPLED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3038" y="2335913"/>
            <a:ext cx="9012733" cy="7236185"/>
          </a:xfrm>
          <a:custGeom>
            <a:avLst/>
            <a:gdLst/>
            <a:ahLst/>
            <a:cxnLst/>
            <a:rect r="r" b="b" t="t" l="l"/>
            <a:pathLst>
              <a:path h="7236185" w="9012733">
                <a:moveTo>
                  <a:pt x="0" y="0"/>
                </a:moveTo>
                <a:lnTo>
                  <a:pt x="9012733" y="0"/>
                </a:lnTo>
                <a:lnTo>
                  <a:pt x="9012733" y="7236185"/>
                </a:lnTo>
                <a:lnTo>
                  <a:pt x="0" y="7236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49090"/>
            <a:ext cx="17014142" cy="142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CROSS-PRODUCT DEVIATIONS FOR IRISH MANAGERS' PERSONAL VALUES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78677" y="2250188"/>
            <a:ext cx="7380623" cy="309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59132" indent="-429566" lvl="1">
              <a:lnSpc>
                <a:spcPts val="5571"/>
              </a:lnSpc>
              <a:buFont typeface="Arial"/>
              <a:buChar char="•"/>
            </a:pPr>
            <a:r>
              <a:rPr lang="en-US" b="true" sz="397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</a:t>
            </a:r>
            <a:r>
              <a:rPr lang="en-US" b="true" sz="397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Cross-product Deviation:</a:t>
            </a:r>
            <a:r>
              <a:rPr lang="en-US" sz="39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l">
              <a:lnSpc>
                <a:spcPts val="4731"/>
              </a:lnSpc>
              <a:spcBef>
                <a:spcPct val="0"/>
              </a:spcBef>
            </a:pPr>
            <a:r>
              <a:rPr lang="en-US" sz="33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measure shows how strongly personal values relate to firm performance. Higher values (positive or negative) mean a stronger link.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64402" y="6160880"/>
            <a:ext cx="7380623" cy="309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59132" indent="-429566" lvl="1">
              <a:lnSpc>
                <a:spcPts val="5571"/>
              </a:lnSpc>
              <a:buFont typeface="Arial"/>
              <a:buChar char="•"/>
            </a:pPr>
            <a:r>
              <a:rPr lang="en-US" b="true" sz="397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Positive Values:</a:t>
            </a:r>
          </a:p>
          <a:p>
            <a:pPr algn="l">
              <a:lnSpc>
                <a:spcPts val="4731"/>
              </a:lnSpc>
              <a:spcBef>
                <a:spcPct val="0"/>
              </a:spcBef>
            </a:pPr>
            <a:r>
              <a:rPr lang="en-US" sz="33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Positive values mean that the personal value supports better firm performance. For example, Creativity (50.8485) significantly enhances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3038" y="2335913"/>
            <a:ext cx="9012733" cy="7236185"/>
          </a:xfrm>
          <a:custGeom>
            <a:avLst/>
            <a:gdLst/>
            <a:ahLst/>
            <a:cxnLst/>
            <a:rect r="r" b="b" t="t" l="l"/>
            <a:pathLst>
              <a:path h="7236185" w="9012733">
                <a:moveTo>
                  <a:pt x="0" y="0"/>
                </a:moveTo>
                <a:lnTo>
                  <a:pt x="9012733" y="0"/>
                </a:lnTo>
                <a:lnTo>
                  <a:pt x="9012733" y="7236185"/>
                </a:lnTo>
                <a:lnTo>
                  <a:pt x="0" y="7236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49090"/>
            <a:ext cx="17014142" cy="142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CROSS-PRODUCT DEVIATIONS FOR IRISH MANAGERS' PERSONAL VALUES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21583" y="2250188"/>
            <a:ext cx="7380623" cy="369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59132" indent="-429566" lvl="1">
              <a:lnSpc>
                <a:spcPts val="5571"/>
              </a:lnSpc>
              <a:buFont typeface="Arial"/>
              <a:buChar char="•"/>
            </a:pPr>
            <a:r>
              <a:rPr lang="en-US" b="true" sz="397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Negative Values:</a:t>
            </a:r>
          </a:p>
          <a:p>
            <a:pPr algn="l">
              <a:lnSpc>
                <a:spcPts val="4731"/>
              </a:lnSpc>
              <a:spcBef>
                <a:spcPct val="0"/>
              </a:spcBef>
            </a:pPr>
            <a:r>
              <a:rPr lang="en-US" sz="33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Negative values indicate that the personal value is associated with lower firm performance. For example, social recognition(-42.5970) tends to reduce overall performance.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21583" y="6179930"/>
            <a:ext cx="7380623" cy="410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1"/>
              </a:lnSpc>
            </a:pPr>
            <a:r>
              <a:rPr lang="en-US" b="true" sz="397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Table 2 Summary:</a:t>
            </a:r>
          </a:p>
          <a:p>
            <a:pPr algn="l">
              <a:lnSpc>
                <a:spcPts val="4451"/>
              </a:lnSpc>
            </a:pPr>
            <a:r>
              <a:rPr lang="en-US" sz="31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Table 2 quantifies how various personal values impact firm performance for Irish managers, emphasizing key values like creativity and spiritual life that drive success.</a:t>
            </a:r>
          </a:p>
          <a:p>
            <a:pPr algn="l">
              <a:lnSpc>
                <a:spcPts val="4731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220834">
            <a:off x="-1286186" y="7656554"/>
            <a:ext cx="7912983" cy="1374881"/>
          </a:xfrm>
          <a:custGeom>
            <a:avLst/>
            <a:gdLst/>
            <a:ahLst/>
            <a:cxnLst/>
            <a:rect r="r" b="b" t="t" l="l"/>
            <a:pathLst>
              <a:path h="1374881" w="7912983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2814084">
            <a:off x="-101335" y="5268511"/>
            <a:ext cx="3716898" cy="8772589"/>
            <a:chOff x="0" y="0"/>
            <a:chExt cx="1390652" cy="32822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8220834">
            <a:off x="-1598870" y="8278662"/>
            <a:ext cx="7912983" cy="1374881"/>
          </a:xfrm>
          <a:custGeom>
            <a:avLst/>
            <a:gdLst/>
            <a:ahLst/>
            <a:cxnLst/>
            <a:rect r="r" b="b" t="t" l="l"/>
            <a:pathLst>
              <a:path h="1374881" w="7912983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2814084">
            <a:off x="-542197" y="5809008"/>
            <a:ext cx="3716898" cy="8772589"/>
            <a:chOff x="0" y="0"/>
            <a:chExt cx="1390652" cy="32822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2509753">
            <a:off x="11932945" y="1699739"/>
            <a:ext cx="7912983" cy="1374881"/>
          </a:xfrm>
          <a:custGeom>
            <a:avLst/>
            <a:gdLst/>
            <a:ahLst/>
            <a:cxnLst/>
            <a:rect r="r" b="b" t="t" l="l"/>
            <a:pathLst>
              <a:path h="1374881" w="7912983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7916504">
            <a:off x="14902810" y="-3399499"/>
            <a:ext cx="3716898" cy="8772589"/>
            <a:chOff x="0" y="0"/>
            <a:chExt cx="1390652" cy="32822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2509753">
            <a:off x="13104828" y="1699739"/>
            <a:ext cx="7912983" cy="1374881"/>
          </a:xfrm>
          <a:custGeom>
            <a:avLst/>
            <a:gdLst/>
            <a:ahLst/>
            <a:cxnLst/>
            <a:rect r="r" b="b" t="t" l="l"/>
            <a:pathLst>
              <a:path h="1374881" w="7912983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7916504">
            <a:off x="16219210" y="-3249089"/>
            <a:ext cx="3716898" cy="8772589"/>
            <a:chOff x="0" y="0"/>
            <a:chExt cx="1390652" cy="32822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013564" y="885825"/>
            <a:ext cx="10263070" cy="1325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sz="7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FACTOR ANALYSIS</a:t>
            </a:r>
          </a:p>
        </p:txBody>
      </p:sp>
      <p:sp>
        <p:nvSpPr>
          <p:cNvPr name="AutoShape 19" id="19"/>
          <p:cNvSpPr/>
          <p:nvPr/>
        </p:nvSpPr>
        <p:spPr>
          <a:xfrm>
            <a:off x="4260495" y="2470785"/>
            <a:ext cx="7706861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400139" y="3121089"/>
            <a:ext cx="10777379" cy="6330402"/>
          </a:xfrm>
          <a:custGeom>
            <a:avLst/>
            <a:gdLst/>
            <a:ahLst/>
            <a:cxnLst/>
            <a:rect r="r" b="b" t="t" l="l"/>
            <a:pathLst>
              <a:path h="6330402" w="10777379">
                <a:moveTo>
                  <a:pt x="0" y="0"/>
                </a:moveTo>
                <a:lnTo>
                  <a:pt x="10777379" y="0"/>
                </a:lnTo>
                <a:lnTo>
                  <a:pt x="10777379" y="6330403"/>
                </a:lnTo>
                <a:lnTo>
                  <a:pt x="0" y="6330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692718" y="2839510"/>
            <a:ext cx="5368602" cy="289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1"/>
              </a:lnSpc>
              <a:spcBef>
                <a:spcPct val="0"/>
              </a:spcBef>
            </a:pPr>
            <a:r>
              <a:rPr lang="en-US" b="true" sz="3529" spc="247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Purpose</a:t>
            </a:r>
            <a:r>
              <a:rPr lang="en-US" sz="3529" spc="24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l">
              <a:lnSpc>
                <a:spcPts val="4521"/>
              </a:lnSpc>
              <a:spcBef>
                <a:spcPct val="0"/>
              </a:spcBef>
            </a:pPr>
            <a:r>
              <a:rPr lang="en-US" sz="3229" spc="22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table presents the results of factor analysis on the personal values of Irish managers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92718" y="6219615"/>
            <a:ext cx="6384941" cy="3242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1"/>
              </a:lnSpc>
            </a:pPr>
            <a:r>
              <a:rPr lang="en-US" b="true" sz="3372" spc="23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Table 3 Summary</a:t>
            </a:r>
          </a:p>
          <a:p>
            <a:pPr algn="l">
              <a:lnSpc>
                <a:spcPts val="4259"/>
              </a:lnSpc>
              <a:spcBef>
                <a:spcPct val="0"/>
              </a:spcBef>
            </a:pPr>
            <a:r>
              <a:rPr lang="en-US" sz="3042" spc="21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Table 3 identifies key personal values (e.g., creativity, independence) shaping leadership style in Irish managers through factor analysis.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60925" y="7665293"/>
            <a:ext cx="18336773" cy="3186014"/>
          </a:xfrm>
          <a:custGeom>
            <a:avLst/>
            <a:gdLst/>
            <a:ahLst/>
            <a:cxnLst/>
            <a:rect r="r" b="b" t="t" l="l"/>
            <a:pathLst>
              <a:path h="3186014" w="18336773">
                <a:moveTo>
                  <a:pt x="0" y="0"/>
                </a:moveTo>
                <a:lnTo>
                  <a:pt x="18336773" y="0"/>
                </a:lnTo>
                <a:lnTo>
                  <a:pt x="18336773" y="3186014"/>
                </a:lnTo>
                <a:lnTo>
                  <a:pt x="0" y="3186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7806054" y="-402391"/>
            <a:ext cx="2675891" cy="20328738"/>
            <a:chOff x="0" y="0"/>
            <a:chExt cx="432040" cy="32822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2040" cy="3282205"/>
            </a:xfrm>
            <a:custGeom>
              <a:avLst/>
              <a:gdLst/>
              <a:ahLst/>
              <a:cxnLst/>
              <a:rect r="r" b="b" t="t" l="l"/>
              <a:pathLst>
                <a:path h="3282205" w="432040">
                  <a:moveTo>
                    <a:pt x="0" y="0"/>
                  </a:moveTo>
                  <a:lnTo>
                    <a:pt x="432040" y="0"/>
                  </a:lnTo>
                  <a:lnTo>
                    <a:pt x="432040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2040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0766903">
            <a:off x="-46013" y="8512224"/>
            <a:ext cx="18336773" cy="3186014"/>
          </a:xfrm>
          <a:custGeom>
            <a:avLst/>
            <a:gdLst/>
            <a:ahLst/>
            <a:cxnLst/>
            <a:rect r="r" b="b" t="t" l="l"/>
            <a:pathLst>
              <a:path h="3186014" w="18336773">
                <a:moveTo>
                  <a:pt x="0" y="0"/>
                </a:moveTo>
                <a:lnTo>
                  <a:pt x="18336773" y="0"/>
                </a:lnTo>
                <a:lnTo>
                  <a:pt x="18336773" y="3186015"/>
                </a:lnTo>
                <a:lnTo>
                  <a:pt x="0" y="3186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5426346">
            <a:off x="8735248" y="-59138"/>
            <a:ext cx="1489766" cy="20328738"/>
            <a:chOff x="0" y="0"/>
            <a:chExt cx="240532" cy="32822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0532" cy="3282205"/>
            </a:xfrm>
            <a:custGeom>
              <a:avLst/>
              <a:gdLst/>
              <a:ahLst/>
              <a:cxnLst/>
              <a:rect r="r" b="b" t="t" l="l"/>
              <a:pathLst>
                <a:path h="3282205" w="240532">
                  <a:moveTo>
                    <a:pt x="0" y="0"/>
                  </a:moveTo>
                  <a:lnTo>
                    <a:pt x="240532" y="0"/>
                  </a:lnTo>
                  <a:lnTo>
                    <a:pt x="24053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053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3232565" y="1623384"/>
            <a:ext cx="1036660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730737" y="1793916"/>
            <a:ext cx="14262258" cy="7968062"/>
          </a:xfrm>
          <a:custGeom>
            <a:avLst/>
            <a:gdLst/>
            <a:ahLst/>
            <a:cxnLst/>
            <a:rect r="r" b="b" t="t" l="l"/>
            <a:pathLst>
              <a:path h="7968062" w="14262258">
                <a:moveTo>
                  <a:pt x="0" y="0"/>
                </a:moveTo>
                <a:lnTo>
                  <a:pt x="14262258" y="0"/>
                </a:lnTo>
                <a:lnTo>
                  <a:pt x="14262258" y="7968062"/>
                </a:lnTo>
                <a:lnTo>
                  <a:pt x="0" y="7968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7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8100" y="304841"/>
            <a:ext cx="17960561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SCHWARTZ BI-POLAR CHARACTERISTICS OF IRISH OVERALL FIRM PERFORMANCE-ORIENTED MANAGERS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44455">
            <a:off x="11086835" y="6724152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8548794">
            <a:off x="16046655" y="2579751"/>
            <a:ext cx="5280133" cy="12462121"/>
            <a:chOff x="0" y="0"/>
            <a:chExt cx="1390652" cy="32822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7644455">
            <a:off x="12009581" y="7080331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8548794">
            <a:off x="16871715" y="3128423"/>
            <a:ext cx="5280133" cy="12462121"/>
            <a:chOff x="0" y="0"/>
            <a:chExt cx="1390652" cy="32822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234064">
            <a:off x="-3143540" y="372199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2172685">
            <a:off x="-2167342" y="-5966217"/>
            <a:ext cx="5280133" cy="12462121"/>
            <a:chOff x="0" y="0"/>
            <a:chExt cx="1390652" cy="32822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3234064">
            <a:off x="-4074180" y="17873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2172685">
            <a:off x="-3004718" y="-6495904"/>
            <a:ext cx="5280133" cy="12462121"/>
            <a:chOff x="0" y="0"/>
            <a:chExt cx="1390652" cy="32822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818991" y="4236425"/>
            <a:ext cx="11883913" cy="5164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spc="244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Key Insights: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 spc="20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Openness to Change (41.9%) is the most significant dimension, indicating that Irish managers oriented towards overall performance value openness to change highly.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 spc="19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Conservation (17.32%) is the next significant dimension, indicating a moderate value placed on conservation.</a:t>
            </a:r>
          </a:p>
          <a:p>
            <a:pPr algn="l" marL="604515" indent="-302257" lvl="1">
              <a:lnSpc>
                <a:spcPts val="3919"/>
              </a:lnSpc>
              <a:buFont typeface="Arial"/>
              <a:buChar char="•"/>
            </a:pPr>
            <a:r>
              <a:rPr lang="en-US" sz="2799" spc="19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Self-transcendence (28.11%) and Self-enhancement (12.67%) are also important dimensions, indicating a balance between self-transcendence and self-enhancement values.</a:t>
            </a:r>
          </a:p>
          <a:p>
            <a:pPr algn="l">
              <a:lnSpc>
                <a:spcPts val="4339"/>
              </a:lnSpc>
            </a:pPr>
          </a:p>
        </p:txBody>
      </p:sp>
      <p:sp>
        <p:nvSpPr>
          <p:cNvPr name="AutoShape 19" id="19"/>
          <p:cNvSpPr/>
          <p:nvPr/>
        </p:nvSpPr>
        <p:spPr>
          <a:xfrm flipV="true">
            <a:off x="4178415" y="3433265"/>
            <a:ext cx="1183622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3525236" y="1084045"/>
            <a:ext cx="13182093" cy="172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6704" indent="-358352" lvl="1">
              <a:lnSpc>
                <a:spcPts val="4647"/>
              </a:lnSpc>
              <a:buFont typeface="Arial"/>
              <a:buChar char="•"/>
            </a:pPr>
            <a:r>
              <a:rPr lang="en-US" b="true" sz="3319" spc="232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Purpose</a:t>
            </a:r>
            <a:r>
              <a:rPr lang="en-US" sz="3319" spc="23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This table shows the bi-polar personal value dimensions for Irish managers oriented towards overall firm performance.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234064">
            <a:off x="-3143540" y="352885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2172685">
            <a:off x="-2167342" y="-5966217"/>
            <a:ext cx="5280133" cy="12462121"/>
            <a:chOff x="0" y="0"/>
            <a:chExt cx="1390652" cy="32822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234064">
            <a:off x="-4074180" y="17873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2172685">
            <a:off x="-3004718" y="-6495904"/>
            <a:ext cx="5280133" cy="12462121"/>
            <a:chOff x="0" y="0"/>
            <a:chExt cx="1390652" cy="32822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72724" y="2007362"/>
            <a:ext cx="17010649" cy="6145097"/>
          </a:xfrm>
          <a:custGeom>
            <a:avLst/>
            <a:gdLst/>
            <a:ahLst/>
            <a:cxnLst/>
            <a:rect r="r" b="b" t="t" l="l"/>
            <a:pathLst>
              <a:path h="6145097" w="17010649">
                <a:moveTo>
                  <a:pt x="0" y="0"/>
                </a:moveTo>
                <a:lnTo>
                  <a:pt x="17010649" y="0"/>
                </a:lnTo>
                <a:lnTo>
                  <a:pt x="17010649" y="6145097"/>
                </a:lnTo>
                <a:lnTo>
                  <a:pt x="0" y="61450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16572" y="313445"/>
            <a:ext cx="15003829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0"/>
              </a:lnSpc>
            </a:pPr>
            <a:r>
              <a:rPr lang="en-US" sz="5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BI-POLAR PERSONAL VALUES INFLUENCING PERFORMANCE IN THE THREE COUNTRIES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1101" y="8696325"/>
            <a:ext cx="1692227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Table 5 compares how bi-polar personal value dimensions (e.g., Openness-to-Change, Conservation) influence overall and international firm performance in Finland, Denmark, and Ireland.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50376" y="7915718"/>
            <a:ext cx="18336773" cy="3186014"/>
          </a:xfrm>
          <a:custGeom>
            <a:avLst/>
            <a:gdLst/>
            <a:ahLst/>
            <a:cxnLst/>
            <a:rect r="r" b="b" t="t" l="l"/>
            <a:pathLst>
              <a:path h="3186014" w="18336773">
                <a:moveTo>
                  <a:pt x="0" y="0"/>
                </a:moveTo>
                <a:lnTo>
                  <a:pt x="18336773" y="0"/>
                </a:lnTo>
                <a:lnTo>
                  <a:pt x="18336773" y="3186014"/>
                </a:lnTo>
                <a:lnTo>
                  <a:pt x="0" y="3186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7917354" y="-151966"/>
            <a:ext cx="2675891" cy="20328738"/>
            <a:chOff x="0" y="0"/>
            <a:chExt cx="432040" cy="32822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2040" cy="3282205"/>
            </a:xfrm>
            <a:custGeom>
              <a:avLst/>
              <a:gdLst/>
              <a:ahLst/>
              <a:cxnLst/>
              <a:rect r="r" b="b" t="t" l="l"/>
              <a:pathLst>
                <a:path h="3282205" w="432040">
                  <a:moveTo>
                    <a:pt x="0" y="0"/>
                  </a:moveTo>
                  <a:lnTo>
                    <a:pt x="432040" y="0"/>
                  </a:lnTo>
                  <a:lnTo>
                    <a:pt x="432040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2040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10766903">
            <a:off x="-1857683" y="8444114"/>
            <a:ext cx="22003366" cy="3823085"/>
          </a:xfrm>
          <a:custGeom>
            <a:avLst/>
            <a:gdLst/>
            <a:ahLst/>
            <a:cxnLst/>
            <a:rect r="r" b="b" t="t" l="l"/>
            <a:pathLst>
              <a:path h="3823085" w="22003366">
                <a:moveTo>
                  <a:pt x="0" y="0"/>
                </a:moveTo>
                <a:lnTo>
                  <a:pt x="22003366" y="0"/>
                </a:lnTo>
                <a:lnTo>
                  <a:pt x="22003366" y="3823085"/>
                </a:lnTo>
                <a:lnTo>
                  <a:pt x="0" y="38230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5426346">
            <a:off x="8846548" y="191288"/>
            <a:ext cx="1489766" cy="20328738"/>
            <a:chOff x="0" y="0"/>
            <a:chExt cx="240532" cy="32822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0532" cy="3282205"/>
            </a:xfrm>
            <a:custGeom>
              <a:avLst/>
              <a:gdLst/>
              <a:ahLst/>
              <a:cxnLst/>
              <a:rect r="r" b="b" t="t" l="l"/>
              <a:pathLst>
                <a:path h="3282205" w="240532">
                  <a:moveTo>
                    <a:pt x="0" y="0"/>
                  </a:moveTo>
                  <a:lnTo>
                    <a:pt x="240532" y="0"/>
                  </a:lnTo>
                  <a:lnTo>
                    <a:pt x="24053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053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234064">
            <a:off x="-3143540" y="352885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2172685">
            <a:off x="-2167342" y="-5966217"/>
            <a:ext cx="5280133" cy="12462121"/>
            <a:chOff x="0" y="0"/>
            <a:chExt cx="1390652" cy="32822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3234064">
            <a:off x="-4074180" y="17873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2172685">
            <a:off x="-3004718" y="-6495904"/>
            <a:ext cx="5280133" cy="12462121"/>
            <a:chOff x="0" y="0"/>
            <a:chExt cx="1390652" cy="32822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1791058"/>
            <a:ext cx="16715773" cy="7004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</a:p>
          <a:p>
            <a:pPr algn="l" marL="777230" indent="-388615" lvl="1">
              <a:lnSpc>
                <a:spcPts val="5039"/>
              </a:lnSpc>
              <a:buFont typeface="Arial"/>
              <a:buChar char="•"/>
            </a:pPr>
            <a:r>
              <a:rPr lang="en-US" sz="3599" spc="25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Irish managers show the highest openness to change, which correlates with higher overall performance.</a:t>
            </a:r>
          </a:p>
          <a:p>
            <a:pPr algn="l" marL="777230" indent="-388615" lvl="1">
              <a:lnSpc>
                <a:spcPts val="5039"/>
              </a:lnSpc>
              <a:buFont typeface="Arial"/>
              <a:buChar char="•"/>
            </a:pPr>
            <a:r>
              <a:rPr lang="en-US" sz="3599" spc="25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Finnish managers have a moderate level of openness to change but a higher level of conservation.</a:t>
            </a:r>
          </a:p>
          <a:p>
            <a:pPr algn="l" marL="777230" indent="-388615" lvl="1">
              <a:lnSpc>
                <a:spcPts val="5039"/>
              </a:lnSpc>
              <a:buFont typeface="Arial"/>
              <a:buChar char="•"/>
            </a:pPr>
            <a:r>
              <a:rPr lang="en-US" sz="3599" spc="25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Danish managers have the lowest openness to change and the highest conservation, indicating a preference for stability and tradition.</a:t>
            </a:r>
          </a:p>
          <a:p>
            <a:pPr algn="l" marL="777230" indent="-388615" lvl="1">
              <a:lnSpc>
                <a:spcPts val="5039"/>
              </a:lnSpc>
              <a:buFont typeface="Arial"/>
              <a:buChar char="•"/>
            </a:pPr>
            <a:r>
              <a:rPr lang="en-US" sz="3599" spc="25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These findings highlight the importance of cultural context in shaping leadership styles and firm performance.</a:t>
            </a:r>
          </a:p>
          <a:p>
            <a:pPr algn="l">
              <a:lnSpc>
                <a:spcPts val="503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399326" y="593674"/>
            <a:ext cx="4495077" cy="86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96"/>
              </a:lnSpc>
            </a:pPr>
            <a:r>
              <a:rPr lang="en-US" sz="506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16774">
            <a:off x="-2876537" y="381017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2489975">
            <a:off x="-1793689" y="-6118273"/>
            <a:ext cx="5280133" cy="12462121"/>
            <a:chOff x="0" y="0"/>
            <a:chExt cx="1390652" cy="32822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916774">
            <a:off x="-3772339" y="-38341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2489975">
            <a:off x="-2578682" y="-6722881"/>
            <a:ext cx="5280133" cy="12462121"/>
            <a:chOff x="0" y="0"/>
            <a:chExt cx="1390652" cy="32822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2844341">
            <a:off x="10423848" y="250397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8251091">
            <a:off x="14841168" y="-6760705"/>
            <a:ext cx="5280133" cy="12462121"/>
            <a:chOff x="0" y="0"/>
            <a:chExt cx="1390652" cy="32822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2844341">
            <a:off x="10934820" y="-596497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8251091">
            <a:off x="15524751" y="-7477977"/>
            <a:ext cx="5280133" cy="12462121"/>
            <a:chOff x="0" y="0"/>
            <a:chExt cx="1390652" cy="32822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61611" y="3172328"/>
            <a:ext cx="5630970" cy="5256739"/>
            <a:chOff x="0" y="0"/>
            <a:chExt cx="1483054" cy="13844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83054" cy="1384491"/>
            </a:xfrm>
            <a:custGeom>
              <a:avLst/>
              <a:gdLst/>
              <a:ahLst/>
              <a:cxnLst/>
              <a:rect r="r" b="b" t="t" l="l"/>
              <a:pathLst>
                <a:path h="1384491" w="1483054">
                  <a:moveTo>
                    <a:pt x="70119" y="0"/>
                  </a:moveTo>
                  <a:lnTo>
                    <a:pt x="1412935" y="0"/>
                  </a:lnTo>
                  <a:cubicBezTo>
                    <a:pt x="1431532" y="0"/>
                    <a:pt x="1449367" y="7388"/>
                    <a:pt x="1462516" y="20537"/>
                  </a:cubicBezTo>
                  <a:cubicBezTo>
                    <a:pt x="1475666" y="33687"/>
                    <a:pt x="1483054" y="51522"/>
                    <a:pt x="1483054" y="70119"/>
                  </a:cubicBezTo>
                  <a:lnTo>
                    <a:pt x="1483054" y="1314372"/>
                  </a:lnTo>
                  <a:cubicBezTo>
                    <a:pt x="1483054" y="1332969"/>
                    <a:pt x="1475666" y="1350804"/>
                    <a:pt x="1462516" y="1363954"/>
                  </a:cubicBezTo>
                  <a:cubicBezTo>
                    <a:pt x="1449367" y="1377104"/>
                    <a:pt x="1431532" y="1384491"/>
                    <a:pt x="1412935" y="1384491"/>
                  </a:cubicBezTo>
                  <a:lnTo>
                    <a:pt x="70119" y="1384491"/>
                  </a:lnTo>
                  <a:cubicBezTo>
                    <a:pt x="51522" y="1384491"/>
                    <a:pt x="33687" y="1377104"/>
                    <a:pt x="20537" y="1363954"/>
                  </a:cubicBezTo>
                  <a:cubicBezTo>
                    <a:pt x="7388" y="1350804"/>
                    <a:pt x="0" y="1332969"/>
                    <a:pt x="0" y="1314372"/>
                  </a:cubicBezTo>
                  <a:lnTo>
                    <a:pt x="0" y="70119"/>
                  </a:lnTo>
                  <a:cubicBezTo>
                    <a:pt x="0" y="51522"/>
                    <a:pt x="7388" y="33687"/>
                    <a:pt x="20537" y="20537"/>
                  </a:cubicBezTo>
                  <a:cubicBezTo>
                    <a:pt x="33687" y="7388"/>
                    <a:pt x="51522" y="0"/>
                    <a:pt x="70119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83054" cy="14225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848155" y="847725"/>
            <a:ext cx="15633079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HYPOTHESIS TESTTING</a:t>
            </a:r>
          </a:p>
        </p:txBody>
      </p:sp>
      <p:sp>
        <p:nvSpPr>
          <p:cNvPr name="AutoShape 22" id="22"/>
          <p:cNvSpPr/>
          <p:nvPr/>
        </p:nvSpPr>
        <p:spPr>
          <a:xfrm>
            <a:off x="4169131" y="2489835"/>
            <a:ext cx="1080933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561611" y="3172328"/>
            <a:ext cx="1272584" cy="1272584"/>
          </a:xfrm>
          <a:custGeom>
            <a:avLst/>
            <a:gdLst/>
            <a:ahLst/>
            <a:cxnLst/>
            <a:rect r="r" b="b" t="t" l="l"/>
            <a:pathLst>
              <a:path h="1272584" w="1272584">
                <a:moveTo>
                  <a:pt x="0" y="0"/>
                </a:moveTo>
                <a:lnTo>
                  <a:pt x="1272583" y="0"/>
                </a:lnTo>
                <a:lnTo>
                  <a:pt x="1272583" y="1272584"/>
                </a:lnTo>
                <a:lnTo>
                  <a:pt x="0" y="12725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45012" y="3355730"/>
            <a:ext cx="905781" cy="905781"/>
          </a:xfrm>
          <a:custGeom>
            <a:avLst/>
            <a:gdLst/>
            <a:ahLst/>
            <a:cxnLst/>
            <a:rect r="r" b="b" t="t" l="l"/>
            <a:pathLst>
              <a:path h="905781" w="905781">
                <a:moveTo>
                  <a:pt x="0" y="0"/>
                </a:moveTo>
                <a:lnTo>
                  <a:pt x="905781" y="0"/>
                </a:lnTo>
                <a:lnTo>
                  <a:pt x="905781" y="905781"/>
                </a:lnTo>
                <a:lnTo>
                  <a:pt x="0" y="9057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894727" y="3505444"/>
            <a:ext cx="606351" cy="606351"/>
          </a:xfrm>
          <a:custGeom>
            <a:avLst/>
            <a:gdLst/>
            <a:ahLst/>
            <a:cxnLst/>
            <a:rect r="r" b="b" t="t" l="l"/>
            <a:pathLst>
              <a:path h="606351" w="606351">
                <a:moveTo>
                  <a:pt x="0" y="0"/>
                </a:moveTo>
                <a:lnTo>
                  <a:pt x="606351" y="0"/>
                </a:lnTo>
                <a:lnTo>
                  <a:pt x="606351" y="606352"/>
                </a:lnTo>
                <a:lnTo>
                  <a:pt x="0" y="6063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2017500" y="3628218"/>
            <a:ext cx="360805" cy="36080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2052005" y="3650033"/>
            <a:ext cx="296414" cy="317175"/>
          </a:xfrm>
          <a:custGeom>
            <a:avLst/>
            <a:gdLst/>
            <a:ahLst/>
            <a:cxnLst/>
            <a:rect r="r" b="b" t="t" l="l"/>
            <a:pathLst>
              <a:path h="317175" w="296414">
                <a:moveTo>
                  <a:pt x="0" y="0"/>
                </a:moveTo>
                <a:lnTo>
                  <a:pt x="296414" y="0"/>
                </a:lnTo>
                <a:lnTo>
                  <a:pt x="296414" y="317175"/>
                </a:lnTo>
                <a:lnTo>
                  <a:pt x="0" y="31717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66363" y="4410115"/>
            <a:ext cx="15633303" cy="555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8912" indent="-379456" lvl="1">
              <a:lnSpc>
                <a:spcPts val="4921"/>
              </a:lnSpc>
              <a:buFont typeface="Arial"/>
              <a:buChar char="•"/>
            </a:pPr>
            <a:r>
              <a:rPr lang="en-US" sz="3515" spc="24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Hypothesis H1: Successful leadership style is pluralistic.</a:t>
            </a:r>
          </a:p>
          <a:p>
            <a:pPr algn="l" marL="758912" indent="-379456" lvl="1">
              <a:lnSpc>
                <a:spcPts val="4921"/>
              </a:lnSpc>
              <a:buFont typeface="Arial"/>
              <a:buChar char="•"/>
            </a:pPr>
            <a:r>
              <a:rPr lang="en-US" sz="3515" spc="24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Findings:</a:t>
            </a:r>
          </a:p>
          <a:p>
            <a:pPr algn="l" marL="1517823" indent="-505941" lvl="2">
              <a:lnSpc>
                <a:spcPts val="4921"/>
              </a:lnSpc>
              <a:buFont typeface="Arial"/>
              <a:buChar char="⚬"/>
            </a:pPr>
            <a:r>
              <a:rPr lang="en-US" sz="3515" spc="24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Leadership styles vary widely across countries.</a:t>
            </a:r>
          </a:p>
          <a:p>
            <a:pPr algn="l" marL="1517823" indent="-505941" lvl="2">
              <a:lnSpc>
                <a:spcPts val="4921"/>
              </a:lnSpc>
              <a:buFont typeface="Arial"/>
              <a:buChar char="⚬"/>
            </a:pPr>
            <a:r>
              <a:rPr lang="en-US" sz="3515" spc="24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Irish managers show high "openness-to-change" style.</a:t>
            </a:r>
          </a:p>
          <a:p>
            <a:pPr algn="l" marL="1517823" indent="-505941" lvl="2">
              <a:lnSpc>
                <a:spcPts val="4921"/>
              </a:lnSpc>
              <a:buFont typeface="Arial"/>
              <a:buChar char="⚬"/>
            </a:pPr>
            <a:r>
              <a:rPr lang="en-US" sz="3515" spc="24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Finnish managers show high "conservation" style.</a:t>
            </a:r>
          </a:p>
          <a:p>
            <a:pPr algn="l" marL="1517823" indent="-505941" lvl="2">
              <a:lnSpc>
                <a:spcPts val="4921"/>
              </a:lnSpc>
              <a:buFont typeface="Arial"/>
              <a:buChar char="⚬"/>
            </a:pPr>
            <a:r>
              <a:rPr lang="en-US" sz="3515" spc="24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Danish managers show high "conservation" style.</a:t>
            </a:r>
          </a:p>
          <a:p>
            <a:pPr algn="l" marL="758912" indent="-379456" lvl="1">
              <a:lnSpc>
                <a:spcPts val="4921"/>
              </a:lnSpc>
              <a:buFont typeface="Arial"/>
              <a:buChar char="•"/>
            </a:pPr>
            <a:r>
              <a:rPr lang="en-US" sz="3515" spc="24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Conclusion:</a:t>
            </a:r>
          </a:p>
          <a:p>
            <a:pPr algn="l" marL="1517823" indent="-505941" lvl="2">
              <a:lnSpc>
                <a:spcPts val="4921"/>
              </a:lnSpc>
              <a:buFont typeface="Arial"/>
              <a:buChar char="⚬"/>
            </a:pPr>
            <a:r>
              <a:rPr lang="en-US" sz="3515" spc="24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Leadership styles are indeed pluralistic, confirming H1.</a:t>
            </a:r>
          </a:p>
          <a:p>
            <a:pPr algn="l">
              <a:lnSpc>
                <a:spcPts val="4921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647509" y="3573833"/>
            <a:ext cx="3728267" cy="61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3535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HYPOTHESIS 1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7157"/>
            <a:ext cx="15633079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HYPOTHESIS TESTTING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37066" y="1807187"/>
            <a:ext cx="4267106" cy="551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3"/>
              </a:lnSpc>
            </a:pPr>
            <a:r>
              <a:rPr lang="en-US" sz="3245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HYPOTHESIS 2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107058" y="1960501"/>
            <a:ext cx="290799" cy="311166"/>
          </a:xfrm>
          <a:custGeom>
            <a:avLst/>
            <a:gdLst/>
            <a:ahLst/>
            <a:cxnLst/>
            <a:rect r="r" b="b" t="t" l="l"/>
            <a:pathLst>
              <a:path h="311166" w="290799">
                <a:moveTo>
                  <a:pt x="0" y="0"/>
                </a:moveTo>
                <a:lnTo>
                  <a:pt x="290798" y="0"/>
                </a:lnTo>
                <a:lnTo>
                  <a:pt x="290798" y="311166"/>
                </a:lnTo>
                <a:lnTo>
                  <a:pt x="0" y="311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08479" y="2559317"/>
            <a:ext cx="16418484" cy="838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3047" indent="-366524" lvl="1">
              <a:lnSpc>
                <a:spcPts val="4753"/>
              </a:lnSpc>
              <a:buFont typeface="Arial"/>
              <a:buChar char="•"/>
            </a:pPr>
            <a:r>
              <a:rPr lang="en-US" sz="3395" spc="2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Hypothesis H2: Successful leadership Style affect Firm Performance differently across countries:</a:t>
            </a:r>
          </a:p>
          <a:p>
            <a:pPr algn="l" marL="1466095" indent="-488698" lvl="2">
              <a:lnSpc>
                <a:spcPts val="4753"/>
              </a:lnSpc>
              <a:buFont typeface="Arial"/>
              <a:buChar char="⚬"/>
            </a:pPr>
            <a:r>
              <a:rPr lang="en-US" sz="3395" spc="2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Leadership Style Differences:</a:t>
            </a:r>
          </a:p>
          <a:p>
            <a:pPr algn="l" marL="1466095" indent="-488698" lvl="2">
              <a:lnSpc>
                <a:spcPts val="4753"/>
              </a:lnSpc>
              <a:buFont typeface="Arial"/>
              <a:buChar char="⚬"/>
            </a:pPr>
            <a:r>
              <a:rPr lang="en-US" sz="3395" spc="2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Impact On International Performance</a:t>
            </a:r>
          </a:p>
          <a:p>
            <a:pPr algn="l" marL="733047" indent="-366524" lvl="1">
              <a:lnSpc>
                <a:spcPts val="4753"/>
              </a:lnSpc>
              <a:buAutoNum type="arabicPeriod" startAt="1"/>
            </a:pPr>
            <a:r>
              <a:rPr lang="en-US" sz="3395" spc="2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   Ireland has high performance of success (64%)</a:t>
            </a:r>
          </a:p>
          <a:p>
            <a:pPr algn="l" marL="733047" indent="-366524" lvl="1">
              <a:lnSpc>
                <a:spcPts val="4753"/>
              </a:lnSpc>
              <a:buAutoNum type="arabicPeriod" startAt="1"/>
            </a:pPr>
            <a:r>
              <a:rPr lang="en-US" sz="3395" spc="2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   Finland 54% than Denmark 41%</a:t>
            </a:r>
          </a:p>
          <a:p>
            <a:pPr algn="l">
              <a:lnSpc>
                <a:spcPts val="4753"/>
              </a:lnSpc>
            </a:pPr>
            <a:r>
              <a:rPr lang="en-US" sz="3395" spc="2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  Opennes to change</a:t>
            </a:r>
          </a:p>
          <a:p>
            <a:pPr algn="l">
              <a:lnSpc>
                <a:spcPts val="4753"/>
              </a:lnSpc>
            </a:pPr>
            <a:r>
              <a:rPr lang="en-US" sz="3395" spc="2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          Ireland 40%</a:t>
            </a:r>
          </a:p>
          <a:p>
            <a:pPr algn="l">
              <a:lnSpc>
                <a:spcPts val="4753"/>
              </a:lnSpc>
            </a:pPr>
            <a:r>
              <a:rPr lang="en-US" sz="3395" spc="2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          Finland 17%</a:t>
            </a:r>
          </a:p>
          <a:p>
            <a:pPr algn="l">
              <a:lnSpc>
                <a:spcPts val="4753"/>
              </a:lnSpc>
            </a:pPr>
            <a:r>
              <a:rPr lang="en-US" sz="3395" spc="2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          Deanmark 0%</a:t>
            </a:r>
          </a:p>
          <a:p>
            <a:pPr algn="l" marL="733047" indent="-366524" lvl="1">
              <a:lnSpc>
                <a:spcPts val="4753"/>
              </a:lnSpc>
              <a:buFont typeface="Arial"/>
              <a:buChar char="•"/>
            </a:pPr>
            <a:r>
              <a:rPr lang="en-US" sz="3395" spc="2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Conlusion: Internaltional perfornmance of suuccesful firms foucs on “Opennes to change”.</a:t>
            </a:r>
          </a:p>
          <a:p>
            <a:pPr algn="l">
              <a:lnSpc>
                <a:spcPts val="4753"/>
              </a:lnSpc>
            </a:pPr>
          </a:p>
          <a:p>
            <a:pPr algn="l">
              <a:lnSpc>
                <a:spcPts val="4753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47725"/>
            <a:ext cx="15633079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HYPOTHESIS TESTTING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12190" y="2959733"/>
            <a:ext cx="2958494" cy="593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7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HYPOTHESIS 3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612487" y="3139115"/>
            <a:ext cx="290799" cy="311166"/>
          </a:xfrm>
          <a:custGeom>
            <a:avLst/>
            <a:gdLst/>
            <a:ahLst/>
            <a:cxnLst/>
            <a:rect r="r" b="b" t="t" l="l"/>
            <a:pathLst>
              <a:path h="311166" w="290799">
                <a:moveTo>
                  <a:pt x="0" y="0"/>
                </a:moveTo>
                <a:lnTo>
                  <a:pt x="290799" y="0"/>
                </a:lnTo>
                <a:lnTo>
                  <a:pt x="290799" y="311165"/>
                </a:lnTo>
                <a:lnTo>
                  <a:pt x="0" y="3111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9795" y="3917870"/>
            <a:ext cx="18617630" cy="4741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234" indent="-415617" lvl="1">
              <a:lnSpc>
                <a:spcPts val="5390"/>
              </a:lnSpc>
              <a:buFont typeface="Arial"/>
              <a:buChar char="•"/>
            </a:pPr>
            <a:r>
              <a:rPr lang="en-US" sz="3850" spc="26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Hypothesis H3: Personal &amp; Cultural values differ in leadership styles:</a:t>
            </a:r>
          </a:p>
          <a:p>
            <a:pPr algn="l" marL="831234" indent="-415617" lvl="1">
              <a:lnSpc>
                <a:spcPts val="5390"/>
              </a:lnSpc>
              <a:buAutoNum type="arabicPeriod" startAt="1"/>
            </a:pPr>
            <a:r>
              <a:rPr lang="en-US" sz="3850" spc="26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Personal values:</a:t>
            </a:r>
          </a:p>
          <a:p>
            <a:pPr algn="l" marL="1662469" indent="-554156" lvl="2">
              <a:lnSpc>
                <a:spcPts val="5390"/>
              </a:lnSpc>
              <a:buFont typeface="Arial"/>
              <a:buChar char="⚬"/>
            </a:pPr>
            <a:r>
              <a:rPr lang="en-US" sz="3850" spc="26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Individual behavious that guide a leader</a:t>
            </a:r>
          </a:p>
          <a:p>
            <a:pPr algn="l" marL="831234" indent="-415617" lvl="1">
              <a:lnSpc>
                <a:spcPts val="5390"/>
              </a:lnSpc>
              <a:buFont typeface="Arial"/>
              <a:buChar char="•"/>
            </a:pPr>
            <a:r>
              <a:rPr lang="en-US" sz="3850" spc="26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Example:   Honesty, Creativity, Inner Peace.</a:t>
            </a:r>
          </a:p>
          <a:p>
            <a:pPr algn="l" marL="831234" indent="-415617" lvl="1">
              <a:lnSpc>
                <a:spcPts val="5390"/>
              </a:lnSpc>
              <a:buFont typeface="Arial"/>
              <a:buChar char="•"/>
            </a:pPr>
            <a:r>
              <a:rPr lang="en-US" sz="3850" spc="26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Impact on leadership:   Creativity and Innovation.</a:t>
            </a:r>
          </a:p>
          <a:p>
            <a:pPr algn="l">
              <a:lnSpc>
                <a:spcPts val="5390"/>
              </a:lnSpc>
            </a:pPr>
          </a:p>
          <a:p>
            <a:pPr algn="l">
              <a:lnSpc>
                <a:spcPts val="5390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08143" y="4331920"/>
            <a:ext cx="15873314" cy="4320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20"/>
              </a:lnSpc>
            </a:pPr>
            <a:r>
              <a:rPr lang="en-US" sz="351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2. </a:t>
            </a:r>
            <a:r>
              <a:rPr lang="en-US" sz="351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Cultual values:</a:t>
            </a:r>
          </a:p>
          <a:p>
            <a:pPr algn="just">
              <a:lnSpc>
                <a:spcPts val="4920"/>
              </a:lnSpc>
              <a:spcBef>
                <a:spcPct val="0"/>
              </a:spcBef>
            </a:pPr>
            <a:r>
              <a:rPr lang="en-US" sz="351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Shared beliefs and thoughts within an organization.</a:t>
            </a:r>
          </a:p>
          <a:p>
            <a:pPr algn="just" marL="758876" indent="-379438" lvl="1">
              <a:lnSpc>
                <a:spcPts val="4920"/>
              </a:lnSpc>
              <a:buFont typeface="Arial"/>
              <a:buChar char="•"/>
            </a:pPr>
            <a:r>
              <a:rPr lang="en-US" sz="351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Example: Teamwork, Respect, Tradition.</a:t>
            </a:r>
          </a:p>
          <a:p>
            <a:pPr algn="just" marL="758876" indent="-379438" lvl="1">
              <a:lnSpc>
                <a:spcPts val="4920"/>
              </a:lnSpc>
              <a:buFont typeface="Arial"/>
              <a:buChar char="•"/>
            </a:pPr>
            <a:r>
              <a:rPr lang="en-US" sz="351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Impact:</a:t>
            </a:r>
          </a:p>
          <a:p>
            <a:pPr algn="just">
              <a:lnSpc>
                <a:spcPts val="4920"/>
              </a:lnSpc>
              <a:spcBef>
                <a:spcPct val="0"/>
              </a:spcBef>
            </a:pPr>
            <a:r>
              <a:rPr lang="en-US" sz="351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   </a:t>
            </a:r>
            <a:r>
              <a:rPr lang="en-US" sz="351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Strong teamwork</a:t>
            </a:r>
          </a:p>
          <a:p>
            <a:pPr algn="just">
              <a:lnSpc>
                <a:spcPts val="4920"/>
              </a:lnSpc>
              <a:spcBef>
                <a:spcPct val="0"/>
              </a:spcBef>
            </a:pPr>
            <a:r>
              <a:rPr lang="en-US" sz="351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   Collaboration and collective thinking instead of indiviual.</a:t>
            </a:r>
          </a:p>
          <a:p>
            <a:pPr algn="just" marL="758876" indent="-379438" lvl="1">
              <a:lnSpc>
                <a:spcPts val="4920"/>
              </a:lnSpc>
              <a:buFont typeface="Arial"/>
              <a:buChar char="•"/>
            </a:pPr>
            <a:r>
              <a:rPr lang="en-US" sz="351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Conclusion: Personal and Cultural don’t influence leadership style in same way.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12190" y="2959733"/>
            <a:ext cx="2958494" cy="593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7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HYPOTHESIS 3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612487" y="3139115"/>
            <a:ext cx="290799" cy="311166"/>
          </a:xfrm>
          <a:custGeom>
            <a:avLst/>
            <a:gdLst/>
            <a:ahLst/>
            <a:cxnLst/>
            <a:rect r="r" b="b" t="t" l="l"/>
            <a:pathLst>
              <a:path h="311166" w="290799">
                <a:moveTo>
                  <a:pt x="0" y="0"/>
                </a:moveTo>
                <a:lnTo>
                  <a:pt x="290799" y="0"/>
                </a:lnTo>
                <a:lnTo>
                  <a:pt x="290799" y="311165"/>
                </a:lnTo>
                <a:lnTo>
                  <a:pt x="0" y="3111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47725"/>
            <a:ext cx="15633079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HYPOTHESIS TESTTING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281499" y="2179982"/>
            <a:ext cx="972500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419251" y="3406474"/>
            <a:ext cx="7518538" cy="3547601"/>
          </a:xfrm>
          <a:custGeom>
            <a:avLst/>
            <a:gdLst/>
            <a:ahLst/>
            <a:cxnLst/>
            <a:rect r="r" b="b" t="t" l="l"/>
            <a:pathLst>
              <a:path h="3547601" w="7518538">
                <a:moveTo>
                  <a:pt x="0" y="0"/>
                </a:moveTo>
                <a:lnTo>
                  <a:pt x="7518538" y="0"/>
                </a:lnTo>
                <a:lnTo>
                  <a:pt x="7518538" y="3547601"/>
                </a:lnTo>
                <a:lnTo>
                  <a:pt x="0" y="35476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87" t="0" r="-33174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70069" y="537872"/>
            <a:ext cx="14070015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FINDINGS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5539" y="2467789"/>
            <a:ext cx="6011922" cy="593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8603" indent="-374301" lvl="1">
              <a:lnSpc>
                <a:spcPts val="4854"/>
              </a:lnSpc>
              <a:buAutoNum type="arabicPeriod" startAt="1"/>
            </a:pPr>
            <a:r>
              <a:rPr lang="en-US" b="true" sz="3467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CULTURAL VALUES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330274"/>
            <a:ext cx="9105077" cy="674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3646" indent="-411823" lvl="1">
              <a:lnSpc>
                <a:spcPts val="5340"/>
              </a:lnSpc>
              <a:buFont typeface="Arial"/>
              <a:buChar char="•"/>
            </a:pPr>
            <a:r>
              <a:rPr lang="en-US" sz="381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Cultural Values have  stronger influence than  personal values.</a:t>
            </a:r>
          </a:p>
          <a:p>
            <a:pPr algn="just" marL="823646" indent="-411823" lvl="1">
              <a:lnSpc>
                <a:spcPts val="5340"/>
              </a:lnSpc>
              <a:buFont typeface="Arial"/>
              <a:buChar char="•"/>
            </a:pPr>
            <a:r>
              <a:rPr lang="en-US" sz="381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According to Wald Statistics Table:</a:t>
            </a:r>
          </a:p>
          <a:p>
            <a:pPr algn="just" marL="823646" indent="-411823" lvl="1">
              <a:lnSpc>
                <a:spcPts val="5340"/>
              </a:lnSpc>
              <a:buFont typeface="Arial"/>
              <a:buChar char="•"/>
            </a:pPr>
            <a:r>
              <a:rPr lang="en-US" sz="381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Cultural values contribute 70% to mediation affect than personal values.</a:t>
            </a:r>
          </a:p>
          <a:p>
            <a:pPr algn="just" marL="823646" indent="-411823" lvl="1">
              <a:lnSpc>
                <a:spcPts val="5340"/>
              </a:lnSpc>
              <a:buFont typeface="Arial"/>
              <a:buChar char="•"/>
            </a:pPr>
            <a:r>
              <a:rPr lang="en-US" sz="381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ratio(cultural : 4.606)</a:t>
            </a:r>
          </a:p>
          <a:p>
            <a:pPr algn="just" marL="823646" indent="-411823" lvl="1">
              <a:lnSpc>
                <a:spcPts val="5340"/>
              </a:lnSpc>
              <a:buFont typeface="Arial"/>
              <a:buChar char="•"/>
            </a:pPr>
            <a:r>
              <a:rPr lang="en-US" sz="381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(personal: 1.916)</a:t>
            </a:r>
          </a:p>
          <a:p>
            <a:pPr algn="just" marL="823646" indent="-411823" lvl="1">
              <a:lnSpc>
                <a:spcPts val="5340"/>
              </a:lnSpc>
              <a:buFont typeface="Arial"/>
              <a:buChar char="•"/>
            </a:pPr>
            <a:r>
              <a:rPr lang="en-US" b="true" sz="38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Conclusion:</a:t>
            </a:r>
            <a:r>
              <a:rPr lang="en-US" sz="381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Culrural values shape leadership style more than personal values.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738280" y="2254433"/>
            <a:ext cx="1264742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075656" y="7836828"/>
            <a:ext cx="5638545" cy="979697"/>
          </a:xfrm>
          <a:custGeom>
            <a:avLst/>
            <a:gdLst/>
            <a:ahLst/>
            <a:cxnLst/>
            <a:rect r="r" b="b" t="t" l="l"/>
            <a:pathLst>
              <a:path h="979697" w="5638545">
                <a:moveTo>
                  <a:pt x="0" y="0"/>
                </a:moveTo>
                <a:lnTo>
                  <a:pt x="5638546" y="0"/>
                </a:lnTo>
                <a:lnTo>
                  <a:pt x="5638546" y="979697"/>
                </a:lnTo>
                <a:lnTo>
                  <a:pt x="0" y="9796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49855" y="3563071"/>
            <a:ext cx="14376354" cy="5253454"/>
            <a:chOff x="0" y="0"/>
            <a:chExt cx="3786365" cy="13836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6365" cy="1383626"/>
            </a:xfrm>
            <a:custGeom>
              <a:avLst/>
              <a:gdLst/>
              <a:ahLst/>
              <a:cxnLst/>
              <a:rect r="r" b="b" t="t" l="l"/>
              <a:pathLst>
                <a:path h="1383626" w="3786365">
                  <a:moveTo>
                    <a:pt x="27464" y="0"/>
                  </a:moveTo>
                  <a:lnTo>
                    <a:pt x="3758901" y="0"/>
                  </a:lnTo>
                  <a:cubicBezTo>
                    <a:pt x="3774069" y="0"/>
                    <a:pt x="3786365" y="12296"/>
                    <a:pt x="3786365" y="27464"/>
                  </a:cubicBezTo>
                  <a:lnTo>
                    <a:pt x="3786365" y="1356161"/>
                  </a:lnTo>
                  <a:cubicBezTo>
                    <a:pt x="3786365" y="1371330"/>
                    <a:pt x="3774069" y="1383626"/>
                    <a:pt x="3758901" y="1383626"/>
                  </a:cubicBezTo>
                  <a:lnTo>
                    <a:pt x="27464" y="1383626"/>
                  </a:lnTo>
                  <a:cubicBezTo>
                    <a:pt x="20180" y="1383626"/>
                    <a:pt x="13195" y="1380732"/>
                    <a:pt x="8044" y="1375582"/>
                  </a:cubicBezTo>
                  <a:cubicBezTo>
                    <a:pt x="2894" y="1370431"/>
                    <a:pt x="0" y="1363445"/>
                    <a:pt x="0" y="1356161"/>
                  </a:cubicBezTo>
                  <a:lnTo>
                    <a:pt x="0" y="27464"/>
                  </a:lnTo>
                  <a:cubicBezTo>
                    <a:pt x="0" y="12296"/>
                    <a:pt x="12296" y="0"/>
                    <a:pt x="27464" y="0"/>
                  </a:cubicBez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786365" cy="1421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042697" y="593273"/>
            <a:ext cx="13343009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FINDINGS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9855" y="2583312"/>
            <a:ext cx="4835877" cy="593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4"/>
              </a:lnSpc>
            </a:pPr>
            <a:r>
              <a:rPr lang="en-US" sz="3467" b="tru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2. LEADERSHIP STYLES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9855" y="3493525"/>
            <a:ext cx="16938145" cy="451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73"/>
              </a:lnSpc>
            </a:pPr>
            <a:r>
              <a:rPr lang="en-US" sz="4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Leadership plays an important role in global business.</a:t>
            </a:r>
          </a:p>
          <a:p>
            <a:pPr algn="just">
              <a:lnSpc>
                <a:spcPts val="5973"/>
              </a:lnSpc>
            </a:pPr>
            <a:r>
              <a:rPr lang="en-US" sz="4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Key Findings:</a:t>
            </a:r>
          </a:p>
          <a:p>
            <a:pPr algn="just" marL="921231" indent="-460615" lvl="1">
              <a:lnSpc>
                <a:spcPts val="5973"/>
              </a:lnSpc>
              <a:buAutoNum type="arabicPeriod" startAt="1"/>
            </a:pPr>
            <a:r>
              <a:rPr lang="en-US" sz="4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National Culture dominate leadership style</a:t>
            </a:r>
          </a:p>
          <a:p>
            <a:pPr algn="just" marL="921231" indent="-460615" lvl="1">
              <a:lnSpc>
                <a:spcPts val="5973"/>
              </a:lnSpc>
              <a:buAutoNum type="arabicPeriod" startAt="1"/>
            </a:pPr>
            <a:r>
              <a:rPr lang="en-US" sz="4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Leadership style in cross-cultural business</a:t>
            </a:r>
          </a:p>
          <a:p>
            <a:pPr algn="just" marL="921231" indent="-460615" lvl="1">
              <a:lnSpc>
                <a:spcPts val="5973"/>
              </a:lnSpc>
              <a:buAutoNum type="arabicPeriod" startAt="1"/>
            </a:pPr>
            <a:r>
              <a:rPr lang="en-US" sz="4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History influence leadership style</a:t>
            </a:r>
          </a:p>
          <a:p>
            <a:pPr algn="just" marL="921231" indent="-460615" lvl="1">
              <a:lnSpc>
                <a:spcPts val="5973"/>
              </a:lnSpc>
              <a:buAutoNum type="arabicPeriod" startAt="1"/>
            </a:pPr>
            <a:r>
              <a:rPr lang="en-US" sz="426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Leadership style differences by country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07784" y="847725"/>
            <a:ext cx="9858581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name="AutoShape 3" id="3"/>
          <p:cNvSpPr/>
          <p:nvPr/>
        </p:nvSpPr>
        <p:spPr>
          <a:xfrm>
            <a:off x="2910226" y="2480310"/>
            <a:ext cx="1264742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000468"/>
            <a:ext cx="574382" cy="574382"/>
          </a:xfrm>
          <a:custGeom>
            <a:avLst/>
            <a:gdLst/>
            <a:ahLst/>
            <a:cxnLst/>
            <a:rect r="r" b="b" t="t" l="l"/>
            <a:pathLst>
              <a:path h="574382" w="574382">
                <a:moveTo>
                  <a:pt x="0" y="0"/>
                </a:moveTo>
                <a:lnTo>
                  <a:pt x="574382" y="0"/>
                </a:lnTo>
                <a:lnTo>
                  <a:pt x="574382" y="574382"/>
                </a:lnTo>
                <a:lnTo>
                  <a:pt x="0" y="57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01242" y="3228169"/>
            <a:ext cx="1544598" cy="1544598"/>
          </a:xfrm>
          <a:custGeom>
            <a:avLst/>
            <a:gdLst/>
            <a:ahLst/>
            <a:cxnLst/>
            <a:rect r="r" b="b" t="t" l="l"/>
            <a:pathLst>
              <a:path h="1544598" w="1544598">
                <a:moveTo>
                  <a:pt x="0" y="0"/>
                </a:moveTo>
                <a:lnTo>
                  <a:pt x="1544598" y="0"/>
                </a:lnTo>
                <a:lnTo>
                  <a:pt x="1544598" y="1544598"/>
                </a:lnTo>
                <a:lnTo>
                  <a:pt x="0" y="154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51316" y="3924268"/>
            <a:ext cx="14503999" cy="384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12"/>
              </a:lnSpc>
            </a:pPr>
            <a:r>
              <a:rPr lang="en-US" sz="365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Personal and cultural values are different.</a:t>
            </a:r>
          </a:p>
          <a:p>
            <a:pPr algn="just">
              <a:lnSpc>
                <a:spcPts val="5112"/>
              </a:lnSpc>
            </a:pPr>
            <a:r>
              <a:rPr lang="en-US" sz="365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Different culture have different leadership expectations.</a:t>
            </a:r>
          </a:p>
          <a:p>
            <a:pPr algn="just">
              <a:lnSpc>
                <a:spcPts val="5112"/>
              </a:lnSpc>
            </a:pPr>
            <a:r>
              <a:rPr lang="en-US" sz="365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Cultural values have stronger influence on leadership than personal values especially in international business.</a:t>
            </a:r>
          </a:p>
          <a:p>
            <a:pPr algn="just">
              <a:lnSpc>
                <a:spcPts val="5112"/>
              </a:lnSpc>
            </a:pPr>
            <a:r>
              <a:rPr lang="en-US" sz="365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Companies should deploy managers whose leadership aligns with the cultural expectations of the country, they operate in better for success.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4673809"/>
            <a:ext cx="574382" cy="574382"/>
          </a:xfrm>
          <a:custGeom>
            <a:avLst/>
            <a:gdLst/>
            <a:ahLst/>
            <a:cxnLst/>
            <a:rect r="r" b="b" t="t" l="l"/>
            <a:pathLst>
              <a:path h="574382" w="574382">
                <a:moveTo>
                  <a:pt x="0" y="0"/>
                </a:moveTo>
                <a:lnTo>
                  <a:pt x="574382" y="0"/>
                </a:lnTo>
                <a:lnTo>
                  <a:pt x="574382" y="574382"/>
                </a:lnTo>
                <a:lnTo>
                  <a:pt x="0" y="57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5343441"/>
            <a:ext cx="574382" cy="574382"/>
          </a:xfrm>
          <a:custGeom>
            <a:avLst/>
            <a:gdLst/>
            <a:ahLst/>
            <a:cxnLst/>
            <a:rect r="r" b="b" t="t" l="l"/>
            <a:pathLst>
              <a:path h="574382" w="574382">
                <a:moveTo>
                  <a:pt x="0" y="0"/>
                </a:moveTo>
                <a:lnTo>
                  <a:pt x="574382" y="0"/>
                </a:lnTo>
                <a:lnTo>
                  <a:pt x="574382" y="574382"/>
                </a:lnTo>
                <a:lnTo>
                  <a:pt x="0" y="57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6689348"/>
            <a:ext cx="574382" cy="574382"/>
          </a:xfrm>
          <a:custGeom>
            <a:avLst/>
            <a:gdLst/>
            <a:ahLst/>
            <a:cxnLst/>
            <a:rect r="r" b="b" t="t" l="l"/>
            <a:pathLst>
              <a:path h="574382" w="574382">
                <a:moveTo>
                  <a:pt x="0" y="0"/>
                </a:moveTo>
                <a:lnTo>
                  <a:pt x="574382" y="0"/>
                </a:lnTo>
                <a:lnTo>
                  <a:pt x="574382" y="574383"/>
                </a:lnTo>
                <a:lnTo>
                  <a:pt x="0" y="57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9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299043">
            <a:off x="-1746670" y="4230785"/>
            <a:ext cx="11240987" cy="1825430"/>
          </a:xfrm>
          <a:custGeom>
            <a:avLst/>
            <a:gdLst/>
            <a:ahLst/>
            <a:cxnLst/>
            <a:rect r="r" b="b" t="t" l="l"/>
            <a:pathLst>
              <a:path h="1825430" w="11240987">
                <a:moveTo>
                  <a:pt x="0" y="0"/>
                </a:moveTo>
                <a:lnTo>
                  <a:pt x="11240987" y="0"/>
                </a:lnTo>
                <a:lnTo>
                  <a:pt x="11240987" y="1825430"/>
                </a:lnTo>
                <a:lnTo>
                  <a:pt x="0" y="1825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995"/>
            </a:stretch>
          </a:blipFill>
        </p:spPr>
      </p:sp>
      <p:grpSp>
        <p:nvGrpSpPr>
          <p:cNvPr name="Group 3" id="3"/>
          <p:cNvGrpSpPr/>
          <p:nvPr/>
        </p:nvGrpSpPr>
        <p:grpSpPr>
          <a:xfrm rot="1107706">
            <a:off x="-921467" y="-1570623"/>
            <a:ext cx="5280133" cy="12462121"/>
            <a:chOff x="0" y="0"/>
            <a:chExt cx="1390652" cy="32822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4299043">
            <a:off x="-2646668" y="4025505"/>
            <a:ext cx="11240987" cy="1953121"/>
          </a:xfrm>
          <a:custGeom>
            <a:avLst/>
            <a:gdLst/>
            <a:ahLst/>
            <a:cxnLst/>
            <a:rect r="r" b="b" t="t" l="l"/>
            <a:pathLst>
              <a:path h="1953121" w="11240987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1107706">
            <a:off x="-1880460" y="-1819814"/>
            <a:ext cx="5280133" cy="12462121"/>
            <a:chOff x="0" y="0"/>
            <a:chExt cx="1390652" cy="32822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90652" cy="3282205"/>
            </a:xfrm>
            <a:custGeom>
              <a:avLst/>
              <a:gdLst/>
              <a:ahLst/>
              <a:cxnLst/>
              <a:rect r="r" b="b" t="t" l="l"/>
              <a:pathLst>
                <a:path h="3282205" w="1390652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703396" y="2066928"/>
            <a:ext cx="9232099" cy="3003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2"/>
              </a:lnSpc>
            </a:pPr>
            <a:r>
              <a:rPr lang="en-US" sz="1755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63579" y="4393737"/>
            <a:ext cx="5048322" cy="2406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90"/>
              </a:lnSpc>
            </a:pPr>
            <a:r>
              <a:rPr lang="en-US" sz="1406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DAGdpz2pzNM</dc:identifier>
  <dcterms:modified xsi:type="dcterms:W3CDTF">2011-08-01T06:04:30Z</dcterms:modified>
  <cp:revision>1</cp:revision>
  <dc:title>DEFENSE</dc:title>
</cp:coreProperties>
</file>