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Agrandir Wide Bold" panose="020B0604020202020204" charset="0"/>
      <p:regular r:id="rId17"/>
    </p:embeddedFont>
    <p:embeddedFont>
      <p:font typeface="Canva Sans" panose="020B0604020202020204" charset="0"/>
      <p:regular r:id="rId18"/>
    </p:embeddedFont>
    <p:embeddedFont>
      <p:font typeface="Canva Sans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8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12.svg"/><Relationship Id="rId4" Type="http://schemas.openxmlformats.org/officeDocument/2006/relationships/image" Target="../media/image3.sv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2.svg"/><Relationship Id="rId4" Type="http://schemas.openxmlformats.org/officeDocument/2006/relationships/image" Target="../media/image14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8.svg"/><Relationship Id="rId4" Type="http://schemas.openxmlformats.org/officeDocument/2006/relationships/image" Target="../media/image14.sv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8.svg"/><Relationship Id="rId4" Type="http://schemas.openxmlformats.org/officeDocument/2006/relationships/image" Target="../media/image14.sv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8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8.svg"/><Relationship Id="rId4" Type="http://schemas.openxmlformats.org/officeDocument/2006/relationships/image" Target="../media/image14.svg"/><Relationship Id="rId9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8.svg"/><Relationship Id="rId4" Type="http://schemas.openxmlformats.org/officeDocument/2006/relationships/image" Target="../media/image14.svg"/><Relationship Id="rId9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2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6910" y="-3701387"/>
            <a:ext cx="18541820" cy="18588291"/>
          </a:xfrm>
          <a:custGeom>
            <a:avLst/>
            <a:gdLst/>
            <a:ahLst/>
            <a:cxnLst/>
            <a:rect l="l" t="t" r="r" b="b"/>
            <a:pathLst>
              <a:path w="18541820" h="18588291">
                <a:moveTo>
                  <a:pt x="0" y="0"/>
                </a:moveTo>
                <a:lnTo>
                  <a:pt x="18541820" y="0"/>
                </a:lnTo>
                <a:lnTo>
                  <a:pt x="18541820" y="18588291"/>
                </a:lnTo>
                <a:lnTo>
                  <a:pt x="0" y="185882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523959" y="5783258"/>
            <a:ext cx="7620400" cy="5057048"/>
          </a:xfrm>
          <a:custGeom>
            <a:avLst/>
            <a:gdLst/>
            <a:ahLst/>
            <a:cxnLst/>
            <a:rect l="l" t="t" r="r" b="b"/>
            <a:pathLst>
              <a:path w="7620400" h="5057048">
                <a:moveTo>
                  <a:pt x="0" y="0"/>
                </a:moveTo>
                <a:lnTo>
                  <a:pt x="7620400" y="0"/>
                </a:lnTo>
                <a:lnTo>
                  <a:pt x="7620400" y="5057048"/>
                </a:lnTo>
                <a:lnTo>
                  <a:pt x="0" y="50570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890387" y="465006"/>
            <a:ext cx="7620400" cy="5318252"/>
          </a:xfrm>
          <a:custGeom>
            <a:avLst/>
            <a:gdLst/>
            <a:ahLst/>
            <a:cxnLst/>
            <a:rect l="l" t="t" r="r" b="b"/>
            <a:pathLst>
              <a:path w="7620400" h="5318252">
                <a:moveTo>
                  <a:pt x="0" y="0"/>
                </a:moveTo>
                <a:lnTo>
                  <a:pt x="7620400" y="0"/>
                </a:lnTo>
                <a:lnTo>
                  <a:pt x="7620400" y="5318252"/>
                </a:lnTo>
                <a:lnTo>
                  <a:pt x="0" y="53182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523959" y="5464155"/>
            <a:ext cx="978171" cy="638206"/>
          </a:xfrm>
          <a:custGeom>
            <a:avLst/>
            <a:gdLst/>
            <a:ahLst/>
            <a:cxnLst/>
            <a:rect l="l" t="t" r="r" b="b"/>
            <a:pathLst>
              <a:path w="978171" h="638206">
                <a:moveTo>
                  <a:pt x="0" y="0"/>
                </a:moveTo>
                <a:lnTo>
                  <a:pt x="978170" y="0"/>
                </a:lnTo>
                <a:lnTo>
                  <a:pt x="978170" y="638206"/>
                </a:lnTo>
                <a:lnTo>
                  <a:pt x="0" y="6382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90781" r="-417333" b="-978338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929920" y="2536414"/>
            <a:ext cx="10746428" cy="4813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43"/>
              </a:lnSpc>
            </a:pPr>
            <a:r>
              <a:rPr lang="en-US" sz="7599" b="1">
                <a:solidFill>
                  <a:srgbClr val="476AE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The Challenge of Transactional and Transformational Leadership in Projects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49577" y="7897217"/>
            <a:ext cx="8431161" cy="1223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8"/>
              </a:lnSpc>
            </a:pPr>
            <a:r>
              <a:rPr lang="en-US" sz="3998" b="1" dirty="0">
                <a:solidFill>
                  <a:srgbClr val="ED783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 K. </a:t>
            </a:r>
            <a:r>
              <a:rPr lang="en-US" sz="3998" b="1" dirty="0" err="1">
                <a:solidFill>
                  <a:srgbClr val="ED783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Tyssen</a:t>
            </a:r>
            <a:r>
              <a:rPr lang="en-US" sz="3998" b="1" dirty="0">
                <a:solidFill>
                  <a:srgbClr val="ED783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 Andreas Wald, Patrick Spieth </a:t>
            </a:r>
          </a:p>
        </p:txBody>
      </p:sp>
      <p:sp>
        <p:nvSpPr>
          <p:cNvPr id="8" name="Freeform 8"/>
          <p:cNvSpPr/>
          <p:nvPr/>
        </p:nvSpPr>
        <p:spPr>
          <a:xfrm rot="5400000">
            <a:off x="2836686" y="1041944"/>
            <a:ext cx="625804" cy="2439335"/>
          </a:xfrm>
          <a:custGeom>
            <a:avLst/>
            <a:gdLst/>
            <a:ahLst/>
            <a:cxnLst/>
            <a:rect l="l" t="t" r="r" b="b"/>
            <a:pathLst>
              <a:path w="625804" h="2439335">
                <a:moveTo>
                  <a:pt x="0" y="0"/>
                </a:moveTo>
                <a:lnTo>
                  <a:pt x="625804" y="0"/>
                </a:lnTo>
                <a:lnTo>
                  <a:pt x="625804" y="2439336"/>
                </a:lnTo>
                <a:lnTo>
                  <a:pt x="0" y="243933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38762" r="-787970" b="-63175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2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6910" y="-3701387"/>
            <a:ext cx="18541820" cy="18588291"/>
          </a:xfrm>
          <a:custGeom>
            <a:avLst/>
            <a:gdLst/>
            <a:ahLst/>
            <a:cxnLst/>
            <a:rect l="l" t="t" r="r" b="b"/>
            <a:pathLst>
              <a:path w="18541820" h="18588291">
                <a:moveTo>
                  <a:pt x="0" y="0"/>
                </a:moveTo>
                <a:lnTo>
                  <a:pt x="18541820" y="0"/>
                </a:lnTo>
                <a:lnTo>
                  <a:pt x="18541820" y="18588291"/>
                </a:lnTo>
                <a:lnTo>
                  <a:pt x="0" y="185882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548794" y="2325915"/>
            <a:ext cx="13190412" cy="1645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69"/>
              </a:lnSpc>
            </a:pPr>
            <a:r>
              <a:rPr lang="en-US" sz="10605" b="1">
                <a:solidFill>
                  <a:srgbClr val="476AE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Group Members</a:t>
            </a:r>
          </a:p>
        </p:txBody>
      </p:sp>
      <p:sp>
        <p:nvSpPr>
          <p:cNvPr id="4" name="Freeform 4"/>
          <p:cNvSpPr/>
          <p:nvPr/>
        </p:nvSpPr>
        <p:spPr>
          <a:xfrm>
            <a:off x="-2353104" y="6509196"/>
            <a:ext cx="6163863" cy="4090461"/>
          </a:xfrm>
          <a:custGeom>
            <a:avLst/>
            <a:gdLst/>
            <a:ahLst/>
            <a:cxnLst/>
            <a:rect l="l" t="t" r="r" b="b"/>
            <a:pathLst>
              <a:path w="6163863" h="4090461">
                <a:moveTo>
                  <a:pt x="0" y="0"/>
                </a:moveTo>
                <a:lnTo>
                  <a:pt x="6163863" y="0"/>
                </a:lnTo>
                <a:lnTo>
                  <a:pt x="6163863" y="4090461"/>
                </a:lnTo>
                <a:lnTo>
                  <a:pt x="0" y="4090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477800" y="6216350"/>
            <a:ext cx="7620400" cy="5318252"/>
          </a:xfrm>
          <a:custGeom>
            <a:avLst/>
            <a:gdLst/>
            <a:ahLst/>
            <a:cxnLst/>
            <a:rect l="l" t="t" r="r" b="b"/>
            <a:pathLst>
              <a:path w="7620400" h="5318252">
                <a:moveTo>
                  <a:pt x="0" y="0"/>
                </a:moveTo>
                <a:lnTo>
                  <a:pt x="7620400" y="0"/>
                </a:lnTo>
                <a:lnTo>
                  <a:pt x="7620400" y="5318253"/>
                </a:lnTo>
                <a:lnTo>
                  <a:pt x="0" y="531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739206" y="1808019"/>
            <a:ext cx="978171" cy="638206"/>
          </a:xfrm>
          <a:custGeom>
            <a:avLst/>
            <a:gdLst/>
            <a:ahLst/>
            <a:cxnLst/>
            <a:rect l="l" t="t" r="r" b="b"/>
            <a:pathLst>
              <a:path w="978171" h="638206">
                <a:moveTo>
                  <a:pt x="0" y="0"/>
                </a:moveTo>
                <a:lnTo>
                  <a:pt x="978171" y="0"/>
                </a:lnTo>
                <a:lnTo>
                  <a:pt x="978171" y="638206"/>
                </a:lnTo>
                <a:lnTo>
                  <a:pt x="0" y="6382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90781" r="-417333" b="-978338"/>
            </a:stretch>
          </a:blipFill>
        </p:spPr>
      </p:sp>
      <p:sp>
        <p:nvSpPr>
          <p:cNvPr id="7" name="Freeform 7"/>
          <p:cNvSpPr/>
          <p:nvPr/>
        </p:nvSpPr>
        <p:spPr>
          <a:xfrm rot="5400000">
            <a:off x="167685" y="439565"/>
            <a:ext cx="689091" cy="2686023"/>
          </a:xfrm>
          <a:custGeom>
            <a:avLst/>
            <a:gdLst/>
            <a:ahLst/>
            <a:cxnLst/>
            <a:rect l="l" t="t" r="r" b="b"/>
            <a:pathLst>
              <a:path w="689091" h="2686023">
                <a:moveTo>
                  <a:pt x="0" y="0"/>
                </a:moveTo>
                <a:lnTo>
                  <a:pt x="689092" y="0"/>
                </a:lnTo>
                <a:lnTo>
                  <a:pt x="689092" y="2686023"/>
                </a:lnTo>
                <a:lnTo>
                  <a:pt x="0" y="26860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38762" r="-787970" b="-63175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214005" y="4539210"/>
            <a:ext cx="7859990" cy="2933865"/>
            <a:chOff x="0" y="0"/>
            <a:chExt cx="10479987" cy="3911820"/>
          </a:xfrm>
        </p:grpSpPr>
        <p:sp>
          <p:nvSpPr>
            <p:cNvPr id="9" name="TextBox 9"/>
            <p:cNvSpPr txBox="1"/>
            <p:nvPr/>
          </p:nvSpPr>
          <p:spPr>
            <a:xfrm>
              <a:off x="0" y="-47625"/>
              <a:ext cx="4836221" cy="3959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25"/>
                </a:lnSpc>
              </a:pPr>
              <a:r>
                <a:rPr lang="en-US" sz="3500" spc="210">
                  <a:solidFill>
                    <a:srgbClr val="1C212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Aleena Abid</a:t>
              </a:r>
            </a:p>
            <a:p>
              <a:pPr algn="l">
                <a:lnSpc>
                  <a:spcPts val="4725"/>
                </a:lnSpc>
              </a:pPr>
              <a:r>
                <a:rPr lang="en-US" sz="3500" spc="210">
                  <a:solidFill>
                    <a:srgbClr val="1C212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Abdur Rehman</a:t>
              </a:r>
            </a:p>
            <a:p>
              <a:pPr algn="l">
                <a:lnSpc>
                  <a:spcPts val="4725"/>
                </a:lnSpc>
              </a:pPr>
              <a:r>
                <a:rPr lang="en-US" sz="3500" spc="210">
                  <a:solidFill>
                    <a:srgbClr val="1C212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Fatima Awais</a:t>
              </a:r>
            </a:p>
            <a:p>
              <a:pPr algn="l">
                <a:lnSpc>
                  <a:spcPts val="4725"/>
                </a:lnSpc>
              </a:pPr>
              <a:r>
                <a:rPr lang="en-US" sz="3500" spc="210">
                  <a:solidFill>
                    <a:srgbClr val="1C212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Javaria Iqbal</a:t>
              </a:r>
            </a:p>
            <a:p>
              <a:pPr algn="l">
                <a:lnSpc>
                  <a:spcPts val="4725"/>
                </a:lnSpc>
              </a:pPr>
              <a:r>
                <a:rPr lang="en-US" sz="3500" spc="210">
                  <a:solidFill>
                    <a:srgbClr val="1C212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Zoya Naveed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01421" y="-47625"/>
              <a:ext cx="4678566" cy="3959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25"/>
                </a:lnSpc>
              </a:pPr>
              <a:r>
                <a:rPr lang="en-US" sz="3500" spc="210">
                  <a:solidFill>
                    <a:srgbClr val="1C212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(2021-CS-146)</a:t>
              </a:r>
            </a:p>
            <a:p>
              <a:pPr algn="l">
                <a:lnSpc>
                  <a:spcPts val="4725"/>
                </a:lnSpc>
              </a:pPr>
              <a:r>
                <a:rPr lang="en-US" sz="3500" spc="210">
                  <a:solidFill>
                    <a:srgbClr val="1C212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(2021-CS-157)</a:t>
              </a:r>
            </a:p>
            <a:p>
              <a:pPr algn="l">
                <a:lnSpc>
                  <a:spcPts val="4725"/>
                </a:lnSpc>
              </a:pPr>
              <a:r>
                <a:rPr lang="en-US" sz="3500" spc="210">
                  <a:solidFill>
                    <a:srgbClr val="1C212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(2021-CS-175)</a:t>
              </a:r>
            </a:p>
            <a:p>
              <a:pPr algn="l">
                <a:lnSpc>
                  <a:spcPts val="4725"/>
                </a:lnSpc>
              </a:pPr>
              <a:r>
                <a:rPr lang="en-US" sz="3500" spc="210">
                  <a:solidFill>
                    <a:srgbClr val="1C212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(2021-CS-185)</a:t>
              </a:r>
            </a:p>
            <a:p>
              <a:pPr algn="l">
                <a:lnSpc>
                  <a:spcPts val="4725"/>
                </a:lnSpc>
              </a:pPr>
              <a:r>
                <a:rPr lang="en-US" sz="3500" spc="210">
                  <a:solidFill>
                    <a:srgbClr val="1C212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(2021-CS-201)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2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6910" y="-3701387"/>
            <a:ext cx="18541820" cy="18588291"/>
          </a:xfrm>
          <a:custGeom>
            <a:avLst/>
            <a:gdLst/>
            <a:ahLst/>
            <a:cxnLst/>
            <a:rect l="l" t="t" r="r" b="b"/>
            <a:pathLst>
              <a:path w="18541820" h="18588291">
                <a:moveTo>
                  <a:pt x="0" y="0"/>
                </a:moveTo>
                <a:lnTo>
                  <a:pt x="18541820" y="0"/>
                </a:lnTo>
                <a:lnTo>
                  <a:pt x="18541820" y="18588291"/>
                </a:lnTo>
                <a:lnTo>
                  <a:pt x="0" y="185882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407631" y="8003500"/>
            <a:ext cx="743071" cy="2672723"/>
          </a:xfrm>
          <a:custGeom>
            <a:avLst/>
            <a:gdLst/>
            <a:ahLst/>
            <a:cxnLst/>
            <a:rect l="l" t="t" r="r" b="b"/>
            <a:pathLst>
              <a:path w="743071" h="2672723">
                <a:moveTo>
                  <a:pt x="0" y="0"/>
                </a:moveTo>
                <a:lnTo>
                  <a:pt x="743071" y="0"/>
                </a:lnTo>
                <a:lnTo>
                  <a:pt x="743071" y="2672723"/>
                </a:lnTo>
                <a:lnTo>
                  <a:pt x="0" y="26727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457698" b="-53955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37357" y="1028700"/>
            <a:ext cx="978171" cy="638206"/>
          </a:xfrm>
          <a:custGeom>
            <a:avLst/>
            <a:gdLst/>
            <a:ahLst/>
            <a:cxnLst/>
            <a:rect l="l" t="t" r="r" b="b"/>
            <a:pathLst>
              <a:path w="978171" h="638206">
                <a:moveTo>
                  <a:pt x="0" y="0"/>
                </a:moveTo>
                <a:lnTo>
                  <a:pt x="978171" y="0"/>
                </a:lnTo>
                <a:lnTo>
                  <a:pt x="978171" y="638206"/>
                </a:lnTo>
                <a:lnTo>
                  <a:pt x="0" y="638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490781" r="-417333" b="-978338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863074" y="3504620"/>
            <a:ext cx="5420647" cy="4735395"/>
          </a:xfrm>
          <a:custGeom>
            <a:avLst/>
            <a:gdLst/>
            <a:ahLst/>
            <a:cxnLst/>
            <a:rect l="l" t="t" r="r" b="b"/>
            <a:pathLst>
              <a:path w="5420647" h="4735395">
                <a:moveTo>
                  <a:pt x="0" y="0"/>
                </a:moveTo>
                <a:lnTo>
                  <a:pt x="5420647" y="0"/>
                </a:lnTo>
                <a:lnTo>
                  <a:pt x="5420647" y="4735395"/>
                </a:lnTo>
                <a:lnTo>
                  <a:pt x="0" y="47353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115528" y="2060131"/>
            <a:ext cx="9842796" cy="139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60"/>
              </a:lnSpc>
            </a:pPr>
            <a:r>
              <a:rPr lang="en-US" sz="9000" b="1">
                <a:solidFill>
                  <a:srgbClr val="476AE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26443" y="3663511"/>
            <a:ext cx="9588720" cy="4815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2969"/>
              </a:lnSpc>
              <a:buFont typeface="Arial"/>
              <a:buChar char="•"/>
            </a:pPr>
            <a:r>
              <a:rPr lang="en-US" sz="2199" spc="131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The study examines two leadership styles—</a:t>
            </a:r>
            <a:r>
              <a:rPr lang="en-US" sz="2199" b="1" spc="131">
                <a:solidFill>
                  <a:srgbClr val="1C21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transactional</a:t>
            </a:r>
            <a:r>
              <a:rPr lang="en-US" sz="2199" spc="131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en-US" sz="2199" b="1" spc="131">
                <a:solidFill>
                  <a:srgbClr val="1C21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transformational</a:t>
            </a:r>
            <a:r>
              <a:rPr lang="en-US" sz="2199" spc="131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—in </a:t>
            </a:r>
            <a:r>
              <a:rPr lang="en-US" sz="2199" b="1" spc="131">
                <a:solidFill>
                  <a:srgbClr val="1C21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temporary organizations</a:t>
            </a:r>
            <a:r>
              <a:rPr lang="en-US" sz="2199" spc="131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 like projects.</a:t>
            </a:r>
          </a:p>
          <a:p>
            <a:pPr marL="474979" lvl="1" indent="-237490" algn="l">
              <a:lnSpc>
                <a:spcPts val="2969"/>
              </a:lnSpc>
              <a:buFont typeface="Arial"/>
              <a:buChar char="•"/>
            </a:pPr>
            <a:r>
              <a:rPr lang="en-US" sz="2199" spc="131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Temporary organizations differ from permanent ones due to their </a:t>
            </a:r>
            <a:r>
              <a:rPr lang="en-US" sz="2199" b="1" spc="131">
                <a:solidFill>
                  <a:srgbClr val="1C21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short-term nature</a:t>
            </a:r>
            <a:r>
              <a:rPr lang="en-US" sz="2199" spc="131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199" b="1" spc="131">
                <a:solidFill>
                  <a:srgbClr val="1C21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unique goals</a:t>
            </a:r>
            <a:r>
              <a:rPr lang="en-US" sz="2199" spc="131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, and </a:t>
            </a:r>
            <a:r>
              <a:rPr lang="en-US" sz="2199" b="1" spc="131">
                <a:solidFill>
                  <a:srgbClr val="1C21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lack of traditional hierarchies</a:t>
            </a:r>
            <a:r>
              <a:rPr lang="en-US" sz="2199" spc="131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marL="474979" lvl="1" indent="-237490" algn="l">
              <a:lnSpc>
                <a:spcPts val="2969"/>
              </a:lnSpc>
              <a:buFont typeface="Arial"/>
              <a:buChar char="•"/>
            </a:pPr>
            <a:r>
              <a:rPr lang="en-US" sz="2199" spc="131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Key leadership challenges include </a:t>
            </a:r>
            <a:r>
              <a:rPr lang="en-US" sz="2199" b="1" spc="131">
                <a:solidFill>
                  <a:srgbClr val="1C21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building trust quickly</a:t>
            </a:r>
            <a:r>
              <a:rPr lang="en-US" sz="2199" spc="131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199" b="1" spc="131">
                <a:solidFill>
                  <a:srgbClr val="1C21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fostering commitment</a:t>
            </a:r>
            <a:r>
              <a:rPr lang="en-US" sz="2199" spc="131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, and </a:t>
            </a:r>
            <a:r>
              <a:rPr lang="en-US" sz="2199" b="1" spc="131">
                <a:solidFill>
                  <a:srgbClr val="1C21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managing uncertainty</a:t>
            </a:r>
            <a:r>
              <a:rPr lang="en-US" sz="2199" spc="131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marL="474979" lvl="1" indent="-237490" algn="l">
              <a:lnSpc>
                <a:spcPts val="2969"/>
              </a:lnSpc>
              <a:buFont typeface="Arial"/>
              <a:buChar char="•"/>
            </a:pPr>
            <a:r>
              <a:rPr lang="en-US" sz="2199" spc="131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Transactional and Transformational leaderships</a:t>
            </a:r>
          </a:p>
          <a:p>
            <a:pPr marL="474979" lvl="1" indent="-237490" algn="l">
              <a:lnSpc>
                <a:spcPts val="296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spc="131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The paper develops a model to explore </a:t>
            </a:r>
            <a:r>
              <a:rPr lang="en-US" sz="2199" b="1" spc="131">
                <a:solidFill>
                  <a:srgbClr val="1C21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these</a:t>
            </a:r>
            <a:r>
              <a:rPr lang="en-US" sz="2199" spc="131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 leadership styles </a:t>
            </a:r>
            <a:r>
              <a:rPr lang="en-US" sz="2199" b="1" spc="131">
                <a:solidFill>
                  <a:srgbClr val="1C21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impact team commitment</a:t>
            </a:r>
            <a:r>
              <a:rPr lang="en-US" sz="2199" spc="131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en-US" sz="2199" b="1" spc="131">
                <a:solidFill>
                  <a:srgbClr val="1C21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effectiveness</a:t>
            </a:r>
            <a:r>
              <a:rPr lang="en-US" sz="2199" spc="131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 in project settings.</a:t>
            </a:r>
          </a:p>
          <a:p>
            <a:pPr marL="0" lvl="0" indent="0" algn="l">
              <a:lnSpc>
                <a:spcPts val="2969"/>
              </a:lnSpc>
              <a:spcBef>
                <a:spcPct val="0"/>
              </a:spcBef>
            </a:pPr>
            <a:endParaRPr lang="en-US" sz="2199" spc="131">
              <a:solidFill>
                <a:srgbClr val="1C212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Freeform 8"/>
          <p:cNvSpPr/>
          <p:nvPr/>
        </p:nvSpPr>
        <p:spPr>
          <a:xfrm rot="5400000">
            <a:off x="17384137" y="30234"/>
            <a:ext cx="689091" cy="2686023"/>
          </a:xfrm>
          <a:custGeom>
            <a:avLst/>
            <a:gdLst/>
            <a:ahLst/>
            <a:cxnLst/>
            <a:rect l="l" t="t" r="r" b="b"/>
            <a:pathLst>
              <a:path w="689091" h="2686023">
                <a:moveTo>
                  <a:pt x="0" y="0"/>
                </a:moveTo>
                <a:lnTo>
                  <a:pt x="689092" y="0"/>
                </a:lnTo>
                <a:lnTo>
                  <a:pt x="689092" y="2686023"/>
                </a:lnTo>
                <a:lnTo>
                  <a:pt x="0" y="26860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38762" r="-787970" b="-63175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2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6910" y="-3701387"/>
            <a:ext cx="18541820" cy="18588291"/>
          </a:xfrm>
          <a:custGeom>
            <a:avLst/>
            <a:gdLst/>
            <a:ahLst/>
            <a:cxnLst/>
            <a:rect l="l" t="t" r="r" b="b"/>
            <a:pathLst>
              <a:path w="18541820" h="18588291">
                <a:moveTo>
                  <a:pt x="0" y="0"/>
                </a:moveTo>
                <a:lnTo>
                  <a:pt x="18541820" y="0"/>
                </a:lnTo>
                <a:lnTo>
                  <a:pt x="18541820" y="18588291"/>
                </a:lnTo>
                <a:lnTo>
                  <a:pt x="0" y="185882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05683" y="2893214"/>
            <a:ext cx="7620400" cy="5057048"/>
          </a:xfrm>
          <a:custGeom>
            <a:avLst/>
            <a:gdLst/>
            <a:ahLst/>
            <a:cxnLst/>
            <a:rect l="l" t="t" r="r" b="b"/>
            <a:pathLst>
              <a:path w="7620400" h="5057048">
                <a:moveTo>
                  <a:pt x="0" y="0"/>
                </a:moveTo>
                <a:lnTo>
                  <a:pt x="7620400" y="0"/>
                </a:lnTo>
                <a:lnTo>
                  <a:pt x="7620400" y="5057048"/>
                </a:lnTo>
                <a:lnTo>
                  <a:pt x="0" y="50570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856275" y="2060633"/>
            <a:ext cx="978171" cy="638206"/>
          </a:xfrm>
          <a:custGeom>
            <a:avLst/>
            <a:gdLst/>
            <a:ahLst/>
            <a:cxnLst/>
            <a:rect l="l" t="t" r="r" b="b"/>
            <a:pathLst>
              <a:path w="978171" h="638206">
                <a:moveTo>
                  <a:pt x="0" y="0"/>
                </a:moveTo>
                <a:lnTo>
                  <a:pt x="978171" y="0"/>
                </a:lnTo>
                <a:lnTo>
                  <a:pt x="978171" y="638206"/>
                </a:lnTo>
                <a:lnTo>
                  <a:pt x="0" y="638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490781" r="-417333" b="-978338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416504" y="2032058"/>
            <a:ext cx="8743709" cy="2459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60"/>
              </a:lnSpc>
            </a:pPr>
            <a:r>
              <a:rPr lang="en-US" sz="9000" b="1">
                <a:solidFill>
                  <a:srgbClr val="476AE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Problem 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6504" y="4453391"/>
            <a:ext cx="9066283" cy="3762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74"/>
              </a:lnSpc>
              <a:spcBef>
                <a:spcPct val="0"/>
              </a:spcBef>
            </a:pPr>
            <a:r>
              <a:rPr lang="en-US" sz="2499" spc="149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Leadership in temporary organizations, like projects, differs from permanent setups due to their short duration, unique goals, and lack of traditional hierarchies. While transactional and transformational leadership are well-studied in stable environments, their effectiveness in dynamic, short-term projects remains underexplored, highlighting the need to understand their impact on team commitment and success.</a:t>
            </a:r>
          </a:p>
        </p:txBody>
      </p:sp>
      <p:sp>
        <p:nvSpPr>
          <p:cNvPr id="7" name="Freeform 7"/>
          <p:cNvSpPr/>
          <p:nvPr/>
        </p:nvSpPr>
        <p:spPr>
          <a:xfrm rot="5400000">
            <a:off x="15788678" y="-307662"/>
            <a:ext cx="743071" cy="2672723"/>
          </a:xfrm>
          <a:custGeom>
            <a:avLst/>
            <a:gdLst/>
            <a:ahLst/>
            <a:cxnLst/>
            <a:rect l="l" t="t" r="r" b="b"/>
            <a:pathLst>
              <a:path w="743071" h="2672723">
                <a:moveTo>
                  <a:pt x="0" y="0"/>
                </a:moveTo>
                <a:lnTo>
                  <a:pt x="743071" y="0"/>
                </a:lnTo>
                <a:lnTo>
                  <a:pt x="743071" y="2672724"/>
                </a:lnTo>
                <a:lnTo>
                  <a:pt x="0" y="26727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457698" b="-53955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518405" y="8620094"/>
            <a:ext cx="978171" cy="638206"/>
          </a:xfrm>
          <a:custGeom>
            <a:avLst/>
            <a:gdLst/>
            <a:ahLst/>
            <a:cxnLst/>
            <a:rect l="l" t="t" r="r" b="b"/>
            <a:pathLst>
              <a:path w="978171" h="638206">
                <a:moveTo>
                  <a:pt x="0" y="0"/>
                </a:moveTo>
                <a:lnTo>
                  <a:pt x="978170" y="0"/>
                </a:lnTo>
                <a:lnTo>
                  <a:pt x="978170" y="638206"/>
                </a:lnTo>
                <a:lnTo>
                  <a:pt x="0" y="638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490781" r="-417333" b="-978338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2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6910" y="-3701387"/>
            <a:ext cx="18541820" cy="18588291"/>
          </a:xfrm>
          <a:custGeom>
            <a:avLst/>
            <a:gdLst/>
            <a:ahLst/>
            <a:cxnLst/>
            <a:rect l="l" t="t" r="r" b="b"/>
            <a:pathLst>
              <a:path w="18541820" h="18588291">
                <a:moveTo>
                  <a:pt x="0" y="0"/>
                </a:moveTo>
                <a:lnTo>
                  <a:pt x="18541820" y="0"/>
                </a:lnTo>
                <a:lnTo>
                  <a:pt x="18541820" y="18588291"/>
                </a:lnTo>
                <a:lnTo>
                  <a:pt x="0" y="185882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407631" y="8003500"/>
            <a:ext cx="743071" cy="2672723"/>
          </a:xfrm>
          <a:custGeom>
            <a:avLst/>
            <a:gdLst/>
            <a:ahLst/>
            <a:cxnLst/>
            <a:rect l="l" t="t" r="r" b="b"/>
            <a:pathLst>
              <a:path w="743071" h="2672723">
                <a:moveTo>
                  <a:pt x="0" y="0"/>
                </a:moveTo>
                <a:lnTo>
                  <a:pt x="743071" y="0"/>
                </a:lnTo>
                <a:lnTo>
                  <a:pt x="743071" y="2672723"/>
                </a:lnTo>
                <a:lnTo>
                  <a:pt x="0" y="26727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457698" b="-53955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37357" y="709597"/>
            <a:ext cx="978171" cy="638206"/>
          </a:xfrm>
          <a:custGeom>
            <a:avLst/>
            <a:gdLst/>
            <a:ahLst/>
            <a:cxnLst/>
            <a:rect l="l" t="t" r="r" b="b"/>
            <a:pathLst>
              <a:path w="978171" h="638206">
                <a:moveTo>
                  <a:pt x="0" y="0"/>
                </a:moveTo>
                <a:lnTo>
                  <a:pt x="978171" y="0"/>
                </a:lnTo>
                <a:lnTo>
                  <a:pt x="978171" y="638206"/>
                </a:lnTo>
                <a:lnTo>
                  <a:pt x="0" y="638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490781" r="-417333" b="-978338"/>
            </a:stretch>
          </a:blipFill>
        </p:spPr>
      </p:sp>
      <p:sp>
        <p:nvSpPr>
          <p:cNvPr id="5" name="Freeform 5"/>
          <p:cNvSpPr/>
          <p:nvPr/>
        </p:nvSpPr>
        <p:spPr>
          <a:xfrm rot="5400000">
            <a:off x="17384137" y="30234"/>
            <a:ext cx="689091" cy="2686023"/>
          </a:xfrm>
          <a:custGeom>
            <a:avLst/>
            <a:gdLst/>
            <a:ahLst/>
            <a:cxnLst/>
            <a:rect l="l" t="t" r="r" b="b"/>
            <a:pathLst>
              <a:path w="689091" h="2686023">
                <a:moveTo>
                  <a:pt x="0" y="0"/>
                </a:moveTo>
                <a:lnTo>
                  <a:pt x="689092" y="0"/>
                </a:lnTo>
                <a:lnTo>
                  <a:pt x="689092" y="2686023"/>
                </a:lnTo>
                <a:lnTo>
                  <a:pt x="0" y="26860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38762" r="-787970" b="-63175"/>
            </a:stretch>
          </a:blipFill>
        </p:spPr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376909" y="2168368"/>
          <a:ext cx="15882391" cy="6813228"/>
        </p:xfrm>
        <a:graphic>
          <a:graphicData uri="http://schemas.openxmlformats.org/drawingml/2006/table">
            <a:tbl>
              <a:tblPr/>
              <a:tblGrid>
                <a:gridCol w="3973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3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55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3756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5F3F5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Topic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2B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5F3F5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Key Insights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2B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5F3F5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References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2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8163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1C212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Temporary Organizations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1C212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Unique setups with short duration, specific goals, and no hierarchies.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1C212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Bakker (2010); Janowicz-Panjaitan et al. (2009)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8163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1C212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Transactional Leadership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1C212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Task-focused, effective in stable, short-term projects with clear goals and responsibilities.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1C212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Bass (1990); Keller (2006)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8163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1C212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Transformational Leadership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1C212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Inspires teams, fosters creativity, and excels in uncertain, innovative, and diverse environments.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1C212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Bass &amp; Riggio (2006); Avolio et al. (2004)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4836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1C212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Leadership Challenges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1C212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Leadership in projects struggles with authority gaps and diverse teams; research is often industry-specific.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1C212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Zimmerer &amp; Yasin (1998); Chen et al. (2004)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70147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1C212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Research Gap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1C212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Limited study on leadership styles in dynamic, temporary setups; effectiveness remains unclear.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1C212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Müller &amp; Turner (2007)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962298" y="1009650"/>
            <a:ext cx="9747546" cy="107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6"/>
              </a:lnSpc>
            </a:pPr>
            <a:r>
              <a:rPr lang="en-US" sz="6985" b="1">
                <a:solidFill>
                  <a:srgbClr val="476AE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Literature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2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6910" y="-3701387"/>
            <a:ext cx="18541820" cy="18588291"/>
          </a:xfrm>
          <a:custGeom>
            <a:avLst/>
            <a:gdLst/>
            <a:ahLst/>
            <a:cxnLst/>
            <a:rect l="l" t="t" r="r" b="b"/>
            <a:pathLst>
              <a:path w="18541820" h="18588291">
                <a:moveTo>
                  <a:pt x="0" y="0"/>
                </a:moveTo>
                <a:lnTo>
                  <a:pt x="18541820" y="0"/>
                </a:lnTo>
                <a:lnTo>
                  <a:pt x="18541820" y="18588291"/>
                </a:lnTo>
                <a:lnTo>
                  <a:pt x="0" y="185882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298973" y="1889510"/>
            <a:ext cx="743071" cy="2672723"/>
          </a:xfrm>
          <a:custGeom>
            <a:avLst/>
            <a:gdLst/>
            <a:ahLst/>
            <a:cxnLst/>
            <a:rect l="l" t="t" r="r" b="b"/>
            <a:pathLst>
              <a:path w="743071" h="2672723">
                <a:moveTo>
                  <a:pt x="0" y="0"/>
                </a:moveTo>
                <a:lnTo>
                  <a:pt x="743071" y="0"/>
                </a:lnTo>
                <a:lnTo>
                  <a:pt x="743071" y="2672724"/>
                </a:lnTo>
                <a:lnTo>
                  <a:pt x="0" y="26727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457698" b="-53955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8620094"/>
            <a:ext cx="978171" cy="638206"/>
          </a:xfrm>
          <a:custGeom>
            <a:avLst/>
            <a:gdLst/>
            <a:ahLst/>
            <a:cxnLst/>
            <a:rect l="l" t="t" r="r" b="b"/>
            <a:pathLst>
              <a:path w="978171" h="638206">
                <a:moveTo>
                  <a:pt x="0" y="0"/>
                </a:moveTo>
                <a:lnTo>
                  <a:pt x="978171" y="0"/>
                </a:lnTo>
                <a:lnTo>
                  <a:pt x="978171" y="638206"/>
                </a:lnTo>
                <a:lnTo>
                  <a:pt x="0" y="638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490781" r="-417333" b="-978338"/>
            </a:stretch>
          </a:blipFill>
        </p:spPr>
      </p:sp>
      <p:sp>
        <p:nvSpPr>
          <p:cNvPr id="5" name="Freeform 5"/>
          <p:cNvSpPr/>
          <p:nvPr/>
        </p:nvSpPr>
        <p:spPr>
          <a:xfrm rot="5400000">
            <a:off x="17530368" y="7277083"/>
            <a:ext cx="689091" cy="2686023"/>
          </a:xfrm>
          <a:custGeom>
            <a:avLst/>
            <a:gdLst/>
            <a:ahLst/>
            <a:cxnLst/>
            <a:rect l="l" t="t" r="r" b="b"/>
            <a:pathLst>
              <a:path w="689091" h="2686023">
                <a:moveTo>
                  <a:pt x="0" y="0"/>
                </a:moveTo>
                <a:lnTo>
                  <a:pt x="689091" y="0"/>
                </a:lnTo>
                <a:lnTo>
                  <a:pt x="689091" y="2686023"/>
                </a:lnTo>
                <a:lnTo>
                  <a:pt x="0" y="26860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38762" r="-787970" b="-63175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281129" y="1303312"/>
            <a:ext cx="978171" cy="638206"/>
          </a:xfrm>
          <a:custGeom>
            <a:avLst/>
            <a:gdLst/>
            <a:ahLst/>
            <a:cxnLst/>
            <a:rect l="l" t="t" r="r" b="b"/>
            <a:pathLst>
              <a:path w="978171" h="638206">
                <a:moveTo>
                  <a:pt x="0" y="0"/>
                </a:moveTo>
                <a:lnTo>
                  <a:pt x="978171" y="0"/>
                </a:lnTo>
                <a:lnTo>
                  <a:pt x="978171" y="638206"/>
                </a:lnTo>
                <a:lnTo>
                  <a:pt x="0" y="6382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490781" r="-417333" b="-978338"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-836912" y="6375451"/>
            <a:ext cx="20811739" cy="0"/>
          </a:xfrm>
          <a:prstGeom prst="line">
            <a:avLst/>
          </a:prstGeom>
          <a:ln w="95250" cap="flat">
            <a:solidFill>
              <a:srgbClr val="476AE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1323657" y="4130807"/>
            <a:ext cx="4676216" cy="467621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0E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782448" y="6004556"/>
            <a:ext cx="3721777" cy="155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04"/>
              </a:lnSpc>
              <a:spcBef>
                <a:spcPct val="0"/>
              </a:spcBef>
            </a:pPr>
            <a:r>
              <a:rPr lang="en-US" sz="2299" spc="137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Team members shared their experiences with different leadership styles.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00348" y="4912223"/>
            <a:ext cx="1722834" cy="450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479"/>
              </a:lnSpc>
              <a:spcBef>
                <a:spcPct val="0"/>
              </a:spcBef>
            </a:pPr>
            <a:r>
              <a:rPr lang="en-US" sz="3479" b="1">
                <a:solidFill>
                  <a:srgbClr val="ED783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Surveys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871414" y="4130807"/>
            <a:ext cx="4676216" cy="467621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0EB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376573" y="6004556"/>
            <a:ext cx="3889813" cy="1946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04"/>
              </a:lnSpc>
              <a:spcBef>
                <a:spcPct val="0"/>
              </a:spcBef>
            </a:pPr>
            <a:r>
              <a:rPr lang="en-US" sz="2299" spc="137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Researchers analyzed real projects to understand how leadership impacted results.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03736" y="4912223"/>
            <a:ext cx="2880527" cy="450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480"/>
              </a:lnSpc>
              <a:spcBef>
                <a:spcPct val="0"/>
              </a:spcBef>
            </a:pPr>
            <a:r>
              <a:rPr lang="en-US" sz="3480" b="1">
                <a:solidFill>
                  <a:srgbClr val="ED783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Case Studies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419172" y="4130807"/>
            <a:ext cx="4676216" cy="4676216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0EB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3138734" y="6004556"/>
            <a:ext cx="3393168" cy="1946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04"/>
              </a:lnSpc>
              <a:spcBef>
                <a:spcPct val="0"/>
              </a:spcBef>
            </a:pPr>
            <a:r>
              <a:rPr lang="en-US" sz="2299" spc="137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Existing research was reviewed to help create a clear framework for the study.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82437" y="4902698"/>
            <a:ext cx="2549686" cy="835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280"/>
              </a:lnSpc>
              <a:spcBef>
                <a:spcPct val="0"/>
              </a:spcBef>
            </a:pPr>
            <a:r>
              <a:rPr lang="en-US" sz="3280" b="1">
                <a:solidFill>
                  <a:srgbClr val="ED783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Literature Review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16357" y="765264"/>
            <a:ext cx="10655286" cy="1558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99"/>
              </a:lnSpc>
            </a:pPr>
            <a:r>
              <a:rPr lang="en-US" sz="9999" b="1">
                <a:solidFill>
                  <a:srgbClr val="476AE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Methodology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04225" y="2584555"/>
            <a:ext cx="7279550" cy="64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5000" b="1">
                <a:solidFill>
                  <a:srgbClr val="476AE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Research Methods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2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6910" y="-3701387"/>
            <a:ext cx="18541820" cy="18588291"/>
          </a:xfrm>
          <a:custGeom>
            <a:avLst/>
            <a:gdLst/>
            <a:ahLst/>
            <a:cxnLst/>
            <a:rect l="l" t="t" r="r" b="b"/>
            <a:pathLst>
              <a:path w="18541820" h="18588291">
                <a:moveTo>
                  <a:pt x="0" y="0"/>
                </a:moveTo>
                <a:lnTo>
                  <a:pt x="18541820" y="0"/>
                </a:lnTo>
                <a:lnTo>
                  <a:pt x="18541820" y="18588291"/>
                </a:lnTo>
                <a:lnTo>
                  <a:pt x="0" y="185882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298973" y="1889510"/>
            <a:ext cx="743071" cy="2672723"/>
          </a:xfrm>
          <a:custGeom>
            <a:avLst/>
            <a:gdLst/>
            <a:ahLst/>
            <a:cxnLst/>
            <a:rect l="l" t="t" r="r" b="b"/>
            <a:pathLst>
              <a:path w="743071" h="2672723">
                <a:moveTo>
                  <a:pt x="0" y="0"/>
                </a:moveTo>
                <a:lnTo>
                  <a:pt x="743071" y="0"/>
                </a:lnTo>
                <a:lnTo>
                  <a:pt x="743071" y="2672724"/>
                </a:lnTo>
                <a:lnTo>
                  <a:pt x="0" y="26727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457698" b="-53955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8620094"/>
            <a:ext cx="978171" cy="638206"/>
          </a:xfrm>
          <a:custGeom>
            <a:avLst/>
            <a:gdLst/>
            <a:ahLst/>
            <a:cxnLst/>
            <a:rect l="l" t="t" r="r" b="b"/>
            <a:pathLst>
              <a:path w="978171" h="638206">
                <a:moveTo>
                  <a:pt x="0" y="0"/>
                </a:moveTo>
                <a:lnTo>
                  <a:pt x="978171" y="0"/>
                </a:lnTo>
                <a:lnTo>
                  <a:pt x="978171" y="638206"/>
                </a:lnTo>
                <a:lnTo>
                  <a:pt x="0" y="638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490781" r="-417333" b="-978338"/>
            </a:stretch>
          </a:blipFill>
        </p:spPr>
      </p:sp>
      <p:sp>
        <p:nvSpPr>
          <p:cNvPr id="5" name="Freeform 5"/>
          <p:cNvSpPr/>
          <p:nvPr/>
        </p:nvSpPr>
        <p:spPr>
          <a:xfrm rot="5400000">
            <a:off x="17413371" y="7596186"/>
            <a:ext cx="689091" cy="2686023"/>
          </a:xfrm>
          <a:custGeom>
            <a:avLst/>
            <a:gdLst/>
            <a:ahLst/>
            <a:cxnLst/>
            <a:rect l="l" t="t" r="r" b="b"/>
            <a:pathLst>
              <a:path w="689091" h="2686023">
                <a:moveTo>
                  <a:pt x="0" y="0"/>
                </a:moveTo>
                <a:lnTo>
                  <a:pt x="689091" y="0"/>
                </a:lnTo>
                <a:lnTo>
                  <a:pt x="689091" y="2686023"/>
                </a:lnTo>
                <a:lnTo>
                  <a:pt x="0" y="26860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38762" r="-787970" b="-63175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281129" y="1303312"/>
            <a:ext cx="978171" cy="638206"/>
          </a:xfrm>
          <a:custGeom>
            <a:avLst/>
            <a:gdLst/>
            <a:ahLst/>
            <a:cxnLst/>
            <a:rect l="l" t="t" r="r" b="b"/>
            <a:pathLst>
              <a:path w="978171" h="638206">
                <a:moveTo>
                  <a:pt x="0" y="0"/>
                </a:moveTo>
                <a:lnTo>
                  <a:pt x="978171" y="0"/>
                </a:lnTo>
                <a:lnTo>
                  <a:pt x="978171" y="638206"/>
                </a:lnTo>
                <a:lnTo>
                  <a:pt x="0" y="6382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490781" r="-417333" b="-978338"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-836912" y="6375451"/>
            <a:ext cx="20811739" cy="0"/>
          </a:xfrm>
          <a:prstGeom prst="line">
            <a:avLst/>
          </a:prstGeom>
          <a:ln w="95250" cap="flat">
            <a:solidFill>
              <a:srgbClr val="476AE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1323657" y="4130807"/>
            <a:ext cx="4676216" cy="467621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0E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782448" y="6233791"/>
            <a:ext cx="3721777" cy="1165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04"/>
              </a:lnSpc>
              <a:spcBef>
                <a:spcPct val="0"/>
              </a:spcBef>
            </a:pPr>
            <a:r>
              <a:rPr lang="en-US" sz="2299" spc="137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Leaders don’t have much time to build trust within the team.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79561" y="4855073"/>
            <a:ext cx="2564408" cy="1012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001"/>
              </a:lnSpc>
            </a:pPr>
            <a:r>
              <a:rPr lang="en-US" sz="3479" b="1">
                <a:solidFill>
                  <a:srgbClr val="ED783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Short Time Frames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871414" y="4130807"/>
            <a:ext cx="4676216" cy="467621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0EB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264616" y="6233791"/>
            <a:ext cx="3889813" cy="1165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04"/>
              </a:lnSpc>
              <a:spcBef>
                <a:spcPct val="0"/>
              </a:spcBef>
            </a:pPr>
            <a:r>
              <a:rPr lang="en-US" sz="2299" spc="137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Projects often involve unclear goals or unexpected problems.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03736" y="5128171"/>
            <a:ext cx="2880527" cy="450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480"/>
              </a:lnSpc>
              <a:spcBef>
                <a:spcPct val="0"/>
              </a:spcBef>
            </a:pPr>
            <a:r>
              <a:rPr lang="en-US" sz="3480" b="1">
                <a:solidFill>
                  <a:srgbClr val="ED783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Uncertainty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419172" y="4130807"/>
            <a:ext cx="4676216" cy="4676216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0EB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3138734" y="6233791"/>
            <a:ext cx="3631480" cy="155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04"/>
              </a:lnSpc>
              <a:spcBef>
                <a:spcPct val="0"/>
              </a:spcBef>
            </a:pPr>
            <a:r>
              <a:rPr lang="en-US" sz="2299" spc="137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Leaders must manage team members with different skills and backgrounds.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82437" y="4855073"/>
            <a:ext cx="2549686" cy="939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739"/>
              </a:lnSpc>
            </a:pPr>
            <a:r>
              <a:rPr lang="en-US" sz="3280" b="1">
                <a:solidFill>
                  <a:srgbClr val="ED783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Diversity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048707" y="1554251"/>
            <a:ext cx="1811534" cy="496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3"/>
              </a:lnSpc>
            </a:pPr>
            <a:r>
              <a:rPr lang="en-US" sz="3216" b="1">
                <a:solidFill>
                  <a:srgbClr val="476AE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(contd.)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04225" y="2584522"/>
            <a:ext cx="7279550" cy="64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5000" b="1">
                <a:solidFill>
                  <a:srgbClr val="476AE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Challenges Addressed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816357" y="765264"/>
            <a:ext cx="10655286" cy="1558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99"/>
              </a:lnSpc>
            </a:pPr>
            <a:r>
              <a:rPr lang="en-US" sz="9999" b="1">
                <a:solidFill>
                  <a:srgbClr val="476AE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Methodology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2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94942"/>
            <a:ext cx="18541820" cy="18588291"/>
          </a:xfrm>
          <a:custGeom>
            <a:avLst/>
            <a:gdLst/>
            <a:ahLst/>
            <a:cxnLst/>
            <a:rect l="l" t="t" r="r" b="b"/>
            <a:pathLst>
              <a:path w="18541820" h="18588291">
                <a:moveTo>
                  <a:pt x="0" y="0"/>
                </a:moveTo>
                <a:lnTo>
                  <a:pt x="18541820" y="0"/>
                </a:lnTo>
                <a:lnTo>
                  <a:pt x="18541820" y="18588291"/>
                </a:lnTo>
                <a:lnTo>
                  <a:pt x="0" y="185882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816357" y="1104756"/>
            <a:ext cx="10655286" cy="1558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99"/>
              </a:lnSpc>
            </a:pPr>
            <a:r>
              <a:rPr lang="en-US" sz="9999" b="1">
                <a:solidFill>
                  <a:srgbClr val="476AE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ANALYSIS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091806" y="2596893"/>
            <a:ext cx="10104388" cy="49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4"/>
              </a:lnSpc>
              <a:spcBef>
                <a:spcPct val="0"/>
              </a:spcBef>
            </a:pPr>
            <a:r>
              <a:rPr lang="en-US" sz="3099" b="1" spc="185">
                <a:solidFill>
                  <a:srgbClr val="476AE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A. Characteristics of a temporary Organization </a:t>
            </a:r>
          </a:p>
        </p:txBody>
      </p:sp>
      <p:sp>
        <p:nvSpPr>
          <p:cNvPr id="5" name="Freeform 5"/>
          <p:cNvSpPr/>
          <p:nvPr/>
        </p:nvSpPr>
        <p:spPr>
          <a:xfrm rot="5400000">
            <a:off x="304615" y="917571"/>
            <a:ext cx="743071" cy="2672723"/>
          </a:xfrm>
          <a:custGeom>
            <a:avLst/>
            <a:gdLst/>
            <a:ahLst/>
            <a:cxnLst/>
            <a:rect l="l" t="t" r="r" b="b"/>
            <a:pathLst>
              <a:path w="743071" h="2672723">
                <a:moveTo>
                  <a:pt x="0" y="0"/>
                </a:moveTo>
                <a:lnTo>
                  <a:pt x="743071" y="0"/>
                </a:lnTo>
                <a:lnTo>
                  <a:pt x="743071" y="2672723"/>
                </a:lnTo>
                <a:lnTo>
                  <a:pt x="0" y="26727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457698" b="-53955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70215" y="823753"/>
            <a:ext cx="978171" cy="638206"/>
          </a:xfrm>
          <a:custGeom>
            <a:avLst/>
            <a:gdLst/>
            <a:ahLst/>
            <a:cxnLst/>
            <a:rect l="l" t="t" r="r" b="b"/>
            <a:pathLst>
              <a:path w="978171" h="638206">
                <a:moveTo>
                  <a:pt x="0" y="0"/>
                </a:moveTo>
                <a:lnTo>
                  <a:pt x="978170" y="0"/>
                </a:lnTo>
                <a:lnTo>
                  <a:pt x="978170" y="638206"/>
                </a:lnTo>
                <a:lnTo>
                  <a:pt x="0" y="638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490781" r="-417333" b="-978338"/>
            </a:stretch>
          </a:blipFill>
        </p:spPr>
      </p:sp>
      <p:sp>
        <p:nvSpPr>
          <p:cNvPr id="7" name="Freeform 7"/>
          <p:cNvSpPr/>
          <p:nvPr/>
        </p:nvSpPr>
        <p:spPr>
          <a:xfrm rot="5400000">
            <a:off x="17376850" y="8293474"/>
            <a:ext cx="743071" cy="2672723"/>
          </a:xfrm>
          <a:custGeom>
            <a:avLst/>
            <a:gdLst/>
            <a:ahLst/>
            <a:cxnLst/>
            <a:rect l="l" t="t" r="r" b="b"/>
            <a:pathLst>
              <a:path w="743071" h="2672723">
                <a:moveTo>
                  <a:pt x="0" y="0"/>
                </a:moveTo>
                <a:lnTo>
                  <a:pt x="743071" y="0"/>
                </a:lnTo>
                <a:lnTo>
                  <a:pt x="743071" y="2672723"/>
                </a:lnTo>
                <a:lnTo>
                  <a:pt x="0" y="26727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457698" b="-5395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239454" y="4106128"/>
            <a:ext cx="8062912" cy="3914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44" lvl="1" indent="-485772" algn="just">
              <a:lnSpc>
                <a:spcPts val="6299"/>
              </a:lnSpc>
              <a:buAutoNum type="arabicPeriod"/>
            </a:pPr>
            <a:r>
              <a:rPr lang="en-US" sz="4499">
                <a:solidFill>
                  <a:srgbClr val="476AE3"/>
                </a:solidFill>
                <a:latin typeface="Canva Sans"/>
                <a:ea typeface="Canva Sans"/>
                <a:cs typeface="Canva Sans"/>
                <a:sym typeface="Canva Sans"/>
              </a:rPr>
              <a:t>Limited Duration</a:t>
            </a:r>
          </a:p>
          <a:p>
            <a:pPr marL="971544" lvl="1" indent="-485772" algn="just">
              <a:lnSpc>
                <a:spcPts val="6299"/>
              </a:lnSpc>
              <a:buAutoNum type="arabicPeriod"/>
            </a:pPr>
            <a:r>
              <a:rPr lang="en-US" sz="4499">
                <a:solidFill>
                  <a:srgbClr val="476AE3"/>
                </a:solidFill>
                <a:latin typeface="Canva Sans"/>
                <a:ea typeface="Canva Sans"/>
                <a:cs typeface="Canva Sans"/>
                <a:sym typeface="Canva Sans"/>
              </a:rPr>
              <a:t>Unique Outcomes</a:t>
            </a:r>
          </a:p>
          <a:p>
            <a:pPr marL="971544" lvl="1" indent="-485772" algn="just">
              <a:lnSpc>
                <a:spcPts val="6299"/>
              </a:lnSpc>
              <a:buAutoNum type="arabicPeriod"/>
            </a:pPr>
            <a:r>
              <a:rPr lang="en-US" sz="4499">
                <a:solidFill>
                  <a:srgbClr val="476AE3"/>
                </a:solidFill>
                <a:latin typeface="Canva Sans"/>
                <a:ea typeface="Canva Sans"/>
                <a:cs typeface="Canva Sans"/>
                <a:sym typeface="Canva Sans"/>
              </a:rPr>
              <a:t>Missing Hierarchies</a:t>
            </a:r>
          </a:p>
          <a:p>
            <a:pPr marL="971544" lvl="1" indent="-485772" algn="just">
              <a:lnSpc>
                <a:spcPts val="6299"/>
              </a:lnSpc>
              <a:buAutoNum type="arabicPeriod"/>
            </a:pPr>
            <a:r>
              <a:rPr lang="en-US" sz="4499">
                <a:solidFill>
                  <a:srgbClr val="476AE3"/>
                </a:solidFill>
                <a:latin typeface="Canva Sans"/>
                <a:ea typeface="Canva Sans"/>
                <a:cs typeface="Canva Sans"/>
                <a:sym typeface="Canva Sans"/>
              </a:rPr>
              <a:t>High Uncertainty and Risk</a:t>
            </a:r>
          </a:p>
          <a:p>
            <a:pPr marL="971544" lvl="1" indent="-485772" algn="just">
              <a:lnSpc>
                <a:spcPts val="6299"/>
              </a:lnSpc>
              <a:buAutoNum type="arabicPeriod"/>
            </a:pPr>
            <a:r>
              <a:rPr lang="en-US" sz="4499">
                <a:solidFill>
                  <a:srgbClr val="476AE3"/>
                </a:solidFill>
                <a:latin typeface="Canva Sans"/>
                <a:ea typeface="Canva Sans"/>
                <a:cs typeface="Canva Sans"/>
                <a:sym typeface="Canva Sans"/>
              </a:rPr>
              <a:t>Heterogeneous Teams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2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94942"/>
            <a:ext cx="18541820" cy="18588291"/>
          </a:xfrm>
          <a:custGeom>
            <a:avLst/>
            <a:gdLst/>
            <a:ahLst/>
            <a:cxnLst/>
            <a:rect l="l" t="t" r="r" b="b"/>
            <a:pathLst>
              <a:path w="18541820" h="18588291">
                <a:moveTo>
                  <a:pt x="0" y="0"/>
                </a:moveTo>
                <a:lnTo>
                  <a:pt x="18541820" y="0"/>
                </a:lnTo>
                <a:lnTo>
                  <a:pt x="18541820" y="18588291"/>
                </a:lnTo>
                <a:lnTo>
                  <a:pt x="0" y="185882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816357" y="230188"/>
            <a:ext cx="10655286" cy="1558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99"/>
              </a:lnSpc>
            </a:pPr>
            <a:r>
              <a:rPr lang="en-US" sz="9999" b="1">
                <a:solidFill>
                  <a:srgbClr val="476AE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ANALYSIS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30336" y="1760537"/>
            <a:ext cx="8227327" cy="49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4"/>
              </a:lnSpc>
              <a:spcBef>
                <a:spcPct val="0"/>
              </a:spcBef>
            </a:pPr>
            <a:r>
              <a:rPr lang="en-US" sz="3099" b="1" spc="185">
                <a:solidFill>
                  <a:srgbClr val="476AE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C. Integration of Leadership Theories  </a:t>
            </a:r>
          </a:p>
        </p:txBody>
      </p:sp>
      <p:sp>
        <p:nvSpPr>
          <p:cNvPr id="5" name="Freeform 5"/>
          <p:cNvSpPr/>
          <p:nvPr/>
        </p:nvSpPr>
        <p:spPr>
          <a:xfrm rot="5400000">
            <a:off x="304615" y="917571"/>
            <a:ext cx="743071" cy="2672723"/>
          </a:xfrm>
          <a:custGeom>
            <a:avLst/>
            <a:gdLst/>
            <a:ahLst/>
            <a:cxnLst/>
            <a:rect l="l" t="t" r="r" b="b"/>
            <a:pathLst>
              <a:path w="743071" h="2672723">
                <a:moveTo>
                  <a:pt x="0" y="0"/>
                </a:moveTo>
                <a:lnTo>
                  <a:pt x="743071" y="0"/>
                </a:lnTo>
                <a:lnTo>
                  <a:pt x="743071" y="2672723"/>
                </a:lnTo>
                <a:lnTo>
                  <a:pt x="0" y="26727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457698" b="-53955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70215" y="823753"/>
            <a:ext cx="978171" cy="638206"/>
          </a:xfrm>
          <a:custGeom>
            <a:avLst/>
            <a:gdLst/>
            <a:ahLst/>
            <a:cxnLst/>
            <a:rect l="l" t="t" r="r" b="b"/>
            <a:pathLst>
              <a:path w="978171" h="638206">
                <a:moveTo>
                  <a:pt x="0" y="0"/>
                </a:moveTo>
                <a:lnTo>
                  <a:pt x="978170" y="0"/>
                </a:lnTo>
                <a:lnTo>
                  <a:pt x="978170" y="638206"/>
                </a:lnTo>
                <a:lnTo>
                  <a:pt x="0" y="638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490781" r="-417333" b="-978338"/>
            </a:stretch>
          </a:blipFill>
        </p:spPr>
      </p:sp>
      <p:sp>
        <p:nvSpPr>
          <p:cNvPr id="7" name="Freeform 7"/>
          <p:cNvSpPr/>
          <p:nvPr/>
        </p:nvSpPr>
        <p:spPr>
          <a:xfrm rot="5400000">
            <a:off x="17376850" y="8293474"/>
            <a:ext cx="743071" cy="2672723"/>
          </a:xfrm>
          <a:custGeom>
            <a:avLst/>
            <a:gdLst/>
            <a:ahLst/>
            <a:cxnLst/>
            <a:rect l="l" t="t" r="r" b="b"/>
            <a:pathLst>
              <a:path w="743071" h="2672723">
                <a:moveTo>
                  <a:pt x="0" y="0"/>
                </a:moveTo>
                <a:lnTo>
                  <a:pt x="743071" y="0"/>
                </a:lnTo>
                <a:lnTo>
                  <a:pt x="743071" y="2672723"/>
                </a:lnTo>
                <a:lnTo>
                  <a:pt x="0" y="26727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457698" b="-5395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125315" y="2972693"/>
            <a:ext cx="12037369" cy="5424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4" lvl="1" indent="-280672" algn="just">
              <a:lnSpc>
                <a:spcPts val="5408"/>
              </a:lnSpc>
              <a:buFont typeface="Arial"/>
              <a:buChar char="•"/>
            </a:pPr>
            <a:r>
              <a:rPr lang="en-US" sz="2600" b="1">
                <a:solidFill>
                  <a:srgbClr val="476AE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Transactional Leadership</a:t>
            </a:r>
          </a:p>
          <a:p>
            <a:pPr marL="1122688" lvl="2" indent="-374229" algn="just">
              <a:lnSpc>
                <a:spcPts val="5408"/>
              </a:lnSpc>
              <a:buFont typeface="Arial"/>
              <a:buChar char="⚬"/>
            </a:pPr>
            <a:r>
              <a:rPr lang="en-US" sz="2600">
                <a:solidFill>
                  <a:srgbClr val="476AE3"/>
                </a:solidFill>
                <a:latin typeface="Canva Sans"/>
                <a:ea typeface="Canva Sans"/>
                <a:cs typeface="Canva Sans"/>
                <a:sym typeface="Canva Sans"/>
              </a:rPr>
              <a:t>Best for projects with well-defined goals and responsibilities.</a:t>
            </a:r>
          </a:p>
          <a:p>
            <a:pPr marL="1122688" lvl="2" indent="-374229" algn="just">
              <a:lnSpc>
                <a:spcPts val="5408"/>
              </a:lnSpc>
              <a:buFont typeface="Arial"/>
              <a:buChar char="⚬"/>
            </a:pPr>
            <a:r>
              <a:rPr lang="en-US" sz="2600">
                <a:solidFill>
                  <a:srgbClr val="476AE3"/>
                </a:solidFill>
                <a:latin typeface="Canva Sans"/>
                <a:ea typeface="Canva Sans"/>
                <a:cs typeface="Canva Sans"/>
                <a:sym typeface="Canva Sans"/>
              </a:rPr>
              <a:t>Focuses on structured exchanges (e.g., rewards for performance).</a:t>
            </a:r>
          </a:p>
          <a:p>
            <a:pPr marL="561344" lvl="1" indent="-280672" algn="just">
              <a:lnSpc>
                <a:spcPts val="5408"/>
              </a:lnSpc>
              <a:buFont typeface="Arial"/>
              <a:buChar char="•"/>
            </a:pPr>
            <a:r>
              <a:rPr lang="en-US" sz="2600" b="1">
                <a:solidFill>
                  <a:srgbClr val="476AE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Transformational Leadership</a:t>
            </a:r>
          </a:p>
          <a:p>
            <a:pPr marL="1122688" lvl="2" indent="-374229" algn="just">
              <a:lnSpc>
                <a:spcPts val="5408"/>
              </a:lnSpc>
              <a:buFont typeface="Arial"/>
              <a:buChar char="⚬"/>
            </a:pPr>
            <a:r>
              <a:rPr lang="en-US" sz="2600">
                <a:solidFill>
                  <a:srgbClr val="476AE3"/>
                </a:solidFill>
                <a:latin typeface="Canva Sans"/>
                <a:ea typeface="Canva Sans"/>
                <a:cs typeface="Canva Sans"/>
                <a:sym typeface="Canva Sans"/>
              </a:rPr>
              <a:t>Ideal for projects with high uncertainty or novelty.</a:t>
            </a:r>
          </a:p>
          <a:p>
            <a:pPr marL="1122688" lvl="2" indent="-374229" algn="just">
              <a:lnSpc>
                <a:spcPts val="5408"/>
              </a:lnSpc>
              <a:buFont typeface="Arial"/>
              <a:buChar char="⚬"/>
            </a:pPr>
            <a:r>
              <a:rPr lang="en-US" sz="2600">
                <a:solidFill>
                  <a:srgbClr val="476AE3"/>
                </a:solidFill>
                <a:latin typeface="Canva Sans"/>
                <a:ea typeface="Canva Sans"/>
                <a:cs typeface="Canva Sans"/>
                <a:sym typeface="Canva Sans"/>
              </a:rPr>
              <a:t>Inspires creativity, fosters commitment, and motivates teams.</a:t>
            </a:r>
          </a:p>
          <a:p>
            <a:pPr marL="1122688" lvl="2" indent="-374229" algn="just">
              <a:lnSpc>
                <a:spcPts val="5408"/>
              </a:lnSpc>
              <a:buFont typeface="Arial"/>
              <a:buChar char="⚬"/>
            </a:pPr>
            <a:r>
              <a:rPr lang="en-US" sz="2600">
                <a:solidFill>
                  <a:srgbClr val="476AE3"/>
                </a:solidFill>
                <a:latin typeface="Canva Sans"/>
                <a:ea typeface="Canva Sans"/>
                <a:cs typeface="Canva Sans"/>
                <a:sym typeface="Canva Sans"/>
              </a:rPr>
              <a:t>Effective in environments with missing hierarchies or diverse teams.</a:t>
            </a:r>
          </a:p>
          <a:p>
            <a:pPr algn="just">
              <a:lnSpc>
                <a:spcPts val="5408"/>
              </a:lnSpc>
            </a:pPr>
            <a:endParaRPr lang="en-US" sz="2600">
              <a:solidFill>
                <a:srgbClr val="476AE3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2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94942"/>
            <a:ext cx="18541820" cy="18588291"/>
          </a:xfrm>
          <a:custGeom>
            <a:avLst/>
            <a:gdLst/>
            <a:ahLst/>
            <a:cxnLst/>
            <a:rect l="l" t="t" r="r" b="b"/>
            <a:pathLst>
              <a:path w="18541820" h="18588291">
                <a:moveTo>
                  <a:pt x="0" y="0"/>
                </a:moveTo>
                <a:lnTo>
                  <a:pt x="18541820" y="0"/>
                </a:lnTo>
                <a:lnTo>
                  <a:pt x="18541820" y="18588291"/>
                </a:lnTo>
                <a:lnTo>
                  <a:pt x="0" y="185882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816357" y="230188"/>
            <a:ext cx="10655286" cy="1558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99"/>
              </a:lnSpc>
            </a:pPr>
            <a:r>
              <a:rPr lang="en-US" sz="9999" b="1">
                <a:solidFill>
                  <a:srgbClr val="476AE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ANALYSIS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269111" y="1760537"/>
            <a:ext cx="7749778" cy="49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4"/>
              </a:lnSpc>
              <a:spcBef>
                <a:spcPct val="0"/>
              </a:spcBef>
            </a:pPr>
            <a:r>
              <a:rPr lang="en-US" sz="3099" b="1" spc="185">
                <a:solidFill>
                  <a:srgbClr val="476AE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D. Research Model and Propositions</a:t>
            </a:r>
          </a:p>
        </p:txBody>
      </p:sp>
      <p:sp>
        <p:nvSpPr>
          <p:cNvPr id="5" name="Freeform 5"/>
          <p:cNvSpPr/>
          <p:nvPr/>
        </p:nvSpPr>
        <p:spPr>
          <a:xfrm rot="5400000">
            <a:off x="304615" y="917571"/>
            <a:ext cx="743071" cy="2672723"/>
          </a:xfrm>
          <a:custGeom>
            <a:avLst/>
            <a:gdLst/>
            <a:ahLst/>
            <a:cxnLst/>
            <a:rect l="l" t="t" r="r" b="b"/>
            <a:pathLst>
              <a:path w="743071" h="2672723">
                <a:moveTo>
                  <a:pt x="0" y="0"/>
                </a:moveTo>
                <a:lnTo>
                  <a:pt x="743071" y="0"/>
                </a:lnTo>
                <a:lnTo>
                  <a:pt x="743071" y="2672723"/>
                </a:lnTo>
                <a:lnTo>
                  <a:pt x="0" y="26727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457698" b="-53955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70215" y="823753"/>
            <a:ext cx="978171" cy="638206"/>
          </a:xfrm>
          <a:custGeom>
            <a:avLst/>
            <a:gdLst/>
            <a:ahLst/>
            <a:cxnLst/>
            <a:rect l="l" t="t" r="r" b="b"/>
            <a:pathLst>
              <a:path w="978171" h="638206">
                <a:moveTo>
                  <a:pt x="0" y="0"/>
                </a:moveTo>
                <a:lnTo>
                  <a:pt x="978170" y="0"/>
                </a:lnTo>
                <a:lnTo>
                  <a:pt x="978170" y="638206"/>
                </a:lnTo>
                <a:lnTo>
                  <a:pt x="0" y="638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490781" r="-417333" b="-978338"/>
            </a:stretch>
          </a:blipFill>
        </p:spPr>
      </p:sp>
      <p:sp>
        <p:nvSpPr>
          <p:cNvPr id="7" name="Freeform 7"/>
          <p:cNvSpPr/>
          <p:nvPr/>
        </p:nvSpPr>
        <p:spPr>
          <a:xfrm rot="5400000">
            <a:off x="17376850" y="8293474"/>
            <a:ext cx="743071" cy="2672723"/>
          </a:xfrm>
          <a:custGeom>
            <a:avLst/>
            <a:gdLst/>
            <a:ahLst/>
            <a:cxnLst/>
            <a:rect l="l" t="t" r="r" b="b"/>
            <a:pathLst>
              <a:path w="743071" h="2672723">
                <a:moveTo>
                  <a:pt x="0" y="0"/>
                </a:moveTo>
                <a:lnTo>
                  <a:pt x="743071" y="0"/>
                </a:lnTo>
                <a:lnTo>
                  <a:pt x="743071" y="2672723"/>
                </a:lnTo>
                <a:lnTo>
                  <a:pt x="0" y="26727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457698" b="-5395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682478" y="2396868"/>
            <a:ext cx="13384092" cy="7481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4" lvl="1" indent="-280672" algn="just">
              <a:lnSpc>
                <a:spcPts val="5408"/>
              </a:lnSpc>
              <a:buFont typeface="Arial"/>
              <a:buChar char="•"/>
            </a:pPr>
            <a:r>
              <a:rPr lang="en-US" sz="2600" b="1">
                <a:solidFill>
                  <a:srgbClr val="476AE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authors present a conceptual model linking:</a:t>
            </a:r>
          </a:p>
          <a:p>
            <a:pPr marL="1122688" lvl="2" indent="-374229" algn="just">
              <a:lnSpc>
                <a:spcPts val="5408"/>
              </a:lnSpc>
              <a:buFont typeface="Arial"/>
              <a:buChar char="⚬"/>
            </a:pPr>
            <a:r>
              <a:rPr lang="en-US" sz="2600">
                <a:solidFill>
                  <a:srgbClr val="476AE3"/>
                </a:solidFill>
                <a:latin typeface="Canva Sans"/>
                <a:ea typeface="Canva Sans"/>
                <a:cs typeface="Canva Sans"/>
                <a:sym typeface="Canva Sans"/>
              </a:rPr>
              <a:t>Project characteristics (duration, novelty, uncertainty, etc.),</a:t>
            </a:r>
          </a:p>
          <a:p>
            <a:pPr marL="1122688" lvl="2" indent="-374229" algn="just">
              <a:lnSpc>
                <a:spcPts val="5408"/>
              </a:lnSpc>
              <a:buFont typeface="Arial"/>
              <a:buChar char="⚬"/>
            </a:pPr>
            <a:r>
              <a:rPr lang="en-US" sz="2600">
                <a:solidFill>
                  <a:srgbClr val="476AE3"/>
                </a:solidFill>
                <a:latin typeface="Canva Sans"/>
                <a:ea typeface="Canva Sans"/>
                <a:cs typeface="Canva Sans"/>
                <a:sym typeface="Canva Sans"/>
              </a:rPr>
              <a:t>Leadership behaviors (transactional and transformational), and</a:t>
            </a:r>
          </a:p>
          <a:p>
            <a:pPr marL="1122688" lvl="2" indent="-374229" algn="just">
              <a:lnSpc>
                <a:spcPts val="5408"/>
              </a:lnSpc>
              <a:buFont typeface="Arial"/>
              <a:buChar char="⚬"/>
            </a:pPr>
            <a:r>
              <a:rPr lang="en-US" sz="2600">
                <a:solidFill>
                  <a:srgbClr val="476AE3"/>
                </a:solidFill>
                <a:latin typeface="Canva Sans"/>
                <a:ea typeface="Canva Sans"/>
                <a:cs typeface="Canva Sans"/>
                <a:sym typeface="Canva Sans"/>
              </a:rPr>
              <a:t>Outcomes such as team commitment and performance.</a:t>
            </a:r>
          </a:p>
          <a:p>
            <a:pPr marL="561344" lvl="1" indent="-280672" algn="just">
              <a:lnSpc>
                <a:spcPts val="5408"/>
              </a:lnSpc>
              <a:buFont typeface="Arial"/>
              <a:buChar char="•"/>
            </a:pPr>
            <a:r>
              <a:rPr lang="en-US" sz="2600" b="1">
                <a:solidFill>
                  <a:srgbClr val="476AE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Propositions:</a:t>
            </a:r>
          </a:p>
          <a:p>
            <a:pPr marL="1122688" lvl="2" indent="-374229" algn="just">
              <a:lnSpc>
                <a:spcPts val="5408"/>
              </a:lnSpc>
              <a:buFont typeface="Arial"/>
              <a:buChar char="⚬"/>
            </a:pPr>
            <a:r>
              <a:rPr lang="en-US" sz="2600">
                <a:solidFill>
                  <a:srgbClr val="476AE3"/>
                </a:solidFill>
                <a:latin typeface="Canva Sans"/>
                <a:ea typeface="Canva Sans"/>
                <a:cs typeface="Canva Sans"/>
                <a:sym typeface="Canva Sans"/>
              </a:rPr>
              <a:t>Transactional leadership thrives in clear, stable project environments.</a:t>
            </a:r>
          </a:p>
          <a:p>
            <a:pPr marL="1122688" lvl="2" indent="-374229" algn="just">
              <a:lnSpc>
                <a:spcPts val="5408"/>
              </a:lnSpc>
              <a:buFont typeface="Arial"/>
              <a:buChar char="⚬"/>
            </a:pPr>
            <a:r>
              <a:rPr lang="en-US" sz="2600">
                <a:solidFill>
                  <a:srgbClr val="476AE3"/>
                </a:solidFill>
                <a:latin typeface="Canva Sans"/>
                <a:ea typeface="Canva Sans"/>
                <a:cs typeface="Canva Sans"/>
                <a:sym typeface="Canva Sans"/>
              </a:rPr>
              <a:t>Transformational leadership excels in ambiguous, uncertain, and novel contexts.</a:t>
            </a:r>
          </a:p>
          <a:p>
            <a:pPr marL="1122688" lvl="2" indent="-374229" algn="just">
              <a:lnSpc>
                <a:spcPts val="5408"/>
              </a:lnSpc>
              <a:buFont typeface="Arial"/>
              <a:buChar char="⚬"/>
            </a:pPr>
            <a:r>
              <a:rPr lang="en-US" sz="2600">
                <a:solidFill>
                  <a:srgbClr val="476AE3"/>
                </a:solidFill>
                <a:latin typeface="Canva Sans"/>
                <a:ea typeface="Canva Sans"/>
                <a:cs typeface="Canva Sans"/>
                <a:sym typeface="Canva Sans"/>
              </a:rPr>
              <a:t>Transformational leadership is critical for fostering team cohesion and commitment in temporary organizations.</a:t>
            </a:r>
          </a:p>
          <a:p>
            <a:pPr algn="just">
              <a:lnSpc>
                <a:spcPts val="5408"/>
              </a:lnSpc>
            </a:pPr>
            <a:endParaRPr lang="en-US" sz="2600">
              <a:solidFill>
                <a:srgbClr val="476AE3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2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94942"/>
            <a:ext cx="18541820" cy="18588291"/>
          </a:xfrm>
          <a:custGeom>
            <a:avLst/>
            <a:gdLst/>
            <a:ahLst/>
            <a:cxnLst/>
            <a:rect l="l" t="t" r="r" b="b"/>
            <a:pathLst>
              <a:path w="18541820" h="18588291">
                <a:moveTo>
                  <a:pt x="0" y="0"/>
                </a:moveTo>
                <a:lnTo>
                  <a:pt x="18541820" y="0"/>
                </a:lnTo>
                <a:lnTo>
                  <a:pt x="18541820" y="18588291"/>
                </a:lnTo>
                <a:lnTo>
                  <a:pt x="0" y="185882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816357" y="230188"/>
            <a:ext cx="10655286" cy="1558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99"/>
              </a:lnSpc>
            </a:pPr>
            <a:r>
              <a:rPr lang="en-US" sz="9999" b="1">
                <a:solidFill>
                  <a:srgbClr val="476AE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Framework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80174" y="1760537"/>
            <a:ext cx="6927652" cy="49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4"/>
              </a:lnSpc>
              <a:spcBef>
                <a:spcPct val="0"/>
              </a:spcBef>
            </a:pPr>
            <a:r>
              <a:rPr lang="en-US" sz="3099" b="1" spc="185">
                <a:solidFill>
                  <a:srgbClr val="476AE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Overview of the Research Model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3288" y="2884058"/>
            <a:ext cx="8676316" cy="5743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9923" lvl="1" indent="-324962" algn="ctr">
              <a:lnSpc>
                <a:spcPts val="4063"/>
              </a:lnSpc>
              <a:buFont typeface="Arial"/>
              <a:buChar char="•"/>
            </a:pPr>
            <a:r>
              <a:rPr lang="en-US" sz="3010" b="1" spc="180">
                <a:solidFill>
                  <a:srgbClr val="476AE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model shows how leadership styles influence project commitment in </a:t>
            </a:r>
            <a:r>
              <a:rPr lang="en-US" sz="3010" b="1" spc="180">
                <a:solidFill>
                  <a:srgbClr val="867CB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temporary organizations</a:t>
            </a:r>
            <a:r>
              <a:rPr lang="en-US" sz="3010" b="1" spc="180">
                <a:solidFill>
                  <a:srgbClr val="476AE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  <a:p>
            <a:pPr algn="ctr">
              <a:lnSpc>
                <a:spcPts val="4949"/>
              </a:lnSpc>
            </a:pPr>
            <a:r>
              <a:rPr lang="en-US" sz="3666" b="1" spc="219">
                <a:solidFill>
                  <a:srgbClr val="ED783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Components:</a:t>
            </a:r>
          </a:p>
          <a:p>
            <a:pPr marL="649923" lvl="1" indent="-324962" algn="ctr">
              <a:lnSpc>
                <a:spcPts val="4063"/>
              </a:lnSpc>
              <a:buFont typeface="Arial"/>
              <a:buChar char="•"/>
            </a:pPr>
            <a:r>
              <a:rPr lang="en-US" sz="3010" b="1" spc="180">
                <a:solidFill>
                  <a:srgbClr val="43975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Characteristics</a:t>
            </a:r>
            <a:r>
              <a:rPr lang="en-US" sz="3010" b="1" spc="180">
                <a:solidFill>
                  <a:srgbClr val="476AE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Task novelty, limited duration, team diversity.</a:t>
            </a:r>
          </a:p>
          <a:p>
            <a:pPr marL="649923" lvl="1" indent="-324962" algn="ctr">
              <a:lnSpc>
                <a:spcPts val="4063"/>
              </a:lnSpc>
              <a:buFont typeface="Arial"/>
              <a:buChar char="•"/>
            </a:pPr>
            <a:r>
              <a:rPr lang="en-US" sz="3010" b="1" spc="180">
                <a:solidFill>
                  <a:srgbClr val="43975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Leadership Styles</a:t>
            </a:r>
            <a:r>
              <a:rPr lang="en-US" sz="3010" b="1" spc="180">
                <a:solidFill>
                  <a:srgbClr val="476AE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Transactional (structure) and Transformational (inspiration).</a:t>
            </a:r>
          </a:p>
          <a:p>
            <a:pPr marL="649923" lvl="1" indent="-324962" algn="ctr">
              <a:lnSpc>
                <a:spcPts val="4063"/>
              </a:lnSpc>
              <a:buFont typeface="Arial"/>
              <a:buChar char="•"/>
            </a:pPr>
            <a:r>
              <a:rPr lang="en-US" sz="3010" b="1" spc="180">
                <a:solidFill>
                  <a:srgbClr val="43975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External Influences</a:t>
            </a:r>
            <a:r>
              <a:rPr lang="en-US" sz="3010" b="1" spc="180">
                <a:solidFill>
                  <a:srgbClr val="476AE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Environmental uncertainty shapes leadership needs.</a:t>
            </a:r>
          </a:p>
        </p:txBody>
      </p:sp>
      <p:sp>
        <p:nvSpPr>
          <p:cNvPr id="6" name="Freeform 6"/>
          <p:cNvSpPr/>
          <p:nvPr/>
        </p:nvSpPr>
        <p:spPr>
          <a:xfrm>
            <a:off x="10094442" y="2781799"/>
            <a:ext cx="7943421" cy="5936456"/>
          </a:xfrm>
          <a:custGeom>
            <a:avLst/>
            <a:gdLst/>
            <a:ahLst/>
            <a:cxnLst/>
            <a:rect l="l" t="t" r="r" b="b"/>
            <a:pathLst>
              <a:path w="7943421" h="5936456">
                <a:moveTo>
                  <a:pt x="0" y="0"/>
                </a:moveTo>
                <a:lnTo>
                  <a:pt x="7943420" y="0"/>
                </a:lnTo>
                <a:lnTo>
                  <a:pt x="7943420" y="5936456"/>
                </a:lnTo>
                <a:lnTo>
                  <a:pt x="0" y="59364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41" r="-3883"/>
            </a:stretch>
          </a:blipFill>
        </p:spPr>
      </p:sp>
      <p:sp>
        <p:nvSpPr>
          <p:cNvPr id="7" name="Freeform 7"/>
          <p:cNvSpPr/>
          <p:nvPr/>
        </p:nvSpPr>
        <p:spPr>
          <a:xfrm rot="5400000">
            <a:off x="304615" y="917571"/>
            <a:ext cx="743071" cy="2672723"/>
          </a:xfrm>
          <a:custGeom>
            <a:avLst/>
            <a:gdLst/>
            <a:ahLst/>
            <a:cxnLst/>
            <a:rect l="l" t="t" r="r" b="b"/>
            <a:pathLst>
              <a:path w="743071" h="2672723">
                <a:moveTo>
                  <a:pt x="0" y="0"/>
                </a:moveTo>
                <a:lnTo>
                  <a:pt x="743071" y="0"/>
                </a:lnTo>
                <a:lnTo>
                  <a:pt x="743071" y="2672723"/>
                </a:lnTo>
                <a:lnTo>
                  <a:pt x="0" y="26727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457698" b="-53955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770215" y="823753"/>
            <a:ext cx="978171" cy="638206"/>
          </a:xfrm>
          <a:custGeom>
            <a:avLst/>
            <a:gdLst/>
            <a:ahLst/>
            <a:cxnLst/>
            <a:rect l="l" t="t" r="r" b="b"/>
            <a:pathLst>
              <a:path w="978171" h="638206">
                <a:moveTo>
                  <a:pt x="0" y="0"/>
                </a:moveTo>
                <a:lnTo>
                  <a:pt x="978170" y="0"/>
                </a:lnTo>
                <a:lnTo>
                  <a:pt x="978170" y="638206"/>
                </a:lnTo>
                <a:lnTo>
                  <a:pt x="0" y="6382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490781" r="-417333" b="-978338"/>
            </a:stretch>
          </a:blipFill>
        </p:spPr>
      </p:sp>
      <p:sp>
        <p:nvSpPr>
          <p:cNvPr id="9" name="Freeform 9"/>
          <p:cNvSpPr/>
          <p:nvPr/>
        </p:nvSpPr>
        <p:spPr>
          <a:xfrm rot="5400000">
            <a:off x="17376850" y="8293474"/>
            <a:ext cx="743071" cy="2672723"/>
          </a:xfrm>
          <a:custGeom>
            <a:avLst/>
            <a:gdLst/>
            <a:ahLst/>
            <a:cxnLst/>
            <a:rect l="l" t="t" r="r" b="b"/>
            <a:pathLst>
              <a:path w="743071" h="2672723">
                <a:moveTo>
                  <a:pt x="0" y="0"/>
                </a:moveTo>
                <a:lnTo>
                  <a:pt x="743071" y="0"/>
                </a:lnTo>
                <a:lnTo>
                  <a:pt x="743071" y="2672723"/>
                </a:lnTo>
                <a:lnTo>
                  <a:pt x="0" y="26727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457698" b="-53955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2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490" y="-3548987"/>
            <a:ext cx="18541820" cy="18588291"/>
          </a:xfrm>
          <a:custGeom>
            <a:avLst/>
            <a:gdLst/>
            <a:ahLst/>
            <a:cxnLst/>
            <a:rect l="l" t="t" r="r" b="b"/>
            <a:pathLst>
              <a:path w="18541820" h="18588291">
                <a:moveTo>
                  <a:pt x="0" y="0"/>
                </a:moveTo>
                <a:lnTo>
                  <a:pt x="18541820" y="0"/>
                </a:lnTo>
                <a:lnTo>
                  <a:pt x="18541820" y="18588291"/>
                </a:lnTo>
                <a:lnTo>
                  <a:pt x="0" y="185882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68757" y="382588"/>
            <a:ext cx="10655286" cy="1558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99"/>
              </a:lnSpc>
            </a:pPr>
            <a:r>
              <a:rPr lang="en-US" sz="9999" b="1">
                <a:solidFill>
                  <a:srgbClr val="476AE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Framework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718276" y="1019175"/>
            <a:ext cx="1811534" cy="496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3"/>
              </a:lnSpc>
            </a:pPr>
            <a:r>
              <a:rPr lang="en-US" sz="3216" b="1">
                <a:solidFill>
                  <a:srgbClr val="476AE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(contd.)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56626" y="2055812"/>
            <a:ext cx="6899054" cy="116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4"/>
              </a:lnSpc>
            </a:pPr>
            <a:r>
              <a:rPr lang="en-US" sz="4738" b="1">
                <a:solidFill>
                  <a:srgbClr val="476AE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Connections in the Research Model</a:t>
            </a:r>
          </a:p>
        </p:txBody>
      </p:sp>
      <p:sp>
        <p:nvSpPr>
          <p:cNvPr id="6" name="AutoShape 6"/>
          <p:cNvSpPr/>
          <p:nvPr/>
        </p:nvSpPr>
        <p:spPr>
          <a:xfrm>
            <a:off x="-684512" y="6527851"/>
            <a:ext cx="20811739" cy="0"/>
          </a:xfrm>
          <a:prstGeom prst="line">
            <a:avLst/>
          </a:prstGeom>
          <a:ln w="95250" cap="flat">
            <a:solidFill>
              <a:srgbClr val="476AE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353005" y="4710819"/>
            <a:ext cx="4094236" cy="5110655"/>
            <a:chOff x="0" y="0"/>
            <a:chExt cx="723762" cy="90344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23762" cy="903441"/>
            </a:xfrm>
            <a:custGeom>
              <a:avLst/>
              <a:gdLst/>
              <a:ahLst/>
              <a:cxnLst/>
              <a:rect l="l" t="t" r="r" b="b"/>
              <a:pathLst>
                <a:path w="723762" h="903441">
                  <a:moveTo>
                    <a:pt x="113456" y="0"/>
                  </a:moveTo>
                  <a:lnTo>
                    <a:pt x="610306" y="0"/>
                  </a:lnTo>
                  <a:cubicBezTo>
                    <a:pt x="640397" y="0"/>
                    <a:pt x="669255" y="11953"/>
                    <a:pt x="690532" y="33230"/>
                  </a:cubicBezTo>
                  <a:cubicBezTo>
                    <a:pt x="711809" y="54508"/>
                    <a:pt x="723762" y="83366"/>
                    <a:pt x="723762" y="113456"/>
                  </a:cubicBezTo>
                  <a:lnTo>
                    <a:pt x="723762" y="789985"/>
                  </a:lnTo>
                  <a:cubicBezTo>
                    <a:pt x="723762" y="820075"/>
                    <a:pt x="711809" y="848933"/>
                    <a:pt x="690532" y="870210"/>
                  </a:cubicBezTo>
                  <a:cubicBezTo>
                    <a:pt x="669255" y="891487"/>
                    <a:pt x="640397" y="903441"/>
                    <a:pt x="610306" y="903441"/>
                  </a:cubicBezTo>
                  <a:lnTo>
                    <a:pt x="113456" y="903441"/>
                  </a:lnTo>
                  <a:cubicBezTo>
                    <a:pt x="83366" y="903441"/>
                    <a:pt x="54508" y="891487"/>
                    <a:pt x="33230" y="870210"/>
                  </a:cubicBezTo>
                  <a:cubicBezTo>
                    <a:pt x="11953" y="848933"/>
                    <a:pt x="0" y="820075"/>
                    <a:pt x="0" y="789985"/>
                  </a:cubicBezTo>
                  <a:lnTo>
                    <a:pt x="0" y="113456"/>
                  </a:lnTo>
                  <a:cubicBezTo>
                    <a:pt x="0" y="83366"/>
                    <a:pt x="11953" y="54508"/>
                    <a:pt x="33230" y="33230"/>
                  </a:cubicBezTo>
                  <a:cubicBezTo>
                    <a:pt x="54508" y="11953"/>
                    <a:pt x="83366" y="0"/>
                    <a:pt x="113456" y="0"/>
                  </a:cubicBezTo>
                  <a:close/>
                </a:path>
              </a:pathLst>
            </a:custGeom>
            <a:solidFill>
              <a:srgbClr val="EFF0E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723762" cy="9415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410209" lvl="1" indent="-205105" algn="ctr">
                <a:lnSpc>
                  <a:spcPts val="2659"/>
                </a:lnSpc>
                <a:buFont typeface="Arial"/>
                <a:buChar char="•"/>
              </a:pPr>
              <a:r>
                <a:rPr lang="en-US" sz="1899" b="1">
                  <a:solidFill>
                    <a:srgbClr val="43975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Transactional Leadership</a:t>
              </a: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Effective when goals and responsibilities are well-defined, particularly in short-duration projects.</a:t>
              </a:r>
            </a:p>
            <a:p>
              <a:pPr marL="410209" lvl="1" indent="-205105" algn="ctr">
                <a:lnSpc>
                  <a:spcPts val="2659"/>
                </a:lnSpc>
                <a:buFont typeface="Arial"/>
                <a:buChar char="•"/>
              </a:pPr>
              <a:r>
                <a:rPr lang="en-US" sz="1899" b="1">
                  <a:solidFill>
                    <a:srgbClr val="43975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Transformational Leadershi</a:t>
              </a:r>
              <a:r>
                <a:rPr lang="en-US" sz="1899">
                  <a:solidFill>
                    <a:srgbClr val="43975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</a:t>
              </a: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Promotes long-term vision, creativity, and engagement, crucial in uncertain and novel project environments.</a:t>
              </a:r>
            </a:p>
            <a:p>
              <a:pPr algn="ctr">
                <a:lnSpc>
                  <a:spcPts val="2659"/>
                </a:lnSpc>
              </a:pPr>
              <a:endPara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125280" y="3916434"/>
            <a:ext cx="2549686" cy="1184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120"/>
              </a:lnSpc>
            </a:pPr>
            <a:r>
              <a:rPr lang="en-US" sz="3000" b="1" dirty="0">
                <a:solidFill>
                  <a:srgbClr val="ED783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Leadership and Commitment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2955680" y="4680339"/>
            <a:ext cx="4303620" cy="5110655"/>
            <a:chOff x="0" y="0"/>
            <a:chExt cx="760776" cy="90344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0776" cy="903441"/>
            </a:xfrm>
            <a:custGeom>
              <a:avLst/>
              <a:gdLst/>
              <a:ahLst/>
              <a:cxnLst/>
              <a:rect l="l" t="t" r="r" b="b"/>
              <a:pathLst>
                <a:path w="760776" h="903441">
                  <a:moveTo>
                    <a:pt x="107936" y="0"/>
                  </a:moveTo>
                  <a:lnTo>
                    <a:pt x="652840" y="0"/>
                  </a:lnTo>
                  <a:cubicBezTo>
                    <a:pt x="712452" y="0"/>
                    <a:pt x="760776" y="48325"/>
                    <a:pt x="760776" y="107936"/>
                  </a:cubicBezTo>
                  <a:lnTo>
                    <a:pt x="760776" y="795505"/>
                  </a:lnTo>
                  <a:cubicBezTo>
                    <a:pt x="760776" y="855116"/>
                    <a:pt x="712452" y="903441"/>
                    <a:pt x="652840" y="903441"/>
                  </a:cubicBezTo>
                  <a:lnTo>
                    <a:pt x="107936" y="903441"/>
                  </a:lnTo>
                  <a:cubicBezTo>
                    <a:pt x="79310" y="903441"/>
                    <a:pt x="51856" y="892069"/>
                    <a:pt x="31614" y="871827"/>
                  </a:cubicBezTo>
                  <a:cubicBezTo>
                    <a:pt x="11372" y="851585"/>
                    <a:pt x="0" y="824131"/>
                    <a:pt x="0" y="795505"/>
                  </a:cubicBezTo>
                  <a:lnTo>
                    <a:pt x="0" y="107936"/>
                  </a:lnTo>
                  <a:cubicBezTo>
                    <a:pt x="0" y="79310"/>
                    <a:pt x="11372" y="51856"/>
                    <a:pt x="31614" y="31614"/>
                  </a:cubicBezTo>
                  <a:cubicBezTo>
                    <a:pt x="51856" y="11372"/>
                    <a:pt x="79310" y="0"/>
                    <a:pt x="107936" y="0"/>
                  </a:cubicBezTo>
                  <a:close/>
                </a:path>
              </a:pathLst>
            </a:custGeom>
            <a:solidFill>
              <a:srgbClr val="EFF0EB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60776" cy="9415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410209" lvl="1" indent="-205105" algn="ctr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Both leadership styles positively influence followers’ project commitment, with </a:t>
              </a:r>
              <a:r>
                <a:rPr lang="en-US" sz="1899">
                  <a:solidFill>
                    <a:srgbClr val="867CB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transformational</a:t>
              </a: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leadership having a </a:t>
              </a:r>
              <a:r>
                <a:rPr lang="en-US" sz="1899">
                  <a:solidFill>
                    <a:srgbClr val="867CB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stronger</a:t>
              </a: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effect during </a:t>
              </a:r>
              <a:r>
                <a:rPr lang="en-US" sz="1899">
                  <a:solidFill>
                    <a:srgbClr val="867CB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uncertainty</a:t>
              </a: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.</a:t>
              </a:r>
            </a:p>
            <a:p>
              <a:pPr algn="ctr">
                <a:lnSpc>
                  <a:spcPts val="2659"/>
                </a:lnSpc>
              </a:pPr>
              <a:endPara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154342" y="4710819"/>
            <a:ext cx="4303620" cy="5110655"/>
            <a:chOff x="0" y="0"/>
            <a:chExt cx="760776" cy="90344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60776" cy="903441"/>
            </a:xfrm>
            <a:custGeom>
              <a:avLst/>
              <a:gdLst/>
              <a:ahLst/>
              <a:cxnLst/>
              <a:rect l="l" t="t" r="r" b="b"/>
              <a:pathLst>
                <a:path w="760776" h="903441">
                  <a:moveTo>
                    <a:pt x="107936" y="0"/>
                  </a:moveTo>
                  <a:lnTo>
                    <a:pt x="652840" y="0"/>
                  </a:lnTo>
                  <a:cubicBezTo>
                    <a:pt x="712452" y="0"/>
                    <a:pt x="760776" y="48325"/>
                    <a:pt x="760776" y="107936"/>
                  </a:cubicBezTo>
                  <a:lnTo>
                    <a:pt x="760776" y="795505"/>
                  </a:lnTo>
                  <a:cubicBezTo>
                    <a:pt x="760776" y="855116"/>
                    <a:pt x="712452" y="903441"/>
                    <a:pt x="652840" y="903441"/>
                  </a:cubicBezTo>
                  <a:lnTo>
                    <a:pt x="107936" y="903441"/>
                  </a:lnTo>
                  <a:cubicBezTo>
                    <a:pt x="79310" y="903441"/>
                    <a:pt x="51856" y="892069"/>
                    <a:pt x="31614" y="871827"/>
                  </a:cubicBezTo>
                  <a:cubicBezTo>
                    <a:pt x="11372" y="851585"/>
                    <a:pt x="0" y="824131"/>
                    <a:pt x="0" y="795505"/>
                  </a:cubicBezTo>
                  <a:lnTo>
                    <a:pt x="0" y="107936"/>
                  </a:lnTo>
                  <a:cubicBezTo>
                    <a:pt x="0" y="79310"/>
                    <a:pt x="11372" y="51856"/>
                    <a:pt x="31614" y="31614"/>
                  </a:cubicBezTo>
                  <a:cubicBezTo>
                    <a:pt x="51856" y="11372"/>
                    <a:pt x="79310" y="0"/>
                    <a:pt x="107936" y="0"/>
                  </a:cubicBezTo>
                  <a:close/>
                </a:path>
              </a:pathLst>
            </a:custGeom>
            <a:solidFill>
              <a:srgbClr val="EFF0EB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760776" cy="9415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410209" lvl="1" indent="-205105" algn="ctr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Acts as a </a:t>
              </a:r>
              <a:r>
                <a:rPr lang="en-US" sz="1899">
                  <a:solidFill>
                    <a:srgbClr val="867CB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catalyst</a:t>
              </a: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for </a:t>
              </a:r>
              <a:r>
                <a:rPr lang="en-US" sz="1899">
                  <a:solidFill>
                    <a:srgbClr val="867CB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transformational </a:t>
              </a: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leadership, driving higher commitment and </a:t>
              </a:r>
              <a:r>
                <a:rPr lang="en-US" sz="1899">
                  <a:solidFill>
                    <a:srgbClr val="867CB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innovation</a:t>
              </a: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.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3934463" y="4306959"/>
            <a:ext cx="2549686" cy="794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120"/>
              </a:lnSpc>
            </a:pPr>
            <a:r>
              <a:rPr lang="en-US" sz="3000" b="1">
                <a:solidFill>
                  <a:srgbClr val="ED783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Commitment Outcomes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31309" y="4111697"/>
            <a:ext cx="2549686" cy="1184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120"/>
              </a:lnSpc>
            </a:pPr>
            <a:r>
              <a:rPr lang="en-US" sz="3000" b="1" dirty="0">
                <a:solidFill>
                  <a:srgbClr val="ED783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Environmental Uncertainty</a:t>
            </a:r>
          </a:p>
        </p:txBody>
      </p:sp>
      <p:sp>
        <p:nvSpPr>
          <p:cNvPr id="19" name="Freeform 19"/>
          <p:cNvSpPr/>
          <p:nvPr/>
        </p:nvSpPr>
        <p:spPr>
          <a:xfrm rot="5400000">
            <a:off x="451373" y="2041910"/>
            <a:ext cx="743071" cy="2672723"/>
          </a:xfrm>
          <a:custGeom>
            <a:avLst/>
            <a:gdLst/>
            <a:ahLst/>
            <a:cxnLst/>
            <a:rect l="l" t="t" r="r" b="b"/>
            <a:pathLst>
              <a:path w="743071" h="2672723">
                <a:moveTo>
                  <a:pt x="0" y="0"/>
                </a:moveTo>
                <a:lnTo>
                  <a:pt x="743071" y="0"/>
                </a:lnTo>
                <a:lnTo>
                  <a:pt x="743071" y="2672724"/>
                </a:lnTo>
                <a:lnTo>
                  <a:pt x="0" y="26727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457698" b="-53955"/>
            </a:stretch>
          </a:blipFill>
        </p:spPr>
      </p:sp>
      <p:sp>
        <p:nvSpPr>
          <p:cNvPr id="20" name="Freeform 20"/>
          <p:cNvSpPr/>
          <p:nvPr/>
        </p:nvSpPr>
        <p:spPr>
          <a:xfrm rot="5400000">
            <a:off x="17482615" y="8103438"/>
            <a:ext cx="689091" cy="2686023"/>
          </a:xfrm>
          <a:custGeom>
            <a:avLst/>
            <a:gdLst/>
            <a:ahLst/>
            <a:cxnLst/>
            <a:rect l="l" t="t" r="r" b="b"/>
            <a:pathLst>
              <a:path w="689091" h="2686023">
                <a:moveTo>
                  <a:pt x="0" y="0"/>
                </a:moveTo>
                <a:lnTo>
                  <a:pt x="689091" y="0"/>
                </a:lnTo>
                <a:lnTo>
                  <a:pt x="689091" y="2686023"/>
                </a:lnTo>
                <a:lnTo>
                  <a:pt x="0" y="26860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38762" r="-787970" b="-63175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6770215" y="1181100"/>
            <a:ext cx="978171" cy="638206"/>
          </a:xfrm>
          <a:custGeom>
            <a:avLst/>
            <a:gdLst/>
            <a:ahLst/>
            <a:cxnLst/>
            <a:rect l="l" t="t" r="r" b="b"/>
            <a:pathLst>
              <a:path w="978171" h="638206">
                <a:moveTo>
                  <a:pt x="0" y="0"/>
                </a:moveTo>
                <a:lnTo>
                  <a:pt x="978170" y="0"/>
                </a:lnTo>
                <a:lnTo>
                  <a:pt x="978170" y="638206"/>
                </a:lnTo>
                <a:lnTo>
                  <a:pt x="0" y="6382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90781" r="-417333" b="-978338"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2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6910" y="-3701387"/>
            <a:ext cx="18541820" cy="18588291"/>
          </a:xfrm>
          <a:custGeom>
            <a:avLst/>
            <a:gdLst/>
            <a:ahLst/>
            <a:cxnLst/>
            <a:rect l="l" t="t" r="r" b="b"/>
            <a:pathLst>
              <a:path w="18541820" h="18588291">
                <a:moveTo>
                  <a:pt x="0" y="0"/>
                </a:moveTo>
                <a:lnTo>
                  <a:pt x="18541820" y="0"/>
                </a:lnTo>
                <a:lnTo>
                  <a:pt x="18541820" y="18588291"/>
                </a:lnTo>
                <a:lnTo>
                  <a:pt x="0" y="185882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657164" y="408419"/>
            <a:ext cx="743071" cy="2672723"/>
          </a:xfrm>
          <a:custGeom>
            <a:avLst/>
            <a:gdLst/>
            <a:ahLst/>
            <a:cxnLst/>
            <a:rect l="l" t="t" r="r" b="b"/>
            <a:pathLst>
              <a:path w="743071" h="2672723">
                <a:moveTo>
                  <a:pt x="0" y="0"/>
                </a:moveTo>
                <a:lnTo>
                  <a:pt x="743072" y="0"/>
                </a:lnTo>
                <a:lnTo>
                  <a:pt x="743072" y="2672724"/>
                </a:lnTo>
                <a:lnTo>
                  <a:pt x="0" y="26727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457698" b="-53955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172472" y="1373246"/>
            <a:ext cx="978171" cy="638206"/>
          </a:xfrm>
          <a:custGeom>
            <a:avLst/>
            <a:gdLst/>
            <a:ahLst/>
            <a:cxnLst/>
            <a:rect l="l" t="t" r="r" b="b"/>
            <a:pathLst>
              <a:path w="978171" h="638206">
                <a:moveTo>
                  <a:pt x="0" y="0"/>
                </a:moveTo>
                <a:lnTo>
                  <a:pt x="978171" y="0"/>
                </a:lnTo>
                <a:lnTo>
                  <a:pt x="978171" y="638205"/>
                </a:lnTo>
                <a:lnTo>
                  <a:pt x="0" y="6382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490781" r="-417333" b="-978338"/>
            </a:stretch>
          </a:blipFill>
        </p:spPr>
      </p:sp>
      <p:sp>
        <p:nvSpPr>
          <p:cNvPr id="5" name="Freeform 5"/>
          <p:cNvSpPr/>
          <p:nvPr/>
        </p:nvSpPr>
        <p:spPr>
          <a:xfrm rot="5400000">
            <a:off x="17376784" y="8431117"/>
            <a:ext cx="689091" cy="2686023"/>
          </a:xfrm>
          <a:custGeom>
            <a:avLst/>
            <a:gdLst/>
            <a:ahLst/>
            <a:cxnLst/>
            <a:rect l="l" t="t" r="r" b="b"/>
            <a:pathLst>
              <a:path w="689091" h="2686023">
                <a:moveTo>
                  <a:pt x="0" y="0"/>
                </a:moveTo>
                <a:lnTo>
                  <a:pt x="689092" y="0"/>
                </a:lnTo>
                <a:lnTo>
                  <a:pt x="689092" y="2686023"/>
                </a:lnTo>
                <a:lnTo>
                  <a:pt x="0" y="26860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38762" r="-787970" b="-63175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28700" y="3085977"/>
            <a:ext cx="4597912" cy="5895434"/>
            <a:chOff x="0" y="0"/>
            <a:chExt cx="812800" cy="10421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1042170"/>
            </a:xfrm>
            <a:custGeom>
              <a:avLst/>
              <a:gdLst/>
              <a:ahLst/>
              <a:cxnLst/>
              <a:rect l="l" t="t" r="r" b="b"/>
              <a:pathLst>
                <a:path w="812800" h="1042170">
                  <a:moveTo>
                    <a:pt x="101027" y="0"/>
                  </a:moveTo>
                  <a:lnTo>
                    <a:pt x="711773" y="0"/>
                  </a:lnTo>
                  <a:cubicBezTo>
                    <a:pt x="738567" y="0"/>
                    <a:pt x="764263" y="10644"/>
                    <a:pt x="783210" y="29590"/>
                  </a:cubicBezTo>
                  <a:cubicBezTo>
                    <a:pt x="802156" y="48537"/>
                    <a:pt x="812800" y="74233"/>
                    <a:pt x="812800" y="101027"/>
                  </a:cubicBezTo>
                  <a:lnTo>
                    <a:pt x="812800" y="941143"/>
                  </a:lnTo>
                  <a:cubicBezTo>
                    <a:pt x="812800" y="967937"/>
                    <a:pt x="802156" y="993634"/>
                    <a:pt x="783210" y="1012580"/>
                  </a:cubicBezTo>
                  <a:cubicBezTo>
                    <a:pt x="764263" y="1031527"/>
                    <a:pt x="738567" y="1042170"/>
                    <a:pt x="711773" y="1042170"/>
                  </a:cubicBezTo>
                  <a:lnTo>
                    <a:pt x="101027" y="1042170"/>
                  </a:lnTo>
                  <a:cubicBezTo>
                    <a:pt x="74233" y="1042170"/>
                    <a:pt x="48537" y="1031527"/>
                    <a:pt x="29590" y="1012580"/>
                  </a:cubicBezTo>
                  <a:cubicBezTo>
                    <a:pt x="10644" y="993634"/>
                    <a:pt x="0" y="967937"/>
                    <a:pt x="0" y="941143"/>
                  </a:cubicBezTo>
                  <a:lnTo>
                    <a:pt x="0" y="101027"/>
                  </a:lnTo>
                  <a:cubicBezTo>
                    <a:pt x="0" y="74233"/>
                    <a:pt x="10644" y="48537"/>
                    <a:pt x="29590" y="29590"/>
                  </a:cubicBezTo>
                  <a:cubicBezTo>
                    <a:pt x="48537" y="10644"/>
                    <a:pt x="74233" y="0"/>
                    <a:pt x="101027" y="0"/>
                  </a:cubicBezTo>
                  <a:close/>
                </a:path>
              </a:pathLst>
            </a:custGeom>
            <a:solidFill>
              <a:srgbClr val="EFF0E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10802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816357" y="765264"/>
            <a:ext cx="10655286" cy="1558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99"/>
              </a:lnSpc>
            </a:pPr>
            <a:r>
              <a:rPr lang="en-US" sz="9999" b="1">
                <a:solidFill>
                  <a:srgbClr val="476AE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Findings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52813" y="2724968"/>
            <a:ext cx="2549686" cy="794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120"/>
              </a:lnSpc>
            </a:pPr>
            <a:r>
              <a:rPr lang="en-US" sz="3000" b="1" dirty="0">
                <a:solidFill>
                  <a:srgbClr val="ED783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Leadership Insights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23284" y="4347569"/>
            <a:ext cx="2950436" cy="409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374"/>
              </a:lnSpc>
              <a:buFont typeface="Arial"/>
              <a:buChar char="•"/>
            </a:pPr>
            <a:r>
              <a:rPr lang="en-US" sz="2499" b="1" spc="149">
                <a:solidFill>
                  <a:srgbClr val="1C21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Transactional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68856" y="4911683"/>
            <a:ext cx="3066118" cy="1045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 spc="126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Goal clarity, structured approach, short-duration.</a:t>
            </a:r>
          </a:p>
        </p:txBody>
      </p:sp>
      <p:sp>
        <p:nvSpPr>
          <p:cNvPr id="13" name="Freeform 13"/>
          <p:cNvSpPr/>
          <p:nvPr/>
        </p:nvSpPr>
        <p:spPr>
          <a:xfrm>
            <a:off x="928064" y="9258300"/>
            <a:ext cx="978171" cy="638206"/>
          </a:xfrm>
          <a:custGeom>
            <a:avLst/>
            <a:gdLst/>
            <a:ahLst/>
            <a:cxnLst/>
            <a:rect l="l" t="t" r="r" b="b"/>
            <a:pathLst>
              <a:path w="978171" h="638206">
                <a:moveTo>
                  <a:pt x="0" y="0"/>
                </a:moveTo>
                <a:lnTo>
                  <a:pt x="978171" y="0"/>
                </a:lnTo>
                <a:lnTo>
                  <a:pt x="978171" y="638206"/>
                </a:lnTo>
                <a:lnTo>
                  <a:pt x="0" y="6382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490781" r="-417333" b="-978338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523284" y="6349892"/>
            <a:ext cx="3608745" cy="409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374"/>
              </a:lnSpc>
              <a:buFont typeface="Arial"/>
              <a:buChar char="•"/>
            </a:pPr>
            <a:r>
              <a:rPr lang="en-US" sz="2499" b="1" spc="149">
                <a:solidFill>
                  <a:srgbClr val="1C21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Transformational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65911" y="6913805"/>
            <a:ext cx="3066118" cy="1045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 spc="126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Uncertainty, creativity, follower commitment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830424" y="3085977"/>
            <a:ext cx="4597912" cy="5895434"/>
            <a:chOff x="0" y="0"/>
            <a:chExt cx="812800" cy="10421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1042170"/>
            </a:xfrm>
            <a:custGeom>
              <a:avLst/>
              <a:gdLst/>
              <a:ahLst/>
              <a:cxnLst/>
              <a:rect l="l" t="t" r="r" b="b"/>
              <a:pathLst>
                <a:path w="812800" h="1042170">
                  <a:moveTo>
                    <a:pt x="101027" y="0"/>
                  </a:moveTo>
                  <a:lnTo>
                    <a:pt x="711773" y="0"/>
                  </a:lnTo>
                  <a:cubicBezTo>
                    <a:pt x="738567" y="0"/>
                    <a:pt x="764263" y="10644"/>
                    <a:pt x="783210" y="29590"/>
                  </a:cubicBezTo>
                  <a:cubicBezTo>
                    <a:pt x="802156" y="48537"/>
                    <a:pt x="812800" y="74233"/>
                    <a:pt x="812800" y="101027"/>
                  </a:cubicBezTo>
                  <a:lnTo>
                    <a:pt x="812800" y="941143"/>
                  </a:lnTo>
                  <a:cubicBezTo>
                    <a:pt x="812800" y="967937"/>
                    <a:pt x="802156" y="993634"/>
                    <a:pt x="783210" y="1012580"/>
                  </a:cubicBezTo>
                  <a:cubicBezTo>
                    <a:pt x="764263" y="1031527"/>
                    <a:pt x="738567" y="1042170"/>
                    <a:pt x="711773" y="1042170"/>
                  </a:cubicBezTo>
                  <a:lnTo>
                    <a:pt x="101027" y="1042170"/>
                  </a:lnTo>
                  <a:cubicBezTo>
                    <a:pt x="74233" y="1042170"/>
                    <a:pt x="48537" y="1031527"/>
                    <a:pt x="29590" y="1012580"/>
                  </a:cubicBezTo>
                  <a:cubicBezTo>
                    <a:pt x="10644" y="993634"/>
                    <a:pt x="0" y="967937"/>
                    <a:pt x="0" y="941143"/>
                  </a:cubicBezTo>
                  <a:lnTo>
                    <a:pt x="0" y="101027"/>
                  </a:lnTo>
                  <a:cubicBezTo>
                    <a:pt x="0" y="74233"/>
                    <a:pt x="10644" y="48537"/>
                    <a:pt x="29590" y="29590"/>
                  </a:cubicBezTo>
                  <a:cubicBezTo>
                    <a:pt x="48537" y="10644"/>
                    <a:pt x="74233" y="0"/>
                    <a:pt x="101027" y="0"/>
                  </a:cubicBezTo>
                  <a:close/>
                </a:path>
              </a:pathLst>
            </a:custGeom>
            <a:solidFill>
              <a:srgbClr val="EFF0EB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812800" cy="10802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854537" y="2724968"/>
            <a:ext cx="2549686" cy="79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120"/>
              </a:lnSpc>
            </a:pPr>
            <a:r>
              <a:rPr lang="en-US" sz="3000" b="1">
                <a:solidFill>
                  <a:srgbClr val="ED783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Research Framework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31557" y="4347569"/>
            <a:ext cx="2828295" cy="409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374"/>
              </a:lnSpc>
              <a:buFont typeface="Arial"/>
              <a:buChar char="•"/>
            </a:pPr>
            <a:r>
              <a:rPr lang="en-US" sz="2499" b="1" spc="149">
                <a:solidFill>
                  <a:srgbClr val="1C21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Variables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61086" y="4909590"/>
            <a:ext cx="3066118" cy="1045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 spc="126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Task novelty, goal clarity, duration, heterogeneity.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39627" y="6349892"/>
            <a:ext cx="3608745" cy="409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374"/>
              </a:lnSpc>
              <a:buFont typeface="Arial"/>
              <a:buChar char="•"/>
            </a:pPr>
            <a:r>
              <a:rPr lang="en-US" sz="2499" b="1" spc="149">
                <a:solidFill>
                  <a:srgbClr val="1C21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Leadership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882254" y="6913805"/>
            <a:ext cx="3066118" cy="1045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 spc="126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Intellectual stimulation, charisma, rewards.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632148" y="3085977"/>
            <a:ext cx="4597912" cy="5895434"/>
            <a:chOff x="0" y="0"/>
            <a:chExt cx="812800" cy="104217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1042170"/>
            </a:xfrm>
            <a:custGeom>
              <a:avLst/>
              <a:gdLst/>
              <a:ahLst/>
              <a:cxnLst/>
              <a:rect l="l" t="t" r="r" b="b"/>
              <a:pathLst>
                <a:path w="812800" h="1042170">
                  <a:moveTo>
                    <a:pt x="101027" y="0"/>
                  </a:moveTo>
                  <a:lnTo>
                    <a:pt x="711773" y="0"/>
                  </a:lnTo>
                  <a:cubicBezTo>
                    <a:pt x="738567" y="0"/>
                    <a:pt x="764263" y="10644"/>
                    <a:pt x="783210" y="29590"/>
                  </a:cubicBezTo>
                  <a:cubicBezTo>
                    <a:pt x="802156" y="48537"/>
                    <a:pt x="812800" y="74233"/>
                    <a:pt x="812800" y="101027"/>
                  </a:cubicBezTo>
                  <a:lnTo>
                    <a:pt x="812800" y="941143"/>
                  </a:lnTo>
                  <a:cubicBezTo>
                    <a:pt x="812800" y="967937"/>
                    <a:pt x="802156" y="993634"/>
                    <a:pt x="783210" y="1012580"/>
                  </a:cubicBezTo>
                  <a:cubicBezTo>
                    <a:pt x="764263" y="1031527"/>
                    <a:pt x="738567" y="1042170"/>
                    <a:pt x="711773" y="1042170"/>
                  </a:cubicBezTo>
                  <a:lnTo>
                    <a:pt x="101027" y="1042170"/>
                  </a:lnTo>
                  <a:cubicBezTo>
                    <a:pt x="74233" y="1042170"/>
                    <a:pt x="48537" y="1031527"/>
                    <a:pt x="29590" y="1012580"/>
                  </a:cubicBezTo>
                  <a:cubicBezTo>
                    <a:pt x="10644" y="993634"/>
                    <a:pt x="0" y="967937"/>
                    <a:pt x="0" y="941143"/>
                  </a:cubicBezTo>
                  <a:lnTo>
                    <a:pt x="0" y="101027"/>
                  </a:lnTo>
                  <a:cubicBezTo>
                    <a:pt x="0" y="74233"/>
                    <a:pt x="10644" y="48537"/>
                    <a:pt x="29590" y="29590"/>
                  </a:cubicBezTo>
                  <a:cubicBezTo>
                    <a:pt x="48537" y="10644"/>
                    <a:pt x="74233" y="0"/>
                    <a:pt x="101027" y="0"/>
                  </a:cubicBezTo>
                  <a:close/>
                </a:path>
              </a:pathLst>
            </a:custGeom>
            <a:solidFill>
              <a:srgbClr val="EFF0EB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812800" cy="10802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3656262" y="2724902"/>
            <a:ext cx="2549686" cy="79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120"/>
              </a:lnSpc>
            </a:pPr>
            <a:r>
              <a:rPr lang="en-US" sz="3000" b="1">
                <a:solidFill>
                  <a:srgbClr val="ED783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Testing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204482" y="4347569"/>
            <a:ext cx="2215550" cy="409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374"/>
              </a:lnSpc>
              <a:buFont typeface="Arial"/>
              <a:buChar char="•"/>
            </a:pPr>
            <a:r>
              <a:rPr lang="en-US" sz="2499" b="1" spc="149">
                <a:solidFill>
                  <a:srgbClr val="1C21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656262" y="4911683"/>
            <a:ext cx="3066118" cy="693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 spc="126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Surveys, MLQ, questionnaires.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204482" y="5995594"/>
            <a:ext cx="2342561" cy="409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374"/>
              </a:lnSpc>
              <a:buFont typeface="Arial"/>
              <a:buChar char="•"/>
            </a:pPr>
            <a:r>
              <a:rPr lang="en-US" sz="2499" b="1" spc="149">
                <a:solidFill>
                  <a:srgbClr val="1C21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Validation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665787" y="6559507"/>
            <a:ext cx="3066118" cy="1045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 spc="126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Empirical analysis, measurable outcomes.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2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6910" y="-3701387"/>
            <a:ext cx="18541820" cy="18588291"/>
          </a:xfrm>
          <a:custGeom>
            <a:avLst/>
            <a:gdLst/>
            <a:ahLst/>
            <a:cxnLst/>
            <a:rect l="l" t="t" r="r" b="b"/>
            <a:pathLst>
              <a:path w="18541820" h="18588291">
                <a:moveTo>
                  <a:pt x="0" y="0"/>
                </a:moveTo>
                <a:lnTo>
                  <a:pt x="18541820" y="0"/>
                </a:lnTo>
                <a:lnTo>
                  <a:pt x="18541820" y="18588291"/>
                </a:lnTo>
                <a:lnTo>
                  <a:pt x="0" y="185882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837916" y="673417"/>
            <a:ext cx="743071" cy="2672723"/>
          </a:xfrm>
          <a:custGeom>
            <a:avLst/>
            <a:gdLst/>
            <a:ahLst/>
            <a:cxnLst/>
            <a:rect l="l" t="t" r="r" b="b"/>
            <a:pathLst>
              <a:path w="743071" h="2672723">
                <a:moveTo>
                  <a:pt x="0" y="0"/>
                </a:moveTo>
                <a:lnTo>
                  <a:pt x="743071" y="0"/>
                </a:lnTo>
                <a:lnTo>
                  <a:pt x="743071" y="2672723"/>
                </a:lnTo>
                <a:lnTo>
                  <a:pt x="0" y="26727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457698" b="-53955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172472" y="1373246"/>
            <a:ext cx="978171" cy="638206"/>
          </a:xfrm>
          <a:custGeom>
            <a:avLst/>
            <a:gdLst/>
            <a:ahLst/>
            <a:cxnLst/>
            <a:rect l="l" t="t" r="r" b="b"/>
            <a:pathLst>
              <a:path w="978171" h="638206">
                <a:moveTo>
                  <a:pt x="0" y="0"/>
                </a:moveTo>
                <a:lnTo>
                  <a:pt x="978171" y="0"/>
                </a:lnTo>
                <a:lnTo>
                  <a:pt x="978171" y="638205"/>
                </a:lnTo>
                <a:lnTo>
                  <a:pt x="0" y="6382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490781" r="-417333" b="-978338"/>
            </a:stretch>
          </a:blipFill>
        </p:spPr>
      </p:sp>
      <p:sp>
        <p:nvSpPr>
          <p:cNvPr id="5" name="Freeform 5"/>
          <p:cNvSpPr/>
          <p:nvPr/>
        </p:nvSpPr>
        <p:spPr>
          <a:xfrm rot="5400000">
            <a:off x="17324232" y="8023840"/>
            <a:ext cx="689091" cy="2686023"/>
          </a:xfrm>
          <a:custGeom>
            <a:avLst/>
            <a:gdLst/>
            <a:ahLst/>
            <a:cxnLst/>
            <a:rect l="l" t="t" r="r" b="b"/>
            <a:pathLst>
              <a:path w="689091" h="2686023">
                <a:moveTo>
                  <a:pt x="0" y="0"/>
                </a:moveTo>
                <a:lnTo>
                  <a:pt x="689092" y="0"/>
                </a:lnTo>
                <a:lnTo>
                  <a:pt x="689092" y="2686023"/>
                </a:lnTo>
                <a:lnTo>
                  <a:pt x="0" y="26860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38762" r="-787970" b="-63175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953957" y="3557814"/>
            <a:ext cx="14380087" cy="5381383"/>
            <a:chOff x="0" y="0"/>
            <a:chExt cx="2542052" cy="95129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42052" cy="951299"/>
            </a:xfrm>
            <a:custGeom>
              <a:avLst/>
              <a:gdLst/>
              <a:ahLst/>
              <a:cxnLst/>
              <a:rect l="l" t="t" r="r" b="b"/>
              <a:pathLst>
                <a:path w="2542052" h="951299">
                  <a:moveTo>
                    <a:pt x="29611" y="0"/>
                  </a:moveTo>
                  <a:lnTo>
                    <a:pt x="2512442" y="0"/>
                  </a:lnTo>
                  <a:cubicBezTo>
                    <a:pt x="2528795" y="0"/>
                    <a:pt x="2542052" y="13257"/>
                    <a:pt x="2542052" y="29611"/>
                  </a:cubicBezTo>
                  <a:lnTo>
                    <a:pt x="2542052" y="921688"/>
                  </a:lnTo>
                  <a:cubicBezTo>
                    <a:pt x="2542052" y="929541"/>
                    <a:pt x="2538933" y="937073"/>
                    <a:pt x="2533380" y="942626"/>
                  </a:cubicBezTo>
                  <a:cubicBezTo>
                    <a:pt x="2527827" y="948179"/>
                    <a:pt x="2520295" y="951299"/>
                    <a:pt x="2512442" y="951299"/>
                  </a:cubicBezTo>
                  <a:lnTo>
                    <a:pt x="29611" y="951299"/>
                  </a:lnTo>
                  <a:cubicBezTo>
                    <a:pt x="21758" y="951299"/>
                    <a:pt x="14226" y="948179"/>
                    <a:pt x="8673" y="942626"/>
                  </a:cubicBezTo>
                  <a:cubicBezTo>
                    <a:pt x="3120" y="937073"/>
                    <a:pt x="0" y="929541"/>
                    <a:pt x="0" y="921688"/>
                  </a:cubicBezTo>
                  <a:lnTo>
                    <a:pt x="0" y="29611"/>
                  </a:lnTo>
                  <a:cubicBezTo>
                    <a:pt x="0" y="21758"/>
                    <a:pt x="3120" y="14226"/>
                    <a:pt x="8673" y="8673"/>
                  </a:cubicBezTo>
                  <a:cubicBezTo>
                    <a:pt x="14226" y="3120"/>
                    <a:pt x="21758" y="0"/>
                    <a:pt x="29611" y="0"/>
                  </a:cubicBezTo>
                  <a:close/>
                </a:path>
              </a:pathLst>
            </a:custGeom>
            <a:solidFill>
              <a:srgbClr val="ED783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542052" cy="9893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532427" y="1430396"/>
            <a:ext cx="11223146" cy="1863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98"/>
              </a:lnSpc>
            </a:pPr>
            <a:r>
              <a:rPr lang="en-US" sz="12019" b="1">
                <a:solidFill>
                  <a:srgbClr val="476AE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Conclusion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44186" y="3888766"/>
            <a:ext cx="13399629" cy="4681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5"/>
              </a:lnSpc>
            </a:pPr>
            <a:r>
              <a:rPr lang="en-US" sz="2300" b="1" spc="13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Key Takeaways: </a:t>
            </a:r>
            <a:r>
              <a:rPr lang="en-US" sz="2300" spc="1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Leadership effectiveness in temporary organizations is strongly influenced by project characteristics. Transactional and transformational leadership styles serve distinct purposes but can complement each other depending on the project's needs.</a:t>
            </a:r>
          </a:p>
          <a:p>
            <a:pPr algn="l">
              <a:lnSpc>
                <a:spcPts val="3105"/>
              </a:lnSpc>
            </a:pPr>
            <a:endParaRPr lang="en-US" sz="2300" spc="138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105"/>
              </a:lnSpc>
            </a:pPr>
            <a:r>
              <a:rPr lang="en-US" sz="2300" b="1" spc="13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Practical Implications: </a:t>
            </a:r>
            <a:r>
              <a:rPr lang="en-US" sz="2300" spc="1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Project managers must evaluate project traits to tailor leadership strategies effectively. Emphasizing clear goals, promoting creativity, and inspiring team commitment are critical for success.</a:t>
            </a:r>
          </a:p>
          <a:p>
            <a:pPr algn="l">
              <a:lnSpc>
                <a:spcPts val="3105"/>
              </a:lnSpc>
            </a:pPr>
            <a:endParaRPr lang="en-US" sz="2300" spc="138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3105"/>
              </a:lnSpc>
              <a:spcBef>
                <a:spcPct val="0"/>
              </a:spcBef>
            </a:pPr>
            <a:r>
              <a:rPr lang="en-US" sz="2300" b="1" spc="13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Path Forward: </a:t>
            </a:r>
            <a:r>
              <a:rPr lang="en-US" sz="2300" spc="1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study highlights the need for extensive empirical research to validate the proposed model and refine its hypotheses, enabling better insights into leadership dynamics in temporary settings.</a:t>
            </a:r>
          </a:p>
        </p:txBody>
      </p:sp>
      <p:sp>
        <p:nvSpPr>
          <p:cNvPr id="11" name="Freeform 11"/>
          <p:cNvSpPr/>
          <p:nvPr/>
        </p:nvSpPr>
        <p:spPr>
          <a:xfrm>
            <a:off x="539615" y="8939197"/>
            <a:ext cx="978171" cy="638206"/>
          </a:xfrm>
          <a:custGeom>
            <a:avLst/>
            <a:gdLst/>
            <a:ahLst/>
            <a:cxnLst/>
            <a:rect l="l" t="t" r="r" b="b"/>
            <a:pathLst>
              <a:path w="978171" h="638206">
                <a:moveTo>
                  <a:pt x="0" y="0"/>
                </a:moveTo>
                <a:lnTo>
                  <a:pt x="978170" y="0"/>
                </a:lnTo>
                <a:lnTo>
                  <a:pt x="978170" y="638206"/>
                </a:lnTo>
                <a:lnTo>
                  <a:pt x="0" y="6382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490781" r="-417333" b="-978338"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2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6910" y="-3701387"/>
            <a:ext cx="18541820" cy="18588291"/>
          </a:xfrm>
          <a:custGeom>
            <a:avLst/>
            <a:gdLst/>
            <a:ahLst/>
            <a:cxnLst/>
            <a:rect l="l" t="t" r="r" b="b"/>
            <a:pathLst>
              <a:path w="18541820" h="18588291">
                <a:moveTo>
                  <a:pt x="0" y="0"/>
                </a:moveTo>
                <a:lnTo>
                  <a:pt x="18541820" y="0"/>
                </a:lnTo>
                <a:lnTo>
                  <a:pt x="18541820" y="18588291"/>
                </a:lnTo>
                <a:lnTo>
                  <a:pt x="0" y="185882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51750" y="8620094"/>
            <a:ext cx="978171" cy="638206"/>
          </a:xfrm>
          <a:custGeom>
            <a:avLst/>
            <a:gdLst/>
            <a:ahLst/>
            <a:cxnLst/>
            <a:rect l="l" t="t" r="r" b="b"/>
            <a:pathLst>
              <a:path w="978171" h="638206">
                <a:moveTo>
                  <a:pt x="0" y="0"/>
                </a:moveTo>
                <a:lnTo>
                  <a:pt x="978170" y="0"/>
                </a:lnTo>
                <a:lnTo>
                  <a:pt x="978170" y="638206"/>
                </a:lnTo>
                <a:lnTo>
                  <a:pt x="0" y="6382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90781" r="-417333" b="-978338"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2836686" y="760140"/>
            <a:ext cx="625804" cy="2439335"/>
          </a:xfrm>
          <a:custGeom>
            <a:avLst/>
            <a:gdLst/>
            <a:ahLst/>
            <a:cxnLst/>
            <a:rect l="l" t="t" r="r" b="b"/>
            <a:pathLst>
              <a:path w="625804" h="2439335">
                <a:moveTo>
                  <a:pt x="0" y="0"/>
                </a:moveTo>
                <a:lnTo>
                  <a:pt x="625804" y="0"/>
                </a:lnTo>
                <a:lnTo>
                  <a:pt x="625804" y="2439336"/>
                </a:lnTo>
                <a:lnTo>
                  <a:pt x="0" y="24393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38762" r="-787970" b="-63175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699858" y="2046538"/>
            <a:ext cx="4577474" cy="6892659"/>
          </a:xfrm>
          <a:custGeom>
            <a:avLst/>
            <a:gdLst/>
            <a:ahLst/>
            <a:cxnLst/>
            <a:rect l="l" t="t" r="r" b="b"/>
            <a:pathLst>
              <a:path w="4577474" h="6892659">
                <a:moveTo>
                  <a:pt x="0" y="0"/>
                </a:moveTo>
                <a:lnTo>
                  <a:pt x="4577474" y="0"/>
                </a:lnTo>
                <a:lnTo>
                  <a:pt x="4577474" y="6892659"/>
                </a:lnTo>
                <a:lnTo>
                  <a:pt x="0" y="68926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112673" y="2860768"/>
            <a:ext cx="11875922" cy="4498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48"/>
              </a:lnSpc>
            </a:pPr>
            <a:r>
              <a:rPr lang="en-US" sz="16328" b="1">
                <a:solidFill>
                  <a:srgbClr val="476AE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Thank You</a:t>
            </a:r>
          </a:p>
        </p:txBody>
      </p:sp>
      <p:sp>
        <p:nvSpPr>
          <p:cNvPr id="7" name="Freeform 7"/>
          <p:cNvSpPr/>
          <p:nvPr/>
        </p:nvSpPr>
        <p:spPr>
          <a:xfrm>
            <a:off x="16281129" y="1028700"/>
            <a:ext cx="978171" cy="638206"/>
          </a:xfrm>
          <a:custGeom>
            <a:avLst/>
            <a:gdLst/>
            <a:ahLst/>
            <a:cxnLst/>
            <a:rect l="l" t="t" r="r" b="b"/>
            <a:pathLst>
              <a:path w="978171" h="638206">
                <a:moveTo>
                  <a:pt x="0" y="0"/>
                </a:moveTo>
                <a:lnTo>
                  <a:pt x="978171" y="0"/>
                </a:lnTo>
                <a:lnTo>
                  <a:pt x="978171" y="638206"/>
                </a:lnTo>
                <a:lnTo>
                  <a:pt x="0" y="6382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90781" r="-417333" b="-978338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882</Words>
  <Application>Microsoft Office PowerPoint</Application>
  <PresentationFormat>Custom</PresentationFormat>
  <Paragraphs>125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Agrandir Wide Bold</vt:lpstr>
      <vt:lpstr>Calibri</vt:lpstr>
      <vt:lpstr>Canva Sans</vt:lpstr>
      <vt:lpstr>Canva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LS Presentation</dc:title>
  <cp:lastModifiedBy>Aleena Abid</cp:lastModifiedBy>
  <cp:revision>2</cp:revision>
  <dcterms:created xsi:type="dcterms:W3CDTF">2006-08-16T00:00:00Z</dcterms:created>
  <dcterms:modified xsi:type="dcterms:W3CDTF">2025-02-17T06:22:50Z</dcterms:modified>
  <dc:identifier>DAGdMJ553GQ</dc:identifier>
</cp:coreProperties>
</file>