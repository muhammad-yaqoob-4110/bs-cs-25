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League Spartan" charset="1" panose="00000800000000000000"/>
      <p:regular r:id="rId28"/>
    </p:embeddedFont>
    <p:embeddedFont>
      <p:font typeface="Glacial Indifference Bold" charset="1" panose="00000800000000000000"/>
      <p:regular r:id="rId29"/>
    </p:embeddedFont>
    <p:embeddedFont>
      <p:font typeface="Glacial Indifference" charset="1" panose="00000000000000000000"/>
      <p:regular r:id="rId30"/>
    </p:embeddedFont>
    <p:embeddedFont>
      <p:font typeface="Roboto" charset="1" panose="02000000000000000000"/>
      <p:regular r:id="rId31"/>
    </p:embeddedFont>
    <p:embeddedFont>
      <p:font typeface="Open Sans Bold" charset="1" panose="00000000000000000000"/>
      <p:regular r:id="rId32"/>
    </p:embeddedFont>
    <p:embeddedFont>
      <p:font typeface="Open Sans" charset="1" panose="00000000000000000000"/>
      <p:regular r:id="rId33"/>
    </p:embeddedFont>
    <p:embeddedFont>
      <p:font typeface="Ubuntu Bold" charset="1" panose="020B0804030602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01894">
            <a:off x="-320385" y="5367056"/>
            <a:ext cx="19259568" cy="9839888"/>
          </a:xfrm>
          <a:custGeom>
            <a:avLst/>
            <a:gdLst/>
            <a:ahLst/>
            <a:cxnLst/>
            <a:rect r="r" b="b" t="t" l="l"/>
            <a:pathLst>
              <a:path h="9839888" w="19259568">
                <a:moveTo>
                  <a:pt x="19259568" y="0"/>
                </a:moveTo>
                <a:lnTo>
                  <a:pt x="0" y="0"/>
                </a:lnTo>
                <a:lnTo>
                  <a:pt x="0" y="9839888"/>
                </a:lnTo>
                <a:lnTo>
                  <a:pt x="19259568" y="9839888"/>
                </a:lnTo>
                <a:lnTo>
                  <a:pt x="192595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38418" y="1328791"/>
            <a:ext cx="15211164" cy="423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OF TRANSFORMATIONAL AND SERVANT LEADERSHIP ON ORGANIZATIONAL PERFORMANCE:</a:t>
            </a:r>
          </a:p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 COMPARATIVE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56194" y="6494703"/>
            <a:ext cx="12375613" cy="124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 spc="24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Authors</a:t>
            </a:r>
            <a:r>
              <a:rPr lang="en-US" sz="3568" spc="24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Ali Iftikhar Choudhary, Syed Azeem Akhtar &amp; Arshad Zaheer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01894">
            <a:off x="-320385" y="5367056"/>
            <a:ext cx="19259568" cy="9839888"/>
          </a:xfrm>
          <a:custGeom>
            <a:avLst/>
            <a:gdLst/>
            <a:ahLst/>
            <a:cxnLst/>
            <a:rect r="r" b="b" t="t" l="l"/>
            <a:pathLst>
              <a:path h="9839888" w="19259568">
                <a:moveTo>
                  <a:pt x="19259568" y="0"/>
                </a:moveTo>
                <a:lnTo>
                  <a:pt x="0" y="0"/>
                </a:lnTo>
                <a:lnTo>
                  <a:pt x="0" y="9839888"/>
                </a:lnTo>
                <a:lnTo>
                  <a:pt x="19259568" y="9839888"/>
                </a:lnTo>
                <a:lnTo>
                  <a:pt x="192595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6837" y="1717953"/>
            <a:ext cx="7657124" cy="8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b="true" sz="5218" spc="36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PRESENTED BY: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56916" y="3137989"/>
            <a:ext cx="9775210" cy="242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sz="3468" spc="2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Azman Shakir                          2021-CS-176</a:t>
            </a:r>
          </a:p>
          <a:p>
            <a:pPr algn="l">
              <a:lnSpc>
                <a:spcPts val="4855"/>
              </a:lnSpc>
            </a:pPr>
            <a:r>
              <a:rPr lang="en-US" sz="3468" spc="2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Laiba Arif                                2021-CS-173</a:t>
            </a:r>
          </a:p>
          <a:p>
            <a:pPr algn="l">
              <a:lnSpc>
                <a:spcPts val="4855"/>
              </a:lnSpc>
            </a:pPr>
            <a:r>
              <a:rPr lang="en-US" sz="3468" spc="2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Saqib Shahzad                        2021-CS-187</a:t>
            </a:r>
          </a:p>
          <a:p>
            <a:pPr algn="l">
              <a:lnSpc>
                <a:spcPts val="4855"/>
              </a:lnSpc>
            </a:pPr>
            <a:r>
              <a:rPr lang="en-US" sz="3468" spc="2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Nasir Kamal                            2021-CS-192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6837" y="6184309"/>
            <a:ext cx="7657124" cy="8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b="true" sz="5218" spc="36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PRESENTED TO: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02788" y="7605615"/>
            <a:ext cx="7871987" cy="59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sz="3468" spc="2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Ms. Samina Yaqub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7082">
            <a:off x="8740063" y="-236514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6" y="0"/>
                </a:lnTo>
                <a:lnTo>
                  <a:pt x="11863616" y="6061229"/>
                </a:lnTo>
                <a:lnTo>
                  <a:pt x="0" y="6061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8063882" y="-4173210"/>
            <a:ext cx="1343575" cy="14941562"/>
            <a:chOff x="0" y="0"/>
            <a:chExt cx="744892" cy="8283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4892" cy="8283759"/>
            </a:xfrm>
            <a:custGeom>
              <a:avLst/>
              <a:gdLst/>
              <a:ahLst/>
              <a:cxnLst/>
              <a:rect r="r" b="b" t="t" l="l"/>
              <a:pathLst>
                <a:path h="8283759" w="744892">
                  <a:moveTo>
                    <a:pt x="248432" y="8264691"/>
                  </a:moveTo>
                  <a:cubicBezTo>
                    <a:pt x="286620" y="8276204"/>
                    <a:pt x="330036" y="8283759"/>
                    <a:pt x="372647" y="8283759"/>
                  </a:cubicBezTo>
                  <a:cubicBezTo>
                    <a:pt x="415259" y="8283759"/>
                    <a:pt x="456262" y="8277282"/>
                    <a:pt x="494048" y="8265769"/>
                  </a:cubicBezTo>
                  <a:cubicBezTo>
                    <a:pt x="494853" y="8265409"/>
                    <a:pt x="495657" y="8265409"/>
                    <a:pt x="496461" y="8265050"/>
                  </a:cubicBezTo>
                  <a:cubicBezTo>
                    <a:pt x="638364" y="8218994"/>
                    <a:pt x="742882" y="8097381"/>
                    <a:pt x="744892" y="7789307"/>
                  </a:cubicBezTo>
                  <a:lnTo>
                    <a:pt x="744892" y="0"/>
                  </a:lnTo>
                  <a:lnTo>
                    <a:pt x="0" y="0"/>
                  </a:lnTo>
                  <a:lnTo>
                    <a:pt x="0" y="7783526"/>
                  </a:lnTo>
                  <a:cubicBezTo>
                    <a:pt x="2010" y="8098099"/>
                    <a:pt x="104920" y="8219715"/>
                    <a:pt x="248432" y="82646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47675"/>
              <a:ext cx="744892" cy="860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8075172" y="-2317050"/>
            <a:ext cx="1320995" cy="14941562"/>
            <a:chOff x="0" y="0"/>
            <a:chExt cx="732373" cy="828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373" cy="8283759"/>
            </a:xfrm>
            <a:custGeom>
              <a:avLst/>
              <a:gdLst/>
              <a:ahLst/>
              <a:cxnLst/>
              <a:rect r="r" b="b" t="t" l="l"/>
              <a:pathLst>
                <a:path h="8283759" w="732373">
                  <a:moveTo>
                    <a:pt x="244256" y="8264691"/>
                  </a:moveTo>
                  <a:cubicBezTo>
                    <a:pt x="281803" y="8276204"/>
                    <a:pt x="324489" y="8283759"/>
                    <a:pt x="366384" y="8283759"/>
                  </a:cubicBezTo>
                  <a:cubicBezTo>
                    <a:pt x="408280" y="8283759"/>
                    <a:pt x="448594" y="8277282"/>
                    <a:pt x="485745" y="8265769"/>
                  </a:cubicBezTo>
                  <a:cubicBezTo>
                    <a:pt x="486537" y="8265409"/>
                    <a:pt x="487327" y="8265409"/>
                    <a:pt x="488117" y="8265050"/>
                  </a:cubicBezTo>
                  <a:cubicBezTo>
                    <a:pt x="627636" y="8218994"/>
                    <a:pt x="730397" y="8097381"/>
                    <a:pt x="732373" y="7789307"/>
                  </a:cubicBezTo>
                  <a:lnTo>
                    <a:pt x="732373" y="0"/>
                  </a:lnTo>
                  <a:lnTo>
                    <a:pt x="0" y="0"/>
                  </a:lnTo>
                  <a:lnTo>
                    <a:pt x="0" y="7783526"/>
                  </a:lnTo>
                  <a:cubicBezTo>
                    <a:pt x="1976" y="8098099"/>
                    <a:pt x="103157" y="8219715"/>
                    <a:pt x="244256" y="82646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47675"/>
              <a:ext cx="732373" cy="860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8140082" y="-537090"/>
            <a:ext cx="1191175" cy="14941562"/>
            <a:chOff x="0" y="0"/>
            <a:chExt cx="660400" cy="8283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" cy="8283759"/>
            </a:xfrm>
            <a:custGeom>
              <a:avLst/>
              <a:gdLst/>
              <a:ahLst/>
              <a:cxnLst/>
              <a:rect r="r" b="b" t="t" l="l"/>
              <a:pathLst>
                <a:path h="8283759" w="660400">
                  <a:moveTo>
                    <a:pt x="220252" y="8264691"/>
                  </a:moveTo>
                  <a:cubicBezTo>
                    <a:pt x="254109" y="8276204"/>
                    <a:pt x="292600" y="8283759"/>
                    <a:pt x="330378" y="8283759"/>
                  </a:cubicBezTo>
                  <a:cubicBezTo>
                    <a:pt x="368157" y="8283759"/>
                    <a:pt x="404509" y="8277282"/>
                    <a:pt x="438009" y="8265769"/>
                  </a:cubicBezTo>
                  <a:cubicBezTo>
                    <a:pt x="438723" y="8265409"/>
                    <a:pt x="439435" y="8265409"/>
                    <a:pt x="440148" y="8265050"/>
                  </a:cubicBezTo>
                  <a:cubicBezTo>
                    <a:pt x="565955" y="8218994"/>
                    <a:pt x="658618" y="8097381"/>
                    <a:pt x="660400" y="778930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83526"/>
                  </a:lnTo>
                  <a:cubicBezTo>
                    <a:pt x="1782" y="8098099"/>
                    <a:pt x="93019" y="8219715"/>
                    <a:pt x="220252" y="82646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47675"/>
              <a:ext cx="660400" cy="860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4889" y="483235"/>
            <a:ext cx="14941562" cy="1699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29"/>
              </a:lnSpc>
            </a:pPr>
            <a:r>
              <a:rPr lang="en-US" b="true" sz="9949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53231" y="2785126"/>
            <a:ext cx="13048446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3231" y="4641286"/>
            <a:ext cx="13995004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3231" y="6414304"/>
            <a:ext cx="13048446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Analysis &amp; Findindgs</a:t>
            </a:r>
          </a:p>
        </p:txBody>
      </p:sp>
      <p:grpSp>
        <p:nvGrpSpPr>
          <p:cNvPr name="Group 16" id="16"/>
          <p:cNvGrpSpPr/>
          <p:nvPr/>
        </p:nvGrpSpPr>
        <p:grpSpPr>
          <a:xfrm rot="-5400000">
            <a:off x="8140082" y="1191932"/>
            <a:ext cx="1191175" cy="14941562"/>
            <a:chOff x="0" y="0"/>
            <a:chExt cx="660400" cy="828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8283759"/>
            </a:xfrm>
            <a:custGeom>
              <a:avLst/>
              <a:gdLst/>
              <a:ahLst/>
              <a:cxnLst/>
              <a:rect r="r" b="b" t="t" l="l"/>
              <a:pathLst>
                <a:path h="8283759" w="660400">
                  <a:moveTo>
                    <a:pt x="220252" y="8264691"/>
                  </a:moveTo>
                  <a:cubicBezTo>
                    <a:pt x="254109" y="8276204"/>
                    <a:pt x="292600" y="8283759"/>
                    <a:pt x="330378" y="8283759"/>
                  </a:cubicBezTo>
                  <a:cubicBezTo>
                    <a:pt x="368157" y="8283759"/>
                    <a:pt x="404509" y="8277282"/>
                    <a:pt x="438009" y="8265769"/>
                  </a:cubicBezTo>
                  <a:cubicBezTo>
                    <a:pt x="438723" y="8265409"/>
                    <a:pt x="439435" y="8265409"/>
                    <a:pt x="440148" y="8265050"/>
                  </a:cubicBezTo>
                  <a:cubicBezTo>
                    <a:pt x="565955" y="8218994"/>
                    <a:pt x="658618" y="8097381"/>
                    <a:pt x="660400" y="778930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783526"/>
                  </a:lnTo>
                  <a:cubicBezTo>
                    <a:pt x="1782" y="8098099"/>
                    <a:pt x="93019" y="8219715"/>
                    <a:pt x="220252" y="82646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47675"/>
              <a:ext cx="660400" cy="860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953231" y="8150267"/>
            <a:ext cx="12532015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263733"/>
            <a:chOff x="0" y="0"/>
            <a:chExt cx="2833290" cy="970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970416"/>
            </a:xfrm>
            <a:custGeom>
              <a:avLst/>
              <a:gdLst/>
              <a:ahLst/>
              <a:cxnLst/>
              <a:rect r="r" b="b" t="t" l="l"/>
              <a:pathLst>
                <a:path h="970416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970416"/>
                  </a:lnTo>
                  <a:lnTo>
                    <a:pt x="0" y="970416"/>
                  </a:lnTo>
                  <a:close/>
                </a:path>
              </a:pathLst>
            </a:custGeom>
            <a:blipFill>
              <a:blip r:embed="rId2"/>
              <a:stretch>
                <a:fillRect l="0" t="-47322" r="0" b="-473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86564" y="3131866"/>
            <a:ext cx="15801436" cy="6743689"/>
            <a:chOff x="0" y="0"/>
            <a:chExt cx="4161695" cy="17761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61695" cy="1776116"/>
            </a:xfrm>
            <a:custGeom>
              <a:avLst/>
              <a:gdLst/>
              <a:ahLst/>
              <a:cxnLst/>
              <a:rect r="r" b="b" t="t" l="l"/>
              <a:pathLst>
                <a:path h="1776116" w="4161695">
                  <a:moveTo>
                    <a:pt x="0" y="0"/>
                  </a:moveTo>
                  <a:lnTo>
                    <a:pt x="4161695" y="0"/>
                  </a:lnTo>
                  <a:lnTo>
                    <a:pt x="4161695" y="1776116"/>
                  </a:lnTo>
                  <a:lnTo>
                    <a:pt x="0" y="1776116"/>
                  </a:lnTo>
                  <a:close/>
                </a:path>
              </a:pathLst>
            </a:custGeom>
            <a:solidFill>
              <a:srgbClr val="000000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95275"/>
              <a:ext cx="4161695" cy="2071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10217"/>
            <a:ext cx="10931754" cy="11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9"/>
              </a:lnSpc>
            </a:pPr>
            <a:r>
              <a:rPr lang="en-US" b="true" sz="67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85885" y="3114078"/>
            <a:ext cx="1105682" cy="8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9"/>
              </a:lnSpc>
            </a:pPr>
            <a:r>
              <a:rPr lang="en-US" sz="5381" spc="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96726" y="3114078"/>
            <a:ext cx="1105682" cy="8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9"/>
              </a:lnSpc>
            </a:pPr>
            <a:r>
              <a:rPr lang="en-US" sz="5381" spc="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85885" y="6720039"/>
            <a:ext cx="1105682" cy="8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9"/>
              </a:lnSpc>
            </a:pPr>
            <a:r>
              <a:rPr lang="en-US" sz="5381" spc="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5885" y="4165282"/>
            <a:ext cx="6301397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 spc="-1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 &amp; Purpose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96726" y="4165282"/>
            <a:ext cx="573448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85885" y="7767614"/>
            <a:ext cx="6306436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Transformational Leadership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960454" y="6720039"/>
            <a:ext cx="1105682" cy="8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9"/>
              </a:lnSpc>
            </a:pPr>
            <a:r>
              <a:rPr lang="en-US" sz="5381" spc="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24777" y="7767614"/>
            <a:ext cx="6306436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 of Transformational Leadership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81924" y="-274179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1669" y="801314"/>
            <a:ext cx="8279022" cy="117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 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969" y="3609540"/>
            <a:ext cx="1661633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Significance of Leadership in Organizations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969" y="6939752"/>
            <a:ext cx="1661633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Leadership Styles Matter?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69" y="4435947"/>
            <a:ext cx="16616331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Leadership shapes organizational culture, performance, and employee engagement.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Different leadership styles influence decision-making and productivity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969" y="7945120"/>
            <a:ext cx="16616331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Impact employee motivation, retention, and innovation.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Influence workplace culture and long-term growth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81924" y="-274179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1669" y="801314"/>
            <a:ext cx="8279022" cy="117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Research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969" y="3609540"/>
            <a:ext cx="1661633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This Study?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969" y="6107992"/>
            <a:ext cx="1661633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Research Questions: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69" y="4435947"/>
            <a:ext cx="16616331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Explore leadership’s role in organizational performance.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Assess how organizational learning mediates leadership effectiveness.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969" y="6935398"/>
            <a:ext cx="16616331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Which leadership style best enhances performance?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does organizational learning influence leadership effectiveness?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do Transformational &amp; Servant Leadership differ in impact?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81924" y="-274179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2969" y="283401"/>
            <a:ext cx="8279022" cy="235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Transformational Leadership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3825" y="5625937"/>
            <a:ext cx="1661633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Components: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3825" y="3364975"/>
            <a:ext cx="16616331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leadership style that inspires and motivates employees to exceed expectations.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Focuses on vision, innovation, and personal growth.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3825" y="6434292"/>
            <a:ext cx="16616331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Idealized Influence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Leaders act as role models with strong ethics and vision.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Individualized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Consideration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Provide personalized support and mentorship.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Intellectual Stimulation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Encourage innovation and critical thinking.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19107"/>
            <a:ext cx="12073260" cy="3083943"/>
            <a:chOff x="0" y="0"/>
            <a:chExt cx="3179789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9788" cy="812232"/>
            </a:xfrm>
            <a:custGeom>
              <a:avLst/>
              <a:gdLst/>
              <a:ahLst/>
              <a:cxnLst/>
              <a:rect r="r" b="b" t="t" l="l"/>
              <a:pathLst>
                <a:path h="812232" w="3179788">
                  <a:moveTo>
                    <a:pt x="0" y="0"/>
                  </a:moveTo>
                  <a:lnTo>
                    <a:pt x="3179788" y="0"/>
                  </a:lnTo>
                  <a:lnTo>
                    <a:pt x="3179788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3179789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81924" y="-274179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3825" y="402508"/>
            <a:ext cx="14113733" cy="235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Impact of Transformational Leadership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77" y="3695700"/>
            <a:ext cx="17140523" cy="556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Drives Innovation</a:t>
            </a: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Encourages employees to think creatively.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Boosts Engagement</a:t>
            </a: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Creates a culture of trust and motivation.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Promotes Learning</a:t>
            </a: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Fosters continuous skill development.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Improves Efficiency</a:t>
            </a: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Aligns employees with organizational goals.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81924" y="-274179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1669" y="801314"/>
            <a:ext cx="8279022" cy="117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Servant Leadership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834" y="3944620"/>
            <a:ext cx="16616331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leadership style where leaders </a:t>
            </a: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prioritize serving employees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before leading.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Focuses on employee well-being, growth, and ethical leadership.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Introduced by </a:t>
            </a: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Robert Greenleaf (1977)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emphasizing service over authority.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Encourages </a:t>
            </a: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trust, teamwork, and personal development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enhance performance.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81924" y="-274179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3267" y="283401"/>
            <a:ext cx="8279022" cy="235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Impact of Servant Leadership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834" y="3633748"/>
            <a:ext cx="16616331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Builds a trustworthy and ethical workplace, improving employee satisfaction.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Encourages open communication, boosting teamwork and engagement.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Increases employee retention and motivation, leading to higher productivity.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Motivates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culture of knowledge-sharing and collaboration.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Leads to sustainable business growth and customer satisfaction.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089423" cy="10287000"/>
            <a:chOff x="0" y="0"/>
            <a:chExt cx="134042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04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40424">
                  <a:moveTo>
                    <a:pt x="0" y="0"/>
                  </a:moveTo>
                  <a:lnTo>
                    <a:pt x="1340424" y="0"/>
                  </a:lnTo>
                  <a:lnTo>
                    <a:pt x="13404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1340424" cy="300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53663" y="-241736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453259" y="568013"/>
          <a:ext cx="12550560" cy="9150975"/>
        </p:xfrm>
        <a:graphic>
          <a:graphicData uri="http://schemas.openxmlformats.org/drawingml/2006/table">
            <a:tbl>
              <a:tblPr/>
              <a:tblGrid>
                <a:gridCol w="3180010"/>
                <a:gridCol w="4573961"/>
                <a:gridCol w="4796590"/>
              </a:tblGrid>
              <a:tr h="1817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Servant Leadership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Transformational Leadership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17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Focus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Employee well-being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Vision &amp; organizational goals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7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Service-oriented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Inspiration &amp; motivation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7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Primary Goal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Employee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Organizational success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7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Leadership Style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Supportive &amp; humble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Visionary &amp; charismatic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72177" y="2207492"/>
            <a:ext cx="4745069" cy="575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5"/>
              </a:lnSpc>
            </a:pPr>
            <a:r>
              <a:rPr lang="en-US" sz="6568" b="true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Transfor-</a:t>
            </a:r>
          </a:p>
          <a:p>
            <a:pPr algn="l">
              <a:lnSpc>
                <a:spcPts val="9195"/>
              </a:lnSpc>
            </a:pPr>
            <a:r>
              <a:rPr lang="en-US" sz="6568" b="true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mation </a:t>
            </a:r>
          </a:p>
          <a:p>
            <a:pPr algn="ctr">
              <a:lnSpc>
                <a:spcPts val="9195"/>
              </a:lnSpc>
            </a:pPr>
            <a:r>
              <a:rPr lang="en-US" sz="6568" b="true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VS </a:t>
            </a:r>
          </a:p>
          <a:p>
            <a:pPr algn="l">
              <a:lnSpc>
                <a:spcPts val="9195"/>
              </a:lnSpc>
            </a:pPr>
            <a:r>
              <a:rPr lang="en-US" b="true" sz="6568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Servant Leadership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342654" y="-3030615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6" y="0"/>
                </a:lnTo>
                <a:lnTo>
                  <a:pt x="11863616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2375" y="873951"/>
            <a:ext cx="10073835" cy="117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Organizational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834" y="3944620"/>
            <a:ext cx="16616331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process of learning, sharing, and using knowledge to do better work.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companies adjust to change, create new ideas, and stay successful.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Encourages </a:t>
            </a: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teamwork and sharing knowledge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make better decisions.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Improves employee </a:t>
            </a: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skills, job happiness, and work efficiency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4889" y="3021346"/>
            <a:ext cx="4078901" cy="1343575"/>
            <a:chOff x="0" y="0"/>
            <a:chExt cx="1074279" cy="353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4279" cy="353863"/>
            </a:xfrm>
            <a:custGeom>
              <a:avLst/>
              <a:gdLst/>
              <a:ahLst/>
              <a:cxnLst/>
              <a:rect r="r" b="b" t="t" l="l"/>
              <a:pathLst>
                <a:path h="353863" w="1074279">
                  <a:moveTo>
                    <a:pt x="0" y="0"/>
                  </a:moveTo>
                  <a:lnTo>
                    <a:pt x="1074279" y="0"/>
                  </a:lnTo>
                  <a:lnTo>
                    <a:pt x="1074279" y="353863"/>
                  </a:lnTo>
                  <a:lnTo>
                    <a:pt x="0" y="3538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47675"/>
              <a:ext cx="1074279" cy="801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4889" y="4888796"/>
            <a:ext cx="4078901" cy="1305475"/>
            <a:chOff x="0" y="0"/>
            <a:chExt cx="1074279" cy="3438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4279" cy="343829"/>
            </a:xfrm>
            <a:custGeom>
              <a:avLst/>
              <a:gdLst/>
              <a:ahLst/>
              <a:cxnLst/>
              <a:rect r="r" b="b" t="t" l="l"/>
              <a:pathLst>
                <a:path h="343829" w="1074279">
                  <a:moveTo>
                    <a:pt x="0" y="0"/>
                  </a:moveTo>
                  <a:lnTo>
                    <a:pt x="1074279" y="0"/>
                  </a:lnTo>
                  <a:lnTo>
                    <a:pt x="1074279" y="343829"/>
                  </a:lnTo>
                  <a:lnTo>
                    <a:pt x="0" y="3438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47675"/>
              <a:ext cx="1074279" cy="791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4889" y="6756246"/>
            <a:ext cx="4078901" cy="1168595"/>
            <a:chOff x="0" y="0"/>
            <a:chExt cx="1074279" cy="307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4279" cy="307778"/>
            </a:xfrm>
            <a:custGeom>
              <a:avLst/>
              <a:gdLst/>
              <a:ahLst/>
              <a:cxnLst/>
              <a:rect r="r" b="b" t="t" l="l"/>
              <a:pathLst>
                <a:path h="307778" w="1074279">
                  <a:moveTo>
                    <a:pt x="0" y="0"/>
                  </a:moveTo>
                  <a:lnTo>
                    <a:pt x="1074279" y="0"/>
                  </a:lnTo>
                  <a:lnTo>
                    <a:pt x="1074279" y="307778"/>
                  </a:lnTo>
                  <a:lnTo>
                    <a:pt x="0" y="3077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47675"/>
              <a:ext cx="1074279" cy="755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737082">
            <a:off x="8740063" y="-236514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6" y="0"/>
                </a:lnTo>
                <a:lnTo>
                  <a:pt x="11863616" y="6061229"/>
                </a:lnTo>
                <a:lnTo>
                  <a:pt x="0" y="6061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841507" y="-1680922"/>
            <a:ext cx="1343575" cy="10748112"/>
            <a:chOff x="0" y="0"/>
            <a:chExt cx="744892" cy="59588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4892" cy="5958867"/>
            </a:xfrm>
            <a:custGeom>
              <a:avLst/>
              <a:gdLst/>
              <a:ahLst/>
              <a:cxnLst/>
              <a:rect r="r" b="b" t="t" l="l"/>
              <a:pathLst>
                <a:path h="5958867" w="744892">
                  <a:moveTo>
                    <a:pt x="248432" y="5939798"/>
                  </a:moveTo>
                  <a:cubicBezTo>
                    <a:pt x="286620" y="5951312"/>
                    <a:pt x="330036" y="5958867"/>
                    <a:pt x="372647" y="5958867"/>
                  </a:cubicBezTo>
                  <a:cubicBezTo>
                    <a:pt x="415259" y="5958867"/>
                    <a:pt x="456262" y="5952390"/>
                    <a:pt x="494048" y="5940876"/>
                  </a:cubicBezTo>
                  <a:cubicBezTo>
                    <a:pt x="494853" y="5940517"/>
                    <a:pt x="495657" y="5940517"/>
                    <a:pt x="496461" y="5940157"/>
                  </a:cubicBezTo>
                  <a:cubicBezTo>
                    <a:pt x="638364" y="5894102"/>
                    <a:pt x="742882" y="5772488"/>
                    <a:pt x="744892" y="5516056"/>
                  </a:cubicBezTo>
                  <a:lnTo>
                    <a:pt x="744892" y="0"/>
                  </a:lnTo>
                  <a:lnTo>
                    <a:pt x="0" y="0"/>
                  </a:lnTo>
                  <a:lnTo>
                    <a:pt x="0" y="5511963"/>
                  </a:lnTo>
                  <a:cubicBezTo>
                    <a:pt x="2010" y="5773207"/>
                    <a:pt x="104920" y="5894822"/>
                    <a:pt x="248432" y="59397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47675"/>
              <a:ext cx="744892" cy="627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0852797" y="175238"/>
            <a:ext cx="1320995" cy="10748112"/>
            <a:chOff x="0" y="0"/>
            <a:chExt cx="732373" cy="59588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2373" cy="5958867"/>
            </a:xfrm>
            <a:custGeom>
              <a:avLst/>
              <a:gdLst/>
              <a:ahLst/>
              <a:cxnLst/>
              <a:rect r="r" b="b" t="t" l="l"/>
              <a:pathLst>
                <a:path h="5958867" w="732373">
                  <a:moveTo>
                    <a:pt x="244256" y="5939798"/>
                  </a:moveTo>
                  <a:cubicBezTo>
                    <a:pt x="281803" y="5951312"/>
                    <a:pt x="324489" y="5958867"/>
                    <a:pt x="366384" y="5958867"/>
                  </a:cubicBezTo>
                  <a:cubicBezTo>
                    <a:pt x="408280" y="5958867"/>
                    <a:pt x="448594" y="5952390"/>
                    <a:pt x="485745" y="5940876"/>
                  </a:cubicBezTo>
                  <a:cubicBezTo>
                    <a:pt x="486537" y="5940517"/>
                    <a:pt x="487327" y="5940517"/>
                    <a:pt x="488117" y="5940157"/>
                  </a:cubicBezTo>
                  <a:cubicBezTo>
                    <a:pt x="627636" y="5894102"/>
                    <a:pt x="730397" y="5772488"/>
                    <a:pt x="732373" y="5516056"/>
                  </a:cubicBezTo>
                  <a:lnTo>
                    <a:pt x="732373" y="0"/>
                  </a:lnTo>
                  <a:lnTo>
                    <a:pt x="0" y="0"/>
                  </a:lnTo>
                  <a:lnTo>
                    <a:pt x="0" y="5511963"/>
                  </a:lnTo>
                  <a:cubicBezTo>
                    <a:pt x="1976" y="5773207"/>
                    <a:pt x="103157" y="5894822"/>
                    <a:pt x="244256" y="59397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47675"/>
              <a:ext cx="732373" cy="627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10917707" y="1955197"/>
            <a:ext cx="1191175" cy="10748112"/>
            <a:chOff x="0" y="0"/>
            <a:chExt cx="660400" cy="59588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" cy="5958867"/>
            </a:xfrm>
            <a:custGeom>
              <a:avLst/>
              <a:gdLst/>
              <a:ahLst/>
              <a:cxnLst/>
              <a:rect r="r" b="b" t="t" l="l"/>
              <a:pathLst>
                <a:path h="5958867" w="660400">
                  <a:moveTo>
                    <a:pt x="220252" y="5939798"/>
                  </a:moveTo>
                  <a:cubicBezTo>
                    <a:pt x="254109" y="5951312"/>
                    <a:pt x="292600" y="5958867"/>
                    <a:pt x="330378" y="5958867"/>
                  </a:cubicBezTo>
                  <a:cubicBezTo>
                    <a:pt x="368157" y="5958867"/>
                    <a:pt x="404509" y="5952390"/>
                    <a:pt x="438009" y="5940876"/>
                  </a:cubicBezTo>
                  <a:cubicBezTo>
                    <a:pt x="438723" y="5940517"/>
                    <a:pt x="439435" y="5940517"/>
                    <a:pt x="440148" y="5940157"/>
                  </a:cubicBezTo>
                  <a:cubicBezTo>
                    <a:pt x="565955" y="5894102"/>
                    <a:pt x="658618" y="5772488"/>
                    <a:pt x="660400" y="5516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511963"/>
                  </a:lnTo>
                  <a:cubicBezTo>
                    <a:pt x="1782" y="5773207"/>
                    <a:pt x="93019" y="5894822"/>
                    <a:pt x="220252" y="59397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47675"/>
              <a:ext cx="660400" cy="627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71669" y="514366"/>
            <a:ext cx="13000202" cy="191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9"/>
              </a:lnSpc>
            </a:pPr>
            <a:r>
              <a:rPr lang="en-US" b="true" sz="5549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Organizational Learning is Important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8648" y="3115385"/>
            <a:ext cx="3891384" cy="113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</a:pPr>
            <a:r>
              <a:rPr lang="en-US" sz="3600" spc="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employees grow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1399" y="4963785"/>
            <a:ext cx="3765881" cy="113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</a:pPr>
            <a:r>
              <a:rPr lang="en-US" sz="3600" spc="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Encourages new ideas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8648" y="6762795"/>
            <a:ext cx="3828632" cy="113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</a:pPr>
            <a:r>
              <a:rPr lang="en-US" sz="3600" spc="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Improves teamwork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32621" y="3353091"/>
            <a:ext cx="938631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Learning new skills improves performance.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0138" y="5209251"/>
            <a:ext cx="1006721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Innovation helps the company stay ahead.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20138" y="7011791"/>
            <a:ext cx="938631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Sharing knowledge builds a stronger team.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64889" y="8462687"/>
            <a:ext cx="4078901" cy="1191175"/>
            <a:chOff x="0" y="0"/>
            <a:chExt cx="1074279" cy="3137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4279" cy="313725"/>
            </a:xfrm>
            <a:custGeom>
              <a:avLst/>
              <a:gdLst/>
              <a:ahLst/>
              <a:cxnLst/>
              <a:rect r="r" b="b" t="t" l="l"/>
              <a:pathLst>
                <a:path h="313725" w="1074279">
                  <a:moveTo>
                    <a:pt x="0" y="0"/>
                  </a:moveTo>
                  <a:lnTo>
                    <a:pt x="1074279" y="0"/>
                  </a:lnTo>
                  <a:lnTo>
                    <a:pt x="1074279" y="313725"/>
                  </a:lnTo>
                  <a:lnTo>
                    <a:pt x="0" y="3137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47675"/>
              <a:ext cx="1074279" cy="76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10917707" y="3684219"/>
            <a:ext cx="1191175" cy="10748112"/>
            <a:chOff x="0" y="0"/>
            <a:chExt cx="660400" cy="595886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0400" cy="5958867"/>
            </a:xfrm>
            <a:custGeom>
              <a:avLst/>
              <a:gdLst/>
              <a:ahLst/>
              <a:cxnLst/>
              <a:rect r="r" b="b" t="t" l="l"/>
              <a:pathLst>
                <a:path h="5958867" w="660400">
                  <a:moveTo>
                    <a:pt x="220252" y="5939798"/>
                  </a:moveTo>
                  <a:cubicBezTo>
                    <a:pt x="254109" y="5951312"/>
                    <a:pt x="292600" y="5958867"/>
                    <a:pt x="330378" y="5958867"/>
                  </a:cubicBezTo>
                  <a:cubicBezTo>
                    <a:pt x="368157" y="5958867"/>
                    <a:pt x="404509" y="5952390"/>
                    <a:pt x="438009" y="5940876"/>
                  </a:cubicBezTo>
                  <a:cubicBezTo>
                    <a:pt x="438723" y="5940517"/>
                    <a:pt x="439435" y="5940517"/>
                    <a:pt x="440148" y="5940157"/>
                  </a:cubicBezTo>
                  <a:cubicBezTo>
                    <a:pt x="565955" y="5894102"/>
                    <a:pt x="658618" y="5772488"/>
                    <a:pt x="660400" y="5516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511963"/>
                  </a:lnTo>
                  <a:cubicBezTo>
                    <a:pt x="1782" y="5773207"/>
                    <a:pt x="93019" y="5894822"/>
                    <a:pt x="220252" y="59397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47675"/>
              <a:ext cx="660400" cy="627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888539" y="8443637"/>
            <a:ext cx="2831601" cy="113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</a:pPr>
            <a:r>
              <a:rPr lang="en-US" sz="3600" spc="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Prepares for change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20138" y="8724941"/>
            <a:ext cx="901482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Companies that learn can adapt quickly.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263733"/>
            <a:chOff x="0" y="0"/>
            <a:chExt cx="2833290" cy="970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970416"/>
            </a:xfrm>
            <a:custGeom>
              <a:avLst/>
              <a:gdLst/>
              <a:ahLst/>
              <a:cxnLst/>
              <a:rect r="r" b="b" t="t" l="l"/>
              <a:pathLst>
                <a:path h="970416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970416"/>
                  </a:lnTo>
                  <a:lnTo>
                    <a:pt x="0" y="970416"/>
                  </a:lnTo>
                  <a:close/>
                </a:path>
              </a:pathLst>
            </a:custGeom>
            <a:blipFill>
              <a:blip r:embed="rId2"/>
              <a:stretch>
                <a:fillRect l="0" t="-47322" r="0" b="-473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86564" y="3131866"/>
            <a:ext cx="15801436" cy="6743689"/>
            <a:chOff x="0" y="0"/>
            <a:chExt cx="4161695" cy="17761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61695" cy="1776116"/>
            </a:xfrm>
            <a:custGeom>
              <a:avLst/>
              <a:gdLst/>
              <a:ahLst/>
              <a:cxnLst/>
              <a:rect r="r" b="b" t="t" l="l"/>
              <a:pathLst>
                <a:path h="1776116" w="4161695">
                  <a:moveTo>
                    <a:pt x="0" y="0"/>
                  </a:moveTo>
                  <a:lnTo>
                    <a:pt x="4161695" y="0"/>
                  </a:lnTo>
                  <a:lnTo>
                    <a:pt x="4161695" y="1776116"/>
                  </a:lnTo>
                  <a:lnTo>
                    <a:pt x="0" y="1776116"/>
                  </a:lnTo>
                  <a:close/>
                </a:path>
              </a:pathLst>
            </a:custGeom>
            <a:solidFill>
              <a:srgbClr val="000000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95275"/>
              <a:ext cx="4161695" cy="2071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10217"/>
            <a:ext cx="10931754" cy="11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9"/>
              </a:lnSpc>
            </a:pPr>
            <a:r>
              <a:rPr lang="en-US" b="true" sz="67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 Hypothesis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85885" y="3114078"/>
            <a:ext cx="1105682" cy="8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9"/>
              </a:lnSpc>
            </a:pPr>
            <a:r>
              <a:rPr lang="en-US" sz="5381" spc="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96726" y="3114078"/>
            <a:ext cx="1105682" cy="8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9"/>
              </a:lnSpc>
            </a:pPr>
            <a:r>
              <a:rPr lang="en-US" sz="5381" spc="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85885" y="6720039"/>
            <a:ext cx="1105682" cy="84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9"/>
              </a:lnSpc>
            </a:pPr>
            <a:r>
              <a:rPr lang="en-US" sz="5381" spc="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5885" y="4165282"/>
            <a:ext cx="6301397" cy="188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Transformational leadership is positively related to organization learning.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96726" y="4165282"/>
            <a:ext cx="5734487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Organizational learning helps companies perform better.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85885" y="7767614"/>
            <a:ext cx="6306436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Servant leadership improves learning by creating a safe, supportive environment.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342654" y="-3030615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6" y="0"/>
                </a:lnTo>
                <a:lnTo>
                  <a:pt x="11863616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2375" y="873951"/>
            <a:ext cx="10073835" cy="117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834" y="3944620"/>
            <a:ext cx="16616331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Purpose: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Analyze leadership impact on organizational performance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Target Population: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Employees from hotels, telecom, and banking sector in Pakistan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 Approach: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Quantitative, survey-based study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Collectio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n: Structured questionnaire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Sample Size: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400 approached, 155 valid responses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Analysis Tools: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SPSS &amp; AMOS used for data processing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342654" y="-3030615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6" y="0"/>
                </a:lnTo>
                <a:lnTo>
                  <a:pt x="11863616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2375" y="873951"/>
            <a:ext cx="10073835" cy="117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Sampling &amp; Scale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834" y="3515995"/>
            <a:ext cx="16616331" cy="798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Sampling Method: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Non-probability judgment sampling (Experts &amp; professionals selected)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Measurement Scale: </a:t>
            </a: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Five-point Likert scale (1-Strongly Disagree to 5-Strongly Agree)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Scales Used: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Transformational Leadership – 4 items adapted from Morales et al. (2008)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Servant Leadership – 9 items taken from Jacobs (2006)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Organizational Learning – 4 items from Morales et al. (2008)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Organizational Performance – 4 items from Morales et al. (2008)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566210" cy="3083943"/>
            <a:chOff x="0" y="0"/>
            <a:chExt cx="2782870" cy="812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2870" cy="812232"/>
            </a:xfrm>
            <a:custGeom>
              <a:avLst/>
              <a:gdLst/>
              <a:ahLst/>
              <a:cxnLst/>
              <a:rect r="r" b="b" t="t" l="l"/>
              <a:pathLst>
                <a:path h="812232" w="2782870">
                  <a:moveTo>
                    <a:pt x="0" y="0"/>
                  </a:moveTo>
                  <a:lnTo>
                    <a:pt x="2782870" y="0"/>
                  </a:lnTo>
                  <a:lnTo>
                    <a:pt x="2782870" y="812232"/>
                  </a:lnTo>
                  <a:lnTo>
                    <a:pt x="0" y="8122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782870" cy="11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342654" y="-3030615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6" y="0"/>
                </a:lnTo>
                <a:lnTo>
                  <a:pt x="11863616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2375" y="873951"/>
            <a:ext cx="10073835" cy="117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9"/>
              </a:lnSpc>
            </a:pPr>
            <a:r>
              <a:rPr lang="en-US" b="true" sz="6649">
                <a:solidFill>
                  <a:srgbClr val="F7F3F2"/>
                </a:solidFill>
                <a:latin typeface="Ubuntu Bold"/>
                <a:ea typeface="Ubuntu Bold"/>
                <a:cs typeface="Ubuntu Bold"/>
                <a:sym typeface="Ubuntu Bold"/>
              </a:rPr>
              <a:t>Analysis &amp; Discussion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834" y="3944620"/>
            <a:ext cx="16616331" cy="66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Key Findings: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Both leadership styles improve organizational learning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Transformational Leadership has a stronger impact than Servant Leadership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Organizational learning directly improves performance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3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Correlation Results: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TL &amp; Organizational Learning: 0.664 (Moderate Positive)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 &amp; Organizational Learning: 0.580 (Moderate Positive)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 &amp; Performance: 0.617 (Strong Positive)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917246" cy="10287000"/>
            <a:chOff x="0" y="0"/>
            <a:chExt cx="12950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95077">
                  <a:moveTo>
                    <a:pt x="0" y="0"/>
                  </a:moveTo>
                  <a:lnTo>
                    <a:pt x="1295077" y="0"/>
                  </a:lnTo>
                  <a:lnTo>
                    <a:pt x="1295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1295077" cy="300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53663" y="-241736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06720" y="3517266"/>
            <a:ext cx="9021179" cy="6529078"/>
          </a:xfrm>
          <a:custGeom>
            <a:avLst/>
            <a:gdLst/>
            <a:ahLst/>
            <a:cxnLst/>
            <a:rect r="r" b="b" t="t" l="l"/>
            <a:pathLst>
              <a:path h="6529078" w="9021179">
                <a:moveTo>
                  <a:pt x="0" y="0"/>
                </a:moveTo>
                <a:lnTo>
                  <a:pt x="9021180" y="0"/>
                </a:lnTo>
                <a:lnTo>
                  <a:pt x="9021180" y="6529078"/>
                </a:lnTo>
                <a:lnTo>
                  <a:pt x="0" y="652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177" y="2207492"/>
            <a:ext cx="4745069" cy="343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5"/>
              </a:lnSpc>
            </a:pPr>
            <a:r>
              <a:rPr lang="en-US" b="true" sz="6568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Fit &amp; Hypothesis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17246" y="303282"/>
            <a:ext cx="13133281" cy="364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AMOS software tested the research model.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fit indices:</a:t>
            </a:r>
          </a:p>
          <a:p>
            <a:pPr algn="l">
              <a:lnSpc>
                <a:spcPts val="4759"/>
              </a:lnSpc>
            </a:pPr>
            <a:r>
              <a:rPr lang="en-US" sz="3399" spc="-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r>
              <a:rPr lang="en-US" sz="3399" spc="-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Chi-square = 96.564, DF = 3, p &lt; 0.005.</a:t>
            </a:r>
          </a:p>
          <a:p>
            <a:pPr algn="l">
              <a:lnSpc>
                <a:spcPts val="4759"/>
              </a:lnSpc>
            </a:pPr>
            <a:r>
              <a:rPr lang="en-US" sz="3399" spc="-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r>
              <a:rPr lang="en-US" sz="3399" spc="-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RMSEA = 0.450, CFI = 0.658 (below recommended thresholds).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Hypotheses tested using regression weights.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917246" cy="10287000"/>
            <a:chOff x="0" y="0"/>
            <a:chExt cx="12950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95077">
                  <a:moveTo>
                    <a:pt x="0" y="0"/>
                  </a:moveTo>
                  <a:lnTo>
                    <a:pt x="1295077" y="0"/>
                  </a:lnTo>
                  <a:lnTo>
                    <a:pt x="1295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1295077" cy="300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53663" y="-241736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32581" y="4604338"/>
            <a:ext cx="12087894" cy="4371892"/>
          </a:xfrm>
          <a:custGeom>
            <a:avLst/>
            <a:gdLst/>
            <a:ahLst/>
            <a:cxnLst/>
            <a:rect r="r" b="b" t="t" l="l"/>
            <a:pathLst>
              <a:path h="4371892" w="12087894">
                <a:moveTo>
                  <a:pt x="0" y="0"/>
                </a:moveTo>
                <a:lnTo>
                  <a:pt x="12087894" y="0"/>
                </a:lnTo>
                <a:lnTo>
                  <a:pt x="12087894" y="4371892"/>
                </a:lnTo>
                <a:lnTo>
                  <a:pt x="0" y="4371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" t="0" r="-23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177" y="2830426"/>
            <a:ext cx="4745069" cy="343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5"/>
              </a:lnSpc>
            </a:pPr>
            <a:r>
              <a:rPr lang="en-US" sz="6568" b="true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Hypothesis Results</a:t>
            </a:r>
          </a:p>
          <a:p>
            <a:pPr algn="l">
              <a:lnSpc>
                <a:spcPts val="919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917246" y="312807"/>
            <a:ext cx="13113030" cy="447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H1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Transformational Leadership → Organizational Learning (β = 0.477*).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H2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Servant Leadership → Organizational Learning (β = 0.326*).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H3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Organizational Learning → Organizational Performance (β = 0.621*).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Transformational Leadership has a stronger impact than Servant Leadership.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917246" cy="10287000"/>
            <a:chOff x="0" y="0"/>
            <a:chExt cx="12950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95077">
                  <a:moveTo>
                    <a:pt x="0" y="0"/>
                  </a:moveTo>
                  <a:lnTo>
                    <a:pt x="1295077" y="0"/>
                  </a:lnTo>
                  <a:lnTo>
                    <a:pt x="1295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1295077" cy="300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53663" y="-241736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089" y="3950598"/>
            <a:ext cx="4745069" cy="227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5"/>
              </a:lnSpc>
            </a:pPr>
            <a:r>
              <a:rPr lang="en-US" sz="6568" b="true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  <a:p>
            <a:pPr algn="l">
              <a:lnSpc>
                <a:spcPts val="91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174970" y="1588575"/>
            <a:ext cx="13113030" cy="306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Transformational Leadership (TL) boosts Organizational Learning (OL) more than Servant Leadership (SL).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 directly improves Organizational Performance (OP).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Managers should prioritize TL to maximize profitability.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174970" y="382383"/>
            <a:ext cx="5595581" cy="85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74970" y="4459946"/>
            <a:ext cx="8410372" cy="86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4970" y="5647453"/>
            <a:ext cx="13113030" cy="24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 leaders in TL techniques (e.g., inspiring teams, setting clear goals).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Foster a learning culture to enhance performance.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917246" cy="10287000"/>
            <a:chOff x="0" y="0"/>
            <a:chExt cx="12950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95077">
                  <a:moveTo>
                    <a:pt x="0" y="0"/>
                  </a:moveTo>
                  <a:lnTo>
                    <a:pt x="1295077" y="0"/>
                  </a:lnTo>
                  <a:lnTo>
                    <a:pt x="1295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1295077" cy="300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8153663" y="-2417367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089" y="3072114"/>
            <a:ext cx="4831157" cy="575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5"/>
              </a:lnSpc>
            </a:pPr>
            <a:r>
              <a:rPr lang="en-US" sz="6568" b="true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Limitations &amp; Future Research</a:t>
            </a:r>
          </a:p>
          <a:p>
            <a:pPr algn="l">
              <a:lnSpc>
                <a:spcPts val="9195"/>
              </a:lnSpc>
            </a:pPr>
          </a:p>
          <a:p>
            <a:pPr algn="l">
              <a:lnSpc>
                <a:spcPts val="91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174970" y="1588575"/>
            <a:ext cx="13113030" cy="430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limited to profit-oriented service sectors (e.g., hotels, banks).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 applicable to non-profits, manufacturing, or public sectors.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Small sample size (155 respondents) and Pakistan-specific context.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174970" y="382383"/>
            <a:ext cx="5595581" cy="85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74970" y="5406665"/>
            <a:ext cx="8410372" cy="86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Opportunities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4970" y="6603845"/>
            <a:ext cx="13113030" cy="368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 TL and SL in manufacturing, healthcare, or non-profits.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Explore links between leadership styles and innovation/employee engagement.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Expand sample size and cultural contexts (e.g., Western countries).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4816593" cy="3004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1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37082">
            <a:off x="7323401" y="-2001915"/>
            <a:ext cx="11863616" cy="6061230"/>
          </a:xfrm>
          <a:custGeom>
            <a:avLst/>
            <a:gdLst/>
            <a:ahLst/>
            <a:cxnLst/>
            <a:rect r="r" b="b" t="t" l="l"/>
            <a:pathLst>
              <a:path h="6061230" w="11863616">
                <a:moveTo>
                  <a:pt x="0" y="0"/>
                </a:moveTo>
                <a:lnTo>
                  <a:pt x="11863617" y="0"/>
                </a:lnTo>
                <a:lnTo>
                  <a:pt x="11863617" y="6061230"/>
                </a:lnTo>
                <a:lnTo>
                  <a:pt x="0" y="60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17158" y="4190274"/>
            <a:ext cx="7828201" cy="171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4"/>
              </a:lnSpc>
            </a:pPr>
            <a:r>
              <a:rPr lang="en-US" b="true" sz="10067">
                <a:solidFill>
                  <a:srgbClr val="F7F3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DAGePShzKA4</dc:identifier>
  <dcterms:modified xsi:type="dcterms:W3CDTF">2011-08-01T06:04:30Z</dcterms:modified>
  <cp:revision>1</cp:revision>
  <dc:title> Transformational and Servant Leadership</dc:title>
</cp:coreProperties>
</file>