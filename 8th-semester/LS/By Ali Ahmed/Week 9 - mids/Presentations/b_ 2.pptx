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svg" ContentType="image/svg+xml"/>
  <Default Extension="jpeg" ContentType="image/jpeg"/>
  <Default Extension="fntdata" ContentType="application/x-fontdata"/>
  <Default Extension="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slideLayout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presProps.xml" ContentType="application/vnd.openxmlformats-officedocument.presentationml.presProps+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viewProps.xml" ContentType="application/vnd.openxmlformats-officedocument.presentationml.viewProp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Id1" /><Relationship Type="http://schemas.openxmlformats.org/package/2006/relationships/metadata/thumbnail" Target="/docProps/thumbnail.jpeg" Id="rId2" /><Relationship Type="http://schemas.openxmlformats.org/package/2006/relationships/metadata/core-properties" Target="/docProps/core.xml" Id="rId3" /><Relationship Type="http://schemas.openxmlformats.org/officeDocument/2006/relationships/extended-properties" Target="/docProps/app.xml" Id="rId4"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true" saveSubsetFonts="1">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Bebas Neue Bold" panose="020B0606020202050201" charset="1"/>
      <p:regular r:id="rId31"/>
    </p:embeddedFont>
    <p:embeddedFont>
      <p:font typeface="Glacial Indifference" panose="00000000000000000000" charset="1"/>
      <p:regular r:id="rId32"/>
    </p:embeddedFont>
    <p:embeddedFont>
      <p:font typeface="Glacial Indifference Bold" panose="00000800000000000000" charset="1"/>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slide" Target="/ppt/slides/slide5.xml" Id="rId10" /><Relationship Type="http://schemas.openxmlformats.org/officeDocument/2006/relationships/slide" Target="/ppt/slides/slide6.xml" Id="rId11" /><Relationship Type="http://schemas.openxmlformats.org/officeDocument/2006/relationships/slide" Target="/ppt/slides/slide7.xml" Id="rId12" /><Relationship Type="http://schemas.openxmlformats.org/officeDocument/2006/relationships/slide" Target="/ppt/slides/slide8.xml" Id="rId13" /><Relationship Type="http://schemas.openxmlformats.org/officeDocument/2006/relationships/slide" Target="/ppt/slides/slide9.xml" Id="rId14" /><Relationship Type="http://schemas.openxmlformats.org/officeDocument/2006/relationships/slide" Target="/ppt/slides/slide10.xml" Id="rId15" /><Relationship Type="http://schemas.openxmlformats.org/officeDocument/2006/relationships/slide" Target="/ppt/slides/slide11.xml" Id="rId16" /><Relationship Type="http://schemas.openxmlformats.org/officeDocument/2006/relationships/slide" Target="/ppt/slides/slide12.xml" Id="rId17" /><Relationship Type="http://schemas.openxmlformats.org/officeDocument/2006/relationships/slide" Target="/ppt/slides/slide13.xml" Id="rId18" /><Relationship Type="http://schemas.openxmlformats.org/officeDocument/2006/relationships/slide" Target="/ppt/slides/slide14.xml" Id="rId19" /><Relationship Type="http://schemas.openxmlformats.org/officeDocument/2006/relationships/presProps" Target="/ppt/presProps.xml" Id="rId2" /><Relationship Type="http://schemas.openxmlformats.org/officeDocument/2006/relationships/slide" Target="/ppt/slides/slide15.xml" Id="rId20" /><Relationship Type="http://schemas.openxmlformats.org/officeDocument/2006/relationships/slide" Target="/ppt/slides/slide16.xml" Id="rId21" /><Relationship Type="http://schemas.openxmlformats.org/officeDocument/2006/relationships/slide" Target="/ppt/slides/slide17.xml" Id="rId22" /><Relationship Type="http://schemas.openxmlformats.org/officeDocument/2006/relationships/slide" Target="/ppt/slides/slide18.xml" Id="rId23" /><Relationship Type="http://schemas.openxmlformats.org/officeDocument/2006/relationships/slide" Target="/ppt/slides/slide19.xml" Id="rId24" /><Relationship Type="http://schemas.openxmlformats.org/officeDocument/2006/relationships/slide" Target="/ppt/slides/slide20.xml" Id="rId25" /><Relationship Type="http://schemas.openxmlformats.org/officeDocument/2006/relationships/slide" Target="/ppt/slides/slide21.xml" Id="rId26" /><Relationship Type="http://schemas.openxmlformats.org/officeDocument/2006/relationships/slide" Target="/ppt/slides/slide22.xml" Id="rId27" /><Relationship Type="http://schemas.openxmlformats.org/officeDocument/2006/relationships/notesMaster" Target="/ppt/notesMasters/notesMaster1.xml" Id="rId28" /><Relationship Type="http://schemas.openxmlformats.org/officeDocument/2006/relationships/theme" Target="/ppt/theme/theme2.xml" Id="rId29" /><Relationship Type="http://schemas.openxmlformats.org/officeDocument/2006/relationships/viewProps" Target="/ppt/viewProps.xml" Id="rId3" /><Relationship Type="http://schemas.openxmlformats.org/officeDocument/2006/relationships/notesSlide" Target="/ppt/notesSlides/notesSlide1.xml" Id="rId30" /><Relationship Type="http://schemas.openxmlformats.org/officeDocument/2006/relationships/font" Target="/ppt/fonts/font31.fntdata" Id="rId31" /><Relationship Type="http://schemas.openxmlformats.org/officeDocument/2006/relationships/font" Target="/ppt/fonts/font32.fntdata" Id="rId32" /><Relationship Type="http://schemas.openxmlformats.org/officeDocument/2006/relationships/notesSlide" Target="/ppt/notesSlides/notesSlide2.xml" Id="rId33" /><Relationship Type="http://schemas.openxmlformats.org/officeDocument/2006/relationships/notesSlide" Target="/ppt/notesSlides/notesSlide3.xml" Id="rId34" /><Relationship Type="http://schemas.openxmlformats.org/officeDocument/2006/relationships/notesSlide" Target="/ppt/notesSlides/notesSlide4.xml" Id="rId35" /><Relationship Type="http://schemas.openxmlformats.org/officeDocument/2006/relationships/notesSlide" Target="/ppt/notesSlides/notesSlide5.xml" Id="rId36" /><Relationship Type="http://schemas.openxmlformats.org/officeDocument/2006/relationships/notesSlide" Target="/ppt/notesSlides/notesSlide6.xml" Id="rId37" /><Relationship Type="http://schemas.openxmlformats.org/officeDocument/2006/relationships/font" Target="/ppt/fonts/font38.fntdata" Id="rId38" /><Relationship Type="http://schemas.openxmlformats.org/officeDocument/2006/relationships/notesSlide" Target="/ppt/notesSlides/notesSlide7.xml" Id="rId39" /><Relationship Type="http://schemas.openxmlformats.org/officeDocument/2006/relationships/theme" Target="/ppt/theme/theme1.xml" Id="rId4" /><Relationship Type="http://schemas.openxmlformats.org/officeDocument/2006/relationships/notesSlide" Target="/ppt/notesSlides/notesSlide8.xml" Id="rId40" /><Relationship Type="http://schemas.openxmlformats.org/officeDocument/2006/relationships/notesSlide" Target="/ppt/notesSlides/notesSlide9.xml" Id="rId41" /><Relationship Type="http://schemas.openxmlformats.org/officeDocument/2006/relationships/notesSlide" Target="/ppt/notesSlides/notesSlide10.xml" Id="rId42" /><Relationship Type="http://schemas.openxmlformats.org/officeDocument/2006/relationships/notesSlide" Target="/ppt/notesSlides/notesSlide11.xml" Id="rId43" /><Relationship Type="http://schemas.openxmlformats.org/officeDocument/2006/relationships/notesSlide" Target="/ppt/notesSlides/notesSlide12.xml" Id="rId44" /><Relationship Type="http://schemas.openxmlformats.org/officeDocument/2006/relationships/notesSlide" Target="/ppt/notesSlides/notesSlide13.xml" Id="rId45" /><Relationship Type="http://schemas.openxmlformats.org/officeDocument/2006/relationships/notesSlide" Target="/ppt/notesSlides/notesSlide14.xml" Id="rId46" /><Relationship Type="http://schemas.openxmlformats.org/officeDocument/2006/relationships/notesSlide" Target="/ppt/notesSlides/notesSlide15.xml" Id="rId47" /><Relationship Type="http://schemas.openxmlformats.org/officeDocument/2006/relationships/notesSlide" Target="/ppt/notesSlides/notesSlide16.xml" Id="rId48" /><Relationship Type="http://schemas.openxmlformats.org/officeDocument/2006/relationships/notesSlide" Target="/ppt/notesSlides/notesSlide17.xml" Id="rId49" /><Relationship Type="http://schemas.openxmlformats.org/officeDocument/2006/relationships/tableStyles" Target="/ppt/tableStyles.xml" Id="rId5" /><Relationship Type="http://schemas.openxmlformats.org/officeDocument/2006/relationships/notesSlide" Target="/ppt/notesSlides/notesSlide18.xml" Id="rId50" /><Relationship Type="http://schemas.openxmlformats.org/officeDocument/2006/relationships/notesSlide" Target="/ppt/notesSlides/notesSlide19.xml" Id="rId51" /><Relationship Type="http://schemas.openxmlformats.org/officeDocument/2006/relationships/notesSlide" Target="/ppt/notesSlides/notesSlide20.xml" Id="rId52" /><Relationship Type="http://schemas.openxmlformats.org/officeDocument/2006/relationships/notesSlide" Target="/ppt/notesSlides/notesSlide21.xml" Id="rId53" /><Relationship Type="http://schemas.openxmlformats.org/officeDocument/2006/relationships/notesSlide" Target="/ppt/notesSlides/notesSlide22.xml" Id="rId54" /><Relationship Type="http://schemas.openxmlformats.org/officeDocument/2006/relationships/slide" Target="/ppt/slides/slide1.xml" Id="rId6" /><Relationship Type="http://schemas.openxmlformats.org/officeDocument/2006/relationships/slide" Target="/ppt/slides/slide2.xml" Id="rId7" /><Relationship Type="http://schemas.openxmlformats.org/officeDocument/2006/relationships/slide" Target="/ppt/slides/slide3.xml" Id="rId8" /><Relationship Type="http://schemas.openxmlformats.org/officeDocument/2006/relationships/slide" Target="/ppt/slides/slide4.xml" Id="rId9"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xml" Id="rId2"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2.xml" Id="rId2"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3.xml" Id="rId2"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4.xml" Id="rId2"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5.xml" Id="rId2"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6.xml" Id="rId2"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7.xml" Id="rId2"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8.xml" Id="rId2"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9.xml" Id="rId2"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0.xml" Id="rId2"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1.xml" Id="rId2"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2.xml" Id="rId2"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3.xml" Id="rId2"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4.xml" Id="rId2"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5.xml" Id="rId2"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6.xml" Id="rId2"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7.xml" Id="rId2"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8.xml" Id="rId2"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19.xml" Id="rId2"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20.xml" Id="rId2" /></Relationships>
</file>

<file path=ppt/notesSlides/_rels/notesSlide21.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21.xml" Id="rId2" /></Relationships>
</file>

<file path=ppt/notesSlides/_rels/notesSlide22.xml.rels>&#65279;<?xml version="1.0" encoding="utf-8"?><Relationships xmlns="http://schemas.openxmlformats.org/package/2006/relationships"><Relationship Type="http://schemas.openxmlformats.org/officeDocument/2006/relationships/notesMaster" Target="/ppt/notesMasters/notesMaster1.xml" Id="rId1" /><Relationship Type="http://schemas.openxmlformats.org/officeDocument/2006/relationships/slide" Target="/ppt/slides/slide22.xml" Id="rId2" /></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Strategi Bisnis</a:t>
            </a:r>
          </a:p>
          <a:p>
            <a:r>
              <a:rPr lang="en-US"/>
              <a:t>Slide 1: Pengenalan</a:t>
            </a:r>
          </a:p>
          <a:p>
            <a:r>
              <a:rPr lang="en-US"/>
              <a:t>Judul: Mengungkap Kesuksesan: Strategi Bisnis untuk Pertumbuhan</a:t>
            </a:r>
          </a:p>
          <a:p>
            <a:r>
              <a:rPr lang="en-US"/>
              <a:t>Slide 2: Gambaran Bisnis</a:t>
            </a:r>
          </a:p>
          <a:p>
            <a:r>
              <a:rPr lang="en-US"/>
              <a:t>Latar belakang perusahaan: LOREM IPSUM Misi dan visi: LOREM IPSUM</a:t>
            </a:r>
          </a:p>
          <a:p>
            <a:r>
              <a:rPr lang="en-US"/>
              <a:t>Slide 3: Analisis Pasar</a:t>
            </a:r>
          </a:p>
          <a:p>
            <a:r>
              <a:rPr lang="en-US"/>
              <a:t>Ukuran pasar dan potensi</a:t>
            </a:r>
          </a:p>
          <a:p>
            <a:r>
              <a:rPr lang="en-US"/>
              <a:t>Sasaran audiens dan segmen pelanggan Lanskap persaingan</a:t>
            </a:r>
          </a:p>
          <a:p>
            <a:r>
              <a:rPr lang="en-US"/>
              <a:t>Sebelum merumuskan strategi bisnis kami, penting untuk memahami pasar di mana kami beroperasi. Analisis pasar kami mengungkapkan [jelaskan ukuran pasar] dengan potensi pertumbuhan yang signifikan. Kami telah mengidentifikasi audiens target dan segmen pelanggan sebagai fokus utama kami. Selain itu, kami telah menganalisis lanskap persaingan, termasuk pesaing dan posisi pasar mereka.</a:t>
            </a:r>
          </a:p>
          <a:p>
            <a:r>
              <a:rPr lang="en-US"/>
              <a:t>Slide 4: Analisis SWOT</a:t>
            </a:r>
          </a:p>
          <a:p>
            <a:r>
              <a:rPr lang="en-US"/>
              <a:t>Kelebihan: Poin penjualan unik dan keunggulan kompetitif</a:t>
            </a:r>
          </a:p>
          <a:p>
            <a:r>
              <a:rPr lang="en-US"/>
              <a:t/>
            </a:r>
          </a:p>
          <a:p>
            <a:r>
              <a:rPr lang="en-US"/>
              <a:t>Kelemahan: Area yang perlu diperbaiki dan tantangan Peluang: Tren pasar dan peluang pertumbuhan Ancaman: Faktor eksternal dan persaingan</a:t>
            </a:r>
          </a:p>
          <a:p>
            <a:r>
              <a:rPr lang="en-US"/>
              <a:t>Untuk membentuk strategi bisnis kami dengan efektif, kami melakukan analisis SWOT yang menyeluruh. Analisis kami juga mengungkapkan peluang menjanjikan yang sejalan dengan tren pasar dan peluang pertumbuhan. Selain itu, kami mengakui ancaman yang ditimbulkan oleh faktor eksternal dan persaingan.</a:t>
            </a:r>
          </a:p>
          <a:p>
            <a:r>
              <a:rPr lang="en-US"/>
              <a:t>Slide 5: Tujuan Bisnis</a:t>
            </a:r>
          </a:p>
          <a:p>
            <a:r>
              <a:rPr lang="en-US"/>
              <a:t>Visi dan tujuan jangka panjang</a:t>
            </a:r>
          </a:p>
          <a:p>
            <a:r>
              <a:rPr lang="en-US"/>
              <a:t>Tujuan SMART (Spesifik, Measurable, Achievable, Relevant, Time-bound)</a:t>
            </a:r>
          </a:p>
          <a:p>
            <a:r>
              <a:rPr lang="en-US"/>
              <a:t>Strategi bisnis kami berputar di sekitar pencapaian tujuan spesifik. Visi jangka panjang kami adalah [sebutkan visi jangka panjang]. Untuk memastikan kejelasan dan efektivitas, kami telah menetapkan tujuan SMART yang Spesifik, Measurable, Achievable, Relevant, dan Time-bound. Tujuan ini sejalan dengan strategi bisnis kami secara keseluruhan dan akan membimbing tindakan dan pengambilan keputusan kami.</a:t>
            </a:r>
          </a:p>
          <a:p>
            <a:r>
              <a:rPr lang="en-US"/>
              <a:t>Slide 6: Strategi Utama</a:t>
            </a:r>
          </a:p>
          <a:p>
            <a:r>
              <a:rPr lang="en-US"/>
              <a:t>Untuk mencapai tujuan bisnis kami, kami telah mengembangkan strategi utama. Strategi 1: LOREM IPSUM</a:t>
            </a:r>
          </a:p>
          <a:p>
            <a:r>
              <a:rPr lang="en-US"/>
              <a:t>Strategi 2: LOREM IPSUM</a:t>
            </a:r>
          </a:p>
          <a:p>
            <a:r>
              <a:rPr lang="en-US"/>
              <a:t>Strategi 3: LOREM IPSUM</a:t>
            </a:r>
          </a:p>
          <a:p>
            <a:r>
              <a:rPr lang="en-US"/>
              <a:t>Strategi ini membentuk dasar rencana bisnis kami.</a:t>
            </a:r>
          </a:p>
          <a:p>
            <a:r>
              <a:rPr lang="en-US"/>
              <a:t>Slide 7: Rencana Implementasi</a:t>
            </a:r>
          </a:p>
          <a:p>
            <a:r>
              <a:rPr lang="en-US"/>
              <a:t>Langkah tindakan dan jadwal waktu</a:t>
            </a:r>
          </a:p>
          <a:p>
            <a:r>
              <a:rPr lang="en-US"/>
              <a:t>Penetapan sumber daya dan tanggung jawab Indikator Kinerja Utama (KPI)</a:t>
            </a:r>
          </a:p>
          <a:p>
            <a:r>
              <a:rPr lang="en-US"/>
              <a:t>Mengubah strategi kami menjadi kenyataan memerlukan rencana implementasi yang terdefinisi dengan baik. Kami telah menguraikan komponen kunci berikut:</a:t>
            </a:r>
          </a:p>
          <a:p>
            <a:r>
              <a:rPr lang="en-US"/>
              <a:t>Langkah Tindakan dan Jadwal Waktu: Kami telah mengidentifikasi langkah-langkah tindakan khusus untuk menjalankan setiap strategi dengan efektif. Langkah-langkah ini termasuk [sebutkan langkah tindakan]. Kami juga telah menetapkan jadwal waktu untuk memastikan penyelesaian tepat waktu dari setiap tugas.</a:t>
            </a:r>
          </a:p>
          <a:p>
            <a:r>
              <a:rPr lang="en-US"/>
              <a:t>Penetapan Sumber Daya dan Tanggung Jawab: Kami telah mengalokasikan sumber daya yang diperlukan, termasuk anggaran, personel, dan teknologi, untuk mendukung proses implementasi. Setiap anggota tim telah ditugaskan tanggung jawab yang jelas dan bertanggung jawab atas tugas mereka masing-masing.</a:t>
            </a:r>
          </a:p>
          <a:p>
            <a:r>
              <a:rPr lang="en-US"/>
              <a:t>Indikator Kinerja Utama (KPI): Untuk mengukur keberhasilan strategi kami, kami telah mengidentifikasi KPI yang relevan. Indikator ini akan melacak kemajuan dan memberikan wawasan berharga tentang efektivitas strategi bisnis kami. Beberapa KPI kami termasuk [sebutkan KPI khusus].</a:t>
            </a:r>
          </a:p>
          <a:p>
            <a:r>
              <a:rPr lang="en-US"/>
              <a:t>Slide 8: Pemantauan dan Evaluasi</a:t>
            </a:r>
          </a:p>
          <a:p>
            <a:r>
              <a:rPr lang="en-US"/>
              <a:t>Pemantauan kinerja secara berkala Pengambilan keputusan berbasis data</a:t>
            </a:r>
          </a:p>
          <a:p>
            <a:r>
              <a:rPr lang="en-US"/>
              <a:t>Peningkatan berkelanjutan dan adaptabilitas</a:t>
            </a:r>
          </a:p>
          <a:p>
            <a:r>
              <a:rPr lang="en-US"/>
              <a:t>Memantau dan mengevaluasi strategi bisnis kami adalah krusial untuk kesuksesan berkelanjutan. Kami akan menerapkan pemantauan kinerja secara berkala untuk menilai kemajuan kami terhadap tujuan dan KPI yang ditetapkan. Pengambilan keputusan berbasis data akan membimbing kami dalam membuat pilihan yang berdasarkan informasi untuk mengoptimalkan strategi kami. Kami mengadopsi budaya perbaikan berkelanjutan dan adaptabilitas, memungkinkan kami untuk menyempurnakan pendekatan kami berdasarkan dinamika pasar dan umpan balik pelanggan.</a:t>
            </a:r>
          </a:p>
          <a:p>
            <a:r>
              <a:rPr lang="en-US"/>
              <a:t>Slide 9: Manajemen Risiko</a:t>
            </a:r>
          </a:p>
          <a:p>
            <a:r>
              <a:rPr lang="en-US"/>
              <a:t>Identifikasi risiko dan tantangan potensial Strategi mitigasi</a:t>
            </a:r>
          </a:p>
          <a:p>
            <a:r>
              <a:rPr lang="en-US"/>
              <a:t>Rencana kontingensi</a:t>
            </a:r>
          </a:p>
          <a:p>
            <a:r>
              <a:rPr lang="en-US"/>
              <a:t>Setiap strategi bisnis melibatkan risiko, dan kami siap untuk mengatasinya. Kami telah melakukan evaluasi risiko menyeluruh untuk mengidentifikasi risiko dan tantangan potensial. Strategi mitigasi telah dikembangkan untuk meminimalkan dampak dari risiko ini. Selain itu, kami telah menetapkan rencana kontingensi untuk memastikan kelangsungan bisnis dalam keadaan yang tak terduga.</a:t>
            </a:r>
          </a:p>
          <a:p>
            <a:r>
              <a:rPr lang="en-US"/>
              <a:t>Slide 10: Kesimpulan dan Ajakan Aksi</a:t>
            </a:r>
          </a:p>
          <a:p>
            <a:r>
              <a:rPr lang="en-US"/>
              <a:t>Sebagai kesimpulan, strategi bisnis kami berfokus pada memanfaatkan kelebihan, menangkap peluang, serta mengatasi kelemahan dan ancaman. Dengan menerapkan strategi utama kami, memantau kemajuan kami, dan mengelola risiko dengan efektif, kami yakin dapat mencapai tujuan bisnis kami.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12" /><Relationship Type="http://schemas.openxmlformats.org/officeDocument/2006/relationships/slideLayout" Target="/ppt/slideLayouts/slideLayout7.xml" Id="rId7"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xml" Id="rId2" /><Relationship Type="http://schemas.openxmlformats.org/officeDocument/2006/relationships/image" Target="/ppt/media/image1.jpeg" Id="rId3" /><Relationship Type="http://schemas.openxmlformats.org/officeDocument/2006/relationships/image" Target="/ppt/media/image2.png" Id="rId4" /><Relationship Type="http://schemas.openxmlformats.org/officeDocument/2006/relationships/image" Target="/ppt/media/image3.svg" Id="rI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2.xml" Id="rId2" /><Relationship Type="http://schemas.openxmlformats.org/officeDocument/2006/relationships/image" Target="/ppt/media/image4.png" Id="rId3" /><Relationship Type="http://schemas.openxmlformats.org/officeDocument/2006/relationships/image" Target="/ppt/media/image5.svg" Id="rI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3.xml" Id="rId2" /><Relationship Type="http://schemas.openxmlformats.org/officeDocument/2006/relationships/image" Target="/ppt/media/image6.jpeg" Id="rId3" /><Relationship Type="http://schemas.openxmlformats.org/officeDocument/2006/relationships/image" Target="/ppt/media/image4.png" Id="rId4" /><Relationship Type="http://schemas.openxmlformats.org/officeDocument/2006/relationships/image" Target="/ppt/media/image5.svg" Id="rId5" /><Relationship Type="http://schemas.openxmlformats.org/officeDocument/2006/relationships/image" Target="/ppt/media/image7.png" Id="rId6" /><Relationship Type="http://schemas.openxmlformats.org/officeDocument/2006/relationships/image" Target="/ppt/media/image8.svg" Id="rI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4.xml" Id="rId2" /><Relationship Type="http://schemas.openxmlformats.org/officeDocument/2006/relationships/image" Target="/ppt/media/image9.jpeg" Id="rId3" /><Relationship Type="http://schemas.openxmlformats.org/officeDocument/2006/relationships/image" Target="/ppt/media/image4.png" Id="rId4" /><Relationship Type="http://schemas.openxmlformats.org/officeDocument/2006/relationships/image" Target="/ppt/media/image5.svg" Id="rId5" /><Relationship Type="http://schemas.openxmlformats.org/officeDocument/2006/relationships/image" Target="/ppt/media/image7.png" Id="rId6" /><Relationship Type="http://schemas.openxmlformats.org/officeDocument/2006/relationships/image" Target="/ppt/media/image8.svg" Id="rI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5.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7.png" Id="rId5" /><Relationship Type="http://schemas.openxmlformats.org/officeDocument/2006/relationships/image" Target="/ppt/media/image8.svg" Id="rId6" /><Relationship Type="http://schemas.openxmlformats.org/officeDocument/2006/relationships/image" Target="/ppt/media/image6.jpeg" Id="rI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6.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10.jpeg" Id="rId5" /><Relationship Type="http://schemas.openxmlformats.org/officeDocument/2006/relationships/image" Target="/ppt/media/image11.jpeg" Id="rId6" /><Relationship Type="http://schemas.openxmlformats.org/officeDocument/2006/relationships/image" Target="/ppt/media/image7.png" Id="rId7" /><Relationship Type="http://schemas.openxmlformats.org/officeDocument/2006/relationships/image" Target="/ppt/media/image8.svg" Id="rI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7.xml" Id="rId2" /><Relationship Type="http://schemas.openxmlformats.org/officeDocument/2006/relationships/image" Target="/ppt/media/image12.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8.xml" Id="rId2" /><Relationship Type="http://schemas.openxmlformats.org/officeDocument/2006/relationships/image" Target="/ppt/media/image13.jpeg" Id="rId3" /><Relationship Type="http://schemas.openxmlformats.org/officeDocument/2006/relationships/image" Target="/ppt/media/image14.png" Id="rId4" /><Relationship Type="http://schemas.openxmlformats.org/officeDocument/2006/relationships/image" Target="/ppt/media/image15.svg" Id="rI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9.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7.png" Id="rId5" /><Relationship Type="http://schemas.openxmlformats.org/officeDocument/2006/relationships/image" Target="/ppt/media/image8.svg" Id="rId6" /><Relationship Type="http://schemas.openxmlformats.org/officeDocument/2006/relationships/image" Target="/ppt/media/image6.jpeg" Id="rI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0.xml" Id="rId2" /><Relationship Type="http://schemas.openxmlformats.org/officeDocument/2006/relationships/image" Target="/ppt/media/image16.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1.xml" Id="rId2" /><Relationship Type="http://schemas.openxmlformats.org/officeDocument/2006/relationships/image" Target="/ppt/media/image12.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2.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10.jpeg" Id="rId5" /><Relationship Type="http://schemas.openxmlformats.org/officeDocument/2006/relationships/image" Target="/ppt/media/image11.jpeg" Id="rId6" /><Relationship Type="http://schemas.openxmlformats.org/officeDocument/2006/relationships/image" Target="/ppt/media/image7.png" Id="rId7" /><Relationship Type="http://schemas.openxmlformats.org/officeDocument/2006/relationships/image" Target="/ppt/media/image8.svg" Id="rI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3.xml" Id="rId2" /><Relationship Type="http://schemas.openxmlformats.org/officeDocument/2006/relationships/image" Target="/ppt/media/image17.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4.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12.jpeg" Id="rI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5.xml" Id="rId2" /><Relationship Type="http://schemas.openxmlformats.org/officeDocument/2006/relationships/image" Target="/ppt/media/image14.png" Id="rId3" /><Relationship Type="http://schemas.openxmlformats.org/officeDocument/2006/relationships/image" Target="/ppt/media/image15.svg" Id="rId4" /><Relationship Type="http://schemas.openxmlformats.org/officeDocument/2006/relationships/image" Target="/ppt/media/image18.png" Id="rI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6.xml" Id="rId2" /><Relationship Type="http://schemas.openxmlformats.org/officeDocument/2006/relationships/image" Target="/ppt/media/image16.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7.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7.png" Id="rId5" /><Relationship Type="http://schemas.openxmlformats.org/officeDocument/2006/relationships/image" Target="/ppt/media/image8.svg" Id="rId6" /><Relationship Type="http://schemas.openxmlformats.org/officeDocument/2006/relationships/image" Target="/ppt/media/image6.jpeg" Id="rI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8.xml" Id="rId2" /><Relationship Type="http://schemas.openxmlformats.org/officeDocument/2006/relationships/image" Target="/ppt/media/image4.png" Id="rId3" /><Relationship Type="http://schemas.openxmlformats.org/officeDocument/2006/relationships/image" Target="/ppt/media/image5.svg" Id="rId4" /><Relationship Type="http://schemas.openxmlformats.org/officeDocument/2006/relationships/image" Target="/ppt/media/image7.png" Id="rId5" /><Relationship Type="http://schemas.openxmlformats.org/officeDocument/2006/relationships/image" Target="/ppt/media/image8.svg" Id="rId6" /><Relationship Type="http://schemas.openxmlformats.org/officeDocument/2006/relationships/image" Target="/ppt/media/image19.png" Id="rI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19.xml" Id="rId2" /><Relationship Type="http://schemas.openxmlformats.org/officeDocument/2006/relationships/image" Target="/ppt/media/image20.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20.xml" Id="rId2" /><Relationship Type="http://schemas.openxmlformats.org/officeDocument/2006/relationships/image" Target="/ppt/media/image21.jpeg" Id="rId3" /><Relationship Type="http://schemas.openxmlformats.org/officeDocument/2006/relationships/image" Target="/ppt/media/image4.png" Id="rId4" /><Relationship Type="http://schemas.openxmlformats.org/officeDocument/2006/relationships/image" Target="/ppt/media/image5.svg" Id="rId5" /><Relationship Type="http://schemas.openxmlformats.org/officeDocument/2006/relationships/image" Target="/ppt/media/image7.png" Id="rId6" /><Relationship Type="http://schemas.openxmlformats.org/officeDocument/2006/relationships/image" Target="/ppt/media/image8.svg" Id="rI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21.xml" Id="rId2" /><Relationship Type="http://schemas.openxmlformats.org/officeDocument/2006/relationships/image" Target="/ppt/media/image20.jpeg" Id="rId3" /><Relationship Type="http://schemas.openxmlformats.org/officeDocument/2006/relationships/image" Target="/ppt/media/image4.png" Id="rId4" /><Relationship Type="http://schemas.openxmlformats.org/officeDocument/2006/relationships/image" Target="/ppt/media/image5.svg" Id="rId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notesSlide" Target="/ppt/notesSlides/notesSlide22.xml" Id="rId2" /><Relationship Type="http://schemas.openxmlformats.org/officeDocument/2006/relationships/image" Target="/ppt/media/image13.jpeg" Id="rId3" /><Relationship Type="http://schemas.openxmlformats.org/officeDocument/2006/relationships/image" Target="/ppt/media/image14.png" Id="rId4" /><Relationship Type="http://schemas.openxmlformats.org/officeDocument/2006/relationships/image" Target="/ppt/media/image15.svg" Id="rId5" /></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532" t="0" r="-6532" b="0"/>
            </a:stretch>
          </a:blipFill>
        </p:spPr>
      </p:sp>
      <p:grpSp>
        <p:nvGrpSpPr>
          <p:cNvPr name="Group 3" id="3"/>
          <p:cNvGrpSpPr/>
          <p:nvPr/>
        </p:nvGrpSpPr>
        <p:grpSpPr>
          <a:xfrm rot="0">
            <a:off x="4003901" y="1714500"/>
            <a:ext cx="10394356" cy="3086100"/>
            <a:chOff x="0" y="0"/>
            <a:chExt cx="2737608" cy="812800"/>
          </a:xfrm>
        </p:grpSpPr>
        <p:sp>
          <p:nvSpPr>
            <p:cNvPr name="Freeform 4" id="4"/>
            <p:cNvSpPr/>
            <p:nvPr/>
          </p:nvSpPr>
          <p:spPr>
            <a:xfrm flipH="false" flipV="false" rot="0">
              <a:off x="0" y="0"/>
              <a:ext cx="2737608" cy="812800"/>
            </a:xfrm>
            <a:custGeom>
              <a:avLst/>
              <a:gdLst/>
              <a:ahLst/>
              <a:cxnLst/>
              <a:rect r="r" b="b" t="t" l="l"/>
              <a:pathLst>
                <a:path h="812800" w="2737608">
                  <a:moveTo>
                    <a:pt x="0" y="0"/>
                  </a:moveTo>
                  <a:lnTo>
                    <a:pt x="2737608" y="0"/>
                  </a:lnTo>
                  <a:lnTo>
                    <a:pt x="2737608" y="812800"/>
                  </a:lnTo>
                  <a:lnTo>
                    <a:pt x="0" y="812800"/>
                  </a:lnTo>
                  <a:close/>
                </a:path>
              </a:pathLst>
            </a:custGeom>
            <a:solidFill>
              <a:srgbClr val="33261A"/>
            </a:solidFill>
          </p:spPr>
        </p:sp>
        <p:sp>
          <p:nvSpPr>
            <p:cNvPr name="TextBox 5" id="5"/>
            <p:cNvSpPr txBox="true"/>
            <p:nvPr/>
          </p:nvSpPr>
          <p:spPr>
            <a:xfrm>
              <a:off x="0" y="-9525"/>
              <a:ext cx="2737608" cy="822325"/>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3460172" y="1704975"/>
            <a:ext cx="3062954" cy="3086100"/>
          </a:xfrm>
          <a:custGeom>
            <a:avLst/>
            <a:gdLst/>
            <a:ahLst/>
            <a:cxnLst/>
            <a:rect r="r" b="b" t="t" l="l"/>
            <a:pathLst>
              <a:path h="3086100" w="3062954">
                <a:moveTo>
                  <a:pt x="0" y="0"/>
                </a:moveTo>
                <a:lnTo>
                  <a:pt x="3062954" y="0"/>
                </a:lnTo>
                <a:lnTo>
                  <a:pt x="3062954" y="3086100"/>
                </a:lnTo>
                <a:lnTo>
                  <a:pt x="0" y="3086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847107" y="1704975"/>
            <a:ext cx="3062954" cy="3086100"/>
          </a:xfrm>
          <a:custGeom>
            <a:avLst/>
            <a:gdLst/>
            <a:ahLst/>
            <a:cxnLst/>
            <a:rect r="r" b="b" t="t" l="l"/>
            <a:pathLst>
              <a:path h="3086100" w="3062954">
                <a:moveTo>
                  <a:pt x="0" y="0"/>
                </a:moveTo>
                <a:lnTo>
                  <a:pt x="3062954" y="0"/>
                </a:lnTo>
                <a:lnTo>
                  <a:pt x="3062954" y="3086100"/>
                </a:lnTo>
                <a:lnTo>
                  <a:pt x="0" y="3086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941172" y="5314950"/>
            <a:ext cx="2930141"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 ABDULLAH NASIR</a:t>
            </a:r>
          </a:p>
        </p:txBody>
      </p:sp>
      <p:sp>
        <p:nvSpPr>
          <p:cNvPr name="TextBox 9" id="9"/>
          <p:cNvSpPr txBox="true"/>
          <p:nvPr/>
        </p:nvSpPr>
        <p:spPr>
          <a:xfrm rot="0">
            <a:off x="6948378" y="8473017"/>
            <a:ext cx="5027592" cy="609600"/>
          </a:xfrm>
          <a:prstGeom prst="rect">
            <a:avLst/>
          </a:prstGeom>
        </p:spPr>
        <p:txBody>
          <a:bodyPr anchor="t" rtlCol="false" tIns="0" lIns="0" bIns="0" rIns="0">
            <a:spAutoFit/>
          </a:bodyPr>
          <a:lstStyle/>
          <a:p>
            <a:pPr algn="ctr">
              <a:lnSpc>
                <a:spcPts val="4799"/>
              </a:lnSpc>
            </a:pPr>
            <a:r>
              <a:rPr lang="en-US" sz="3999">
                <a:solidFill>
                  <a:srgbClr val="33261A"/>
                </a:solidFill>
                <a:latin typeface="Glacial Indifference"/>
                <a:ea typeface="Glacial Indifference"/>
                <a:cs typeface="Glacial Indifference"/>
                <a:sym typeface="Glacial Indifference"/>
              </a:rPr>
              <a:t>Leadership Strategies</a:t>
            </a:r>
          </a:p>
        </p:txBody>
      </p:sp>
      <p:sp>
        <p:nvSpPr>
          <p:cNvPr name="TextBox 10" id="10"/>
          <p:cNvSpPr txBox="true"/>
          <p:nvPr/>
        </p:nvSpPr>
        <p:spPr>
          <a:xfrm rot="0">
            <a:off x="4986261" y="2269134"/>
            <a:ext cx="8350895" cy="2262582"/>
          </a:xfrm>
          <a:prstGeom prst="rect">
            <a:avLst/>
          </a:prstGeom>
        </p:spPr>
        <p:txBody>
          <a:bodyPr anchor="t" rtlCol="false" tIns="0" lIns="0" bIns="0" rIns="0">
            <a:spAutoFit/>
          </a:bodyPr>
          <a:lstStyle/>
          <a:p>
            <a:pPr algn="ctr">
              <a:lnSpc>
                <a:spcPts val="5727"/>
              </a:lnSpc>
            </a:pPr>
            <a:r>
              <a:rPr lang="en-US" b="true" sz="5727">
                <a:solidFill>
                  <a:srgbClr val="FAFAF9"/>
                </a:solidFill>
                <a:latin typeface="Bebas Neue Bold"/>
                <a:ea typeface="Bebas Neue Bold"/>
                <a:cs typeface="Bebas Neue Bold"/>
                <a:sym typeface="Bebas Neue Bold"/>
              </a:rPr>
              <a:t>THE CHALLENGE OF TRANSACTIONAL AND TRANSFORMATIONAL LEADERSHIP IN PROJECTS</a:t>
            </a:r>
          </a:p>
        </p:txBody>
      </p:sp>
      <p:sp>
        <p:nvSpPr>
          <p:cNvPr name="TextBox 11" id="11"/>
          <p:cNvSpPr txBox="true"/>
          <p:nvPr/>
        </p:nvSpPr>
        <p:spPr>
          <a:xfrm rot="0">
            <a:off x="4941172" y="5980642"/>
            <a:ext cx="4542588" cy="655320"/>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MUHAMMAD AFTAB ASLAM</a:t>
            </a:r>
          </a:p>
        </p:txBody>
      </p:sp>
      <p:sp>
        <p:nvSpPr>
          <p:cNvPr name="TextBox 12" id="12"/>
          <p:cNvSpPr txBox="true"/>
          <p:nvPr/>
        </p:nvSpPr>
        <p:spPr>
          <a:xfrm rot="0">
            <a:off x="4941172" y="6674908"/>
            <a:ext cx="2746445"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DANISH AKRAM</a:t>
            </a:r>
          </a:p>
        </p:txBody>
      </p:sp>
      <p:sp>
        <p:nvSpPr>
          <p:cNvPr name="TextBox 13" id="13"/>
          <p:cNvSpPr txBox="true"/>
          <p:nvPr/>
        </p:nvSpPr>
        <p:spPr>
          <a:xfrm rot="0">
            <a:off x="4941172" y="7340600"/>
            <a:ext cx="4705873"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MUHAMMAD JAWAD HAIDER</a:t>
            </a:r>
          </a:p>
        </p:txBody>
      </p:sp>
      <p:sp>
        <p:nvSpPr>
          <p:cNvPr name="TextBox 14" id="14"/>
          <p:cNvSpPr txBox="true"/>
          <p:nvPr/>
        </p:nvSpPr>
        <p:spPr>
          <a:xfrm rot="0">
            <a:off x="10359536" y="5314950"/>
            <a:ext cx="2930141"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2021-CS-113</a:t>
            </a:r>
          </a:p>
        </p:txBody>
      </p:sp>
      <p:sp>
        <p:nvSpPr>
          <p:cNvPr name="TextBox 15" id="15"/>
          <p:cNvSpPr txBox="true"/>
          <p:nvPr/>
        </p:nvSpPr>
        <p:spPr>
          <a:xfrm rot="0">
            <a:off x="10359536" y="5980642"/>
            <a:ext cx="2930141"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2021-CS-115</a:t>
            </a:r>
          </a:p>
        </p:txBody>
      </p:sp>
      <p:sp>
        <p:nvSpPr>
          <p:cNvPr name="TextBox 16" id="16"/>
          <p:cNvSpPr txBox="true"/>
          <p:nvPr/>
        </p:nvSpPr>
        <p:spPr>
          <a:xfrm rot="0">
            <a:off x="10359536" y="6674908"/>
            <a:ext cx="2930141"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2021-CS-123</a:t>
            </a:r>
          </a:p>
        </p:txBody>
      </p:sp>
      <p:sp>
        <p:nvSpPr>
          <p:cNvPr name="TextBox 17" id="17"/>
          <p:cNvSpPr txBox="true"/>
          <p:nvPr/>
        </p:nvSpPr>
        <p:spPr>
          <a:xfrm rot="0">
            <a:off x="10359536" y="7340600"/>
            <a:ext cx="2930141" cy="656167"/>
          </a:xfrm>
          <a:prstGeom prst="rect">
            <a:avLst/>
          </a:prstGeom>
        </p:spPr>
        <p:txBody>
          <a:bodyPr anchor="t" rtlCol="false" tIns="0" lIns="0" bIns="0" rIns="0">
            <a:spAutoFit/>
          </a:bodyPr>
          <a:lstStyle/>
          <a:p>
            <a:pPr algn="ctr">
              <a:lnSpc>
                <a:spcPts val="5040"/>
              </a:lnSpc>
            </a:pPr>
            <a:r>
              <a:rPr lang="en-US" b="true" sz="4200">
                <a:solidFill>
                  <a:srgbClr val="33261A"/>
                </a:solidFill>
                <a:latin typeface="Bebas Neue Bold"/>
                <a:ea typeface="Bebas Neue Bold"/>
                <a:cs typeface="Bebas Neue Bold"/>
                <a:sym typeface="Bebas Neue Bold"/>
              </a:rPr>
              <a:t>2021-CS-149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8886139" y="-638264"/>
            <a:ext cx="9550489" cy="10925264"/>
            <a:chOff x="0" y="0"/>
            <a:chExt cx="2515355" cy="2877436"/>
          </a:xfrm>
        </p:grpSpPr>
        <p:sp>
          <p:nvSpPr>
            <p:cNvPr name="Freeform 3" id="3"/>
            <p:cNvSpPr/>
            <p:nvPr/>
          </p:nvSpPr>
          <p:spPr>
            <a:xfrm flipH="false" flipV="false" rot="0">
              <a:off x="0" y="0"/>
              <a:ext cx="2515355" cy="2877436"/>
            </a:xfrm>
            <a:custGeom>
              <a:avLst/>
              <a:gdLst/>
              <a:ahLst/>
              <a:cxnLst/>
              <a:rect r="r" b="b" t="t" l="l"/>
              <a:pathLst>
                <a:path h="2877436" w="2515355">
                  <a:moveTo>
                    <a:pt x="0" y="0"/>
                  </a:moveTo>
                  <a:lnTo>
                    <a:pt x="2515355" y="0"/>
                  </a:lnTo>
                  <a:lnTo>
                    <a:pt x="2515355" y="2877436"/>
                  </a:lnTo>
                  <a:lnTo>
                    <a:pt x="0" y="2877436"/>
                  </a:lnTo>
                  <a:close/>
                </a:path>
              </a:pathLst>
            </a:custGeom>
            <a:solidFill>
              <a:srgbClr val="33261A"/>
            </a:solidFill>
          </p:spPr>
        </p:sp>
        <p:sp>
          <p:nvSpPr>
            <p:cNvPr name="TextBox 4" id="4"/>
            <p:cNvSpPr txBox="true"/>
            <p:nvPr/>
          </p:nvSpPr>
          <p:spPr>
            <a:xfrm>
              <a:off x="0" y="-38100"/>
              <a:ext cx="2515355" cy="291553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732999"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7430892" y="4165975"/>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795541" y="466786"/>
            <a:ext cx="9217263" cy="1695901"/>
            <a:chOff x="0" y="0"/>
            <a:chExt cx="2427592" cy="446657"/>
          </a:xfrm>
        </p:grpSpPr>
        <p:sp>
          <p:nvSpPr>
            <p:cNvPr name="Freeform 8" id="8"/>
            <p:cNvSpPr/>
            <p:nvPr/>
          </p:nvSpPr>
          <p:spPr>
            <a:xfrm flipH="false" flipV="false" rot="0">
              <a:off x="0" y="0"/>
              <a:ext cx="2427592" cy="446657"/>
            </a:xfrm>
            <a:custGeom>
              <a:avLst/>
              <a:gdLst/>
              <a:ahLst/>
              <a:cxnLst/>
              <a:rect r="r" b="b" t="t" l="l"/>
              <a:pathLst>
                <a:path h="446657" w="2427592">
                  <a:moveTo>
                    <a:pt x="0" y="0"/>
                  </a:moveTo>
                  <a:lnTo>
                    <a:pt x="2427592" y="0"/>
                  </a:lnTo>
                  <a:lnTo>
                    <a:pt x="2427592" y="446657"/>
                  </a:lnTo>
                  <a:lnTo>
                    <a:pt x="0" y="446657"/>
                  </a:lnTo>
                  <a:close/>
                </a:path>
              </a:pathLst>
            </a:custGeom>
            <a:solidFill>
              <a:srgbClr val="9C6942"/>
            </a:solidFill>
          </p:spPr>
        </p:sp>
        <p:sp>
          <p:nvSpPr>
            <p:cNvPr name="TextBox 9" id="9"/>
            <p:cNvSpPr txBox="true"/>
            <p:nvPr/>
          </p:nvSpPr>
          <p:spPr>
            <a:xfrm>
              <a:off x="0" y="-9525"/>
              <a:ext cx="2427592" cy="456182"/>
            </a:xfrm>
            <a:prstGeom prst="rect">
              <a:avLst/>
            </a:prstGeom>
          </p:spPr>
          <p:txBody>
            <a:bodyPr anchor="ctr" rtlCol="false" tIns="50800" lIns="50800" bIns="50800" rIns="50800"/>
            <a:lstStyle/>
            <a:p>
              <a:pPr algn="ctr">
                <a:lnSpc>
                  <a:spcPts val="2640"/>
                </a:lnSpc>
              </a:pPr>
            </a:p>
          </p:txBody>
        </p:sp>
      </p:grpSp>
      <p:sp>
        <p:nvSpPr>
          <p:cNvPr name="TextBox 10" id="10"/>
          <p:cNvSpPr txBox="true"/>
          <p:nvPr/>
        </p:nvSpPr>
        <p:spPr>
          <a:xfrm rot="0">
            <a:off x="1202695" y="941837"/>
            <a:ext cx="4391250" cy="1027642"/>
          </a:xfrm>
          <a:prstGeom prst="rect">
            <a:avLst/>
          </a:prstGeom>
        </p:spPr>
        <p:txBody>
          <a:bodyPr anchor="t" rtlCol="false" tIns="0" lIns="0" bIns="0" rIns="0">
            <a:spAutoFit/>
          </a:bodyPr>
          <a:lstStyle/>
          <a:p>
            <a:pPr algn="l">
              <a:lnSpc>
                <a:spcPts val="7500"/>
              </a:lnSpc>
            </a:pPr>
            <a:r>
              <a:rPr lang="en-US" sz="7500" b="true">
                <a:solidFill>
                  <a:srgbClr val="FFFFFF"/>
                </a:solidFill>
                <a:latin typeface="Bebas Neue Bold"/>
                <a:ea typeface="Bebas Neue Bold"/>
                <a:cs typeface="Bebas Neue Bold"/>
                <a:sym typeface="Bebas Neue Bold"/>
              </a:rPr>
              <a:t>AGENDA</a:t>
            </a:r>
          </a:p>
        </p:txBody>
      </p:sp>
      <p:sp>
        <p:nvSpPr>
          <p:cNvPr name="TextBox 11" id="11"/>
          <p:cNvSpPr txBox="true"/>
          <p:nvPr/>
        </p:nvSpPr>
        <p:spPr>
          <a:xfrm rot="0">
            <a:off x="1028700" y="6550624"/>
            <a:ext cx="7083073"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EXTENDING LEADERSHIP THEORIES</a:t>
            </a:r>
          </a:p>
        </p:txBody>
      </p:sp>
      <p:sp>
        <p:nvSpPr>
          <p:cNvPr name="TextBox 12" id="12"/>
          <p:cNvSpPr txBox="true"/>
          <p:nvPr/>
        </p:nvSpPr>
        <p:spPr>
          <a:xfrm rot="0">
            <a:off x="1028700" y="7458193"/>
            <a:ext cx="673609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LEADERSHIP FRAMEWORK</a:t>
            </a:r>
          </a:p>
        </p:txBody>
      </p:sp>
      <p:sp>
        <p:nvSpPr>
          <p:cNvPr name="TextBox 13" id="13"/>
          <p:cNvSpPr txBox="true"/>
          <p:nvPr/>
        </p:nvSpPr>
        <p:spPr>
          <a:xfrm rot="0">
            <a:off x="1028700" y="4974307"/>
            <a:ext cx="645034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IMPORTANCE OF LEADERSHIP</a:t>
            </a:r>
          </a:p>
        </p:txBody>
      </p:sp>
      <p:sp>
        <p:nvSpPr>
          <p:cNvPr name="TextBox 14" id="14"/>
          <p:cNvSpPr txBox="true"/>
          <p:nvPr/>
        </p:nvSpPr>
        <p:spPr>
          <a:xfrm rot="0">
            <a:off x="1028700" y="4203840"/>
            <a:ext cx="645034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AIM AND OBJECTIVE OF RESEARCH</a:t>
            </a:r>
          </a:p>
        </p:txBody>
      </p:sp>
      <p:sp>
        <p:nvSpPr>
          <p:cNvPr name="TextBox 15" id="15"/>
          <p:cNvSpPr txBox="true"/>
          <p:nvPr/>
        </p:nvSpPr>
        <p:spPr>
          <a:xfrm rot="0">
            <a:off x="1028700" y="3433373"/>
            <a:ext cx="645034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TEMPORARY ORGANIZAITON</a:t>
            </a:r>
          </a:p>
        </p:txBody>
      </p:sp>
      <p:sp>
        <p:nvSpPr>
          <p:cNvPr name="TextBox 16" id="16"/>
          <p:cNvSpPr txBox="true"/>
          <p:nvPr/>
        </p:nvSpPr>
        <p:spPr>
          <a:xfrm rot="0">
            <a:off x="1028700" y="2662907"/>
            <a:ext cx="645034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INTRODUCTION</a:t>
            </a:r>
          </a:p>
        </p:txBody>
      </p:sp>
      <p:sp>
        <p:nvSpPr>
          <p:cNvPr name="TextBox 17" id="17"/>
          <p:cNvSpPr txBox="true"/>
          <p:nvPr/>
        </p:nvSpPr>
        <p:spPr>
          <a:xfrm rot="0">
            <a:off x="1028700" y="5780158"/>
            <a:ext cx="6450341"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LEADERSHIP CHALLENGES </a:t>
            </a:r>
          </a:p>
        </p:txBody>
      </p:sp>
      <p:sp>
        <p:nvSpPr>
          <p:cNvPr name="TextBox 18" id="18"/>
          <p:cNvSpPr txBox="true"/>
          <p:nvPr/>
        </p:nvSpPr>
        <p:spPr>
          <a:xfrm rot="0">
            <a:off x="10039350" y="2662907"/>
            <a:ext cx="7391542"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PROPOSITIONS AND RESEARCH MODELS</a:t>
            </a:r>
          </a:p>
        </p:txBody>
      </p:sp>
      <p:sp>
        <p:nvSpPr>
          <p:cNvPr name="TextBox 19" id="19"/>
          <p:cNvSpPr txBox="true"/>
          <p:nvPr/>
        </p:nvSpPr>
        <p:spPr>
          <a:xfrm rot="0">
            <a:off x="10039350" y="3433373"/>
            <a:ext cx="7391542"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DISCUSSION AND INSIGHTS</a:t>
            </a:r>
          </a:p>
        </p:txBody>
      </p:sp>
      <p:sp>
        <p:nvSpPr>
          <p:cNvPr name="TextBox 20" id="20"/>
          <p:cNvSpPr txBox="true"/>
          <p:nvPr/>
        </p:nvSpPr>
        <p:spPr>
          <a:xfrm rot="0">
            <a:off x="10039350" y="4203840"/>
            <a:ext cx="7391542"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PRACTICAL IMPLICATIONS</a:t>
            </a:r>
          </a:p>
        </p:txBody>
      </p:sp>
      <p:sp>
        <p:nvSpPr>
          <p:cNvPr name="TextBox 21" id="21"/>
          <p:cNvSpPr txBox="true"/>
          <p:nvPr/>
        </p:nvSpPr>
        <p:spPr>
          <a:xfrm rot="0">
            <a:off x="9965612" y="4974307"/>
            <a:ext cx="7391542"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FUTURE RESEARCH</a:t>
            </a:r>
          </a:p>
        </p:txBody>
      </p:sp>
      <p:sp>
        <p:nvSpPr>
          <p:cNvPr name="TextBox 22" id="22"/>
          <p:cNvSpPr txBox="true"/>
          <p:nvPr/>
        </p:nvSpPr>
        <p:spPr>
          <a:xfrm rot="0">
            <a:off x="10039350" y="5780158"/>
            <a:ext cx="7391542" cy="779992"/>
          </a:xfrm>
          <a:prstGeom prst="rect">
            <a:avLst/>
          </a:prstGeom>
        </p:spPr>
        <p:txBody>
          <a:bodyPr anchor="t" rtlCol="false" tIns="0" lIns="0" bIns="0" rIns="0">
            <a:spAutoFit/>
          </a:bodyPr>
          <a:lstStyle/>
          <a:p>
            <a:pPr algn="l">
              <a:lnSpc>
                <a:spcPts val="6000"/>
              </a:lnSpc>
            </a:pPr>
            <a:r>
              <a:rPr lang="en-US" sz="5000" b="true">
                <a:solidFill>
                  <a:srgbClr val="CC9267"/>
                </a:solidFill>
                <a:latin typeface="Bebas Neue Bold"/>
                <a:ea typeface="Bebas Neue Bold"/>
                <a:cs typeface="Bebas Neue Bold"/>
                <a:sym typeface="Bebas Neue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1097881" y="0"/>
            <a:ext cx="11932724" cy="10287000"/>
            <a:chOff x="0" y="0"/>
            <a:chExt cx="3142775" cy="2709333"/>
          </a:xfrm>
        </p:grpSpPr>
        <p:sp>
          <p:nvSpPr>
            <p:cNvPr name="Freeform 3" id="3"/>
            <p:cNvSpPr/>
            <p:nvPr/>
          </p:nvSpPr>
          <p:spPr>
            <a:xfrm flipH="false" flipV="false" rot="0">
              <a:off x="0" y="0"/>
              <a:ext cx="3142775" cy="2709333"/>
            </a:xfrm>
            <a:custGeom>
              <a:avLst/>
              <a:gdLst/>
              <a:ahLst/>
              <a:cxnLst/>
              <a:rect r="r" b="b" t="t" l="l"/>
              <a:pathLst>
                <a:path h="2709333" w="3142775">
                  <a:moveTo>
                    <a:pt x="0" y="0"/>
                  </a:moveTo>
                  <a:lnTo>
                    <a:pt x="3142775" y="0"/>
                  </a:lnTo>
                  <a:lnTo>
                    <a:pt x="3142775" y="2709333"/>
                  </a:lnTo>
                  <a:lnTo>
                    <a:pt x="0" y="2709333"/>
                  </a:lnTo>
                  <a:close/>
                </a:path>
              </a:pathLst>
            </a:custGeom>
            <a:solidFill>
              <a:srgbClr val="33261A"/>
            </a:solidFill>
          </p:spPr>
        </p:sp>
        <p:sp>
          <p:nvSpPr>
            <p:cNvPr name="TextBox 4" id="4"/>
            <p:cNvSpPr txBox="true"/>
            <p:nvPr/>
          </p:nvSpPr>
          <p:spPr>
            <a:xfrm>
              <a:off x="0" y="-9525"/>
              <a:ext cx="3142775" cy="2718858"/>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13561255" y="0"/>
            <a:ext cx="5721190" cy="10287000"/>
            <a:chOff x="0" y="0"/>
            <a:chExt cx="1506815" cy="2709333"/>
          </a:xfrm>
        </p:grpSpPr>
        <p:sp>
          <p:nvSpPr>
            <p:cNvPr name="Freeform 6" id="6"/>
            <p:cNvSpPr/>
            <p:nvPr/>
          </p:nvSpPr>
          <p:spPr>
            <a:xfrm flipH="false" flipV="false" rot="0">
              <a:off x="0" y="0"/>
              <a:ext cx="1506815" cy="2709333"/>
            </a:xfrm>
            <a:custGeom>
              <a:avLst/>
              <a:gdLst/>
              <a:ahLst/>
              <a:cxnLst/>
              <a:rect r="r" b="b" t="t" l="l"/>
              <a:pathLst>
                <a:path h="2709333" w="1506815">
                  <a:moveTo>
                    <a:pt x="0" y="0"/>
                  </a:moveTo>
                  <a:lnTo>
                    <a:pt x="1506815" y="0"/>
                  </a:lnTo>
                  <a:lnTo>
                    <a:pt x="1506815" y="2709333"/>
                  </a:lnTo>
                  <a:lnTo>
                    <a:pt x="0" y="2709333"/>
                  </a:lnTo>
                  <a:close/>
                </a:path>
              </a:pathLst>
            </a:custGeom>
            <a:solidFill>
              <a:srgbClr val="9C6942"/>
            </a:solidFill>
          </p:spPr>
        </p:sp>
        <p:sp>
          <p:nvSpPr>
            <p:cNvPr name="TextBox 7" id="7"/>
            <p:cNvSpPr txBox="true"/>
            <p:nvPr/>
          </p:nvSpPr>
          <p:spPr>
            <a:xfrm>
              <a:off x="0" y="-9525"/>
              <a:ext cx="1506815" cy="2718858"/>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9933777" y="730211"/>
            <a:ext cx="6488073" cy="8826579"/>
            <a:chOff x="0" y="0"/>
            <a:chExt cx="1005172" cy="1367468"/>
          </a:xfrm>
        </p:grpSpPr>
        <p:sp>
          <p:nvSpPr>
            <p:cNvPr name="Freeform 9" id="9"/>
            <p:cNvSpPr/>
            <p:nvPr/>
          </p:nvSpPr>
          <p:spPr>
            <a:xfrm flipH="false" flipV="false" rot="0">
              <a:off x="0" y="0"/>
              <a:ext cx="1005172" cy="1367468"/>
            </a:xfrm>
            <a:custGeom>
              <a:avLst/>
              <a:gdLst/>
              <a:ahLst/>
              <a:cxnLst/>
              <a:rect r="r" b="b" t="t" l="l"/>
              <a:pathLst>
                <a:path h="1367468" w="1005172">
                  <a:moveTo>
                    <a:pt x="0" y="0"/>
                  </a:moveTo>
                  <a:lnTo>
                    <a:pt x="1005172" y="0"/>
                  </a:lnTo>
                  <a:lnTo>
                    <a:pt x="1005172" y="1367468"/>
                  </a:lnTo>
                  <a:lnTo>
                    <a:pt x="0" y="1367468"/>
                  </a:lnTo>
                  <a:close/>
                </a:path>
              </a:pathLst>
            </a:custGeom>
            <a:blipFill>
              <a:blip r:embed="rId3"/>
              <a:stretch>
                <a:fillRect l="0" t="-5164" r="0" b="-5164"/>
              </a:stretch>
            </a:blipFill>
          </p:spPr>
        </p:sp>
      </p:grpSp>
      <p:grpSp>
        <p:nvGrpSpPr>
          <p:cNvPr name="Group 10" id="10"/>
          <p:cNvGrpSpPr/>
          <p:nvPr/>
        </p:nvGrpSpPr>
        <p:grpSpPr>
          <a:xfrm rot="0">
            <a:off x="-607735" y="1028700"/>
            <a:ext cx="9103428" cy="2063805"/>
            <a:chOff x="0" y="0"/>
            <a:chExt cx="2397611" cy="543554"/>
          </a:xfrm>
        </p:grpSpPr>
        <p:sp>
          <p:nvSpPr>
            <p:cNvPr name="Freeform 11" id="11"/>
            <p:cNvSpPr/>
            <p:nvPr/>
          </p:nvSpPr>
          <p:spPr>
            <a:xfrm flipH="false" flipV="false" rot="0">
              <a:off x="0" y="0"/>
              <a:ext cx="2397611" cy="543554"/>
            </a:xfrm>
            <a:custGeom>
              <a:avLst/>
              <a:gdLst/>
              <a:ahLst/>
              <a:cxnLst/>
              <a:rect r="r" b="b" t="t" l="l"/>
              <a:pathLst>
                <a:path h="543554" w="2397611">
                  <a:moveTo>
                    <a:pt x="0" y="0"/>
                  </a:moveTo>
                  <a:lnTo>
                    <a:pt x="2397611" y="0"/>
                  </a:lnTo>
                  <a:lnTo>
                    <a:pt x="2397611" y="543554"/>
                  </a:lnTo>
                  <a:lnTo>
                    <a:pt x="0" y="543554"/>
                  </a:lnTo>
                  <a:close/>
                </a:path>
              </a:pathLst>
            </a:custGeom>
            <a:solidFill>
              <a:srgbClr val="9C6942"/>
            </a:solidFill>
          </p:spPr>
        </p:sp>
        <p:sp>
          <p:nvSpPr>
            <p:cNvPr name="TextBox 12" id="12"/>
            <p:cNvSpPr txBox="true"/>
            <p:nvPr/>
          </p:nvSpPr>
          <p:spPr>
            <a:xfrm>
              <a:off x="0" y="-9525"/>
              <a:ext cx="2397611" cy="553079"/>
            </a:xfrm>
            <a:prstGeom prst="rect">
              <a:avLst/>
            </a:prstGeom>
          </p:spPr>
          <p:txBody>
            <a:bodyPr anchor="ctr" rtlCol="false" tIns="50800" lIns="50800" bIns="50800" rIns="50800"/>
            <a:lstStyle/>
            <a:p>
              <a:pPr algn="ctr">
                <a:lnSpc>
                  <a:spcPts val="2640"/>
                </a:lnSpc>
              </a:pPr>
            </a:p>
          </p:txBody>
        </p:sp>
      </p:grpSp>
      <p:sp>
        <p:nvSpPr>
          <p:cNvPr name="Freeform 13" id="13"/>
          <p:cNvSpPr/>
          <p:nvPr/>
        </p:nvSpPr>
        <p:spPr>
          <a:xfrm flipH="false" flipV="false" rot="0">
            <a:off x="732999"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787231" y="19769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599273" y="3400055"/>
            <a:ext cx="5079742" cy="730462"/>
          </a:xfrm>
          <a:prstGeom prst="rect">
            <a:avLst/>
          </a:prstGeom>
        </p:spPr>
        <p:txBody>
          <a:bodyPr anchor="t" rtlCol="false" tIns="0" lIns="0" bIns="0" rIns="0">
            <a:spAutoFit/>
          </a:bodyPr>
          <a:lstStyle/>
          <a:p>
            <a:pPr algn="l">
              <a:lnSpc>
                <a:spcPts val="5880"/>
              </a:lnSpc>
            </a:pPr>
            <a:r>
              <a:rPr lang="en-US" sz="4200" b="true">
                <a:solidFill>
                  <a:srgbClr val="FAFAF9"/>
                </a:solidFill>
                <a:latin typeface="Bebas Neue Bold"/>
                <a:ea typeface="Bebas Neue Bold"/>
                <a:cs typeface="Bebas Neue Bold"/>
                <a:sym typeface="Bebas Neue Bold"/>
              </a:rPr>
              <a:t>Transactional leadership</a:t>
            </a:r>
          </a:p>
        </p:txBody>
      </p:sp>
      <p:sp>
        <p:nvSpPr>
          <p:cNvPr name="TextBox 16" id="16"/>
          <p:cNvSpPr txBox="true"/>
          <p:nvPr/>
        </p:nvSpPr>
        <p:spPr>
          <a:xfrm rot="0">
            <a:off x="1599273" y="6506491"/>
            <a:ext cx="5570696" cy="730462"/>
          </a:xfrm>
          <a:prstGeom prst="rect">
            <a:avLst/>
          </a:prstGeom>
        </p:spPr>
        <p:txBody>
          <a:bodyPr anchor="t" rtlCol="false" tIns="0" lIns="0" bIns="0" rIns="0">
            <a:spAutoFit/>
          </a:bodyPr>
          <a:lstStyle/>
          <a:p>
            <a:pPr algn="l">
              <a:lnSpc>
                <a:spcPts val="5880"/>
              </a:lnSpc>
            </a:pPr>
            <a:r>
              <a:rPr lang="en-US" sz="4200" b="true">
                <a:solidFill>
                  <a:srgbClr val="FAFAF9"/>
                </a:solidFill>
                <a:latin typeface="Bebas Neue Bold"/>
                <a:ea typeface="Bebas Neue Bold"/>
                <a:cs typeface="Bebas Neue Bold"/>
                <a:sym typeface="Bebas Neue Bold"/>
              </a:rPr>
              <a:t>Transformational leadership</a:t>
            </a:r>
          </a:p>
        </p:txBody>
      </p:sp>
      <p:sp>
        <p:nvSpPr>
          <p:cNvPr name="TextBox 17" id="17"/>
          <p:cNvSpPr txBox="true"/>
          <p:nvPr/>
        </p:nvSpPr>
        <p:spPr>
          <a:xfrm rot="0">
            <a:off x="1549869" y="1687224"/>
            <a:ext cx="6637224" cy="1056217"/>
          </a:xfrm>
          <a:prstGeom prst="rect">
            <a:avLst/>
          </a:prstGeom>
        </p:spPr>
        <p:txBody>
          <a:bodyPr anchor="t" rtlCol="false" tIns="0" lIns="0" bIns="0" rIns="0">
            <a:spAutoFit/>
          </a:bodyPr>
          <a:lstStyle/>
          <a:p>
            <a:pPr algn="l">
              <a:lnSpc>
                <a:spcPts val="7875"/>
              </a:lnSpc>
            </a:pPr>
            <a:r>
              <a:rPr lang="en-US" sz="7500" b="true">
                <a:solidFill>
                  <a:srgbClr val="FFFFFF"/>
                </a:solidFill>
                <a:latin typeface="Bebas Neue Bold"/>
                <a:ea typeface="Bebas Neue Bold"/>
                <a:cs typeface="Bebas Neue Bold"/>
                <a:sym typeface="Bebas Neue Bold"/>
              </a:rPr>
              <a:t>INTRODUCTION</a:t>
            </a:r>
          </a:p>
        </p:txBody>
      </p:sp>
      <p:sp>
        <p:nvSpPr>
          <p:cNvPr name="TextBox 18" id="18"/>
          <p:cNvSpPr txBox="true"/>
          <p:nvPr/>
        </p:nvSpPr>
        <p:spPr>
          <a:xfrm rot="0">
            <a:off x="1599273" y="4190435"/>
            <a:ext cx="2407213" cy="1515178"/>
          </a:xfrm>
          <a:prstGeom prst="rect">
            <a:avLst/>
          </a:prstGeom>
        </p:spPr>
        <p:txBody>
          <a:bodyPr anchor="t" rtlCol="false" tIns="0" lIns="0" bIns="0" rIns="0">
            <a:spAutoFit/>
          </a:bodyPr>
          <a:lstStyle/>
          <a:p>
            <a:pPr algn="l">
              <a:lnSpc>
                <a:spcPts val="3048"/>
              </a:lnSpc>
            </a:pPr>
            <a:r>
              <a:rPr lang="en-US" sz="2540">
                <a:solidFill>
                  <a:srgbClr val="FFFFFF"/>
                </a:solidFill>
                <a:latin typeface="Glacial Indifference"/>
                <a:ea typeface="Glacial Indifference"/>
                <a:cs typeface="Glacial Indifference"/>
                <a:sym typeface="Glacial Indifference"/>
              </a:rPr>
              <a:t>Focuses on:</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Tasks</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Rules</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Exchanges</a:t>
            </a:r>
          </a:p>
        </p:txBody>
      </p:sp>
      <p:sp>
        <p:nvSpPr>
          <p:cNvPr name="TextBox 19" id="19"/>
          <p:cNvSpPr txBox="true"/>
          <p:nvPr/>
        </p:nvSpPr>
        <p:spPr>
          <a:xfrm rot="0">
            <a:off x="5735950" y="4190435"/>
            <a:ext cx="3481656" cy="1136384"/>
          </a:xfrm>
          <a:prstGeom prst="rect">
            <a:avLst/>
          </a:prstGeom>
        </p:spPr>
        <p:txBody>
          <a:bodyPr anchor="t" rtlCol="false" tIns="0" lIns="0" bIns="0" rIns="0">
            <a:spAutoFit/>
          </a:bodyPr>
          <a:lstStyle/>
          <a:p>
            <a:pPr algn="l">
              <a:lnSpc>
                <a:spcPts val="3048"/>
              </a:lnSpc>
            </a:pPr>
            <a:r>
              <a:rPr lang="en-US" sz="2540">
                <a:solidFill>
                  <a:srgbClr val="FFFFFF"/>
                </a:solidFill>
                <a:latin typeface="Glacial Indifference"/>
                <a:ea typeface="Glacial Indifference"/>
                <a:cs typeface="Glacial Indifference"/>
                <a:sym typeface="Glacial Indifference"/>
              </a:rPr>
              <a:t>Performance based:</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Reward</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Punishment</a:t>
            </a:r>
          </a:p>
        </p:txBody>
      </p:sp>
      <p:sp>
        <p:nvSpPr>
          <p:cNvPr name="TextBox 20" id="20"/>
          <p:cNvSpPr txBox="true"/>
          <p:nvPr/>
        </p:nvSpPr>
        <p:spPr>
          <a:xfrm rot="0">
            <a:off x="1782209" y="7618993"/>
            <a:ext cx="2407213" cy="1136384"/>
          </a:xfrm>
          <a:prstGeom prst="rect">
            <a:avLst/>
          </a:prstGeom>
        </p:spPr>
        <p:txBody>
          <a:bodyPr anchor="t" rtlCol="false" tIns="0" lIns="0" bIns="0" rIns="0">
            <a:spAutoFit/>
          </a:bodyPr>
          <a:lstStyle/>
          <a:p>
            <a:pPr algn="l">
              <a:lnSpc>
                <a:spcPts val="3048"/>
              </a:lnSpc>
            </a:pPr>
            <a:r>
              <a:rPr lang="en-US" sz="2540">
                <a:solidFill>
                  <a:srgbClr val="FFFFFF"/>
                </a:solidFill>
                <a:latin typeface="Glacial Indifference"/>
                <a:ea typeface="Glacial Indifference"/>
                <a:cs typeface="Glacial Indifference"/>
                <a:sym typeface="Glacial Indifference"/>
              </a:rPr>
              <a:t>Based on:</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Inspiration</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Motivation</a:t>
            </a:r>
          </a:p>
        </p:txBody>
      </p:sp>
      <p:sp>
        <p:nvSpPr>
          <p:cNvPr name="TextBox 21" id="21"/>
          <p:cNvSpPr txBox="true"/>
          <p:nvPr/>
        </p:nvSpPr>
        <p:spPr>
          <a:xfrm rot="0">
            <a:off x="6007153" y="7618993"/>
            <a:ext cx="3926624" cy="1136384"/>
          </a:xfrm>
          <a:prstGeom prst="rect">
            <a:avLst/>
          </a:prstGeom>
        </p:spPr>
        <p:txBody>
          <a:bodyPr anchor="t" rtlCol="false" tIns="0" lIns="0" bIns="0" rIns="0">
            <a:spAutoFit/>
          </a:bodyPr>
          <a:lstStyle/>
          <a:p>
            <a:pPr algn="l">
              <a:lnSpc>
                <a:spcPts val="3048"/>
              </a:lnSpc>
            </a:pPr>
            <a:r>
              <a:rPr lang="en-US" sz="2540">
                <a:solidFill>
                  <a:srgbClr val="FFFFFF"/>
                </a:solidFill>
                <a:latin typeface="Glacial Indifference"/>
                <a:ea typeface="Glacial Indifference"/>
                <a:cs typeface="Glacial Indifference"/>
                <a:sym typeface="Glacial Indifference"/>
              </a:rPr>
              <a:t>Focuses on:</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Shared Vision</a:t>
            </a:r>
          </a:p>
          <a:p>
            <a:pPr algn="l" marL="548549" indent="-274275" lvl="1">
              <a:lnSpc>
                <a:spcPts val="3048"/>
              </a:lnSpc>
              <a:buFont typeface="Arial"/>
              <a:buChar char="•"/>
            </a:pPr>
            <a:r>
              <a:rPr lang="en-US" sz="2540">
                <a:solidFill>
                  <a:srgbClr val="FFFFFF"/>
                </a:solidFill>
                <a:latin typeface="Glacial Indifference"/>
                <a:ea typeface="Glacial Indifference"/>
                <a:cs typeface="Glacial Indifference"/>
                <a:sym typeface="Glacial Indifference"/>
              </a:rPr>
              <a:t>Individual Development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8411823" y="-1118794"/>
            <a:ext cx="10416938" cy="11617995"/>
            <a:chOff x="0" y="0"/>
            <a:chExt cx="2743556" cy="3059883"/>
          </a:xfrm>
        </p:grpSpPr>
        <p:sp>
          <p:nvSpPr>
            <p:cNvPr name="Freeform 3" id="3"/>
            <p:cNvSpPr/>
            <p:nvPr/>
          </p:nvSpPr>
          <p:spPr>
            <a:xfrm flipH="false" flipV="false" rot="0">
              <a:off x="0" y="0"/>
              <a:ext cx="2743556" cy="3059883"/>
            </a:xfrm>
            <a:custGeom>
              <a:avLst/>
              <a:gdLst/>
              <a:ahLst/>
              <a:cxnLst/>
              <a:rect r="r" b="b" t="t" l="l"/>
              <a:pathLst>
                <a:path h="3059883" w="2743556">
                  <a:moveTo>
                    <a:pt x="0" y="0"/>
                  </a:moveTo>
                  <a:lnTo>
                    <a:pt x="2743556" y="0"/>
                  </a:lnTo>
                  <a:lnTo>
                    <a:pt x="2743556" y="3059883"/>
                  </a:lnTo>
                  <a:lnTo>
                    <a:pt x="0" y="3059883"/>
                  </a:lnTo>
                  <a:close/>
                </a:path>
              </a:pathLst>
            </a:custGeom>
            <a:solidFill>
              <a:srgbClr val="33261A"/>
            </a:solidFill>
          </p:spPr>
        </p:sp>
        <p:sp>
          <p:nvSpPr>
            <p:cNvPr name="TextBox 4" id="4"/>
            <p:cNvSpPr txBox="true"/>
            <p:nvPr/>
          </p:nvSpPr>
          <p:spPr>
            <a:xfrm>
              <a:off x="0" y="-9525"/>
              <a:ext cx="2743556" cy="3069408"/>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344705" y="0"/>
            <a:ext cx="5721190" cy="10401300"/>
            <a:chOff x="0" y="0"/>
            <a:chExt cx="1506815" cy="2739437"/>
          </a:xfrm>
        </p:grpSpPr>
        <p:sp>
          <p:nvSpPr>
            <p:cNvPr name="Freeform 6" id="6"/>
            <p:cNvSpPr/>
            <p:nvPr/>
          </p:nvSpPr>
          <p:spPr>
            <a:xfrm flipH="false" flipV="false" rot="0">
              <a:off x="0" y="0"/>
              <a:ext cx="1506815" cy="2739437"/>
            </a:xfrm>
            <a:custGeom>
              <a:avLst/>
              <a:gdLst/>
              <a:ahLst/>
              <a:cxnLst/>
              <a:rect r="r" b="b" t="t" l="l"/>
              <a:pathLst>
                <a:path h="2739437" w="1506815">
                  <a:moveTo>
                    <a:pt x="0" y="0"/>
                  </a:moveTo>
                  <a:lnTo>
                    <a:pt x="1506815" y="0"/>
                  </a:lnTo>
                  <a:lnTo>
                    <a:pt x="1506815" y="2739437"/>
                  </a:lnTo>
                  <a:lnTo>
                    <a:pt x="0" y="2739437"/>
                  </a:lnTo>
                  <a:close/>
                </a:path>
              </a:pathLst>
            </a:custGeom>
            <a:solidFill>
              <a:srgbClr val="9C6942"/>
            </a:solidFill>
          </p:spPr>
        </p:sp>
        <p:sp>
          <p:nvSpPr>
            <p:cNvPr name="TextBox 7" id="7"/>
            <p:cNvSpPr txBox="true"/>
            <p:nvPr/>
          </p:nvSpPr>
          <p:spPr>
            <a:xfrm>
              <a:off x="0" y="-9525"/>
              <a:ext cx="1506815" cy="2748962"/>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9601424" y="1028717"/>
            <a:ext cx="9103428" cy="2063805"/>
            <a:chOff x="0" y="0"/>
            <a:chExt cx="2397611" cy="543554"/>
          </a:xfrm>
        </p:grpSpPr>
        <p:sp>
          <p:nvSpPr>
            <p:cNvPr name="Freeform 9" id="9"/>
            <p:cNvSpPr/>
            <p:nvPr/>
          </p:nvSpPr>
          <p:spPr>
            <a:xfrm flipH="false" flipV="false" rot="0">
              <a:off x="0" y="0"/>
              <a:ext cx="2397611" cy="543554"/>
            </a:xfrm>
            <a:custGeom>
              <a:avLst/>
              <a:gdLst/>
              <a:ahLst/>
              <a:cxnLst/>
              <a:rect r="r" b="b" t="t" l="l"/>
              <a:pathLst>
                <a:path h="543554" w="2397611">
                  <a:moveTo>
                    <a:pt x="0" y="0"/>
                  </a:moveTo>
                  <a:lnTo>
                    <a:pt x="2397611" y="0"/>
                  </a:lnTo>
                  <a:lnTo>
                    <a:pt x="2397611" y="543554"/>
                  </a:lnTo>
                  <a:lnTo>
                    <a:pt x="0" y="543554"/>
                  </a:lnTo>
                  <a:close/>
                </a:path>
              </a:pathLst>
            </a:custGeom>
            <a:solidFill>
              <a:srgbClr val="9C6942"/>
            </a:solidFill>
          </p:spPr>
        </p:sp>
        <p:sp>
          <p:nvSpPr>
            <p:cNvPr name="TextBox 10" id="10"/>
            <p:cNvSpPr txBox="true"/>
            <p:nvPr/>
          </p:nvSpPr>
          <p:spPr>
            <a:xfrm>
              <a:off x="0" y="-9525"/>
              <a:ext cx="2397611" cy="553079"/>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028700" y="744855"/>
            <a:ext cx="6396386" cy="8909241"/>
            <a:chOff x="0" y="0"/>
            <a:chExt cx="990968" cy="1380274"/>
          </a:xfrm>
        </p:grpSpPr>
        <p:sp>
          <p:nvSpPr>
            <p:cNvPr name="Freeform 12" id="12"/>
            <p:cNvSpPr/>
            <p:nvPr/>
          </p:nvSpPr>
          <p:spPr>
            <a:xfrm flipH="false" flipV="false" rot="0">
              <a:off x="0" y="0"/>
              <a:ext cx="990968" cy="1380274"/>
            </a:xfrm>
            <a:custGeom>
              <a:avLst/>
              <a:gdLst/>
              <a:ahLst/>
              <a:cxnLst/>
              <a:rect r="r" b="b" t="t" l="l"/>
              <a:pathLst>
                <a:path h="1380274" w="990968">
                  <a:moveTo>
                    <a:pt x="0" y="0"/>
                  </a:moveTo>
                  <a:lnTo>
                    <a:pt x="990968" y="0"/>
                  </a:lnTo>
                  <a:lnTo>
                    <a:pt x="990968" y="1380274"/>
                  </a:lnTo>
                  <a:lnTo>
                    <a:pt x="0" y="1380274"/>
                  </a:lnTo>
                  <a:close/>
                </a:path>
              </a:pathLst>
            </a:custGeom>
            <a:blipFill>
              <a:blip r:embed="rId3"/>
              <a:stretch>
                <a:fillRect l="-13" t="-7788" r="-13" b="0"/>
              </a:stretch>
            </a:blipFill>
          </p:spPr>
        </p:sp>
      </p:grpSp>
      <p:sp>
        <p:nvSpPr>
          <p:cNvPr name="Freeform 13" id="13"/>
          <p:cNvSpPr/>
          <p:nvPr/>
        </p:nvSpPr>
        <p:spPr>
          <a:xfrm flipH="false" flipV="false" rot="0">
            <a:off x="12816541"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3254530" y="213681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9468074" y="1641519"/>
            <a:ext cx="8608332" cy="1056217"/>
          </a:xfrm>
          <a:prstGeom prst="rect">
            <a:avLst/>
          </a:prstGeom>
        </p:spPr>
        <p:txBody>
          <a:bodyPr anchor="t" rtlCol="false" tIns="0" lIns="0" bIns="0" rIns="0">
            <a:spAutoFit/>
          </a:bodyPr>
          <a:lstStyle/>
          <a:p>
            <a:pPr algn="r">
              <a:lnSpc>
                <a:spcPts val="7875"/>
              </a:lnSpc>
            </a:pPr>
            <a:r>
              <a:rPr lang="en-US" b="true" sz="7500">
                <a:solidFill>
                  <a:srgbClr val="FFFFFF"/>
                </a:solidFill>
                <a:latin typeface="Bebas Neue Bold"/>
                <a:ea typeface="Bebas Neue Bold"/>
                <a:cs typeface="Bebas Neue Bold"/>
                <a:sym typeface="Bebas Neue Bold"/>
              </a:rPr>
              <a:t>TEMPORARY ORGANIZATIONS</a:t>
            </a:r>
          </a:p>
        </p:txBody>
      </p:sp>
      <p:sp>
        <p:nvSpPr>
          <p:cNvPr name="TextBox 16" id="16"/>
          <p:cNvSpPr txBox="true"/>
          <p:nvPr/>
        </p:nvSpPr>
        <p:spPr>
          <a:xfrm rot="0">
            <a:off x="9810392" y="3314700"/>
            <a:ext cx="6538591" cy="3043138"/>
          </a:xfrm>
          <a:prstGeom prst="rect">
            <a:avLst/>
          </a:prstGeom>
        </p:spPr>
        <p:txBody>
          <a:bodyPr anchor="t" rtlCol="false" tIns="0" lIns="0" bIns="0" rIns="0">
            <a:spAutoFit/>
          </a:bodyPr>
          <a:lstStyle/>
          <a:p>
            <a:pPr algn="just" marL="649386" indent="-324693" lvl="1">
              <a:lnSpc>
                <a:spcPts val="4060"/>
              </a:lnSpc>
              <a:buFont typeface="Arial"/>
              <a:buChar char="•"/>
            </a:pPr>
            <a:r>
              <a:rPr lang="en-US" sz="3007">
                <a:solidFill>
                  <a:srgbClr val="FFFFFF"/>
                </a:solidFill>
                <a:latin typeface="Glacial Indifference"/>
                <a:ea typeface="Glacial Indifference"/>
                <a:cs typeface="Glacial Indifference"/>
                <a:sym typeface="Glacial Indifference"/>
              </a:rPr>
              <a:t>Not like Traditional Organizations</a:t>
            </a:r>
          </a:p>
          <a:p>
            <a:pPr algn="just" marL="649386" indent="-324693" lvl="1">
              <a:lnSpc>
                <a:spcPts val="4060"/>
              </a:lnSpc>
              <a:buFont typeface="Arial"/>
              <a:buChar char="•"/>
            </a:pPr>
            <a:r>
              <a:rPr lang="en-US" sz="3007">
                <a:solidFill>
                  <a:srgbClr val="FFFFFF"/>
                </a:solidFill>
                <a:latin typeface="Glacial Indifference"/>
                <a:ea typeface="Glacial Indifference"/>
                <a:cs typeface="Glacial Indifference"/>
                <a:sym typeface="Glacial Indifference"/>
              </a:rPr>
              <a:t>Formed for:</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Short Term</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Specific Objectives</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Small Projects</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Task Forces</a:t>
            </a:r>
          </a:p>
        </p:txBody>
      </p:sp>
      <p:sp>
        <p:nvSpPr>
          <p:cNvPr name="TextBox 17" id="17"/>
          <p:cNvSpPr txBox="true"/>
          <p:nvPr/>
        </p:nvSpPr>
        <p:spPr>
          <a:xfrm rot="0">
            <a:off x="9810392" y="6615013"/>
            <a:ext cx="7763233" cy="2025534"/>
          </a:xfrm>
          <a:prstGeom prst="rect">
            <a:avLst/>
          </a:prstGeom>
        </p:spPr>
        <p:txBody>
          <a:bodyPr anchor="t" rtlCol="false" tIns="0" lIns="0" bIns="0" rIns="0">
            <a:spAutoFit/>
          </a:bodyPr>
          <a:lstStyle/>
          <a:p>
            <a:pPr algn="just" marL="649386" indent="-324693" lvl="1">
              <a:lnSpc>
                <a:spcPts val="4060"/>
              </a:lnSpc>
              <a:buFont typeface="Arial"/>
              <a:buChar char="•"/>
            </a:pPr>
            <a:r>
              <a:rPr lang="en-US" sz="3007">
                <a:solidFill>
                  <a:srgbClr val="FFFFFF"/>
                </a:solidFill>
                <a:latin typeface="Glacial Indifference"/>
                <a:ea typeface="Glacial Indifference"/>
                <a:cs typeface="Glacial Indifference"/>
                <a:sym typeface="Glacial Indifference"/>
              </a:rPr>
              <a:t>Brings unique challenges:</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Limited time to build relationships</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High task uncertainty</a:t>
            </a:r>
          </a:p>
          <a:p>
            <a:pPr algn="just" marL="1298773" indent="-432924" lvl="2">
              <a:lnSpc>
                <a:spcPts val="4060"/>
              </a:lnSpc>
              <a:buFont typeface="Arial"/>
              <a:buChar char="⚬"/>
            </a:pPr>
            <a:r>
              <a:rPr lang="en-US" sz="3007">
                <a:solidFill>
                  <a:srgbClr val="FFFFFF"/>
                </a:solidFill>
                <a:latin typeface="Glacial Indifference"/>
                <a:ea typeface="Glacial Indifference"/>
                <a:cs typeface="Glacial Indifference"/>
                <a:sym typeface="Glacial Indifference"/>
              </a:rPr>
              <a:t>Collaboration among diverse experts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8411823" y="-1118794"/>
            <a:ext cx="10416938" cy="11617995"/>
            <a:chOff x="0" y="0"/>
            <a:chExt cx="2743556" cy="3059883"/>
          </a:xfrm>
        </p:grpSpPr>
        <p:sp>
          <p:nvSpPr>
            <p:cNvPr name="Freeform 3" id="3"/>
            <p:cNvSpPr/>
            <p:nvPr/>
          </p:nvSpPr>
          <p:spPr>
            <a:xfrm flipH="false" flipV="false" rot="0">
              <a:off x="0" y="0"/>
              <a:ext cx="2743556" cy="3059883"/>
            </a:xfrm>
            <a:custGeom>
              <a:avLst/>
              <a:gdLst/>
              <a:ahLst/>
              <a:cxnLst/>
              <a:rect r="r" b="b" t="t" l="l"/>
              <a:pathLst>
                <a:path h="3059883" w="2743556">
                  <a:moveTo>
                    <a:pt x="0" y="0"/>
                  </a:moveTo>
                  <a:lnTo>
                    <a:pt x="2743556" y="0"/>
                  </a:lnTo>
                  <a:lnTo>
                    <a:pt x="2743556" y="3059883"/>
                  </a:lnTo>
                  <a:lnTo>
                    <a:pt x="0" y="3059883"/>
                  </a:lnTo>
                  <a:close/>
                </a:path>
              </a:pathLst>
            </a:custGeom>
            <a:solidFill>
              <a:srgbClr val="33261A"/>
            </a:solidFill>
          </p:spPr>
        </p:sp>
        <p:sp>
          <p:nvSpPr>
            <p:cNvPr name="TextBox 4" id="4"/>
            <p:cNvSpPr txBox="true"/>
            <p:nvPr/>
          </p:nvSpPr>
          <p:spPr>
            <a:xfrm>
              <a:off x="0" y="-9525"/>
              <a:ext cx="2743556" cy="3069408"/>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344705" y="0"/>
            <a:ext cx="5721190" cy="10401300"/>
            <a:chOff x="0" y="0"/>
            <a:chExt cx="1506815" cy="2739437"/>
          </a:xfrm>
        </p:grpSpPr>
        <p:sp>
          <p:nvSpPr>
            <p:cNvPr name="Freeform 6" id="6"/>
            <p:cNvSpPr/>
            <p:nvPr/>
          </p:nvSpPr>
          <p:spPr>
            <a:xfrm flipH="false" flipV="false" rot="0">
              <a:off x="0" y="0"/>
              <a:ext cx="1506815" cy="2739437"/>
            </a:xfrm>
            <a:custGeom>
              <a:avLst/>
              <a:gdLst/>
              <a:ahLst/>
              <a:cxnLst/>
              <a:rect r="r" b="b" t="t" l="l"/>
              <a:pathLst>
                <a:path h="2739437" w="1506815">
                  <a:moveTo>
                    <a:pt x="0" y="0"/>
                  </a:moveTo>
                  <a:lnTo>
                    <a:pt x="1506815" y="0"/>
                  </a:lnTo>
                  <a:lnTo>
                    <a:pt x="1506815" y="2739437"/>
                  </a:lnTo>
                  <a:lnTo>
                    <a:pt x="0" y="2739437"/>
                  </a:lnTo>
                  <a:close/>
                </a:path>
              </a:pathLst>
            </a:custGeom>
            <a:solidFill>
              <a:srgbClr val="9C6942"/>
            </a:solidFill>
          </p:spPr>
        </p:sp>
        <p:sp>
          <p:nvSpPr>
            <p:cNvPr name="TextBox 7" id="7"/>
            <p:cNvSpPr txBox="true"/>
            <p:nvPr/>
          </p:nvSpPr>
          <p:spPr>
            <a:xfrm>
              <a:off x="0" y="-9525"/>
              <a:ext cx="1506815" cy="2748962"/>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0013034" y="648835"/>
            <a:ext cx="9103428" cy="2591897"/>
            <a:chOff x="0" y="0"/>
            <a:chExt cx="2397611" cy="682640"/>
          </a:xfrm>
        </p:grpSpPr>
        <p:sp>
          <p:nvSpPr>
            <p:cNvPr name="Freeform 9" id="9"/>
            <p:cNvSpPr/>
            <p:nvPr/>
          </p:nvSpPr>
          <p:spPr>
            <a:xfrm flipH="false" flipV="false" rot="0">
              <a:off x="0" y="0"/>
              <a:ext cx="2397611" cy="682640"/>
            </a:xfrm>
            <a:custGeom>
              <a:avLst/>
              <a:gdLst/>
              <a:ahLst/>
              <a:cxnLst/>
              <a:rect r="r" b="b" t="t" l="l"/>
              <a:pathLst>
                <a:path h="682640" w="2397611">
                  <a:moveTo>
                    <a:pt x="0" y="0"/>
                  </a:moveTo>
                  <a:lnTo>
                    <a:pt x="2397611" y="0"/>
                  </a:lnTo>
                  <a:lnTo>
                    <a:pt x="2397611" y="682640"/>
                  </a:lnTo>
                  <a:lnTo>
                    <a:pt x="0" y="682640"/>
                  </a:lnTo>
                  <a:close/>
                </a:path>
              </a:pathLst>
            </a:custGeom>
            <a:solidFill>
              <a:srgbClr val="9C6942"/>
            </a:solidFill>
          </p:spPr>
        </p:sp>
        <p:sp>
          <p:nvSpPr>
            <p:cNvPr name="TextBox 10" id="10"/>
            <p:cNvSpPr txBox="true"/>
            <p:nvPr/>
          </p:nvSpPr>
          <p:spPr>
            <a:xfrm>
              <a:off x="0" y="-9525"/>
              <a:ext cx="2397611" cy="692165"/>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2816541"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3254530" y="213681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0253599" y="1094201"/>
            <a:ext cx="7302681" cy="1798108"/>
          </a:xfrm>
          <a:prstGeom prst="rect">
            <a:avLst/>
          </a:prstGeom>
        </p:spPr>
        <p:txBody>
          <a:bodyPr anchor="t" rtlCol="false" tIns="0" lIns="0" bIns="0" rIns="0">
            <a:spAutoFit/>
          </a:bodyPr>
          <a:lstStyle/>
          <a:p>
            <a:pPr algn="just">
              <a:lnSpc>
                <a:spcPts val="6825"/>
              </a:lnSpc>
            </a:pPr>
            <a:r>
              <a:rPr lang="en-US" b="true" sz="6500">
                <a:solidFill>
                  <a:srgbClr val="FFFFFF"/>
                </a:solidFill>
                <a:latin typeface="Bebas Neue Bold"/>
                <a:ea typeface="Bebas Neue Bold"/>
                <a:cs typeface="Bebas Neue Bold"/>
                <a:sym typeface="Bebas Neue Bold"/>
              </a:rPr>
              <a:t>CHARACTERISTICS OF</a:t>
            </a:r>
          </a:p>
          <a:p>
            <a:pPr algn="just">
              <a:lnSpc>
                <a:spcPts val="6825"/>
              </a:lnSpc>
            </a:pPr>
            <a:r>
              <a:rPr lang="en-US" b="true" sz="6500">
                <a:solidFill>
                  <a:srgbClr val="FFFFFF"/>
                </a:solidFill>
                <a:latin typeface="Bebas Neue Bold"/>
                <a:ea typeface="Bebas Neue Bold"/>
                <a:cs typeface="Bebas Neue Bold"/>
                <a:sym typeface="Bebas Neue Bold"/>
              </a:rPr>
              <a:t>TEMPORARY ORGANIZATIONS</a:t>
            </a:r>
          </a:p>
        </p:txBody>
      </p:sp>
      <p:grpSp>
        <p:nvGrpSpPr>
          <p:cNvPr name="Group 14" id="14"/>
          <p:cNvGrpSpPr/>
          <p:nvPr/>
        </p:nvGrpSpPr>
        <p:grpSpPr>
          <a:xfrm rot="0">
            <a:off x="1028700" y="705370"/>
            <a:ext cx="6524592" cy="8876260"/>
            <a:chOff x="0" y="0"/>
            <a:chExt cx="1005172" cy="1367468"/>
          </a:xfrm>
        </p:grpSpPr>
        <p:sp>
          <p:nvSpPr>
            <p:cNvPr name="Freeform 15" id="15"/>
            <p:cNvSpPr/>
            <p:nvPr/>
          </p:nvSpPr>
          <p:spPr>
            <a:xfrm flipH="false" flipV="false" rot="0">
              <a:off x="0" y="0"/>
              <a:ext cx="1005172" cy="1367468"/>
            </a:xfrm>
            <a:custGeom>
              <a:avLst/>
              <a:gdLst/>
              <a:ahLst/>
              <a:cxnLst/>
              <a:rect r="r" b="b" t="t" l="l"/>
              <a:pathLst>
                <a:path h="1367468" w="1005172">
                  <a:moveTo>
                    <a:pt x="0" y="0"/>
                  </a:moveTo>
                  <a:lnTo>
                    <a:pt x="1005172" y="0"/>
                  </a:lnTo>
                  <a:lnTo>
                    <a:pt x="1005172" y="1367468"/>
                  </a:lnTo>
                  <a:lnTo>
                    <a:pt x="0" y="1367468"/>
                  </a:lnTo>
                  <a:close/>
                </a:path>
              </a:pathLst>
            </a:custGeom>
            <a:blipFill>
              <a:blip r:embed="rId7"/>
              <a:stretch>
                <a:fillRect l="0" t="-5164" r="0" b="-5164"/>
              </a:stretch>
            </a:blipFill>
          </p:spPr>
        </p:sp>
      </p:grpSp>
      <p:sp>
        <p:nvSpPr>
          <p:cNvPr name="TextBox 16" id="16"/>
          <p:cNvSpPr txBox="true"/>
          <p:nvPr/>
        </p:nvSpPr>
        <p:spPr>
          <a:xfrm rot="0">
            <a:off x="11007636" y="3649271"/>
            <a:ext cx="4840061" cy="620781"/>
          </a:xfrm>
          <a:prstGeom prst="rect">
            <a:avLst/>
          </a:prstGeom>
        </p:spPr>
        <p:txBody>
          <a:bodyPr anchor="t" rtlCol="false" tIns="0" lIns="0" bIns="0" rIns="0">
            <a:spAutoFit/>
          </a:bodyPr>
          <a:lstStyle/>
          <a:p>
            <a:pPr algn="l">
              <a:lnSpc>
                <a:spcPts val="4944"/>
              </a:lnSpc>
            </a:pPr>
            <a:r>
              <a:rPr lang="en-US" sz="4120">
                <a:solidFill>
                  <a:srgbClr val="FFFFFF"/>
                </a:solidFill>
                <a:latin typeface="Glacial Indifference"/>
                <a:ea typeface="Glacial Indifference"/>
                <a:cs typeface="Glacial Indifference"/>
                <a:sym typeface="Glacial Indifference"/>
              </a:rPr>
              <a:t>imited Duration</a:t>
            </a:r>
          </a:p>
        </p:txBody>
      </p:sp>
      <p:sp>
        <p:nvSpPr>
          <p:cNvPr name="TextBox 17" id="17"/>
          <p:cNvSpPr txBox="true"/>
          <p:nvPr/>
        </p:nvSpPr>
        <p:spPr>
          <a:xfrm rot="0">
            <a:off x="10603584" y="3255354"/>
            <a:ext cx="547237" cy="1237967"/>
          </a:xfrm>
          <a:prstGeom prst="rect">
            <a:avLst/>
          </a:prstGeom>
        </p:spPr>
        <p:txBody>
          <a:bodyPr anchor="t" rtlCol="false" tIns="0" lIns="0" bIns="0" rIns="0">
            <a:spAutoFit/>
          </a:bodyPr>
          <a:lstStyle/>
          <a:p>
            <a:pPr algn="l">
              <a:lnSpc>
                <a:spcPts val="9527"/>
              </a:lnSpc>
            </a:pPr>
            <a:r>
              <a:rPr lang="en-US" sz="7939" b="true">
                <a:solidFill>
                  <a:srgbClr val="CC9267"/>
                </a:solidFill>
                <a:latin typeface="Bebas Neue Bold"/>
                <a:ea typeface="Bebas Neue Bold"/>
                <a:cs typeface="Bebas Neue Bold"/>
                <a:sym typeface="Bebas Neue Bold"/>
              </a:rPr>
              <a:t>L</a:t>
            </a:r>
          </a:p>
        </p:txBody>
      </p:sp>
      <p:sp>
        <p:nvSpPr>
          <p:cNvPr name="TextBox 18" id="18"/>
          <p:cNvSpPr txBox="true"/>
          <p:nvPr/>
        </p:nvSpPr>
        <p:spPr>
          <a:xfrm rot="0">
            <a:off x="11007636" y="4702871"/>
            <a:ext cx="4840061" cy="620781"/>
          </a:xfrm>
          <a:prstGeom prst="rect">
            <a:avLst/>
          </a:prstGeom>
        </p:spPr>
        <p:txBody>
          <a:bodyPr anchor="t" rtlCol="false" tIns="0" lIns="0" bIns="0" rIns="0">
            <a:spAutoFit/>
          </a:bodyPr>
          <a:lstStyle/>
          <a:p>
            <a:pPr algn="l">
              <a:lnSpc>
                <a:spcPts val="4944"/>
              </a:lnSpc>
            </a:pPr>
            <a:r>
              <a:rPr lang="en-US" sz="4120">
                <a:solidFill>
                  <a:srgbClr val="FFFFFF"/>
                </a:solidFill>
                <a:latin typeface="Glacial Indifference"/>
                <a:ea typeface="Glacial Indifference"/>
                <a:cs typeface="Glacial Indifference"/>
                <a:sym typeface="Glacial Indifference"/>
              </a:rPr>
              <a:t>nique Outcomes</a:t>
            </a:r>
          </a:p>
        </p:txBody>
      </p:sp>
      <p:sp>
        <p:nvSpPr>
          <p:cNvPr name="TextBox 19" id="19"/>
          <p:cNvSpPr txBox="true"/>
          <p:nvPr/>
        </p:nvSpPr>
        <p:spPr>
          <a:xfrm rot="0">
            <a:off x="10603584" y="4305811"/>
            <a:ext cx="547237" cy="1237967"/>
          </a:xfrm>
          <a:prstGeom prst="rect">
            <a:avLst/>
          </a:prstGeom>
        </p:spPr>
        <p:txBody>
          <a:bodyPr anchor="t" rtlCol="false" tIns="0" lIns="0" bIns="0" rIns="0">
            <a:spAutoFit/>
          </a:bodyPr>
          <a:lstStyle/>
          <a:p>
            <a:pPr algn="l">
              <a:lnSpc>
                <a:spcPts val="9527"/>
              </a:lnSpc>
            </a:pPr>
            <a:r>
              <a:rPr lang="en-US" sz="7939" b="true">
                <a:solidFill>
                  <a:srgbClr val="CC9267"/>
                </a:solidFill>
                <a:latin typeface="Bebas Neue Bold"/>
                <a:ea typeface="Bebas Neue Bold"/>
                <a:cs typeface="Bebas Neue Bold"/>
                <a:sym typeface="Bebas Neue Bold"/>
              </a:rPr>
              <a:t>U</a:t>
            </a:r>
          </a:p>
        </p:txBody>
      </p:sp>
      <p:sp>
        <p:nvSpPr>
          <p:cNvPr name="TextBox 20" id="20"/>
          <p:cNvSpPr txBox="true"/>
          <p:nvPr/>
        </p:nvSpPr>
        <p:spPr>
          <a:xfrm rot="0">
            <a:off x="11007636" y="5826538"/>
            <a:ext cx="4840061" cy="620781"/>
          </a:xfrm>
          <a:prstGeom prst="rect">
            <a:avLst/>
          </a:prstGeom>
        </p:spPr>
        <p:txBody>
          <a:bodyPr anchor="t" rtlCol="false" tIns="0" lIns="0" bIns="0" rIns="0">
            <a:spAutoFit/>
          </a:bodyPr>
          <a:lstStyle/>
          <a:p>
            <a:pPr algn="l">
              <a:lnSpc>
                <a:spcPts val="4944"/>
              </a:lnSpc>
            </a:pPr>
            <a:r>
              <a:rPr lang="en-US" sz="4120">
                <a:solidFill>
                  <a:srgbClr val="FFFFFF"/>
                </a:solidFill>
                <a:latin typeface="Glacial Indifference"/>
                <a:ea typeface="Glacial Indifference"/>
                <a:cs typeface="Glacial Indifference"/>
                <a:sym typeface="Glacial Indifference"/>
              </a:rPr>
              <a:t>nclear Hierarchies</a:t>
            </a:r>
          </a:p>
        </p:txBody>
      </p:sp>
      <p:sp>
        <p:nvSpPr>
          <p:cNvPr name="TextBox 21" id="21"/>
          <p:cNvSpPr txBox="true"/>
          <p:nvPr/>
        </p:nvSpPr>
        <p:spPr>
          <a:xfrm rot="0">
            <a:off x="10603584" y="5429479"/>
            <a:ext cx="547237" cy="1237967"/>
          </a:xfrm>
          <a:prstGeom prst="rect">
            <a:avLst/>
          </a:prstGeom>
        </p:spPr>
        <p:txBody>
          <a:bodyPr anchor="t" rtlCol="false" tIns="0" lIns="0" bIns="0" rIns="0">
            <a:spAutoFit/>
          </a:bodyPr>
          <a:lstStyle/>
          <a:p>
            <a:pPr algn="l">
              <a:lnSpc>
                <a:spcPts val="9527"/>
              </a:lnSpc>
            </a:pPr>
            <a:r>
              <a:rPr lang="en-US" sz="7939" b="true">
                <a:solidFill>
                  <a:srgbClr val="CC9267"/>
                </a:solidFill>
                <a:latin typeface="Bebas Neue Bold"/>
                <a:ea typeface="Bebas Neue Bold"/>
                <a:cs typeface="Bebas Neue Bold"/>
                <a:sym typeface="Bebas Neue Bold"/>
              </a:rPr>
              <a:t>U</a:t>
            </a:r>
          </a:p>
        </p:txBody>
      </p:sp>
      <p:sp>
        <p:nvSpPr>
          <p:cNvPr name="TextBox 22" id="22"/>
          <p:cNvSpPr txBox="true"/>
          <p:nvPr/>
        </p:nvSpPr>
        <p:spPr>
          <a:xfrm rot="0">
            <a:off x="11026686" y="6943671"/>
            <a:ext cx="5738132" cy="620781"/>
          </a:xfrm>
          <a:prstGeom prst="rect">
            <a:avLst/>
          </a:prstGeom>
        </p:spPr>
        <p:txBody>
          <a:bodyPr anchor="t" rtlCol="false" tIns="0" lIns="0" bIns="0" rIns="0">
            <a:spAutoFit/>
          </a:bodyPr>
          <a:lstStyle/>
          <a:p>
            <a:pPr algn="l">
              <a:lnSpc>
                <a:spcPts val="4944"/>
              </a:lnSpc>
            </a:pPr>
            <a:r>
              <a:rPr lang="en-US" sz="4120">
                <a:solidFill>
                  <a:srgbClr val="FFFFFF"/>
                </a:solidFill>
                <a:latin typeface="Glacial Indifference"/>
                <a:ea typeface="Glacial Indifference"/>
                <a:cs typeface="Glacial Indifference"/>
                <a:sym typeface="Glacial Indifference"/>
              </a:rPr>
              <a:t>igh Uncertainty and Risk</a:t>
            </a:r>
          </a:p>
        </p:txBody>
      </p:sp>
      <p:sp>
        <p:nvSpPr>
          <p:cNvPr name="TextBox 23" id="23"/>
          <p:cNvSpPr txBox="true"/>
          <p:nvPr/>
        </p:nvSpPr>
        <p:spPr>
          <a:xfrm rot="0">
            <a:off x="10622634" y="6546611"/>
            <a:ext cx="547237" cy="1237967"/>
          </a:xfrm>
          <a:prstGeom prst="rect">
            <a:avLst/>
          </a:prstGeom>
        </p:spPr>
        <p:txBody>
          <a:bodyPr anchor="t" rtlCol="false" tIns="0" lIns="0" bIns="0" rIns="0">
            <a:spAutoFit/>
          </a:bodyPr>
          <a:lstStyle/>
          <a:p>
            <a:pPr algn="l">
              <a:lnSpc>
                <a:spcPts val="9527"/>
              </a:lnSpc>
            </a:pPr>
            <a:r>
              <a:rPr lang="en-US" sz="7939" b="true">
                <a:solidFill>
                  <a:srgbClr val="CC9267"/>
                </a:solidFill>
                <a:latin typeface="Bebas Neue Bold"/>
                <a:ea typeface="Bebas Neue Bold"/>
                <a:cs typeface="Bebas Neue Bold"/>
                <a:sym typeface="Bebas Neue Bold"/>
              </a:rPr>
              <a:t>H</a:t>
            </a:r>
          </a:p>
        </p:txBody>
      </p:sp>
      <p:sp>
        <p:nvSpPr>
          <p:cNvPr name="TextBox 24" id="24"/>
          <p:cNvSpPr txBox="true"/>
          <p:nvPr/>
        </p:nvSpPr>
        <p:spPr>
          <a:xfrm rot="0">
            <a:off x="11007636" y="8172113"/>
            <a:ext cx="5738132" cy="620781"/>
          </a:xfrm>
          <a:prstGeom prst="rect">
            <a:avLst/>
          </a:prstGeom>
        </p:spPr>
        <p:txBody>
          <a:bodyPr anchor="t" rtlCol="false" tIns="0" lIns="0" bIns="0" rIns="0">
            <a:spAutoFit/>
          </a:bodyPr>
          <a:lstStyle/>
          <a:p>
            <a:pPr algn="l">
              <a:lnSpc>
                <a:spcPts val="4944"/>
              </a:lnSpc>
            </a:pPr>
            <a:r>
              <a:rPr lang="en-US" sz="4120">
                <a:solidFill>
                  <a:srgbClr val="FFFFFF"/>
                </a:solidFill>
                <a:latin typeface="Glacial Indifference"/>
                <a:ea typeface="Glacial Indifference"/>
                <a:cs typeface="Glacial Indifference"/>
                <a:sym typeface="Glacial Indifference"/>
              </a:rPr>
              <a:t>eterogeneous Teams</a:t>
            </a:r>
          </a:p>
        </p:txBody>
      </p:sp>
      <p:sp>
        <p:nvSpPr>
          <p:cNvPr name="TextBox 25" id="25"/>
          <p:cNvSpPr txBox="true"/>
          <p:nvPr/>
        </p:nvSpPr>
        <p:spPr>
          <a:xfrm rot="0">
            <a:off x="10603584" y="7775053"/>
            <a:ext cx="547237" cy="1237967"/>
          </a:xfrm>
          <a:prstGeom prst="rect">
            <a:avLst/>
          </a:prstGeom>
        </p:spPr>
        <p:txBody>
          <a:bodyPr anchor="t" rtlCol="false" tIns="0" lIns="0" bIns="0" rIns="0">
            <a:spAutoFit/>
          </a:bodyPr>
          <a:lstStyle/>
          <a:p>
            <a:pPr algn="l">
              <a:lnSpc>
                <a:spcPts val="9527"/>
              </a:lnSpc>
            </a:pPr>
            <a:r>
              <a:rPr lang="en-US" sz="7939" b="true">
                <a:solidFill>
                  <a:srgbClr val="CC9267"/>
                </a:solidFill>
                <a:latin typeface="Bebas Neue Bold"/>
                <a:ea typeface="Bebas Neue Bold"/>
                <a:cs typeface="Bebas Neue Bold"/>
                <a:sym typeface="Bebas Neue Bold"/>
              </a:rPr>
              <a:t>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3852173"/>
            <a:ext cx="9490763" cy="6434827"/>
            <a:chOff x="0" y="0"/>
            <a:chExt cx="3175040" cy="2152707"/>
          </a:xfrm>
        </p:grpSpPr>
        <p:sp>
          <p:nvSpPr>
            <p:cNvPr name="Freeform 3" id="3"/>
            <p:cNvSpPr/>
            <p:nvPr/>
          </p:nvSpPr>
          <p:spPr>
            <a:xfrm flipH="false" flipV="false" rot="0">
              <a:off x="0" y="0"/>
              <a:ext cx="3175040" cy="2152707"/>
            </a:xfrm>
            <a:custGeom>
              <a:avLst/>
              <a:gdLst/>
              <a:ahLst/>
              <a:cxnLst/>
              <a:rect r="r" b="b" t="t" l="l"/>
              <a:pathLst>
                <a:path h="2152707" w="3175040">
                  <a:moveTo>
                    <a:pt x="0" y="0"/>
                  </a:moveTo>
                  <a:lnTo>
                    <a:pt x="3175040" y="0"/>
                  </a:lnTo>
                  <a:lnTo>
                    <a:pt x="3175040" y="2152707"/>
                  </a:lnTo>
                  <a:lnTo>
                    <a:pt x="0" y="2152707"/>
                  </a:lnTo>
                  <a:close/>
                </a:path>
              </a:pathLst>
            </a:custGeom>
            <a:solidFill>
              <a:srgbClr val="33261A"/>
            </a:solidFill>
          </p:spPr>
        </p:sp>
        <p:sp>
          <p:nvSpPr>
            <p:cNvPr name="TextBox 4" id="4"/>
            <p:cNvSpPr txBox="true"/>
            <p:nvPr/>
          </p:nvSpPr>
          <p:spPr>
            <a:xfrm>
              <a:off x="0" y="-38100"/>
              <a:ext cx="3175040" cy="219080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6048" y="638594"/>
            <a:ext cx="11046810" cy="2701959"/>
            <a:chOff x="0" y="0"/>
            <a:chExt cx="2909448" cy="711627"/>
          </a:xfrm>
        </p:grpSpPr>
        <p:sp>
          <p:nvSpPr>
            <p:cNvPr name="Freeform 6" id="6"/>
            <p:cNvSpPr/>
            <p:nvPr/>
          </p:nvSpPr>
          <p:spPr>
            <a:xfrm flipH="false" flipV="false" rot="0">
              <a:off x="0" y="0"/>
              <a:ext cx="2909448" cy="711627"/>
            </a:xfrm>
            <a:custGeom>
              <a:avLst/>
              <a:gdLst/>
              <a:ahLst/>
              <a:cxnLst/>
              <a:rect r="r" b="b" t="t" l="l"/>
              <a:pathLst>
                <a:path h="711627" w="2909448">
                  <a:moveTo>
                    <a:pt x="0" y="0"/>
                  </a:moveTo>
                  <a:lnTo>
                    <a:pt x="2909448" y="0"/>
                  </a:lnTo>
                  <a:lnTo>
                    <a:pt x="2909448" y="711627"/>
                  </a:lnTo>
                  <a:lnTo>
                    <a:pt x="0" y="711627"/>
                  </a:lnTo>
                  <a:close/>
                </a:path>
              </a:pathLst>
            </a:custGeom>
            <a:solidFill>
              <a:srgbClr val="9C6942"/>
            </a:solidFill>
          </p:spPr>
        </p:sp>
        <p:sp>
          <p:nvSpPr>
            <p:cNvPr name="TextBox 7" id="7"/>
            <p:cNvSpPr txBox="true"/>
            <p:nvPr/>
          </p:nvSpPr>
          <p:spPr>
            <a:xfrm>
              <a:off x="0" y="-9525"/>
              <a:ext cx="2909448" cy="721152"/>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2433170" y="0"/>
            <a:ext cx="5854830" cy="10287000"/>
            <a:chOff x="0" y="0"/>
            <a:chExt cx="1542013" cy="2709333"/>
          </a:xfrm>
        </p:grpSpPr>
        <p:sp>
          <p:nvSpPr>
            <p:cNvPr name="Freeform 9" id="9"/>
            <p:cNvSpPr/>
            <p:nvPr/>
          </p:nvSpPr>
          <p:spPr>
            <a:xfrm flipH="false" flipV="false" rot="0">
              <a:off x="0" y="0"/>
              <a:ext cx="1542013" cy="2709333"/>
            </a:xfrm>
            <a:custGeom>
              <a:avLst/>
              <a:gdLst/>
              <a:ahLst/>
              <a:cxnLst/>
              <a:rect r="r" b="b" t="t" l="l"/>
              <a:pathLst>
                <a:path h="2709333" w="1542013">
                  <a:moveTo>
                    <a:pt x="0" y="0"/>
                  </a:moveTo>
                  <a:lnTo>
                    <a:pt x="1542013" y="0"/>
                  </a:lnTo>
                  <a:lnTo>
                    <a:pt x="1542013" y="2709333"/>
                  </a:lnTo>
                  <a:lnTo>
                    <a:pt x="0" y="2709333"/>
                  </a:lnTo>
                  <a:close/>
                </a:path>
              </a:pathLst>
            </a:custGeom>
            <a:solidFill>
              <a:srgbClr val="33261A"/>
            </a:solidFill>
          </p:spPr>
        </p:sp>
        <p:sp>
          <p:nvSpPr>
            <p:cNvPr name="TextBox 10" id="10"/>
            <p:cNvSpPr txBox="true"/>
            <p:nvPr/>
          </p:nvSpPr>
          <p:spPr>
            <a:xfrm>
              <a:off x="0" y="-9525"/>
              <a:ext cx="1542013" cy="2718858"/>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4764261" y="-3086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0236243" y="638594"/>
            <a:ext cx="7023057" cy="8974872"/>
            <a:chOff x="0" y="0"/>
            <a:chExt cx="9364077" cy="11966497"/>
          </a:xfrm>
        </p:grpSpPr>
        <p:pic>
          <p:nvPicPr>
            <p:cNvPr name="Picture 13" id="13"/>
            <p:cNvPicPr>
              <a:picLocks noChangeAspect="true"/>
            </p:cNvPicPr>
            <p:nvPr/>
          </p:nvPicPr>
          <p:blipFill>
            <a:blip r:embed="rId5"/>
            <a:srcRect l="0" t="2557" r="0" b="2557"/>
            <a:stretch>
              <a:fillRect/>
            </a:stretch>
          </p:blipFill>
          <p:spPr>
            <a:xfrm flipH="false" flipV="false">
              <a:off x="0" y="0"/>
              <a:ext cx="9364077" cy="5919748"/>
            </a:xfrm>
            <a:prstGeom prst="rect">
              <a:avLst/>
            </a:prstGeom>
          </p:spPr>
        </p:pic>
        <p:pic>
          <p:nvPicPr>
            <p:cNvPr name="Picture 14" id="14"/>
            <p:cNvPicPr>
              <a:picLocks noChangeAspect="true"/>
            </p:cNvPicPr>
            <p:nvPr/>
          </p:nvPicPr>
          <p:blipFill>
            <a:blip r:embed="rId6"/>
            <a:srcRect l="10421" t="0" r="6584" b="20804"/>
            <a:stretch>
              <a:fillRect/>
            </a:stretch>
          </p:blipFill>
          <p:spPr>
            <a:xfrm flipH="false" flipV="false">
              <a:off x="0" y="6046748"/>
              <a:ext cx="9364077" cy="5919748"/>
            </a:xfrm>
            <a:prstGeom prst="rect">
              <a:avLst/>
            </a:prstGeom>
          </p:spPr>
        </p:pic>
      </p:grpSp>
      <p:sp>
        <p:nvSpPr>
          <p:cNvPr name="TextBox 15" id="15"/>
          <p:cNvSpPr txBox="true"/>
          <p:nvPr/>
        </p:nvSpPr>
        <p:spPr>
          <a:xfrm rot="0">
            <a:off x="638619" y="1152525"/>
            <a:ext cx="8343393" cy="1988608"/>
          </a:xfrm>
          <a:prstGeom prst="rect">
            <a:avLst/>
          </a:prstGeom>
        </p:spPr>
        <p:txBody>
          <a:bodyPr anchor="t" rtlCol="false" tIns="0" lIns="0" bIns="0" rIns="0">
            <a:spAutoFit/>
          </a:bodyPr>
          <a:lstStyle/>
          <a:p>
            <a:pPr algn="l">
              <a:lnSpc>
                <a:spcPts val="7500"/>
              </a:lnSpc>
            </a:pPr>
            <a:r>
              <a:rPr lang="en-US" sz="7500" b="true">
                <a:solidFill>
                  <a:srgbClr val="FFFFFF"/>
                </a:solidFill>
                <a:latin typeface="Bebas Neue Bold"/>
                <a:ea typeface="Bebas Neue Bold"/>
                <a:cs typeface="Bebas Neue Bold"/>
                <a:sym typeface="Bebas Neue Bold"/>
              </a:rPr>
              <a:t>AIM OF THE STUDY AND RESEARCH OBJECTIVES</a:t>
            </a:r>
          </a:p>
        </p:txBody>
      </p:sp>
      <p:sp>
        <p:nvSpPr>
          <p:cNvPr name="TextBox 16" id="16"/>
          <p:cNvSpPr txBox="true"/>
          <p:nvPr/>
        </p:nvSpPr>
        <p:spPr>
          <a:xfrm rot="0">
            <a:off x="1028700" y="4279666"/>
            <a:ext cx="7953312" cy="3686282"/>
          </a:xfrm>
          <a:prstGeom prst="rect">
            <a:avLst/>
          </a:prstGeom>
        </p:spPr>
        <p:txBody>
          <a:bodyPr anchor="t" rtlCol="false" tIns="0" lIns="0" bIns="0" rIns="0">
            <a:spAutoFit/>
          </a:bodyPr>
          <a:lstStyle/>
          <a:p>
            <a:pPr algn="just" marL="653299" indent="-326650" lvl="1">
              <a:lnSpc>
                <a:spcPts val="3631"/>
              </a:lnSpc>
              <a:buFont typeface="Arial"/>
              <a:buChar char="•"/>
            </a:pPr>
            <a:r>
              <a:rPr lang="en-US" sz="3025">
                <a:solidFill>
                  <a:srgbClr val="FFFFFF"/>
                </a:solidFill>
                <a:latin typeface="Glacial Indifference"/>
                <a:ea typeface="Glacial Indifference"/>
                <a:cs typeface="Glacial Indifference"/>
                <a:sym typeface="Glacial Indifference"/>
              </a:rPr>
              <a:t>Aims to extend leadership theories to address challenges in temporary organizations</a:t>
            </a:r>
          </a:p>
          <a:p>
            <a:pPr algn="just" marL="653299" indent="-326650" lvl="1">
              <a:lnSpc>
                <a:spcPts val="3631"/>
              </a:lnSpc>
              <a:buFont typeface="Arial"/>
              <a:buChar char="•"/>
            </a:pPr>
            <a:r>
              <a:rPr lang="en-US" sz="3025">
                <a:solidFill>
                  <a:srgbClr val="FFFFFF"/>
                </a:solidFill>
                <a:latin typeface="Glacial Indifference"/>
                <a:ea typeface="Glacial Indifference"/>
                <a:cs typeface="Glacial Indifference"/>
                <a:sym typeface="Glacial Indifference"/>
              </a:rPr>
              <a:t>Analyzes how transactional and transformational leadership impact temporary projects</a:t>
            </a:r>
          </a:p>
          <a:p>
            <a:pPr algn="just" marL="653299" indent="-326650" lvl="1">
              <a:lnSpc>
                <a:spcPts val="3631"/>
              </a:lnSpc>
              <a:buFont typeface="Arial"/>
              <a:buChar char="•"/>
            </a:pPr>
            <a:r>
              <a:rPr lang="en-US" sz="3025">
                <a:solidFill>
                  <a:srgbClr val="FFFFFF"/>
                </a:solidFill>
                <a:latin typeface="Glacial Indifference"/>
                <a:ea typeface="Glacial Indifference"/>
                <a:cs typeface="Glacial Indifference"/>
                <a:sym typeface="Glacial Indifference"/>
              </a:rPr>
              <a:t>Proposes a research model that explores leadership effectiveness in these settings</a:t>
            </a:r>
          </a:p>
        </p:txBody>
      </p:sp>
      <p:sp>
        <p:nvSpPr>
          <p:cNvPr name="Freeform 17" id="17"/>
          <p:cNvSpPr/>
          <p:nvPr/>
        </p:nvSpPr>
        <p:spPr>
          <a:xfrm flipH="false" flipV="false" rot="0">
            <a:off x="-3394102" y="6260666"/>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028700" y="8308541"/>
            <a:ext cx="7953312" cy="1381125"/>
          </a:xfrm>
          <a:prstGeom prst="rect">
            <a:avLst/>
          </a:prstGeom>
        </p:spPr>
        <p:txBody>
          <a:bodyPr anchor="t" rtlCol="false" tIns="0" lIns="0" bIns="0" rIns="0">
            <a:spAutoFit/>
          </a:bodyPr>
          <a:lstStyle/>
          <a:p>
            <a:pPr algn="just" marL="653299" indent="-326650" lvl="1">
              <a:lnSpc>
                <a:spcPts val="3631"/>
              </a:lnSpc>
              <a:buFont typeface="Arial"/>
              <a:buChar char="•"/>
            </a:pPr>
            <a:r>
              <a:rPr lang="en-US" b="true" sz="3025">
                <a:solidFill>
                  <a:srgbClr val="FFFFFF"/>
                </a:solidFill>
                <a:latin typeface="Glacial Indifference Bold"/>
                <a:ea typeface="Glacial Indifference Bold"/>
                <a:cs typeface="Glacial Indifference Bold"/>
                <a:sym typeface="Glacial Indifference Bold"/>
              </a:rPr>
              <a:t>How leadership can enhance commitment and performance under temporary conditions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294353" y="-638264"/>
            <a:ext cx="9142275" cy="10925264"/>
            <a:chOff x="0" y="0"/>
            <a:chExt cx="2407842" cy="2877436"/>
          </a:xfrm>
        </p:grpSpPr>
        <p:sp>
          <p:nvSpPr>
            <p:cNvPr name="Freeform 3" id="3"/>
            <p:cNvSpPr/>
            <p:nvPr/>
          </p:nvSpPr>
          <p:spPr>
            <a:xfrm flipH="false" flipV="false" rot="0">
              <a:off x="0" y="0"/>
              <a:ext cx="2407842" cy="2877436"/>
            </a:xfrm>
            <a:custGeom>
              <a:avLst/>
              <a:gdLst/>
              <a:ahLst/>
              <a:cxnLst/>
              <a:rect r="r" b="b" t="t" l="l"/>
              <a:pathLst>
                <a:path h="2877436" w="2407842">
                  <a:moveTo>
                    <a:pt x="0" y="0"/>
                  </a:moveTo>
                  <a:lnTo>
                    <a:pt x="2407842" y="0"/>
                  </a:lnTo>
                  <a:lnTo>
                    <a:pt x="2407842" y="2877436"/>
                  </a:lnTo>
                  <a:lnTo>
                    <a:pt x="0" y="2877436"/>
                  </a:lnTo>
                  <a:close/>
                </a:path>
              </a:pathLst>
            </a:custGeom>
            <a:solidFill>
              <a:srgbClr val="33261A"/>
            </a:solidFill>
          </p:spPr>
        </p:sp>
        <p:sp>
          <p:nvSpPr>
            <p:cNvPr name="TextBox 4" id="4"/>
            <p:cNvSpPr txBox="true"/>
            <p:nvPr/>
          </p:nvSpPr>
          <p:spPr>
            <a:xfrm>
              <a:off x="0" y="-38100"/>
              <a:ext cx="2407842" cy="291553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918786" y="5117183"/>
            <a:ext cx="7340514" cy="3627181"/>
            <a:chOff x="0" y="0"/>
            <a:chExt cx="1137238" cy="561945"/>
          </a:xfrm>
        </p:grpSpPr>
        <p:sp>
          <p:nvSpPr>
            <p:cNvPr name="Freeform 6" id="6"/>
            <p:cNvSpPr/>
            <p:nvPr/>
          </p:nvSpPr>
          <p:spPr>
            <a:xfrm flipH="false" flipV="false" rot="0">
              <a:off x="0" y="0"/>
              <a:ext cx="1137238" cy="561945"/>
            </a:xfrm>
            <a:custGeom>
              <a:avLst/>
              <a:gdLst/>
              <a:ahLst/>
              <a:cxnLst/>
              <a:rect r="r" b="b" t="t" l="l"/>
              <a:pathLst>
                <a:path h="561945" w="1137238">
                  <a:moveTo>
                    <a:pt x="0" y="0"/>
                  </a:moveTo>
                  <a:lnTo>
                    <a:pt x="1137238" y="0"/>
                  </a:lnTo>
                  <a:lnTo>
                    <a:pt x="1137238" y="561945"/>
                  </a:lnTo>
                  <a:lnTo>
                    <a:pt x="0" y="561945"/>
                  </a:lnTo>
                  <a:close/>
                </a:path>
              </a:pathLst>
            </a:custGeom>
            <a:blipFill>
              <a:blip r:embed="rId3"/>
              <a:stretch>
                <a:fillRect l="0" t="-2627" r="-3789" b="-37313"/>
              </a:stretch>
            </a:blipFill>
          </p:spPr>
        </p:sp>
      </p:grpSp>
      <p:grpSp>
        <p:nvGrpSpPr>
          <p:cNvPr name="Group 7" id="7"/>
          <p:cNvGrpSpPr/>
          <p:nvPr/>
        </p:nvGrpSpPr>
        <p:grpSpPr>
          <a:xfrm rot="0">
            <a:off x="9899199" y="1028717"/>
            <a:ext cx="9217263" cy="2883535"/>
            <a:chOff x="0" y="0"/>
            <a:chExt cx="2427592" cy="759450"/>
          </a:xfrm>
        </p:grpSpPr>
        <p:sp>
          <p:nvSpPr>
            <p:cNvPr name="Freeform 8" id="8"/>
            <p:cNvSpPr/>
            <p:nvPr/>
          </p:nvSpPr>
          <p:spPr>
            <a:xfrm flipH="false" flipV="false" rot="0">
              <a:off x="0" y="0"/>
              <a:ext cx="2427592" cy="759450"/>
            </a:xfrm>
            <a:custGeom>
              <a:avLst/>
              <a:gdLst/>
              <a:ahLst/>
              <a:cxnLst/>
              <a:rect r="r" b="b" t="t" l="l"/>
              <a:pathLst>
                <a:path h="759450" w="2427592">
                  <a:moveTo>
                    <a:pt x="0" y="0"/>
                  </a:moveTo>
                  <a:lnTo>
                    <a:pt x="2427592" y="0"/>
                  </a:lnTo>
                  <a:lnTo>
                    <a:pt x="2427592" y="759450"/>
                  </a:lnTo>
                  <a:lnTo>
                    <a:pt x="0" y="759450"/>
                  </a:lnTo>
                  <a:close/>
                </a:path>
              </a:pathLst>
            </a:custGeom>
            <a:solidFill>
              <a:srgbClr val="9C6942"/>
            </a:solidFill>
          </p:spPr>
        </p:sp>
        <p:sp>
          <p:nvSpPr>
            <p:cNvPr name="TextBox 9" id="9"/>
            <p:cNvSpPr txBox="true"/>
            <p:nvPr/>
          </p:nvSpPr>
          <p:spPr>
            <a:xfrm>
              <a:off x="0" y="-9525"/>
              <a:ext cx="2427592" cy="768975"/>
            </a:xfrm>
            <a:prstGeom prst="rect">
              <a:avLst/>
            </a:prstGeom>
          </p:spPr>
          <p:txBody>
            <a:bodyPr anchor="ctr" rtlCol="false" tIns="50800" lIns="50800" bIns="50800" rIns="50800"/>
            <a:lstStyle/>
            <a:p>
              <a:pPr algn="ctr">
                <a:lnSpc>
                  <a:spcPts val="2640"/>
                </a:lnSpc>
              </a:pPr>
            </a:p>
          </p:txBody>
        </p:sp>
      </p:grpSp>
      <p:sp>
        <p:nvSpPr>
          <p:cNvPr name="Freeform 10" id="10"/>
          <p:cNvSpPr/>
          <p:nvPr/>
        </p:nvSpPr>
        <p:spPr>
          <a:xfrm flipH="false" flipV="false" rot="0">
            <a:off x="590124" y="919203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430892" y="4165975"/>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9867703" y="1570466"/>
            <a:ext cx="8281324" cy="1988608"/>
          </a:xfrm>
          <a:prstGeom prst="rect">
            <a:avLst/>
          </a:prstGeom>
        </p:spPr>
        <p:txBody>
          <a:bodyPr anchor="t" rtlCol="false" tIns="0" lIns="0" bIns="0" rIns="0">
            <a:spAutoFit/>
          </a:bodyPr>
          <a:lstStyle/>
          <a:p>
            <a:pPr algn="r">
              <a:lnSpc>
                <a:spcPts val="7500"/>
              </a:lnSpc>
            </a:pPr>
            <a:r>
              <a:rPr lang="en-US" b="true" sz="7500">
                <a:solidFill>
                  <a:srgbClr val="FFFFFF"/>
                </a:solidFill>
                <a:latin typeface="Bebas Neue Bold"/>
                <a:ea typeface="Bebas Neue Bold"/>
                <a:cs typeface="Bebas Neue Bold"/>
                <a:sym typeface="Bebas Neue Bold"/>
              </a:rPr>
              <a:t>IMPORTANCE OF LEADERSHIP IN TEMPORARY SETTINGS</a:t>
            </a:r>
          </a:p>
        </p:txBody>
      </p:sp>
      <p:sp>
        <p:nvSpPr>
          <p:cNvPr name="TextBox 13" id="13"/>
          <p:cNvSpPr txBox="true"/>
          <p:nvPr/>
        </p:nvSpPr>
        <p:spPr>
          <a:xfrm rot="0">
            <a:off x="798053" y="1669812"/>
            <a:ext cx="7932722" cy="2676525"/>
          </a:xfrm>
          <a:prstGeom prst="rect">
            <a:avLst/>
          </a:prstGeom>
        </p:spPr>
        <p:txBody>
          <a:bodyPr anchor="t" rtlCol="false" tIns="0" lIns="0" bIns="0" rIns="0">
            <a:spAutoFit/>
          </a:bodyPr>
          <a:lstStyle/>
          <a:p>
            <a:pPr algn="l">
              <a:lnSpc>
                <a:spcPts val="4200"/>
              </a:lnSpc>
            </a:pPr>
            <a:r>
              <a:rPr lang="en-US" sz="3500">
                <a:solidFill>
                  <a:srgbClr val="33261A"/>
                </a:solidFill>
                <a:latin typeface="Glacial Indifference"/>
                <a:ea typeface="Glacial Indifference"/>
                <a:cs typeface="Glacial Indifference"/>
                <a:sym typeface="Glacial Indifference"/>
              </a:rPr>
              <a:t>Provides structure and ensures team members stay on track by defining clear goals and expectations.</a:t>
            </a:r>
          </a:p>
          <a:p>
            <a:pPr algn="l" marL="755651" indent="-377825" lvl="1">
              <a:lnSpc>
                <a:spcPts val="4200"/>
              </a:lnSpc>
              <a:buFont typeface="Arial"/>
              <a:buChar char="•"/>
            </a:pPr>
            <a:r>
              <a:rPr lang="en-US" sz="3500">
                <a:solidFill>
                  <a:srgbClr val="33261A"/>
                </a:solidFill>
                <a:latin typeface="Glacial Indifference"/>
                <a:ea typeface="Glacial Indifference"/>
                <a:cs typeface="Glacial Indifference"/>
                <a:sym typeface="Glacial Indifference"/>
              </a:rPr>
              <a:t>A manager sets strict deliverable deadlines for a hackathon team.</a:t>
            </a:r>
          </a:p>
        </p:txBody>
      </p:sp>
      <p:sp>
        <p:nvSpPr>
          <p:cNvPr name="TextBox 14" id="14"/>
          <p:cNvSpPr txBox="true"/>
          <p:nvPr/>
        </p:nvSpPr>
        <p:spPr>
          <a:xfrm rot="0">
            <a:off x="817103" y="925469"/>
            <a:ext cx="6606712" cy="837142"/>
          </a:xfrm>
          <a:prstGeom prst="rect">
            <a:avLst/>
          </a:prstGeom>
        </p:spPr>
        <p:txBody>
          <a:bodyPr anchor="t" rtlCol="false" tIns="0" lIns="0" bIns="0" rIns="0">
            <a:spAutoFit/>
          </a:bodyPr>
          <a:lstStyle/>
          <a:p>
            <a:pPr algn="l">
              <a:lnSpc>
                <a:spcPts val="6599"/>
              </a:lnSpc>
            </a:pPr>
            <a:r>
              <a:rPr lang="en-US" sz="5499" b="true">
                <a:solidFill>
                  <a:srgbClr val="9C6942"/>
                </a:solidFill>
                <a:latin typeface="Bebas Neue Bold"/>
                <a:ea typeface="Bebas Neue Bold"/>
                <a:cs typeface="Bebas Neue Bold"/>
                <a:sym typeface="Bebas Neue Bold"/>
              </a:rPr>
              <a:t>TRANSACTIONAL LEADERSHIP:</a:t>
            </a:r>
          </a:p>
        </p:txBody>
      </p:sp>
      <p:sp>
        <p:nvSpPr>
          <p:cNvPr name="TextBox 15" id="15"/>
          <p:cNvSpPr txBox="true"/>
          <p:nvPr/>
        </p:nvSpPr>
        <p:spPr>
          <a:xfrm rot="0">
            <a:off x="855203" y="5534439"/>
            <a:ext cx="8077200" cy="3209925"/>
          </a:xfrm>
          <a:prstGeom prst="rect">
            <a:avLst/>
          </a:prstGeom>
        </p:spPr>
        <p:txBody>
          <a:bodyPr anchor="t" rtlCol="false" tIns="0" lIns="0" bIns="0" rIns="0">
            <a:spAutoFit/>
          </a:bodyPr>
          <a:lstStyle/>
          <a:p>
            <a:pPr algn="l">
              <a:lnSpc>
                <a:spcPts val="4200"/>
              </a:lnSpc>
            </a:pPr>
            <a:r>
              <a:rPr lang="en-US" sz="3500">
                <a:solidFill>
                  <a:srgbClr val="33261A"/>
                </a:solidFill>
                <a:latin typeface="Glacial Indifference"/>
                <a:ea typeface="Glacial Indifference"/>
                <a:cs typeface="Glacial Indifference"/>
                <a:sym typeface="Glacial Indifference"/>
              </a:rPr>
              <a:t>Creates a sense of purpose and motivates the team to overcome challenges.</a:t>
            </a:r>
          </a:p>
          <a:p>
            <a:pPr algn="l" marL="755651" indent="-377825" lvl="1">
              <a:lnSpc>
                <a:spcPts val="4200"/>
              </a:lnSpc>
              <a:buFont typeface="Arial"/>
              <a:buChar char="•"/>
            </a:pPr>
            <a:r>
              <a:rPr lang="en-US" sz="3500">
                <a:solidFill>
                  <a:srgbClr val="33261A"/>
                </a:solidFill>
                <a:latin typeface="Glacial Indifference"/>
                <a:ea typeface="Glacial Indifference"/>
                <a:cs typeface="Glacial Indifference"/>
                <a:sym typeface="Glacial Indifference"/>
              </a:rPr>
              <a:t>A leader inspires a cybersecurity team to tackle a high-risk issue by emphasizing its potential societal impact.</a:t>
            </a:r>
          </a:p>
        </p:txBody>
      </p:sp>
      <p:sp>
        <p:nvSpPr>
          <p:cNvPr name="TextBox 16" id="16"/>
          <p:cNvSpPr txBox="true"/>
          <p:nvPr/>
        </p:nvSpPr>
        <p:spPr>
          <a:xfrm rot="0">
            <a:off x="874253" y="4790096"/>
            <a:ext cx="6681460" cy="837142"/>
          </a:xfrm>
          <a:prstGeom prst="rect">
            <a:avLst/>
          </a:prstGeom>
        </p:spPr>
        <p:txBody>
          <a:bodyPr anchor="t" rtlCol="false" tIns="0" lIns="0" bIns="0" rIns="0">
            <a:spAutoFit/>
          </a:bodyPr>
          <a:lstStyle/>
          <a:p>
            <a:pPr algn="l">
              <a:lnSpc>
                <a:spcPts val="6599"/>
              </a:lnSpc>
            </a:pPr>
            <a:r>
              <a:rPr lang="en-US" sz="5499" b="true">
                <a:solidFill>
                  <a:srgbClr val="9C6942"/>
                </a:solidFill>
                <a:latin typeface="Bebas Neue Bold"/>
                <a:ea typeface="Bebas Neue Bold"/>
                <a:cs typeface="Bebas Neue Bold"/>
                <a:sym typeface="Bebas Neue Bold"/>
              </a:rPr>
              <a:t>TRANSFORMATION LEADERSHIP: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075" y="0"/>
            <a:ext cx="8749666" cy="10233831"/>
            <a:chOff x="0" y="0"/>
            <a:chExt cx="2927113" cy="3423626"/>
          </a:xfrm>
        </p:grpSpPr>
        <p:sp>
          <p:nvSpPr>
            <p:cNvPr name="Freeform 3" id="3"/>
            <p:cNvSpPr/>
            <p:nvPr/>
          </p:nvSpPr>
          <p:spPr>
            <a:xfrm flipH="false" flipV="false" rot="0">
              <a:off x="0" y="0"/>
              <a:ext cx="2927113" cy="3423626"/>
            </a:xfrm>
            <a:custGeom>
              <a:avLst/>
              <a:gdLst/>
              <a:ahLst/>
              <a:cxnLst/>
              <a:rect r="r" b="b" t="t" l="l"/>
              <a:pathLst>
                <a:path h="3423626" w="2927113">
                  <a:moveTo>
                    <a:pt x="0" y="0"/>
                  </a:moveTo>
                  <a:lnTo>
                    <a:pt x="2927113" y="0"/>
                  </a:lnTo>
                  <a:lnTo>
                    <a:pt x="2927113" y="3423626"/>
                  </a:lnTo>
                  <a:lnTo>
                    <a:pt x="0" y="3423626"/>
                  </a:lnTo>
                  <a:close/>
                </a:path>
              </a:pathLst>
            </a:custGeom>
            <a:solidFill>
              <a:srgbClr val="33261A"/>
            </a:solidFill>
          </p:spPr>
        </p:sp>
        <p:sp>
          <p:nvSpPr>
            <p:cNvPr name="TextBox 4" id="4"/>
            <p:cNvSpPr txBox="true"/>
            <p:nvPr/>
          </p:nvSpPr>
          <p:spPr>
            <a:xfrm>
              <a:off x="0" y="-38100"/>
              <a:ext cx="2927113" cy="346172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314256" y="0"/>
            <a:ext cx="8705909" cy="10287000"/>
            <a:chOff x="0" y="0"/>
            <a:chExt cx="2912475" cy="3441413"/>
          </a:xfrm>
        </p:grpSpPr>
        <p:sp>
          <p:nvSpPr>
            <p:cNvPr name="Freeform 6" id="6"/>
            <p:cNvSpPr/>
            <p:nvPr/>
          </p:nvSpPr>
          <p:spPr>
            <a:xfrm flipH="false" flipV="false" rot="0">
              <a:off x="0" y="0"/>
              <a:ext cx="2912475" cy="3441413"/>
            </a:xfrm>
            <a:custGeom>
              <a:avLst/>
              <a:gdLst/>
              <a:ahLst/>
              <a:cxnLst/>
              <a:rect r="r" b="b" t="t" l="l"/>
              <a:pathLst>
                <a:path h="3441413" w="2912475">
                  <a:moveTo>
                    <a:pt x="0" y="0"/>
                  </a:moveTo>
                  <a:lnTo>
                    <a:pt x="2912475" y="0"/>
                  </a:lnTo>
                  <a:lnTo>
                    <a:pt x="2912475" y="3441413"/>
                  </a:lnTo>
                  <a:lnTo>
                    <a:pt x="0" y="3441413"/>
                  </a:lnTo>
                  <a:close/>
                </a:path>
              </a:pathLst>
            </a:custGeom>
            <a:solidFill>
              <a:srgbClr val="9C6942"/>
            </a:solidFill>
          </p:spPr>
        </p:sp>
        <p:sp>
          <p:nvSpPr>
            <p:cNvPr name="TextBox 7" id="7"/>
            <p:cNvSpPr txBox="true"/>
            <p:nvPr/>
          </p:nvSpPr>
          <p:spPr>
            <a:xfrm>
              <a:off x="0" y="-38100"/>
              <a:ext cx="2912475"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231499" y="1837121"/>
            <a:ext cx="8027801" cy="6566374"/>
            <a:chOff x="0" y="0"/>
            <a:chExt cx="1243716" cy="1017303"/>
          </a:xfrm>
        </p:grpSpPr>
        <p:sp>
          <p:nvSpPr>
            <p:cNvPr name="Freeform 9" id="9"/>
            <p:cNvSpPr/>
            <p:nvPr/>
          </p:nvSpPr>
          <p:spPr>
            <a:xfrm flipH="false" flipV="false" rot="0">
              <a:off x="0" y="0"/>
              <a:ext cx="1243717" cy="1017303"/>
            </a:xfrm>
            <a:custGeom>
              <a:avLst/>
              <a:gdLst/>
              <a:ahLst/>
              <a:cxnLst/>
              <a:rect r="r" b="b" t="t" l="l"/>
              <a:pathLst>
                <a:path h="1017303" w="1243717">
                  <a:moveTo>
                    <a:pt x="0" y="0"/>
                  </a:moveTo>
                  <a:lnTo>
                    <a:pt x="1243717" y="0"/>
                  </a:lnTo>
                  <a:lnTo>
                    <a:pt x="1243717" y="1017303"/>
                  </a:lnTo>
                  <a:lnTo>
                    <a:pt x="0" y="1017303"/>
                  </a:lnTo>
                  <a:close/>
                </a:path>
              </a:pathLst>
            </a:custGeom>
            <a:blipFill>
              <a:blip r:embed="rId3"/>
              <a:stretch>
                <a:fillRect l="-14247" t="0" r="-8522" b="0"/>
              </a:stretch>
            </a:blipFill>
          </p:spPr>
        </p:sp>
      </p:grpSp>
      <p:sp>
        <p:nvSpPr>
          <p:cNvPr name="Freeform 10" id="10"/>
          <p:cNvSpPr/>
          <p:nvPr/>
        </p:nvSpPr>
        <p:spPr>
          <a:xfrm flipH="false" flipV="false" rot="0">
            <a:off x="11234164" y="9000780"/>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234164" y="-2830129"/>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260075" y="1028700"/>
            <a:ext cx="8749666" cy="2271263"/>
            <a:chOff x="0" y="0"/>
            <a:chExt cx="11666221" cy="3028351"/>
          </a:xfrm>
        </p:grpSpPr>
        <p:grpSp>
          <p:nvGrpSpPr>
            <p:cNvPr name="Group 13" id="13"/>
            <p:cNvGrpSpPr/>
            <p:nvPr/>
          </p:nvGrpSpPr>
          <p:grpSpPr>
            <a:xfrm rot="0">
              <a:off x="0" y="0"/>
              <a:ext cx="11666221" cy="3005773"/>
              <a:chOff x="0" y="0"/>
              <a:chExt cx="2304439" cy="593733"/>
            </a:xfrm>
          </p:grpSpPr>
          <p:sp>
            <p:nvSpPr>
              <p:cNvPr name="Freeform 14" id="14"/>
              <p:cNvSpPr/>
              <p:nvPr/>
            </p:nvSpPr>
            <p:spPr>
              <a:xfrm flipH="false" flipV="false" rot="0">
                <a:off x="0" y="0"/>
                <a:ext cx="2304439" cy="593733"/>
              </a:xfrm>
              <a:custGeom>
                <a:avLst/>
                <a:gdLst/>
                <a:ahLst/>
                <a:cxnLst/>
                <a:rect r="r" b="b" t="t" l="l"/>
                <a:pathLst>
                  <a:path h="593733" w="2304439">
                    <a:moveTo>
                      <a:pt x="0" y="0"/>
                    </a:moveTo>
                    <a:lnTo>
                      <a:pt x="2304439" y="0"/>
                    </a:lnTo>
                    <a:lnTo>
                      <a:pt x="2304439" y="593733"/>
                    </a:lnTo>
                    <a:lnTo>
                      <a:pt x="0" y="593733"/>
                    </a:lnTo>
                    <a:close/>
                  </a:path>
                </a:pathLst>
              </a:custGeom>
              <a:solidFill>
                <a:srgbClr val="9C6942"/>
              </a:solidFill>
            </p:spPr>
          </p:sp>
          <p:sp>
            <p:nvSpPr>
              <p:cNvPr name="TextBox 15" id="15"/>
              <p:cNvSpPr txBox="true"/>
              <p:nvPr/>
            </p:nvSpPr>
            <p:spPr>
              <a:xfrm>
                <a:off x="0" y="-9525"/>
                <a:ext cx="2304439" cy="603258"/>
              </a:xfrm>
              <a:prstGeom prst="rect">
                <a:avLst/>
              </a:prstGeom>
            </p:spPr>
            <p:txBody>
              <a:bodyPr anchor="ctr" rtlCol="false" tIns="50800" lIns="50800" bIns="50800" rIns="50800"/>
              <a:lstStyle/>
              <a:p>
                <a:pPr algn="ctr">
                  <a:lnSpc>
                    <a:spcPts val="2640"/>
                  </a:lnSpc>
                </a:pPr>
              </a:p>
            </p:txBody>
          </p:sp>
        </p:grpSp>
        <p:sp>
          <p:nvSpPr>
            <p:cNvPr name="TextBox 16" id="16"/>
            <p:cNvSpPr txBox="true"/>
            <p:nvPr/>
          </p:nvSpPr>
          <p:spPr>
            <a:xfrm rot="0">
              <a:off x="1610884" y="278449"/>
              <a:ext cx="9489878" cy="2749902"/>
            </a:xfrm>
            <a:prstGeom prst="rect">
              <a:avLst/>
            </a:prstGeom>
          </p:spPr>
          <p:txBody>
            <a:bodyPr anchor="t" rtlCol="false" tIns="0" lIns="0" bIns="0" rIns="0">
              <a:spAutoFit/>
            </a:bodyPr>
            <a:lstStyle/>
            <a:p>
              <a:pPr algn="l">
                <a:lnSpc>
                  <a:spcPts val="7874"/>
                </a:lnSpc>
              </a:pPr>
              <a:r>
                <a:rPr lang="en-US" sz="7499" b="true">
                  <a:solidFill>
                    <a:srgbClr val="FFFFFF"/>
                  </a:solidFill>
                  <a:latin typeface="Bebas Neue Bold"/>
                  <a:ea typeface="Bebas Neue Bold"/>
                  <a:cs typeface="Bebas Neue Bold"/>
                  <a:sym typeface="Bebas Neue Bold"/>
                </a:rPr>
                <a:t>IMPORTANCE OF LEADERSHIP</a:t>
              </a:r>
            </a:p>
          </p:txBody>
        </p:sp>
      </p:grpSp>
      <p:grpSp>
        <p:nvGrpSpPr>
          <p:cNvPr name="Group 17" id="17"/>
          <p:cNvGrpSpPr/>
          <p:nvPr/>
        </p:nvGrpSpPr>
        <p:grpSpPr>
          <a:xfrm rot="0">
            <a:off x="851771" y="4245984"/>
            <a:ext cx="6968495" cy="3701396"/>
            <a:chOff x="0" y="0"/>
            <a:chExt cx="9291326" cy="4935195"/>
          </a:xfrm>
        </p:grpSpPr>
        <p:sp>
          <p:nvSpPr>
            <p:cNvPr name="TextBox 18" id="18"/>
            <p:cNvSpPr txBox="true"/>
            <p:nvPr/>
          </p:nvSpPr>
          <p:spPr>
            <a:xfrm rot="0">
              <a:off x="0" y="973903"/>
              <a:ext cx="9291326" cy="3961292"/>
            </a:xfrm>
            <a:prstGeom prst="rect">
              <a:avLst/>
            </a:prstGeom>
          </p:spPr>
          <p:txBody>
            <a:bodyPr anchor="t" rtlCol="false" tIns="0" lIns="0" bIns="0" rIns="0">
              <a:spAutoFit/>
            </a:bodyPr>
            <a:lstStyle/>
            <a:p>
              <a:pPr algn="just" marL="717068" indent="-358534" lvl="1">
                <a:lnSpc>
                  <a:spcPts val="3985"/>
                </a:lnSpc>
                <a:buFont typeface="Arial"/>
                <a:buChar char="•"/>
              </a:pPr>
              <a:r>
                <a:rPr lang="en-US" sz="3321">
                  <a:solidFill>
                    <a:srgbClr val="FFFFFF"/>
                  </a:solidFill>
                  <a:latin typeface="Glacial Indifference"/>
                  <a:ea typeface="Glacial Indifference"/>
                  <a:cs typeface="Glacial Indifference"/>
                  <a:sym typeface="Glacial Indifference"/>
                </a:rPr>
                <a:t>Commitment to the project’s objectives</a:t>
              </a:r>
            </a:p>
            <a:p>
              <a:pPr algn="just" marL="717068" indent="-358534" lvl="1">
                <a:lnSpc>
                  <a:spcPts val="3985"/>
                </a:lnSpc>
                <a:buFont typeface="Arial"/>
                <a:buChar char="•"/>
              </a:pPr>
              <a:r>
                <a:rPr lang="en-US" sz="3321">
                  <a:solidFill>
                    <a:srgbClr val="FFFFFF"/>
                  </a:solidFill>
                  <a:latin typeface="Glacial Indifference"/>
                  <a:ea typeface="Glacial Indifference"/>
                  <a:cs typeface="Glacial Indifference"/>
                  <a:sym typeface="Glacial Indifference"/>
                </a:rPr>
                <a:t>Collaboration among team members</a:t>
              </a:r>
            </a:p>
            <a:p>
              <a:pPr algn="just" marL="717068" indent="-358534" lvl="1">
                <a:lnSpc>
                  <a:spcPts val="3985"/>
                </a:lnSpc>
                <a:buFont typeface="Arial"/>
                <a:buChar char="•"/>
              </a:pPr>
              <a:r>
                <a:rPr lang="en-US" sz="3321">
                  <a:solidFill>
                    <a:srgbClr val="FFFFFF"/>
                  </a:solidFill>
                  <a:latin typeface="Glacial Indifference"/>
                  <a:ea typeface="Glacial Indifference"/>
                  <a:cs typeface="Glacial Indifference"/>
                  <a:sym typeface="Glacial Indifference"/>
                </a:rPr>
                <a:t>Successful navigation through uncertainty and tight timelines</a:t>
              </a:r>
            </a:p>
          </p:txBody>
        </p:sp>
        <p:sp>
          <p:nvSpPr>
            <p:cNvPr name="TextBox 19" id="19"/>
            <p:cNvSpPr txBox="true"/>
            <p:nvPr/>
          </p:nvSpPr>
          <p:spPr>
            <a:xfrm rot="0">
              <a:off x="0" y="-9525"/>
              <a:ext cx="9291326" cy="871473"/>
            </a:xfrm>
            <a:prstGeom prst="rect">
              <a:avLst/>
            </a:prstGeom>
          </p:spPr>
          <p:txBody>
            <a:bodyPr anchor="t" rtlCol="false" tIns="0" lIns="0" bIns="0" rIns="0">
              <a:spAutoFit/>
            </a:bodyPr>
            <a:lstStyle/>
            <a:p>
              <a:pPr algn="l">
                <a:lnSpc>
                  <a:spcPts val="5198"/>
                </a:lnSpc>
              </a:pPr>
              <a:r>
                <a:rPr lang="en-US" sz="4332" b="true">
                  <a:solidFill>
                    <a:srgbClr val="A6A6A6"/>
                  </a:solidFill>
                  <a:latin typeface="Bebas Neue Bold"/>
                  <a:ea typeface="Bebas Neue Bold"/>
                  <a:cs typeface="Bebas Neue Bold"/>
                  <a:sym typeface="Bebas Neue Bold"/>
                </a:rPr>
                <a:t>LEADERSHIP ENSURES: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8411823" y="-1118794"/>
            <a:ext cx="10416938" cy="11617995"/>
            <a:chOff x="0" y="0"/>
            <a:chExt cx="2743556" cy="3059883"/>
          </a:xfrm>
        </p:grpSpPr>
        <p:sp>
          <p:nvSpPr>
            <p:cNvPr name="Freeform 3" id="3"/>
            <p:cNvSpPr/>
            <p:nvPr/>
          </p:nvSpPr>
          <p:spPr>
            <a:xfrm flipH="false" flipV="false" rot="0">
              <a:off x="0" y="0"/>
              <a:ext cx="2743556" cy="3059883"/>
            </a:xfrm>
            <a:custGeom>
              <a:avLst/>
              <a:gdLst/>
              <a:ahLst/>
              <a:cxnLst/>
              <a:rect r="r" b="b" t="t" l="l"/>
              <a:pathLst>
                <a:path h="3059883" w="2743556">
                  <a:moveTo>
                    <a:pt x="0" y="0"/>
                  </a:moveTo>
                  <a:lnTo>
                    <a:pt x="2743556" y="0"/>
                  </a:lnTo>
                  <a:lnTo>
                    <a:pt x="2743556" y="3059883"/>
                  </a:lnTo>
                  <a:lnTo>
                    <a:pt x="0" y="3059883"/>
                  </a:lnTo>
                  <a:close/>
                </a:path>
              </a:pathLst>
            </a:custGeom>
            <a:solidFill>
              <a:srgbClr val="33261A"/>
            </a:solidFill>
          </p:spPr>
        </p:sp>
        <p:sp>
          <p:nvSpPr>
            <p:cNvPr name="TextBox 4" id="4"/>
            <p:cNvSpPr txBox="true"/>
            <p:nvPr/>
          </p:nvSpPr>
          <p:spPr>
            <a:xfrm>
              <a:off x="0" y="-9525"/>
              <a:ext cx="2743556" cy="3069408"/>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344705" y="0"/>
            <a:ext cx="5721190" cy="10401300"/>
            <a:chOff x="0" y="0"/>
            <a:chExt cx="1506815" cy="2739437"/>
          </a:xfrm>
        </p:grpSpPr>
        <p:sp>
          <p:nvSpPr>
            <p:cNvPr name="Freeform 6" id="6"/>
            <p:cNvSpPr/>
            <p:nvPr/>
          </p:nvSpPr>
          <p:spPr>
            <a:xfrm flipH="false" flipV="false" rot="0">
              <a:off x="0" y="0"/>
              <a:ext cx="1506815" cy="2739437"/>
            </a:xfrm>
            <a:custGeom>
              <a:avLst/>
              <a:gdLst/>
              <a:ahLst/>
              <a:cxnLst/>
              <a:rect r="r" b="b" t="t" l="l"/>
              <a:pathLst>
                <a:path h="2739437" w="1506815">
                  <a:moveTo>
                    <a:pt x="0" y="0"/>
                  </a:moveTo>
                  <a:lnTo>
                    <a:pt x="1506815" y="0"/>
                  </a:lnTo>
                  <a:lnTo>
                    <a:pt x="1506815" y="2739437"/>
                  </a:lnTo>
                  <a:lnTo>
                    <a:pt x="0" y="2739437"/>
                  </a:lnTo>
                  <a:close/>
                </a:path>
              </a:pathLst>
            </a:custGeom>
            <a:solidFill>
              <a:srgbClr val="9C6942"/>
            </a:solidFill>
          </p:spPr>
        </p:sp>
        <p:sp>
          <p:nvSpPr>
            <p:cNvPr name="TextBox 7" id="7"/>
            <p:cNvSpPr txBox="true"/>
            <p:nvPr/>
          </p:nvSpPr>
          <p:spPr>
            <a:xfrm>
              <a:off x="0" y="-9525"/>
              <a:ext cx="1506815" cy="2748962"/>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0013034" y="1028717"/>
            <a:ext cx="9103428" cy="2591897"/>
            <a:chOff x="0" y="0"/>
            <a:chExt cx="2397611" cy="682640"/>
          </a:xfrm>
        </p:grpSpPr>
        <p:sp>
          <p:nvSpPr>
            <p:cNvPr name="Freeform 9" id="9"/>
            <p:cNvSpPr/>
            <p:nvPr/>
          </p:nvSpPr>
          <p:spPr>
            <a:xfrm flipH="false" flipV="false" rot="0">
              <a:off x="0" y="0"/>
              <a:ext cx="2397611" cy="682640"/>
            </a:xfrm>
            <a:custGeom>
              <a:avLst/>
              <a:gdLst/>
              <a:ahLst/>
              <a:cxnLst/>
              <a:rect r="r" b="b" t="t" l="l"/>
              <a:pathLst>
                <a:path h="682640" w="2397611">
                  <a:moveTo>
                    <a:pt x="0" y="0"/>
                  </a:moveTo>
                  <a:lnTo>
                    <a:pt x="2397611" y="0"/>
                  </a:lnTo>
                  <a:lnTo>
                    <a:pt x="2397611" y="682640"/>
                  </a:lnTo>
                  <a:lnTo>
                    <a:pt x="0" y="682640"/>
                  </a:lnTo>
                  <a:close/>
                </a:path>
              </a:pathLst>
            </a:custGeom>
            <a:solidFill>
              <a:srgbClr val="9C6942"/>
            </a:solidFill>
          </p:spPr>
        </p:sp>
        <p:sp>
          <p:nvSpPr>
            <p:cNvPr name="TextBox 10" id="10"/>
            <p:cNvSpPr txBox="true"/>
            <p:nvPr/>
          </p:nvSpPr>
          <p:spPr>
            <a:xfrm>
              <a:off x="0" y="-9525"/>
              <a:ext cx="2397611" cy="692165"/>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2816541"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3254530" y="213681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0253599" y="1474083"/>
            <a:ext cx="7302681" cy="1798108"/>
          </a:xfrm>
          <a:prstGeom prst="rect">
            <a:avLst/>
          </a:prstGeom>
        </p:spPr>
        <p:txBody>
          <a:bodyPr anchor="t" rtlCol="false" tIns="0" lIns="0" bIns="0" rIns="0">
            <a:spAutoFit/>
          </a:bodyPr>
          <a:lstStyle/>
          <a:p>
            <a:pPr algn="r">
              <a:lnSpc>
                <a:spcPts val="6825"/>
              </a:lnSpc>
            </a:pPr>
            <a:r>
              <a:rPr lang="en-US" b="true" sz="6500">
                <a:solidFill>
                  <a:srgbClr val="FFFFFF"/>
                </a:solidFill>
                <a:latin typeface="Bebas Neue Bold"/>
                <a:ea typeface="Bebas Neue Bold"/>
                <a:cs typeface="Bebas Neue Bold"/>
                <a:sym typeface="Bebas Neue Bold"/>
              </a:rPr>
              <a:t>LEADERSHIP CHALLENGES IN TEMPORARY ORGANIZATIONS</a:t>
            </a:r>
          </a:p>
        </p:txBody>
      </p:sp>
      <p:grpSp>
        <p:nvGrpSpPr>
          <p:cNvPr name="Group 14" id="14"/>
          <p:cNvGrpSpPr/>
          <p:nvPr/>
        </p:nvGrpSpPr>
        <p:grpSpPr>
          <a:xfrm rot="0">
            <a:off x="1028700" y="705370"/>
            <a:ext cx="6524592" cy="8876260"/>
            <a:chOff x="0" y="0"/>
            <a:chExt cx="1005172" cy="1367468"/>
          </a:xfrm>
        </p:grpSpPr>
        <p:sp>
          <p:nvSpPr>
            <p:cNvPr name="Freeform 15" id="15"/>
            <p:cNvSpPr/>
            <p:nvPr/>
          </p:nvSpPr>
          <p:spPr>
            <a:xfrm flipH="false" flipV="false" rot="0">
              <a:off x="0" y="0"/>
              <a:ext cx="1005172" cy="1367468"/>
            </a:xfrm>
            <a:custGeom>
              <a:avLst/>
              <a:gdLst/>
              <a:ahLst/>
              <a:cxnLst/>
              <a:rect r="r" b="b" t="t" l="l"/>
              <a:pathLst>
                <a:path h="1367468" w="1005172">
                  <a:moveTo>
                    <a:pt x="0" y="0"/>
                  </a:moveTo>
                  <a:lnTo>
                    <a:pt x="1005172" y="0"/>
                  </a:lnTo>
                  <a:lnTo>
                    <a:pt x="1005172" y="1367468"/>
                  </a:lnTo>
                  <a:lnTo>
                    <a:pt x="0" y="1367468"/>
                  </a:lnTo>
                  <a:close/>
                </a:path>
              </a:pathLst>
            </a:custGeom>
            <a:blipFill>
              <a:blip r:embed="rId7"/>
              <a:stretch>
                <a:fillRect l="0" t="-5164" r="0" b="-5164"/>
              </a:stretch>
            </a:blipFill>
          </p:spPr>
        </p:sp>
      </p:grpSp>
      <p:sp>
        <p:nvSpPr>
          <p:cNvPr name="TextBox 16" id="16"/>
          <p:cNvSpPr txBox="true"/>
          <p:nvPr/>
        </p:nvSpPr>
        <p:spPr>
          <a:xfrm rot="0">
            <a:off x="11406267" y="4187119"/>
            <a:ext cx="6460955" cy="828675"/>
          </a:xfrm>
          <a:prstGeom prst="rect">
            <a:avLst/>
          </a:prstGeom>
        </p:spPr>
        <p:txBody>
          <a:bodyPr anchor="t" rtlCol="false" tIns="0" lIns="0" bIns="0" rIns="0">
            <a:spAutoFit/>
          </a:bodyPr>
          <a:lstStyle/>
          <a:p>
            <a:pPr algn="l">
              <a:lnSpc>
                <a:spcPts val="6599"/>
              </a:lnSpc>
            </a:pPr>
            <a:r>
              <a:rPr lang="en-US" sz="5499">
                <a:solidFill>
                  <a:srgbClr val="FFFFFF"/>
                </a:solidFill>
                <a:latin typeface="Glacial Indifference"/>
                <a:ea typeface="Glacial Indifference"/>
                <a:cs typeface="Glacial Indifference"/>
                <a:sym typeface="Glacial Indifference"/>
              </a:rPr>
              <a:t>Time Limitations</a:t>
            </a:r>
          </a:p>
        </p:txBody>
      </p:sp>
      <p:sp>
        <p:nvSpPr>
          <p:cNvPr name="TextBox 17" id="17"/>
          <p:cNvSpPr txBox="true"/>
          <p:nvPr/>
        </p:nvSpPr>
        <p:spPr>
          <a:xfrm rot="0">
            <a:off x="10555959" y="3697933"/>
            <a:ext cx="1393706" cy="1635450"/>
          </a:xfrm>
          <a:prstGeom prst="rect">
            <a:avLst/>
          </a:prstGeom>
        </p:spPr>
        <p:txBody>
          <a:bodyPr anchor="t" rtlCol="false" tIns="0" lIns="0" bIns="0" rIns="0">
            <a:spAutoFit/>
          </a:bodyPr>
          <a:lstStyle/>
          <a:p>
            <a:pPr algn="l">
              <a:lnSpc>
                <a:spcPts val="12717"/>
              </a:lnSpc>
            </a:pPr>
            <a:r>
              <a:rPr lang="en-US" sz="10598" b="true">
                <a:solidFill>
                  <a:srgbClr val="CC9267"/>
                </a:solidFill>
                <a:latin typeface="Bebas Neue Bold"/>
                <a:ea typeface="Bebas Neue Bold"/>
                <a:cs typeface="Bebas Neue Bold"/>
                <a:sym typeface="Bebas Neue Bold"/>
              </a:rPr>
              <a:t>T</a:t>
            </a:r>
          </a:p>
        </p:txBody>
      </p:sp>
      <p:sp>
        <p:nvSpPr>
          <p:cNvPr name="TextBox 18" id="18"/>
          <p:cNvSpPr txBox="true"/>
          <p:nvPr/>
        </p:nvSpPr>
        <p:spPr>
          <a:xfrm rot="0">
            <a:off x="10555959" y="4964999"/>
            <a:ext cx="1393706" cy="1635450"/>
          </a:xfrm>
          <a:prstGeom prst="rect">
            <a:avLst/>
          </a:prstGeom>
        </p:spPr>
        <p:txBody>
          <a:bodyPr anchor="t" rtlCol="false" tIns="0" lIns="0" bIns="0" rIns="0">
            <a:spAutoFit/>
          </a:bodyPr>
          <a:lstStyle/>
          <a:p>
            <a:pPr algn="l">
              <a:lnSpc>
                <a:spcPts val="12717"/>
              </a:lnSpc>
            </a:pPr>
            <a:r>
              <a:rPr lang="en-US" sz="10598" b="true">
                <a:solidFill>
                  <a:srgbClr val="CC9267"/>
                </a:solidFill>
                <a:latin typeface="Bebas Neue Bold"/>
                <a:ea typeface="Bebas Neue Bold"/>
                <a:cs typeface="Bebas Neue Bold"/>
                <a:sym typeface="Bebas Neue Bold"/>
              </a:rPr>
              <a:t>D</a:t>
            </a:r>
          </a:p>
        </p:txBody>
      </p:sp>
      <p:sp>
        <p:nvSpPr>
          <p:cNvPr name="TextBox 19" id="19"/>
          <p:cNvSpPr txBox="true"/>
          <p:nvPr/>
        </p:nvSpPr>
        <p:spPr>
          <a:xfrm rot="0">
            <a:off x="10569418" y="6228620"/>
            <a:ext cx="1393706" cy="1635450"/>
          </a:xfrm>
          <a:prstGeom prst="rect">
            <a:avLst/>
          </a:prstGeom>
        </p:spPr>
        <p:txBody>
          <a:bodyPr anchor="t" rtlCol="false" tIns="0" lIns="0" bIns="0" rIns="0">
            <a:spAutoFit/>
          </a:bodyPr>
          <a:lstStyle/>
          <a:p>
            <a:pPr algn="l">
              <a:lnSpc>
                <a:spcPts val="12717"/>
              </a:lnSpc>
            </a:pPr>
            <a:r>
              <a:rPr lang="en-US" sz="10598" b="true">
                <a:solidFill>
                  <a:srgbClr val="CC9267"/>
                </a:solidFill>
                <a:latin typeface="Bebas Neue Bold"/>
                <a:ea typeface="Bebas Neue Bold"/>
                <a:cs typeface="Bebas Neue Bold"/>
                <a:sym typeface="Bebas Neue Bold"/>
              </a:rPr>
              <a:t>U</a:t>
            </a:r>
          </a:p>
        </p:txBody>
      </p:sp>
      <p:sp>
        <p:nvSpPr>
          <p:cNvPr name="TextBox 20" id="20"/>
          <p:cNvSpPr txBox="true"/>
          <p:nvPr/>
        </p:nvSpPr>
        <p:spPr>
          <a:xfrm rot="0">
            <a:off x="10589608" y="7536006"/>
            <a:ext cx="1393706" cy="1635450"/>
          </a:xfrm>
          <a:prstGeom prst="rect">
            <a:avLst/>
          </a:prstGeom>
        </p:spPr>
        <p:txBody>
          <a:bodyPr anchor="t" rtlCol="false" tIns="0" lIns="0" bIns="0" rIns="0">
            <a:spAutoFit/>
          </a:bodyPr>
          <a:lstStyle/>
          <a:p>
            <a:pPr algn="l">
              <a:lnSpc>
                <a:spcPts val="12717"/>
              </a:lnSpc>
            </a:pPr>
            <a:r>
              <a:rPr lang="en-US" sz="10598" b="true">
                <a:solidFill>
                  <a:srgbClr val="CC9267"/>
                </a:solidFill>
                <a:latin typeface="Bebas Neue Bold"/>
                <a:ea typeface="Bebas Neue Bold"/>
                <a:cs typeface="Bebas Neue Bold"/>
                <a:sym typeface="Bebas Neue Bold"/>
              </a:rPr>
              <a:t>E</a:t>
            </a:r>
          </a:p>
        </p:txBody>
      </p:sp>
      <p:sp>
        <p:nvSpPr>
          <p:cNvPr name="TextBox 21" id="21"/>
          <p:cNvSpPr txBox="true"/>
          <p:nvPr/>
        </p:nvSpPr>
        <p:spPr>
          <a:xfrm rot="0">
            <a:off x="11406267" y="5400001"/>
            <a:ext cx="6642006" cy="828675"/>
          </a:xfrm>
          <a:prstGeom prst="rect">
            <a:avLst/>
          </a:prstGeom>
        </p:spPr>
        <p:txBody>
          <a:bodyPr anchor="t" rtlCol="false" tIns="0" lIns="0" bIns="0" rIns="0">
            <a:spAutoFit/>
          </a:bodyPr>
          <a:lstStyle/>
          <a:p>
            <a:pPr algn="l">
              <a:lnSpc>
                <a:spcPts val="6599"/>
              </a:lnSpc>
            </a:pPr>
            <a:r>
              <a:rPr lang="en-US" sz="5499">
                <a:solidFill>
                  <a:srgbClr val="FFFFFF"/>
                </a:solidFill>
                <a:latin typeface="Glacial Indifference"/>
                <a:ea typeface="Glacial Indifference"/>
                <a:cs typeface="Glacial Indifference"/>
                <a:sym typeface="Glacial Indifference"/>
              </a:rPr>
              <a:t>Diverse Teams</a:t>
            </a:r>
          </a:p>
        </p:txBody>
      </p:sp>
      <p:sp>
        <p:nvSpPr>
          <p:cNvPr name="TextBox 22" id="22"/>
          <p:cNvSpPr txBox="true"/>
          <p:nvPr/>
        </p:nvSpPr>
        <p:spPr>
          <a:xfrm rot="0">
            <a:off x="11406267" y="6658653"/>
            <a:ext cx="6642006" cy="828675"/>
          </a:xfrm>
          <a:prstGeom prst="rect">
            <a:avLst/>
          </a:prstGeom>
        </p:spPr>
        <p:txBody>
          <a:bodyPr anchor="t" rtlCol="false" tIns="0" lIns="0" bIns="0" rIns="0">
            <a:spAutoFit/>
          </a:bodyPr>
          <a:lstStyle/>
          <a:p>
            <a:pPr algn="l">
              <a:lnSpc>
                <a:spcPts val="6599"/>
              </a:lnSpc>
            </a:pPr>
            <a:r>
              <a:rPr lang="en-US" sz="5499">
                <a:solidFill>
                  <a:srgbClr val="FFFFFF"/>
                </a:solidFill>
                <a:latin typeface="Glacial Indifference"/>
                <a:ea typeface="Glacial Indifference"/>
                <a:cs typeface="Glacial Indifference"/>
                <a:sym typeface="Glacial Indifference"/>
              </a:rPr>
              <a:t>Uncertainty</a:t>
            </a:r>
          </a:p>
        </p:txBody>
      </p:sp>
      <p:sp>
        <p:nvSpPr>
          <p:cNvPr name="TextBox 23" id="23"/>
          <p:cNvSpPr txBox="true"/>
          <p:nvPr/>
        </p:nvSpPr>
        <p:spPr>
          <a:xfrm rot="0">
            <a:off x="11453892" y="7581774"/>
            <a:ext cx="6976688" cy="1343025"/>
          </a:xfrm>
          <a:prstGeom prst="rect">
            <a:avLst/>
          </a:prstGeom>
        </p:spPr>
        <p:txBody>
          <a:bodyPr anchor="t" rtlCol="false" tIns="0" lIns="0" bIns="0" rIns="0">
            <a:spAutoFit/>
          </a:bodyPr>
          <a:lstStyle/>
          <a:p>
            <a:pPr algn="l">
              <a:lnSpc>
                <a:spcPts val="5280"/>
              </a:lnSpc>
            </a:pPr>
            <a:r>
              <a:rPr lang="en-US" sz="4400">
                <a:solidFill>
                  <a:srgbClr val="FFFFFF"/>
                </a:solidFill>
                <a:latin typeface="Glacial Indifference"/>
                <a:ea typeface="Glacial Indifference"/>
                <a:cs typeface="Glacial Indifference"/>
                <a:sym typeface="Glacial Indifference"/>
              </a:rPr>
              <a:t>Lack of Established Hierarchies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54514" y="0"/>
            <a:ext cx="12310676" cy="10287000"/>
            <a:chOff x="0" y="0"/>
            <a:chExt cx="3242318" cy="2709333"/>
          </a:xfrm>
        </p:grpSpPr>
        <p:sp>
          <p:nvSpPr>
            <p:cNvPr name="Freeform 3" id="3"/>
            <p:cNvSpPr/>
            <p:nvPr/>
          </p:nvSpPr>
          <p:spPr>
            <a:xfrm flipH="false" flipV="false" rot="0">
              <a:off x="0" y="0"/>
              <a:ext cx="3242318" cy="2709333"/>
            </a:xfrm>
            <a:custGeom>
              <a:avLst/>
              <a:gdLst/>
              <a:ahLst/>
              <a:cxnLst/>
              <a:rect r="r" b="b" t="t" l="l"/>
              <a:pathLst>
                <a:path h="2709333" w="3242318">
                  <a:moveTo>
                    <a:pt x="0" y="0"/>
                  </a:moveTo>
                  <a:lnTo>
                    <a:pt x="3242318" y="0"/>
                  </a:lnTo>
                  <a:lnTo>
                    <a:pt x="3242318" y="2709333"/>
                  </a:lnTo>
                  <a:lnTo>
                    <a:pt x="0" y="2709333"/>
                  </a:lnTo>
                  <a:close/>
                </a:path>
              </a:pathLst>
            </a:custGeom>
            <a:solidFill>
              <a:srgbClr val="33261A"/>
            </a:solidFill>
          </p:spPr>
        </p:sp>
        <p:sp>
          <p:nvSpPr>
            <p:cNvPr name="TextBox 4" id="4"/>
            <p:cNvSpPr txBox="true"/>
            <p:nvPr/>
          </p:nvSpPr>
          <p:spPr>
            <a:xfrm>
              <a:off x="0" y="-38100"/>
              <a:ext cx="324231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90596" y="1028700"/>
            <a:ext cx="11046810" cy="1747101"/>
            <a:chOff x="0" y="0"/>
            <a:chExt cx="2909448" cy="460142"/>
          </a:xfrm>
        </p:grpSpPr>
        <p:sp>
          <p:nvSpPr>
            <p:cNvPr name="Freeform 6" id="6"/>
            <p:cNvSpPr/>
            <p:nvPr/>
          </p:nvSpPr>
          <p:spPr>
            <a:xfrm flipH="false" flipV="false" rot="0">
              <a:off x="0" y="0"/>
              <a:ext cx="2909448" cy="460142"/>
            </a:xfrm>
            <a:custGeom>
              <a:avLst/>
              <a:gdLst/>
              <a:ahLst/>
              <a:cxnLst/>
              <a:rect r="r" b="b" t="t" l="l"/>
              <a:pathLst>
                <a:path h="460142" w="2909448">
                  <a:moveTo>
                    <a:pt x="0" y="0"/>
                  </a:moveTo>
                  <a:lnTo>
                    <a:pt x="2909448" y="0"/>
                  </a:lnTo>
                  <a:lnTo>
                    <a:pt x="2909448" y="460142"/>
                  </a:lnTo>
                  <a:lnTo>
                    <a:pt x="0" y="460142"/>
                  </a:lnTo>
                  <a:close/>
                </a:path>
              </a:pathLst>
            </a:custGeom>
            <a:solidFill>
              <a:srgbClr val="9C6942"/>
            </a:solidFill>
          </p:spPr>
        </p:sp>
        <p:sp>
          <p:nvSpPr>
            <p:cNvPr name="TextBox 7" id="7"/>
            <p:cNvSpPr txBox="true"/>
            <p:nvPr/>
          </p:nvSpPr>
          <p:spPr>
            <a:xfrm>
              <a:off x="0" y="-9525"/>
              <a:ext cx="2909448" cy="469667"/>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2198695" y="1180320"/>
            <a:ext cx="5482971" cy="8174095"/>
            <a:chOff x="0" y="0"/>
            <a:chExt cx="849456" cy="1266381"/>
          </a:xfrm>
        </p:grpSpPr>
        <p:sp>
          <p:nvSpPr>
            <p:cNvPr name="Freeform 9" id="9"/>
            <p:cNvSpPr/>
            <p:nvPr/>
          </p:nvSpPr>
          <p:spPr>
            <a:xfrm flipH="false" flipV="false" rot="0">
              <a:off x="0" y="0"/>
              <a:ext cx="849456" cy="1266381"/>
            </a:xfrm>
            <a:custGeom>
              <a:avLst/>
              <a:gdLst/>
              <a:ahLst/>
              <a:cxnLst/>
              <a:rect r="r" b="b" t="t" l="l"/>
              <a:pathLst>
                <a:path h="1266381" w="849456">
                  <a:moveTo>
                    <a:pt x="0" y="0"/>
                  </a:moveTo>
                  <a:lnTo>
                    <a:pt x="849456" y="0"/>
                  </a:lnTo>
                  <a:lnTo>
                    <a:pt x="849456" y="1266381"/>
                  </a:lnTo>
                  <a:lnTo>
                    <a:pt x="0" y="1266381"/>
                  </a:lnTo>
                  <a:close/>
                </a:path>
              </a:pathLst>
            </a:custGeom>
            <a:blipFill>
              <a:blip r:embed="rId3"/>
              <a:stretch>
                <a:fillRect l="0" t="-339" r="0" b="-339"/>
              </a:stretch>
            </a:blipFill>
          </p:spPr>
        </p:sp>
      </p:grpSp>
      <p:sp>
        <p:nvSpPr>
          <p:cNvPr name="Freeform 10" id="10"/>
          <p:cNvSpPr/>
          <p:nvPr/>
        </p:nvSpPr>
        <p:spPr>
          <a:xfrm flipH="false" flipV="false" rot="0">
            <a:off x="6596031" y="9258300"/>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860088" y="-341557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86525" y="3317557"/>
            <a:ext cx="8814663" cy="5410200"/>
          </a:xfrm>
          <a:prstGeom prst="rect">
            <a:avLst/>
          </a:prstGeom>
        </p:spPr>
        <p:txBody>
          <a:bodyPr anchor="t" rtlCol="false" tIns="0" lIns="0" bIns="0" rIns="0">
            <a:spAutoFit/>
          </a:bodyPr>
          <a:lstStyle/>
          <a:p>
            <a:pPr algn="just" marL="863599" indent="-431800" lvl="1">
              <a:lnSpc>
                <a:spcPts val="4799"/>
              </a:lnSpc>
              <a:buFont typeface="Arial"/>
              <a:buChar char="•"/>
            </a:pPr>
            <a:r>
              <a:rPr lang="en-US" sz="3999">
                <a:solidFill>
                  <a:srgbClr val="FFFFFF"/>
                </a:solidFill>
                <a:latin typeface="Glacial Indifference"/>
                <a:ea typeface="Glacial Indifference"/>
                <a:cs typeface="Glacial Indifference"/>
                <a:sym typeface="Glacial Indifference"/>
              </a:rPr>
              <a:t>Managing </a:t>
            </a:r>
            <a:r>
              <a:rPr lang="en-US" b="true" sz="3999">
                <a:solidFill>
                  <a:srgbClr val="FFFFFF"/>
                </a:solidFill>
                <a:latin typeface="Glacial Indifference Bold"/>
                <a:ea typeface="Glacial Indifference Bold"/>
                <a:cs typeface="Glacial Indifference Bold"/>
                <a:sym typeface="Glacial Indifference Bold"/>
              </a:rPr>
              <a:t>short-term goals</a:t>
            </a:r>
            <a:r>
              <a:rPr lang="en-US" sz="3999">
                <a:solidFill>
                  <a:srgbClr val="FFFFFF"/>
                </a:solidFill>
                <a:latin typeface="Glacial Indifference"/>
                <a:ea typeface="Glacial Indifference"/>
                <a:cs typeface="Glacial Indifference"/>
                <a:sym typeface="Glacial Indifference"/>
              </a:rPr>
              <a:t> while aligning with </a:t>
            </a:r>
            <a:r>
              <a:rPr lang="en-US" b="true" sz="3999">
                <a:solidFill>
                  <a:srgbClr val="FFFFFF"/>
                </a:solidFill>
                <a:latin typeface="Glacial Indifference Bold"/>
                <a:ea typeface="Glacial Indifference Bold"/>
                <a:cs typeface="Glacial Indifference Bold"/>
                <a:sym typeface="Glacial Indifference Bold"/>
              </a:rPr>
              <a:t>long-term visions</a:t>
            </a:r>
            <a:r>
              <a:rPr lang="en-US" sz="3999">
                <a:solidFill>
                  <a:srgbClr val="FFFFFF"/>
                </a:solidFill>
                <a:latin typeface="Glacial Indifference"/>
                <a:ea typeface="Glacial Indifference"/>
                <a:cs typeface="Glacial Indifference"/>
                <a:sym typeface="Glacial Indifference"/>
              </a:rPr>
              <a:t>.</a:t>
            </a:r>
          </a:p>
          <a:p>
            <a:pPr algn="just">
              <a:lnSpc>
                <a:spcPts val="4799"/>
              </a:lnSpc>
            </a:pPr>
          </a:p>
          <a:p>
            <a:pPr algn="just" marL="863599" indent="-431800" lvl="1">
              <a:lnSpc>
                <a:spcPts val="4799"/>
              </a:lnSpc>
              <a:buFont typeface="Arial"/>
              <a:buChar char="•"/>
            </a:pPr>
            <a:r>
              <a:rPr lang="en-US" sz="3999">
                <a:solidFill>
                  <a:srgbClr val="FFFFFF"/>
                </a:solidFill>
                <a:latin typeface="Glacial Indifference"/>
                <a:ea typeface="Glacial Indifference"/>
                <a:cs typeface="Glacial Indifference"/>
                <a:sym typeface="Glacial Indifference"/>
              </a:rPr>
              <a:t>Handling </a:t>
            </a:r>
            <a:r>
              <a:rPr lang="en-US" b="true" sz="3999">
                <a:solidFill>
                  <a:srgbClr val="FFFFFF"/>
                </a:solidFill>
                <a:latin typeface="Glacial Indifference Bold"/>
                <a:ea typeface="Glacial Indifference Bold"/>
                <a:cs typeface="Glacial Indifference Bold"/>
                <a:sym typeface="Glacial Indifference Bold"/>
              </a:rPr>
              <a:t>interdependent tasks</a:t>
            </a:r>
            <a:r>
              <a:rPr lang="en-US" sz="3999">
                <a:solidFill>
                  <a:srgbClr val="FFFFFF"/>
                </a:solidFill>
                <a:latin typeface="Glacial Indifference"/>
                <a:ea typeface="Glacial Indifference"/>
                <a:cs typeface="Glacial Indifference"/>
                <a:sym typeface="Glacial Indifference"/>
              </a:rPr>
              <a:t> across diverse teams.</a:t>
            </a:r>
          </a:p>
          <a:p>
            <a:pPr algn="just">
              <a:lnSpc>
                <a:spcPts val="4799"/>
              </a:lnSpc>
            </a:pPr>
          </a:p>
          <a:p>
            <a:pPr algn="just" marL="863599" indent="-431800" lvl="1">
              <a:lnSpc>
                <a:spcPts val="4799"/>
              </a:lnSpc>
              <a:buFont typeface="Arial"/>
              <a:buChar char="•"/>
            </a:pPr>
            <a:r>
              <a:rPr lang="en-US" sz="3999">
                <a:solidFill>
                  <a:srgbClr val="FFFFFF"/>
                </a:solidFill>
                <a:latin typeface="Glacial Indifference"/>
                <a:ea typeface="Glacial Indifference"/>
                <a:cs typeface="Glacial Indifference"/>
                <a:sym typeface="Glacial Indifference"/>
              </a:rPr>
              <a:t>Navigating the </a:t>
            </a:r>
            <a:r>
              <a:rPr lang="en-US" b="true" sz="3999">
                <a:solidFill>
                  <a:srgbClr val="FFFFFF"/>
                </a:solidFill>
                <a:latin typeface="Glacial Indifference Bold"/>
                <a:ea typeface="Glacial Indifference Bold"/>
                <a:cs typeface="Glacial Indifference Bold"/>
                <a:sym typeface="Glacial Indifference Bold"/>
              </a:rPr>
              <a:t>ambiguity of roles</a:t>
            </a:r>
            <a:r>
              <a:rPr lang="en-US" sz="3999">
                <a:solidFill>
                  <a:srgbClr val="FFFFFF"/>
                </a:solidFill>
                <a:latin typeface="Glacial Indifference"/>
                <a:ea typeface="Glacial Indifference"/>
                <a:cs typeface="Glacial Indifference"/>
                <a:sym typeface="Glacial Indifference"/>
              </a:rPr>
              <a:t> and responsibilities.</a:t>
            </a:r>
          </a:p>
          <a:p>
            <a:pPr algn="just">
              <a:lnSpc>
                <a:spcPts val="4799"/>
              </a:lnSpc>
            </a:pPr>
          </a:p>
        </p:txBody>
      </p:sp>
      <p:sp>
        <p:nvSpPr>
          <p:cNvPr name="TextBox 13" id="13"/>
          <p:cNvSpPr txBox="true"/>
          <p:nvPr/>
        </p:nvSpPr>
        <p:spPr>
          <a:xfrm rot="0">
            <a:off x="972275" y="1476375"/>
            <a:ext cx="8814663" cy="1072515"/>
          </a:xfrm>
          <a:prstGeom prst="rect">
            <a:avLst/>
          </a:prstGeom>
        </p:spPr>
        <p:txBody>
          <a:bodyPr anchor="t" rtlCol="false" tIns="0" lIns="0" bIns="0" rIns="0">
            <a:spAutoFit/>
          </a:bodyPr>
          <a:lstStyle/>
          <a:p>
            <a:pPr algn="l">
              <a:lnSpc>
                <a:spcPts val="7950"/>
              </a:lnSpc>
            </a:pPr>
            <a:r>
              <a:rPr lang="en-US" sz="7500" b="true">
                <a:solidFill>
                  <a:srgbClr val="FFFFFF"/>
                </a:solidFill>
                <a:latin typeface="Bebas Neue Bold"/>
                <a:ea typeface="Bebas Neue Bold"/>
                <a:cs typeface="Bebas Neue Bold"/>
                <a:sym typeface="Bebas Neue Bold"/>
              </a:rPr>
              <a:t>KEY LEADERSHIP CHALLENGES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294353" y="-638264"/>
            <a:ext cx="9142275" cy="10925264"/>
            <a:chOff x="0" y="0"/>
            <a:chExt cx="2407842" cy="2877436"/>
          </a:xfrm>
        </p:grpSpPr>
        <p:sp>
          <p:nvSpPr>
            <p:cNvPr name="Freeform 3" id="3"/>
            <p:cNvSpPr/>
            <p:nvPr/>
          </p:nvSpPr>
          <p:spPr>
            <a:xfrm flipH="false" flipV="false" rot="0">
              <a:off x="0" y="0"/>
              <a:ext cx="2407842" cy="2877436"/>
            </a:xfrm>
            <a:custGeom>
              <a:avLst/>
              <a:gdLst/>
              <a:ahLst/>
              <a:cxnLst/>
              <a:rect r="r" b="b" t="t" l="l"/>
              <a:pathLst>
                <a:path h="2877436" w="2407842">
                  <a:moveTo>
                    <a:pt x="0" y="0"/>
                  </a:moveTo>
                  <a:lnTo>
                    <a:pt x="2407842" y="0"/>
                  </a:lnTo>
                  <a:lnTo>
                    <a:pt x="2407842" y="2877436"/>
                  </a:lnTo>
                  <a:lnTo>
                    <a:pt x="0" y="2877436"/>
                  </a:lnTo>
                  <a:close/>
                </a:path>
              </a:pathLst>
            </a:custGeom>
            <a:solidFill>
              <a:srgbClr val="33261A"/>
            </a:solidFill>
          </p:spPr>
        </p:sp>
        <p:sp>
          <p:nvSpPr>
            <p:cNvPr name="TextBox 4" id="4"/>
            <p:cNvSpPr txBox="true"/>
            <p:nvPr/>
          </p:nvSpPr>
          <p:spPr>
            <a:xfrm>
              <a:off x="0" y="-38100"/>
              <a:ext cx="2407842" cy="291553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918786" y="5117183"/>
            <a:ext cx="7340514" cy="3627181"/>
            <a:chOff x="0" y="0"/>
            <a:chExt cx="1137238" cy="561945"/>
          </a:xfrm>
        </p:grpSpPr>
        <p:sp>
          <p:nvSpPr>
            <p:cNvPr name="Freeform 6" id="6"/>
            <p:cNvSpPr/>
            <p:nvPr/>
          </p:nvSpPr>
          <p:spPr>
            <a:xfrm flipH="false" flipV="false" rot="0">
              <a:off x="0" y="0"/>
              <a:ext cx="1137238" cy="561945"/>
            </a:xfrm>
            <a:custGeom>
              <a:avLst/>
              <a:gdLst/>
              <a:ahLst/>
              <a:cxnLst/>
              <a:rect r="r" b="b" t="t" l="l"/>
              <a:pathLst>
                <a:path h="561945" w="1137238">
                  <a:moveTo>
                    <a:pt x="0" y="0"/>
                  </a:moveTo>
                  <a:lnTo>
                    <a:pt x="1137238" y="0"/>
                  </a:lnTo>
                  <a:lnTo>
                    <a:pt x="1137238" y="561945"/>
                  </a:lnTo>
                  <a:lnTo>
                    <a:pt x="0" y="561945"/>
                  </a:lnTo>
                  <a:close/>
                </a:path>
              </a:pathLst>
            </a:custGeom>
            <a:blipFill>
              <a:blip r:embed="rId3"/>
              <a:stretch>
                <a:fillRect l="0" t="-2627" r="-3789" b="-37313"/>
              </a:stretch>
            </a:blipFill>
          </p:spPr>
        </p:sp>
      </p:grpSp>
      <p:grpSp>
        <p:nvGrpSpPr>
          <p:cNvPr name="Group 7" id="7"/>
          <p:cNvGrpSpPr/>
          <p:nvPr/>
        </p:nvGrpSpPr>
        <p:grpSpPr>
          <a:xfrm rot="0">
            <a:off x="9899199" y="1028717"/>
            <a:ext cx="9217263" cy="2883535"/>
            <a:chOff x="0" y="0"/>
            <a:chExt cx="2427592" cy="759450"/>
          </a:xfrm>
        </p:grpSpPr>
        <p:sp>
          <p:nvSpPr>
            <p:cNvPr name="Freeform 8" id="8"/>
            <p:cNvSpPr/>
            <p:nvPr/>
          </p:nvSpPr>
          <p:spPr>
            <a:xfrm flipH="false" flipV="false" rot="0">
              <a:off x="0" y="0"/>
              <a:ext cx="2427592" cy="759450"/>
            </a:xfrm>
            <a:custGeom>
              <a:avLst/>
              <a:gdLst/>
              <a:ahLst/>
              <a:cxnLst/>
              <a:rect r="r" b="b" t="t" l="l"/>
              <a:pathLst>
                <a:path h="759450" w="2427592">
                  <a:moveTo>
                    <a:pt x="0" y="0"/>
                  </a:moveTo>
                  <a:lnTo>
                    <a:pt x="2427592" y="0"/>
                  </a:lnTo>
                  <a:lnTo>
                    <a:pt x="2427592" y="759450"/>
                  </a:lnTo>
                  <a:lnTo>
                    <a:pt x="0" y="759450"/>
                  </a:lnTo>
                  <a:close/>
                </a:path>
              </a:pathLst>
            </a:custGeom>
            <a:solidFill>
              <a:srgbClr val="9C6942"/>
            </a:solidFill>
          </p:spPr>
        </p:sp>
        <p:sp>
          <p:nvSpPr>
            <p:cNvPr name="TextBox 9" id="9"/>
            <p:cNvSpPr txBox="true"/>
            <p:nvPr/>
          </p:nvSpPr>
          <p:spPr>
            <a:xfrm>
              <a:off x="0" y="-9525"/>
              <a:ext cx="2427592" cy="768975"/>
            </a:xfrm>
            <a:prstGeom prst="rect">
              <a:avLst/>
            </a:prstGeom>
          </p:spPr>
          <p:txBody>
            <a:bodyPr anchor="ctr" rtlCol="false" tIns="50800" lIns="50800" bIns="50800" rIns="50800"/>
            <a:lstStyle/>
            <a:p>
              <a:pPr algn="ctr">
                <a:lnSpc>
                  <a:spcPts val="2640"/>
                </a:lnSpc>
              </a:pPr>
            </a:p>
          </p:txBody>
        </p:sp>
      </p:grpSp>
      <p:sp>
        <p:nvSpPr>
          <p:cNvPr name="Freeform 10" id="10"/>
          <p:cNvSpPr/>
          <p:nvPr/>
        </p:nvSpPr>
        <p:spPr>
          <a:xfrm flipH="false" flipV="false" rot="0">
            <a:off x="732999"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430892" y="4165975"/>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232004" y="1694291"/>
            <a:ext cx="6995449" cy="1988608"/>
          </a:xfrm>
          <a:prstGeom prst="rect">
            <a:avLst/>
          </a:prstGeom>
        </p:spPr>
        <p:txBody>
          <a:bodyPr anchor="t" rtlCol="false" tIns="0" lIns="0" bIns="0" rIns="0">
            <a:spAutoFit/>
          </a:bodyPr>
          <a:lstStyle/>
          <a:p>
            <a:pPr algn="r">
              <a:lnSpc>
                <a:spcPts val="7500"/>
              </a:lnSpc>
            </a:pPr>
            <a:r>
              <a:rPr lang="en-US" b="true" sz="7500">
                <a:solidFill>
                  <a:srgbClr val="FFFFFF"/>
                </a:solidFill>
                <a:latin typeface="Bebas Neue Bold"/>
                <a:ea typeface="Bebas Neue Bold"/>
                <a:cs typeface="Bebas Neue Bold"/>
                <a:sym typeface="Bebas Neue Bold"/>
              </a:rPr>
              <a:t>EXTENDING LEADERSHIP THEORIES</a:t>
            </a:r>
          </a:p>
        </p:txBody>
      </p:sp>
      <p:sp>
        <p:nvSpPr>
          <p:cNvPr name="TextBox 13" id="13"/>
          <p:cNvSpPr txBox="true"/>
          <p:nvPr/>
        </p:nvSpPr>
        <p:spPr>
          <a:xfrm rot="0">
            <a:off x="1009650" y="2338181"/>
            <a:ext cx="7116294" cy="2676525"/>
          </a:xfrm>
          <a:prstGeom prst="rect">
            <a:avLst/>
          </a:prstGeom>
        </p:spPr>
        <p:txBody>
          <a:bodyPr anchor="t" rtlCol="false" tIns="0" lIns="0" bIns="0" rIns="0">
            <a:spAutoFit/>
          </a:bodyPr>
          <a:lstStyle/>
          <a:p>
            <a:pPr algn="l" marL="755651" indent="-377825" lvl="1">
              <a:lnSpc>
                <a:spcPts val="4200"/>
              </a:lnSpc>
              <a:buAutoNum type="arabicPeriod" startAt="1"/>
            </a:pPr>
            <a:r>
              <a:rPr lang="en-US" sz="3500">
                <a:solidFill>
                  <a:srgbClr val="33261A"/>
                </a:solidFill>
                <a:latin typeface="Glacial Indifference"/>
                <a:ea typeface="Glacial Indifference"/>
                <a:cs typeface="Glacial Indifference"/>
                <a:sym typeface="Glacial Indifference"/>
              </a:rPr>
              <a:t>Focuses on achieving objectives, meeting deadlines, and maintaining discipline.</a:t>
            </a:r>
          </a:p>
          <a:p>
            <a:pPr algn="l" marL="755651" indent="-377825" lvl="1">
              <a:lnSpc>
                <a:spcPts val="4200"/>
              </a:lnSpc>
              <a:buAutoNum type="arabicPeriod" startAt="1"/>
            </a:pPr>
            <a:r>
              <a:rPr lang="en-US" sz="3500">
                <a:solidFill>
                  <a:srgbClr val="33261A"/>
                </a:solidFill>
                <a:latin typeface="Glacial Indifference"/>
                <a:ea typeface="Glacial Indifference"/>
                <a:cs typeface="Glacial Indifference"/>
                <a:sym typeface="Glacial Indifference"/>
              </a:rPr>
              <a:t>Effective for structured and predictable tasks.</a:t>
            </a:r>
          </a:p>
        </p:txBody>
      </p:sp>
      <p:sp>
        <p:nvSpPr>
          <p:cNvPr name="TextBox 14" id="14"/>
          <p:cNvSpPr txBox="true"/>
          <p:nvPr/>
        </p:nvSpPr>
        <p:spPr>
          <a:xfrm rot="0">
            <a:off x="1028700" y="1593838"/>
            <a:ext cx="6198497" cy="836295"/>
          </a:xfrm>
          <a:prstGeom prst="rect">
            <a:avLst/>
          </a:prstGeom>
        </p:spPr>
        <p:txBody>
          <a:bodyPr anchor="t" rtlCol="false" tIns="0" lIns="0" bIns="0" rIns="0">
            <a:spAutoFit/>
          </a:bodyPr>
          <a:lstStyle/>
          <a:p>
            <a:pPr algn="l">
              <a:lnSpc>
                <a:spcPts val="6599"/>
              </a:lnSpc>
            </a:pPr>
            <a:r>
              <a:rPr lang="en-US" sz="5499" b="true">
                <a:solidFill>
                  <a:srgbClr val="9C6942"/>
                </a:solidFill>
                <a:latin typeface="Bebas Neue Bold"/>
                <a:ea typeface="Bebas Neue Bold"/>
                <a:cs typeface="Bebas Neue Bold"/>
                <a:sym typeface="Bebas Neue Bold"/>
              </a:rPr>
              <a:t>TASK-ORIENTED LEADERSHIP:</a:t>
            </a:r>
          </a:p>
        </p:txBody>
      </p:sp>
      <p:sp>
        <p:nvSpPr>
          <p:cNvPr name="TextBox 15" id="15"/>
          <p:cNvSpPr txBox="true"/>
          <p:nvPr/>
        </p:nvSpPr>
        <p:spPr>
          <a:xfrm rot="0">
            <a:off x="1066800" y="6202808"/>
            <a:ext cx="7116294" cy="2676525"/>
          </a:xfrm>
          <a:prstGeom prst="rect">
            <a:avLst/>
          </a:prstGeom>
        </p:spPr>
        <p:txBody>
          <a:bodyPr anchor="t" rtlCol="false" tIns="0" lIns="0" bIns="0" rIns="0">
            <a:spAutoFit/>
          </a:bodyPr>
          <a:lstStyle/>
          <a:p>
            <a:pPr algn="l" marL="755651" indent="-377825" lvl="1">
              <a:lnSpc>
                <a:spcPts val="4200"/>
              </a:lnSpc>
              <a:buAutoNum type="arabicPeriod" startAt="1"/>
            </a:pPr>
            <a:r>
              <a:rPr lang="en-US" sz="3500">
                <a:solidFill>
                  <a:srgbClr val="33261A"/>
                </a:solidFill>
                <a:latin typeface="Glacial Indifference"/>
                <a:ea typeface="Glacial Indifference"/>
                <a:cs typeface="Glacial Indifference"/>
                <a:sym typeface="Glacial Indifference"/>
              </a:rPr>
              <a:t>Prioritizes team cohesion, motivation, and collaboration.</a:t>
            </a:r>
          </a:p>
          <a:p>
            <a:pPr algn="l" marL="755651" indent="-377825" lvl="1">
              <a:lnSpc>
                <a:spcPts val="4200"/>
              </a:lnSpc>
              <a:buAutoNum type="arabicPeriod" startAt="1"/>
            </a:pPr>
            <a:r>
              <a:rPr lang="en-US" sz="3500">
                <a:solidFill>
                  <a:srgbClr val="33261A"/>
                </a:solidFill>
                <a:latin typeface="Glacial Indifference"/>
                <a:ea typeface="Glacial Indifference"/>
                <a:cs typeface="Glacial Indifference"/>
                <a:sym typeface="Glacial Indifference"/>
              </a:rPr>
              <a:t>Effective in reducing conflicts and building trust in diverse teams.</a:t>
            </a:r>
          </a:p>
        </p:txBody>
      </p:sp>
      <p:sp>
        <p:nvSpPr>
          <p:cNvPr name="TextBox 16" id="16"/>
          <p:cNvSpPr txBox="true"/>
          <p:nvPr/>
        </p:nvSpPr>
        <p:spPr>
          <a:xfrm rot="0">
            <a:off x="1085850" y="5458465"/>
            <a:ext cx="6681460" cy="836295"/>
          </a:xfrm>
          <a:prstGeom prst="rect">
            <a:avLst/>
          </a:prstGeom>
        </p:spPr>
        <p:txBody>
          <a:bodyPr anchor="t" rtlCol="false" tIns="0" lIns="0" bIns="0" rIns="0">
            <a:spAutoFit/>
          </a:bodyPr>
          <a:lstStyle/>
          <a:p>
            <a:pPr algn="l">
              <a:lnSpc>
                <a:spcPts val="6599"/>
              </a:lnSpc>
            </a:pPr>
            <a:r>
              <a:rPr lang="en-US" sz="5499" b="true">
                <a:solidFill>
                  <a:srgbClr val="9C6942"/>
                </a:solidFill>
                <a:latin typeface="Bebas Neue Bold"/>
                <a:ea typeface="Bebas Neue Bold"/>
                <a:cs typeface="Bebas Neue Bold"/>
                <a:sym typeface="Bebas Neue Bold"/>
              </a:rPr>
              <a:t>PEOPLE-ORIENTED LEADERSHIP: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4423673"/>
            <a:ext cx="9490763" cy="5863327"/>
            <a:chOff x="0" y="0"/>
            <a:chExt cx="3175040" cy="1961518"/>
          </a:xfrm>
        </p:grpSpPr>
        <p:sp>
          <p:nvSpPr>
            <p:cNvPr name="Freeform 3" id="3"/>
            <p:cNvSpPr/>
            <p:nvPr/>
          </p:nvSpPr>
          <p:spPr>
            <a:xfrm flipH="false" flipV="false" rot="0">
              <a:off x="0" y="0"/>
              <a:ext cx="3175040" cy="1961518"/>
            </a:xfrm>
            <a:custGeom>
              <a:avLst/>
              <a:gdLst/>
              <a:ahLst/>
              <a:cxnLst/>
              <a:rect r="r" b="b" t="t" l="l"/>
              <a:pathLst>
                <a:path h="1961518" w="3175040">
                  <a:moveTo>
                    <a:pt x="0" y="0"/>
                  </a:moveTo>
                  <a:lnTo>
                    <a:pt x="3175040" y="0"/>
                  </a:lnTo>
                  <a:lnTo>
                    <a:pt x="3175040" y="1961518"/>
                  </a:lnTo>
                  <a:lnTo>
                    <a:pt x="0" y="1961518"/>
                  </a:lnTo>
                  <a:close/>
                </a:path>
              </a:pathLst>
            </a:custGeom>
            <a:solidFill>
              <a:srgbClr val="33261A"/>
            </a:solidFill>
          </p:spPr>
        </p:sp>
        <p:sp>
          <p:nvSpPr>
            <p:cNvPr name="TextBox 4" id="4"/>
            <p:cNvSpPr txBox="true"/>
            <p:nvPr/>
          </p:nvSpPr>
          <p:spPr>
            <a:xfrm>
              <a:off x="0" y="-38100"/>
              <a:ext cx="3175040" cy="199961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6048" y="638594"/>
            <a:ext cx="11046810" cy="3299303"/>
            <a:chOff x="0" y="0"/>
            <a:chExt cx="2909448" cy="868952"/>
          </a:xfrm>
        </p:grpSpPr>
        <p:sp>
          <p:nvSpPr>
            <p:cNvPr name="Freeform 6" id="6"/>
            <p:cNvSpPr/>
            <p:nvPr/>
          </p:nvSpPr>
          <p:spPr>
            <a:xfrm flipH="false" flipV="false" rot="0">
              <a:off x="0" y="0"/>
              <a:ext cx="2909448" cy="868952"/>
            </a:xfrm>
            <a:custGeom>
              <a:avLst/>
              <a:gdLst/>
              <a:ahLst/>
              <a:cxnLst/>
              <a:rect r="r" b="b" t="t" l="l"/>
              <a:pathLst>
                <a:path h="868952" w="2909448">
                  <a:moveTo>
                    <a:pt x="0" y="0"/>
                  </a:moveTo>
                  <a:lnTo>
                    <a:pt x="2909448" y="0"/>
                  </a:lnTo>
                  <a:lnTo>
                    <a:pt x="2909448" y="868952"/>
                  </a:lnTo>
                  <a:lnTo>
                    <a:pt x="0" y="868952"/>
                  </a:lnTo>
                  <a:close/>
                </a:path>
              </a:pathLst>
            </a:custGeom>
            <a:solidFill>
              <a:srgbClr val="9C6942"/>
            </a:solidFill>
          </p:spPr>
        </p:sp>
        <p:sp>
          <p:nvSpPr>
            <p:cNvPr name="TextBox 7" id="7"/>
            <p:cNvSpPr txBox="true"/>
            <p:nvPr/>
          </p:nvSpPr>
          <p:spPr>
            <a:xfrm>
              <a:off x="0" y="-9525"/>
              <a:ext cx="2909448" cy="878477"/>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2433170" y="0"/>
            <a:ext cx="5854830" cy="10287000"/>
            <a:chOff x="0" y="0"/>
            <a:chExt cx="1542013" cy="2709333"/>
          </a:xfrm>
        </p:grpSpPr>
        <p:sp>
          <p:nvSpPr>
            <p:cNvPr name="Freeform 9" id="9"/>
            <p:cNvSpPr/>
            <p:nvPr/>
          </p:nvSpPr>
          <p:spPr>
            <a:xfrm flipH="false" flipV="false" rot="0">
              <a:off x="0" y="0"/>
              <a:ext cx="1542013" cy="2709333"/>
            </a:xfrm>
            <a:custGeom>
              <a:avLst/>
              <a:gdLst/>
              <a:ahLst/>
              <a:cxnLst/>
              <a:rect r="r" b="b" t="t" l="l"/>
              <a:pathLst>
                <a:path h="2709333" w="1542013">
                  <a:moveTo>
                    <a:pt x="0" y="0"/>
                  </a:moveTo>
                  <a:lnTo>
                    <a:pt x="1542013" y="0"/>
                  </a:lnTo>
                  <a:lnTo>
                    <a:pt x="1542013" y="2709333"/>
                  </a:lnTo>
                  <a:lnTo>
                    <a:pt x="0" y="2709333"/>
                  </a:lnTo>
                  <a:close/>
                </a:path>
              </a:pathLst>
            </a:custGeom>
            <a:solidFill>
              <a:srgbClr val="33261A"/>
            </a:solidFill>
          </p:spPr>
        </p:sp>
        <p:sp>
          <p:nvSpPr>
            <p:cNvPr name="TextBox 10" id="10"/>
            <p:cNvSpPr txBox="true"/>
            <p:nvPr/>
          </p:nvSpPr>
          <p:spPr>
            <a:xfrm>
              <a:off x="0" y="-9525"/>
              <a:ext cx="1542013" cy="2718858"/>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4764261" y="-3086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0236243" y="638594"/>
            <a:ext cx="7023057" cy="8974872"/>
            <a:chOff x="0" y="0"/>
            <a:chExt cx="9364077" cy="11966497"/>
          </a:xfrm>
        </p:grpSpPr>
        <p:pic>
          <p:nvPicPr>
            <p:cNvPr name="Picture 13" id="13"/>
            <p:cNvPicPr>
              <a:picLocks noChangeAspect="true"/>
            </p:cNvPicPr>
            <p:nvPr/>
          </p:nvPicPr>
          <p:blipFill>
            <a:blip r:embed="rId5"/>
            <a:srcRect l="0" t="2557" r="0" b="2557"/>
            <a:stretch>
              <a:fillRect/>
            </a:stretch>
          </p:blipFill>
          <p:spPr>
            <a:xfrm flipH="false" flipV="false">
              <a:off x="0" y="0"/>
              <a:ext cx="9364077" cy="5919748"/>
            </a:xfrm>
            <a:prstGeom prst="rect">
              <a:avLst/>
            </a:prstGeom>
          </p:spPr>
        </p:pic>
        <p:pic>
          <p:nvPicPr>
            <p:cNvPr name="Picture 14" id="14"/>
            <p:cNvPicPr>
              <a:picLocks noChangeAspect="true"/>
            </p:cNvPicPr>
            <p:nvPr/>
          </p:nvPicPr>
          <p:blipFill>
            <a:blip r:embed="rId6"/>
            <a:srcRect l="10421" t="0" r="6584" b="20804"/>
            <a:stretch>
              <a:fillRect/>
            </a:stretch>
          </p:blipFill>
          <p:spPr>
            <a:xfrm flipH="false" flipV="false">
              <a:off x="0" y="6046748"/>
              <a:ext cx="9364077" cy="5919748"/>
            </a:xfrm>
            <a:prstGeom prst="rect">
              <a:avLst/>
            </a:prstGeom>
          </p:spPr>
        </p:pic>
      </p:grpSp>
      <p:sp>
        <p:nvSpPr>
          <p:cNvPr name="TextBox 15" id="15"/>
          <p:cNvSpPr txBox="true"/>
          <p:nvPr/>
        </p:nvSpPr>
        <p:spPr>
          <a:xfrm rot="0">
            <a:off x="638619" y="952763"/>
            <a:ext cx="8343393" cy="2949575"/>
          </a:xfrm>
          <a:prstGeom prst="rect">
            <a:avLst/>
          </a:prstGeom>
        </p:spPr>
        <p:txBody>
          <a:bodyPr anchor="t" rtlCol="false" tIns="0" lIns="0" bIns="0" rIns="0">
            <a:spAutoFit/>
          </a:bodyPr>
          <a:lstStyle/>
          <a:p>
            <a:pPr algn="l">
              <a:lnSpc>
                <a:spcPts val="7500"/>
              </a:lnSpc>
            </a:pPr>
            <a:r>
              <a:rPr lang="en-US" sz="7500" b="true">
                <a:solidFill>
                  <a:srgbClr val="FFFFFF"/>
                </a:solidFill>
                <a:latin typeface="Bebas Neue Bold"/>
                <a:ea typeface="Bebas Neue Bold"/>
                <a:cs typeface="Bebas Neue Bold"/>
                <a:sym typeface="Bebas Neue Bold"/>
              </a:rPr>
              <a:t>LEADERSHIP FRAMEWORK FOR TEMPORARY ORGANIZATIONS</a:t>
            </a:r>
          </a:p>
        </p:txBody>
      </p:sp>
      <p:sp>
        <p:nvSpPr>
          <p:cNvPr name="TextBox 16" id="16"/>
          <p:cNvSpPr txBox="true"/>
          <p:nvPr/>
        </p:nvSpPr>
        <p:spPr>
          <a:xfrm rot="0">
            <a:off x="1076325" y="5143500"/>
            <a:ext cx="7981950" cy="2247900"/>
          </a:xfrm>
          <a:prstGeom prst="rect">
            <a:avLst/>
          </a:prstGeom>
        </p:spPr>
        <p:txBody>
          <a:bodyPr anchor="t" rtlCol="false" tIns="0" lIns="0" bIns="0" rIns="0">
            <a:spAutoFit/>
          </a:bodyPr>
          <a:lstStyle/>
          <a:p>
            <a:pPr algn="just">
              <a:lnSpc>
                <a:spcPts val="4439"/>
              </a:lnSpc>
            </a:pPr>
            <a:r>
              <a:rPr lang="en-US" sz="3699">
                <a:solidFill>
                  <a:srgbClr val="FFFFFF"/>
                </a:solidFill>
                <a:latin typeface="Glacial Indifference"/>
                <a:ea typeface="Glacial Indifference"/>
                <a:cs typeface="Glacial Indifference"/>
                <a:sym typeface="Glacial Indifference"/>
              </a:rPr>
              <a:t>Balance between </a:t>
            </a:r>
            <a:r>
              <a:rPr lang="en-US" b="true" sz="3699">
                <a:solidFill>
                  <a:srgbClr val="FFFFFF"/>
                </a:solidFill>
                <a:latin typeface="Glacial Indifference Bold"/>
                <a:ea typeface="Glacial Indifference Bold"/>
                <a:cs typeface="Glacial Indifference Bold"/>
                <a:sym typeface="Glacial Indifference Bold"/>
              </a:rPr>
              <a:t>transactional (task-focused)</a:t>
            </a:r>
            <a:r>
              <a:rPr lang="en-US" sz="3699">
                <a:solidFill>
                  <a:srgbClr val="FFFFFF"/>
                </a:solidFill>
                <a:latin typeface="Glacial Indifference"/>
                <a:ea typeface="Glacial Indifference"/>
                <a:cs typeface="Glacial Indifference"/>
                <a:sym typeface="Glacial Indifference"/>
              </a:rPr>
              <a:t> and </a:t>
            </a:r>
            <a:r>
              <a:rPr lang="en-US" b="true" sz="3699">
                <a:solidFill>
                  <a:srgbClr val="FFFFFF"/>
                </a:solidFill>
                <a:latin typeface="Glacial Indifference Bold"/>
                <a:ea typeface="Glacial Indifference Bold"/>
                <a:cs typeface="Glacial Indifference Bold"/>
                <a:sym typeface="Glacial Indifference Bold"/>
              </a:rPr>
              <a:t>transformational (vision-focused)</a:t>
            </a:r>
            <a:r>
              <a:rPr lang="en-US" sz="3699">
                <a:solidFill>
                  <a:srgbClr val="FFFFFF"/>
                </a:solidFill>
                <a:latin typeface="Glacial Indifference"/>
                <a:ea typeface="Glacial Indifference"/>
                <a:cs typeface="Glacial Indifference"/>
                <a:sym typeface="Glacial Indifference"/>
              </a:rPr>
              <a:t> leadership styles.</a:t>
            </a:r>
          </a:p>
          <a:p>
            <a:pPr algn="just">
              <a:lnSpc>
                <a:spcPts val="4439"/>
              </a:lnSpc>
            </a:pPr>
          </a:p>
        </p:txBody>
      </p:sp>
      <p:sp>
        <p:nvSpPr>
          <p:cNvPr name="Freeform 17" id="17"/>
          <p:cNvSpPr/>
          <p:nvPr/>
        </p:nvSpPr>
        <p:spPr>
          <a:xfrm flipH="false" flipV="false" rot="0">
            <a:off x="-3312459" y="6946466"/>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162050" y="6879791"/>
            <a:ext cx="7712574" cy="2247900"/>
          </a:xfrm>
          <a:prstGeom prst="rect">
            <a:avLst/>
          </a:prstGeom>
        </p:spPr>
        <p:txBody>
          <a:bodyPr anchor="t" rtlCol="false" tIns="0" lIns="0" bIns="0" rIns="0">
            <a:spAutoFit/>
          </a:bodyPr>
          <a:lstStyle/>
          <a:p>
            <a:pPr algn="just">
              <a:lnSpc>
                <a:spcPts val="4439"/>
              </a:lnSpc>
            </a:pPr>
          </a:p>
          <a:p>
            <a:pPr algn="just">
              <a:lnSpc>
                <a:spcPts val="4439"/>
              </a:lnSpc>
            </a:pPr>
            <a:r>
              <a:rPr lang="en-US" sz="3699">
                <a:solidFill>
                  <a:srgbClr val="FFFFFF"/>
                </a:solidFill>
                <a:latin typeface="Glacial Indifference"/>
                <a:ea typeface="Glacial Indifference"/>
                <a:cs typeface="Glacial Indifference"/>
                <a:sym typeface="Glacial Indifference"/>
              </a:rPr>
              <a:t>Need for </a:t>
            </a:r>
            <a:r>
              <a:rPr lang="en-US" b="true" sz="3699">
                <a:solidFill>
                  <a:srgbClr val="FFFFFF"/>
                </a:solidFill>
                <a:latin typeface="Glacial Indifference Bold"/>
                <a:ea typeface="Glacial Indifference Bold"/>
                <a:cs typeface="Glacial Indifference Bold"/>
                <a:sym typeface="Glacial Indifference Bold"/>
              </a:rPr>
              <a:t>adaptive leadership</a:t>
            </a:r>
            <a:r>
              <a:rPr lang="en-US" sz="3699">
                <a:solidFill>
                  <a:srgbClr val="FFFFFF"/>
                </a:solidFill>
                <a:latin typeface="Glacial Indifference"/>
                <a:ea typeface="Glacial Indifference"/>
                <a:cs typeface="Glacial Indifference"/>
                <a:sym typeface="Glacial Indifference"/>
              </a:rPr>
              <a:t> to address varying challenges in different phases of the project.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495841" y="0"/>
            <a:ext cx="10751917" cy="10287000"/>
            <a:chOff x="0" y="0"/>
            <a:chExt cx="3596946" cy="3441413"/>
          </a:xfrm>
        </p:grpSpPr>
        <p:sp>
          <p:nvSpPr>
            <p:cNvPr name="Freeform 3" id="3"/>
            <p:cNvSpPr/>
            <p:nvPr/>
          </p:nvSpPr>
          <p:spPr>
            <a:xfrm flipH="false" flipV="false" rot="0">
              <a:off x="0" y="0"/>
              <a:ext cx="3596946" cy="3441413"/>
            </a:xfrm>
            <a:custGeom>
              <a:avLst/>
              <a:gdLst/>
              <a:ahLst/>
              <a:cxnLst/>
              <a:rect r="r" b="b" t="t" l="l"/>
              <a:pathLst>
                <a:path h="3441413" w="3596946">
                  <a:moveTo>
                    <a:pt x="0" y="0"/>
                  </a:moveTo>
                  <a:lnTo>
                    <a:pt x="3596946" y="0"/>
                  </a:lnTo>
                  <a:lnTo>
                    <a:pt x="3596946" y="3441413"/>
                  </a:lnTo>
                  <a:lnTo>
                    <a:pt x="0" y="3441413"/>
                  </a:lnTo>
                  <a:close/>
                </a:path>
              </a:pathLst>
            </a:custGeom>
            <a:solidFill>
              <a:srgbClr val="33261A"/>
            </a:solidFill>
          </p:spPr>
        </p:sp>
        <p:sp>
          <p:nvSpPr>
            <p:cNvPr name="TextBox 4" id="4"/>
            <p:cNvSpPr txBox="true"/>
            <p:nvPr/>
          </p:nvSpPr>
          <p:spPr>
            <a:xfrm>
              <a:off x="0" y="-38100"/>
              <a:ext cx="3596946"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893631" y="758971"/>
            <a:ext cx="11296192" cy="4279754"/>
            <a:chOff x="0" y="0"/>
            <a:chExt cx="2975129" cy="1127178"/>
          </a:xfrm>
        </p:grpSpPr>
        <p:sp>
          <p:nvSpPr>
            <p:cNvPr name="Freeform 6" id="6"/>
            <p:cNvSpPr/>
            <p:nvPr/>
          </p:nvSpPr>
          <p:spPr>
            <a:xfrm flipH="false" flipV="false" rot="0">
              <a:off x="0" y="0"/>
              <a:ext cx="2975129" cy="1127178"/>
            </a:xfrm>
            <a:custGeom>
              <a:avLst/>
              <a:gdLst/>
              <a:ahLst/>
              <a:cxnLst/>
              <a:rect r="r" b="b" t="t" l="l"/>
              <a:pathLst>
                <a:path h="1127178" w="2975129">
                  <a:moveTo>
                    <a:pt x="0" y="0"/>
                  </a:moveTo>
                  <a:lnTo>
                    <a:pt x="2975129" y="0"/>
                  </a:lnTo>
                  <a:lnTo>
                    <a:pt x="2975129" y="1127178"/>
                  </a:lnTo>
                  <a:lnTo>
                    <a:pt x="0" y="1127178"/>
                  </a:lnTo>
                  <a:close/>
                </a:path>
              </a:pathLst>
            </a:custGeom>
            <a:solidFill>
              <a:srgbClr val="9C6942"/>
            </a:solidFill>
          </p:spPr>
        </p:sp>
        <p:sp>
          <p:nvSpPr>
            <p:cNvPr name="TextBox 7" id="7"/>
            <p:cNvSpPr txBox="true"/>
            <p:nvPr/>
          </p:nvSpPr>
          <p:spPr>
            <a:xfrm>
              <a:off x="0" y="-9525"/>
              <a:ext cx="2975129" cy="1136703"/>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0893631" y="5352651"/>
            <a:ext cx="7394369" cy="4188987"/>
            <a:chOff x="0" y="0"/>
            <a:chExt cx="1231510" cy="697663"/>
          </a:xfrm>
        </p:grpSpPr>
        <p:sp>
          <p:nvSpPr>
            <p:cNvPr name="Freeform 9" id="9"/>
            <p:cNvSpPr/>
            <p:nvPr/>
          </p:nvSpPr>
          <p:spPr>
            <a:xfrm flipH="false" flipV="false" rot="0">
              <a:off x="0" y="0"/>
              <a:ext cx="1231510" cy="697663"/>
            </a:xfrm>
            <a:custGeom>
              <a:avLst/>
              <a:gdLst/>
              <a:ahLst/>
              <a:cxnLst/>
              <a:rect r="r" b="b" t="t" l="l"/>
              <a:pathLst>
                <a:path h="697663" w="1231510">
                  <a:moveTo>
                    <a:pt x="0" y="0"/>
                  </a:moveTo>
                  <a:lnTo>
                    <a:pt x="1231510" y="0"/>
                  </a:lnTo>
                  <a:lnTo>
                    <a:pt x="1231510" y="697663"/>
                  </a:lnTo>
                  <a:lnTo>
                    <a:pt x="0" y="697663"/>
                  </a:lnTo>
                  <a:close/>
                </a:path>
              </a:pathLst>
            </a:custGeom>
            <a:blipFill>
              <a:blip r:embed="rId3"/>
              <a:stretch>
                <a:fillRect l="0" t="-17231" r="-14333" b="-17231"/>
              </a:stretch>
            </a:blipFill>
          </p:spPr>
        </p:sp>
      </p:grpSp>
      <p:sp>
        <p:nvSpPr>
          <p:cNvPr name="Freeform 10" id="10"/>
          <p:cNvSpPr/>
          <p:nvPr/>
        </p:nvSpPr>
        <p:spPr>
          <a:xfrm flipH="false" flipV="false" rot="0">
            <a:off x="8813539" y="973455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51367" y="-3467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1732655" y="1064895"/>
            <a:ext cx="5765069" cy="4078605"/>
          </a:xfrm>
          <a:prstGeom prst="rect">
            <a:avLst/>
          </a:prstGeom>
        </p:spPr>
        <p:txBody>
          <a:bodyPr anchor="t" rtlCol="false" tIns="0" lIns="0" bIns="0" rIns="0">
            <a:spAutoFit/>
          </a:bodyPr>
          <a:lstStyle/>
          <a:p>
            <a:pPr algn="l">
              <a:lnSpc>
                <a:spcPts val="7875"/>
              </a:lnSpc>
            </a:pPr>
            <a:r>
              <a:rPr lang="en-US" sz="7500" b="true">
                <a:solidFill>
                  <a:srgbClr val="FFFFFF"/>
                </a:solidFill>
                <a:latin typeface="Bebas Neue Bold"/>
                <a:ea typeface="Bebas Neue Bold"/>
                <a:cs typeface="Bebas Neue Bold"/>
                <a:sym typeface="Bebas Neue Bold"/>
              </a:rPr>
              <a:t>TRANSACTIONAL LEADERSHIP BEHAVIOR IN PROJECTS</a:t>
            </a:r>
          </a:p>
        </p:txBody>
      </p:sp>
      <p:sp>
        <p:nvSpPr>
          <p:cNvPr name="TextBox 13" id="13"/>
          <p:cNvSpPr txBox="true"/>
          <p:nvPr/>
        </p:nvSpPr>
        <p:spPr>
          <a:xfrm rot="0">
            <a:off x="1028700" y="876300"/>
            <a:ext cx="8606125" cy="1301115"/>
          </a:xfrm>
          <a:prstGeom prst="rect">
            <a:avLst/>
          </a:prstGeom>
        </p:spPr>
        <p:txBody>
          <a:bodyPr anchor="t" rtlCol="false" tIns="0" lIns="0" bIns="0" rIns="0">
            <a:spAutoFit/>
          </a:bodyPr>
          <a:lstStyle/>
          <a:p>
            <a:pPr algn="l">
              <a:lnSpc>
                <a:spcPts val="5040"/>
              </a:lnSpc>
            </a:pPr>
            <a:r>
              <a:rPr lang="en-US" sz="4200" b="true">
                <a:solidFill>
                  <a:srgbClr val="A6A6A6"/>
                </a:solidFill>
                <a:latin typeface="Bebas Neue Bold"/>
                <a:ea typeface="Bebas Neue Bold"/>
                <a:cs typeface="Bebas Neue Bold"/>
                <a:sym typeface="Bebas Neue Bold"/>
              </a:rPr>
              <a:t>Transactional leaders use rewards and punishments to motivate followers.</a:t>
            </a:r>
          </a:p>
        </p:txBody>
      </p:sp>
      <p:sp>
        <p:nvSpPr>
          <p:cNvPr name="TextBox 14" id="14"/>
          <p:cNvSpPr txBox="true"/>
          <p:nvPr/>
        </p:nvSpPr>
        <p:spPr>
          <a:xfrm rot="0">
            <a:off x="1028700" y="3821654"/>
            <a:ext cx="7792712" cy="1790700"/>
          </a:xfrm>
          <a:prstGeom prst="rect">
            <a:avLst/>
          </a:prstGeom>
        </p:spPr>
        <p:txBody>
          <a:bodyPr anchor="t" rtlCol="false" tIns="0" lIns="0" bIns="0" rIns="0">
            <a:spAutoFit/>
          </a:bodyPr>
          <a:lstStyle/>
          <a:p>
            <a:pPr algn="just">
              <a:lnSpc>
                <a:spcPts val="3599"/>
              </a:lnSpc>
            </a:pPr>
            <a:r>
              <a:rPr lang="en-US" sz="2999">
                <a:solidFill>
                  <a:srgbClr val="FFFFFF"/>
                </a:solidFill>
                <a:latin typeface="Glacial Indifference"/>
                <a:ea typeface="Glacial Indifference"/>
                <a:cs typeface="Glacial Indifference"/>
                <a:sym typeface="Glacial Indifference"/>
              </a:rPr>
              <a:t>Emphasis on clear goals and responsibilities, Active monitoring, Use of contingent reinforcement (rewards for desired outcomes).</a:t>
            </a:r>
          </a:p>
          <a:p>
            <a:pPr algn="just">
              <a:lnSpc>
                <a:spcPts val="3599"/>
              </a:lnSpc>
            </a:pPr>
          </a:p>
        </p:txBody>
      </p:sp>
      <p:sp>
        <p:nvSpPr>
          <p:cNvPr name="TextBox 15" id="15"/>
          <p:cNvSpPr txBox="true"/>
          <p:nvPr/>
        </p:nvSpPr>
        <p:spPr>
          <a:xfrm rot="0">
            <a:off x="1028700" y="6772499"/>
            <a:ext cx="7792712" cy="2238375"/>
          </a:xfrm>
          <a:prstGeom prst="rect">
            <a:avLst/>
          </a:prstGeom>
        </p:spPr>
        <p:txBody>
          <a:bodyPr anchor="t" rtlCol="false" tIns="0" lIns="0" bIns="0" rIns="0">
            <a:spAutoFit/>
          </a:bodyPr>
          <a:lstStyle/>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Particularly suited for projects with clear goals and defined responsibilities.</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Effective in short-duration projects due to structured, goal-focused management.</a:t>
            </a:r>
          </a:p>
          <a:p>
            <a:pPr algn="just">
              <a:lnSpc>
                <a:spcPts val="3599"/>
              </a:lnSpc>
            </a:pPr>
          </a:p>
        </p:txBody>
      </p:sp>
      <p:sp>
        <p:nvSpPr>
          <p:cNvPr name="TextBox 16" id="16"/>
          <p:cNvSpPr txBox="true"/>
          <p:nvPr/>
        </p:nvSpPr>
        <p:spPr>
          <a:xfrm rot="0">
            <a:off x="1028700" y="2889323"/>
            <a:ext cx="4692429" cy="655320"/>
          </a:xfrm>
          <a:prstGeom prst="rect">
            <a:avLst/>
          </a:prstGeom>
        </p:spPr>
        <p:txBody>
          <a:bodyPr anchor="t" rtlCol="false" tIns="0" lIns="0" bIns="0" rIns="0">
            <a:spAutoFit/>
          </a:bodyPr>
          <a:lstStyle/>
          <a:p>
            <a:pPr algn="l">
              <a:lnSpc>
                <a:spcPts val="5040"/>
              </a:lnSpc>
            </a:pPr>
            <a:r>
              <a:rPr lang="en-US" sz="4200" b="true">
                <a:solidFill>
                  <a:srgbClr val="FFFFFF"/>
                </a:solidFill>
                <a:latin typeface="Bebas Neue Bold"/>
                <a:ea typeface="Bebas Neue Bold"/>
                <a:cs typeface="Bebas Neue Bold"/>
                <a:sym typeface="Bebas Neue Bold"/>
              </a:rPr>
              <a:t>KEY CHARACTERISTICS:</a:t>
            </a:r>
          </a:p>
        </p:txBody>
      </p:sp>
      <p:sp>
        <p:nvSpPr>
          <p:cNvPr name="TextBox 17" id="17"/>
          <p:cNvSpPr txBox="true"/>
          <p:nvPr/>
        </p:nvSpPr>
        <p:spPr>
          <a:xfrm rot="0">
            <a:off x="1028700" y="5602829"/>
            <a:ext cx="3267688" cy="655320"/>
          </a:xfrm>
          <a:prstGeom prst="rect">
            <a:avLst/>
          </a:prstGeom>
        </p:spPr>
        <p:txBody>
          <a:bodyPr anchor="t" rtlCol="false" tIns="0" lIns="0" bIns="0" rIns="0">
            <a:spAutoFit/>
          </a:bodyPr>
          <a:lstStyle/>
          <a:p>
            <a:pPr algn="l">
              <a:lnSpc>
                <a:spcPts val="5040"/>
              </a:lnSpc>
            </a:pPr>
            <a:r>
              <a:rPr lang="en-US" sz="4200" b="true">
                <a:solidFill>
                  <a:srgbClr val="FFFFFF"/>
                </a:solidFill>
                <a:latin typeface="Bebas Neue Bold"/>
                <a:ea typeface="Bebas Neue Bold"/>
                <a:cs typeface="Bebas Neue Bold"/>
                <a:sym typeface="Bebas Neue Bold"/>
              </a:rPr>
              <a:t>EFFECTIVENESS: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495841" y="0"/>
            <a:ext cx="10751917" cy="10287000"/>
            <a:chOff x="0" y="0"/>
            <a:chExt cx="3596946" cy="3441413"/>
          </a:xfrm>
        </p:grpSpPr>
        <p:sp>
          <p:nvSpPr>
            <p:cNvPr name="Freeform 3" id="3"/>
            <p:cNvSpPr/>
            <p:nvPr/>
          </p:nvSpPr>
          <p:spPr>
            <a:xfrm flipH="false" flipV="false" rot="0">
              <a:off x="0" y="0"/>
              <a:ext cx="3596946" cy="3441413"/>
            </a:xfrm>
            <a:custGeom>
              <a:avLst/>
              <a:gdLst/>
              <a:ahLst/>
              <a:cxnLst/>
              <a:rect r="r" b="b" t="t" l="l"/>
              <a:pathLst>
                <a:path h="3441413" w="3596946">
                  <a:moveTo>
                    <a:pt x="0" y="0"/>
                  </a:moveTo>
                  <a:lnTo>
                    <a:pt x="3596946" y="0"/>
                  </a:lnTo>
                  <a:lnTo>
                    <a:pt x="3596946" y="3441413"/>
                  </a:lnTo>
                  <a:lnTo>
                    <a:pt x="0" y="3441413"/>
                  </a:lnTo>
                  <a:close/>
                </a:path>
              </a:pathLst>
            </a:custGeom>
            <a:solidFill>
              <a:srgbClr val="33261A"/>
            </a:solidFill>
          </p:spPr>
        </p:sp>
        <p:sp>
          <p:nvSpPr>
            <p:cNvPr name="TextBox 4" id="4"/>
            <p:cNvSpPr txBox="true"/>
            <p:nvPr/>
          </p:nvSpPr>
          <p:spPr>
            <a:xfrm>
              <a:off x="0" y="-38100"/>
              <a:ext cx="3596946"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893631" y="758971"/>
            <a:ext cx="11296192" cy="4279754"/>
            <a:chOff x="0" y="0"/>
            <a:chExt cx="2975129" cy="1127178"/>
          </a:xfrm>
        </p:grpSpPr>
        <p:sp>
          <p:nvSpPr>
            <p:cNvPr name="Freeform 6" id="6"/>
            <p:cNvSpPr/>
            <p:nvPr/>
          </p:nvSpPr>
          <p:spPr>
            <a:xfrm flipH="false" flipV="false" rot="0">
              <a:off x="0" y="0"/>
              <a:ext cx="2975129" cy="1127178"/>
            </a:xfrm>
            <a:custGeom>
              <a:avLst/>
              <a:gdLst/>
              <a:ahLst/>
              <a:cxnLst/>
              <a:rect r="r" b="b" t="t" l="l"/>
              <a:pathLst>
                <a:path h="1127178" w="2975129">
                  <a:moveTo>
                    <a:pt x="0" y="0"/>
                  </a:moveTo>
                  <a:lnTo>
                    <a:pt x="2975129" y="0"/>
                  </a:lnTo>
                  <a:lnTo>
                    <a:pt x="2975129" y="1127178"/>
                  </a:lnTo>
                  <a:lnTo>
                    <a:pt x="0" y="1127178"/>
                  </a:lnTo>
                  <a:close/>
                </a:path>
              </a:pathLst>
            </a:custGeom>
            <a:solidFill>
              <a:srgbClr val="9C6942"/>
            </a:solidFill>
          </p:spPr>
        </p:sp>
        <p:sp>
          <p:nvSpPr>
            <p:cNvPr name="TextBox 7" id="7"/>
            <p:cNvSpPr txBox="true"/>
            <p:nvPr/>
          </p:nvSpPr>
          <p:spPr>
            <a:xfrm>
              <a:off x="0" y="-9525"/>
              <a:ext cx="2975129" cy="1136703"/>
            </a:xfrm>
            <a:prstGeom prst="rect">
              <a:avLst/>
            </a:prstGeom>
          </p:spPr>
          <p:txBody>
            <a:bodyPr anchor="ctr" rtlCol="false" tIns="50800" lIns="50800" bIns="50800" rIns="50800"/>
            <a:lstStyle/>
            <a:p>
              <a:pPr algn="ctr">
                <a:lnSpc>
                  <a:spcPts val="2640"/>
                </a:lnSpc>
              </a:pPr>
            </a:p>
          </p:txBody>
        </p:sp>
      </p:grpSp>
      <p:sp>
        <p:nvSpPr>
          <p:cNvPr name="Freeform 8" id="8"/>
          <p:cNvSpPr/>
          <p:nvPr/>
        </p:nvSpPr>
        <p:spPr>
          <a:xfrm flipH="false" flipV="false" rot="0">
            <a:off x="8813539" y="973455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851367" y="-3467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1732655" y="1064895"/>
            <a:ext cx="5982403" cy="4078605"/>
          </a:xfrm>
          <a:prstGeom prst="rect">
            <a:avLst/>
          </a:prstGeom>
        </p:spPr>
        <p:txBody>
          <a:bodyPr anchor="t" rtlCol="false" tIns="0" lIns="0" bIns="0" rIns="0">
            <a:spAutoFit/>
          </a:bodyPr>
          <a:lstStyle/>
          <a:p>
            <a:pPr algn="l">
              <a:lnSpc>
                <a:spcPts val="7875"/>
              </a:lnSpc>
            </a:pPr>
            <a:r>
              <a:rPr lang="en-US" sz="7500" b="true">
                <a:solidFill>
                  <a:srgbClr val="FFFFFF"/>
                </a:solidFill>
                <a:latin typeface="Bebas Neue Bold"/>
                <a:ea typeface="Bebas Neue Bold"/>
                <a:cs typeface="Bebas Neue Bold"/>
                <a:sym typeface="Bebas Neue Bold"/>
              </a:rPr>
              <a:t>TRANSFORMATIONAL LEADERSHIP BEHAVIOR IN PROJECTS</a:t>
            </a:r>
          </a:p>
        </p:txBody>
      </p:sp>
      <p:sp>
        <p:nvSpPr>
          <p:cNvPr name="TextBox 11" id="11"/>
          <p:cNvSpPr txBox="true"/>
          <p:nvPr/>
        </p:nvSpPr>
        <p:spPr>
          <a:xfrm rot="0">
            <a:off x="1028700" y="876300"/>
            <a:ext cx="8606125" cy="1301115"/>
          </a:xfrm>
          <a:prstGeom prst="rect">
            <a:avLst/>
          </a:prstGeom>
        </p:spPr>
        <p:txBody>
          <a:bodyPr anchor="t" rtlCol="false" tIns="0" lIns="0" bIns="0" rIns="0">
            <a:spAutoFit/>
          </a:bodyPr>
          <a:lstStyle/>
          <a:p>
            <a:pPr algn="l">
              <a:lnSpc>
                <a:spcPts val="5040"/>
              </a:lnSpc>
            </a:pPr>
            <a:r>
              <a:rPr lang="en-US" sz="4200" b="true">
                <a:solidFill>
                  <a:srgbClr val="A6A6A6"/>
                </a:solidFill>
                <a:latin typeface="Bebas Neue Bold"/>
                <a:ea typeface="Bebas Neue Bold"/>
                <a:cs typeface="Bebas Neue Bold"/>
                <a:sym typeface="Bebas Neue Bold"/>
              </a:rPr>
              <a:t> Transformational leaders motivate by aligning team goals with a broader vision.</a:t>
            </a:r>
          </a:p>
        </p:txBody>
      </p:sp>
      <p:sp>
        <p:nvSpPr>
          <p:cNvPr name="TextBox 12" id="12"/>
          <p:cNvSpPr txBox="true"/>
          <p:nvPr/>
        </p:nvSpPr>
        <p:spPr>
          <a:xfrm rot="0">
            <a:off x="1028700" y="3821654"/>
            <a:ext cx="7792712" cy="895350"/>
          </a:xfrm>
          <a:prstGeom prst="rect">
            <a:avLst/>
          </a:prstGeom>
        </p:spPr>
        <p:txBody>
          <a:bodyPr anchor="t" rtlCol="false" tIns="0" lIns="0" bIns="0" rIns="0">
            <a:spAutoFit/>
          </a:bodyPr>
          <a:lstStyle/>
          <a:p>
            <a:pPr algn="just">
              <a:lnSpc>
                <a:spcPts val="3599"/>
              </a:lnSpc>
            </a:pPr>
            <a:r>
              <a:rPr lang="en-US" sz="2999">
                <a:solidFill>
                  <a:srgbClr val="FFFFFF"/>
                </a:solidFill>
                <a:latin typeface="Glacial Indifference"/>
                <a:ea typeface="Glacial Indifference"/>
                <a:cs typeface="Glacial Indifference"/>
                <a:sym typeface="Glacial Indifference"/>
              </a:rPr>
              <a:t>Charisma, I</a:t>
            </a:r>
            <a:r>
              <a:rPr lang="en-US" sz="2999">
                <a:solidFill>
                  <a:srgbClr val="FFFFFF"/>
                </a:solidFill>
                <a:latin typeface="Glacial Indifference"/>
                <a:ea typeface="Glacial Indifference"/>
                <a:cs typeface="Glacial Indifference"/>
                <a:sym typeface="Glacial Indifference"/>
              </a:rPr>
              <a:t>nspirational Motivation, Intellectual Stimulation, Individualized Consideration</a:t>
            </a:r>
          </a:p>
        </p:txBody>
      </p:sp>
      <p:sp>
        <p:nvSpPr>
          <p:cNvPr name="TextBox 13" id="13"/>
          <p:cNvSpPr txBox="true"/>
          <p:nvPr/>
        </p:nvSpPr>
        <p:spPr>
          <a:xfrm rot="0">
            <a:off x="1028700" y="6065520"/>
            <a:ext cx="7792712" cy="3133725"/>
          </a:xfrm>
          <a:prstGeom prst="rect">
            <a:avLst/>
          </a:prstGeom>
        </p:spPr>
        <p:txBody>
          <a:bodyPr anchor="t" rtlCol="false" tIns="0" lIns="0" bIns="0" rIns="0">
            <a:spAutoFit/>
          </a:bodyPr>
          <a:lstStyle/>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Effective in uncertain or ambiguous environments.</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Ideal for longer-duration projects where relationships can develop.</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Suits projects with high member heterogeneity or novel challenges.</a:t>
            </a:r>
          </a:p>
          <a:p>
            <a:pPr algn="just">
              <a:lnSpc>
                <a:spcPts val="3599"/>
              </a:lnSpc>
            </a:pPr>
          </a:p>
        </p:txBody>
      </p:sp>
      <p:sp>
        <p:nvSpPr>
          <p:cNvPr name="TextBox 14" id="14"/>
          <p:cNvSpPr txBox="true"/>
          <p:nvPr/>
        </p:nvSpPr>
        <p:spPr>
          <a:xfrm rot="0">
            <a:off x="1028700" y="2889323"/>
            <a:ext cx="4692429" cy="655320"/>
          </a:xfrm>
          <a:prstGeom prst="rect">
            <a:avLst/>
          </a:prstGeom>
        </p:spPr>
        <p:txBody>
          <a:bodyPr anchor="t" rtlCol="false" tIns="0" lIns="0" bIns="0" rIns="0">
            <a:spAutoFit/>
          </a:bodyPr>
          <a:lstStyle/>
          <a:p>
            <a:pPr algn="l">
              <a:lnSpc>
                <a:spcPts val="5040"/>
              </a:lnSpc>
            </a:pPr>
            <a:r>
              <a:rPr lang="en-US" sz="4200" b="true">
                <a:solidFill>
                  <a:srgbClr val="FFFFFF"/>
                </a:solidFill>
                <a:latin typeface="Bebas Neue Bold"/>
                <a:ea typeface="Bebas Neue Bold"/>
                <a:cs typeface="Bebas Neue Bold"/>
                <a:sym typeface="Bebas Neue Bold"/>
              </a:rPr>
              <a:t>KEY CHARACTERISTICS:</a:t>
            </a:r>
          </a:p>
        </p:txBody>
      </p:sp>
      <p:sp>
        <p:nvSpPr>
          <p:cNvPr name="TextBox 15" id="15"/>
          <p:cNvSpPr txBox="true"/>
          <p:nvPr/>
        </p:nvSpPr>
        <p:spPr>
          <a:xfrm rot="0">
            <a:off x="1028700" y="5133975"/>
            <a:ext cx="3267688" cy="655320"/>
          </a:xfrm>
          <a:prstGeom prst="rect">
            <a:avLst/>
          </a:prstGeom>
        </p:spPr>
        <p:txBody>
          <a:bodyPr anchor="t" rtlCol="false" tIns="0" lIns="0" bIns="0" rIns="0">
            <a:spAutoFit/>
          </a:bodyPr>
          <a:lstStyle/>
          <a:p>
            <a:pPr algn="l">
              <a:lnSpc>
                <a:spcPts val="5040"/>
              </a:lnSpc>
            </a:pPr>
            <a:r>
              <a:rPr lang="en-US" sz="4200" b="true">
                <a:solidFill>
                  <a:srgbClr val="FFFFFF"/>
                </a:solidFill>
                <a:latin typeface="Bebas Neue Bold"/>
                <a:ea typeface="Bebas Neue Bold"/>
                <a:cs typeface="Bebas Neue Bold"/>
                <a:sym typeface="Bebas Neue Bold"/>
              </a:rPr>
              <a:t>EFFECTIVENESS:</a:t>
            </a:r>
          </a:p>
        </p:txBody>
      </p:sp>
      <p:grpSp>
        <p:nvGrpSpPr>
          <p:cNvPr name="Group 16" id="16"/>
          <p:cNvGrpSpPr/>
          <p:nvPr/>
        </p:nvGrpSpPr>
        <p:grpSpPr>
          <a:xfrm rot="0">
            <a:off x="10893631" y="5323640"/>
            <a:ext cx="7394369" cy="4016015"/>
            <a:chOff x="0" y="0"/>
            <a:chExt cx="1137238" cy="617654"/>
          </a:xfrm>
        </p:grpSpPr>
        <p:sp>
          <p:nvSpPr>
            <p:cNvPr name="Freeform 17" id="17"/>
            <p:cNvSpPr/>
            <p:nvPr/>
          </p:nvSpPr>
          <p:spPr>
            <a:xfrm flipH="false" flipV="false" rot="0">
              <a:off x="0" y="0"/>
              <a:ext cx="1137238" cy="617654"/>
            </a:xfrm>
            <a:custGeom>
              <a:avLst/>
              <a:gdLst/>
              <a:ahLst/>
              <a:cxnLst/>
              <a:rect r="r" b="b" t="t" l="l"/>
              <a:pathLst>
                <a:path h="617654" w="1137238">
                  <a:moveTo>
                    <a:pt x="0" y="0"/>
                  </a:moveTo>
                  <a:lnTo>
                    <a:pt x="1137238" y="0"/>
                  </a:lnTo>
                  <a:lnTo>
                    <a:pt x="1137238" y="617654"/>
                  </a:lnTo>
                  <a:lnTo>
                    <a:pt x="0" y="617654"/>
                  </a:lnTo>
                  <a:close/>
                </a:path>
              </a:pathLst>
            </a:custGeom>
            <a:blipFill>
              <a:blip r:embed="rId5"/>
              <a:stretch>
                <a:fillRect l="-2212" t="0" r="-6169" b="-32954"/>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075" y="0"/>
            <a:ext cx="8749666" cy="10233831"/>
            <a:chOff x="0" y="0"/>
            <a:chExt cx="2927113" cy="3423626"/>
          </a:xfrm>
        </p:grpSpPr>
        <p:sp>
          <p:nvSpPr>
            <p:cNvPr name="Freeform 3" id="3"/>
            <p:cNvSpPr/>
            <p:nvPr/>
          </p:nvSpPr>
          <p:spPr>
            <a:xfrm flipH="false" flipV="false" rot="0">
              <a:off x="0" y="0"/>
              <a:ext cx="2927113" cy="3423626"/>
            </a:xfrm>
            <a:custGeom>
              <a:avLst/>
              <a:gdLst/>
              <a:ahLst/>
              <a:cxnLst/>
              <a:rect r="r" b="b" t="t" l="l"/>
              <a:pathLst>
                <a:path h="3423626" w="2927113">
                  <a:moveTo>
                    <a:pt x="0" y="0"/>
                  </a:moveTo>
                  <a:lnTo>
                    <a:pt x="2927113" y="0"/>
                  </a:lnTo>
                  <a:lnTo>
                    <a:pt x="2927113" y="3423626"/>
                  </a:lnTo>
                  <a:lnTo>
                    <a:pt x="0" y="3423626"/>
                  </a:lnTo>
                  <a:close/>
                </a:path>
              </a:pathLst>
            </a:custGeom>
            <a:solidFill>
              <a:srgbClr val="33261A"/>
            </a:solidFill>
          </p:spPr>
        </p:sp>
        <p:sp>
          <p:nvSpPr>
            <p:cNvPr name="TextBox 4" id="4"/>
            <p:cNvSpPr txBox="true"/>
            <p:nvPr/>
          </p:nvSpPr>
          <p:spPr>
            <a:xfrm>
              <a:off x="0" y="-38100"/>
              <a:ext cx="2927113" cy="346172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314256" y="0"/>
            <a:ext cx="8705909" cy="10287000"/>
            <a:chOff x="0" y="0"/>
            <a:chExt cx="2912475" cy="3441413"/>
          </a:xfrm>
        </p:grpSpPr>
        <p:sp>
          <p:nvSpPr>
            <p:cNvPr name="Freeform 6" id="6"/>
            <p:cNvSpPr/>
            <p:nvPr/>
          </p:nvSpPr>
          <p:spPr>
            <a:xfrm flipH="false" flipV="false" rot="0">
              <a:off x="0" y="0"/>
              <a:ext cx="2912475" cy="3441413"/>
            </a:xfrm>
            <a:custGeom>
              <a:avLst/>
              <a:gdLst/>
              <a:ahLst/>
              <a:cxnLst/>
              <a:rect r="r" b="b" t="t" l="l"/>
              <a:pathLst>
                <a:path h="3441413" w="2912475">
                  <a:moveTo>
                    <a:pt x="0" y="0"/>
                  </a:moveTo>
                  <a:lnTo>
                    <a:pt x="2912475" y="0"/>
                  </a:lnTo>
                  <a:lnTo>
                    <a:pt x="2912475" y="3441413"/>
                  </a:lnTo>
                  <a:lnTo>
                    <a:pt x="0" y="3441413"/>
                  </a:lnTo>
                  <a:close/>
                </a:path>
              </a:pathLst>
            </a:custGeom>
            <a:solidFill>
              <a:srgbClr val="9C6942"/>
            </a:solidFill>
          </p:spPr>
        </p:sp>
        <p:sp>
          <p:nvSpPr>
            <p:cNvPr name="TextBox 7" id="7"/>
            <p:cNvSpPr txBox="true"/>
            <p:nvPr/>
          </p:nvSpPr>
          <p:spPr>
            <a:xfrm>
              <a:off x="0" y="-38100"/>
              <a:ext cx="2912475" cy="347951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1234164" y="9000780"/>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234164" y="-2830129"/>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139598" y="540206"/>
            <a:ext cx="10106422" cy="3164543"/>
            <a:chOff x="0" y="0"/>
            <a:chExt cx="13475229" cy="4219390"/>
          </a:xfrm>
        </p:grpSpPr>
        <p:grpSp>
          <p:nvGrpSpPr>
            <p:cNvPr name="Group 11" id="11"/>
            <p:cNvGrpSpPr/>
            <p:nvPr/>
          </p:nvGrpSpPr>
          <p:grpSpPr>
            <a:xfrm rot="0">
              <a:off x="0" y="0"/>
              <a:ext cx="13475229" cy="4219390"/>
              <a:chOff x="0" y="0"/>
              <a:chExt cx="2583576" cy="808974"/>
            </a:xfrm>
          </p:grpSpPr>
          <p:sp>
            <p:nvSpPr>
              <p:cNvPr name="Freeform 12" id="12"/>
              <p:cNvSpPr/>
              <p:nvPr/>
            </p:nvSpPr>
            <p:spPr>
              <a:xfrm flipH="false" flipV="false" rot="0">
                <a:off x="0" y="0"/>
                <a:ext cx="2583576" cy="808974"/>
              </a:xfrm>
              <a:custGeom>
                <a:avLst/>
                <a:gdLst/>
                <a:ahLst/>
                <a:cxnLst/>
                <a:rect r="r" b="b" t="t" l="l"/>
                <a:pathLst>
                  <a:path h="808974" w="2583576">
                    <a:moveTo>
                      <a:pt x="0" y="0"/>
                    </a:moveTo>
                    <a:lnTo>
                      <a:pt x="2583576" y="0"/>
                    </a:lnTo>
                    <a:lnTo>
                      <a:pt x="2583576" y="808974"/>
                    </a:lnTo>
                    <a:lnTo>
                      <a:pt x="0" y="808974"/>
                    </a:lnTo>
                    <a:close/>
                  </a:path>
                </a:pathLst>
              </a:custGeom>
              <a:solidFill>
                <a:srgbClr val="9C6942"/>
              </a:solidFill>
            </p:spPr>
          </p:sp>
          <p:sp>
            <p:nvSpPr>
              <p:cNvPr name="TextBox 13" id="13"/>
              <p:cNvSpPr txBox="true"/>
              <p:nvPr/>
            </p:nvSpPr>
            <p:spPr>
              <a:xfrm>
                <a:off x="0" y="-9525"/>
                <a:ext cx="2583576" cy="818499"/>
              </a:xfrm>
              <a:prstGeom prst="rect">
                <a:avLst/>
              </a:prstGeom>
            </p:spPr>
            <p:txBody>
              <a:bodyPr anchor="ctr" rtlCol="false" tIns="50800" lIns="50800" bIns="50800" rIns="50800"/>
              <a:lstStyle/>
              <a:p>
                <a:pPr algn="ctr">
                  <a:lnSpc>
                    <a:spcPts val="2640"/>
                  </a:lnSpc>
                </a:pPr>
              </a:p>
            </p:txBody>
          </p:sp>
        </p:grpSp>
        <p:sp>
          <p:nvSpPr>
            <p:cNvPr name="TextBox 14" id="14"/>
            <p:cNvSpPr txBox="true"/>
            <p:nvPr/>
          </p:nvSpPr>
          <p:spPr>
            <a:xfrm rot="0">
              <a:off x="1860674" y="264655"/>
              <a:ext cx="10961414" cy="3441828"/>
            </a:xfrm>
            <a:prstGeom prst="rect">
              <a:avLst/>
            </a:prstGeom>
          </p:spPr>
          <p:txBody>
            <a:bodyPr anchor="t" rtlCol="false" tIns="0" lIns="0" bIns="0" rIns="0">
              <a:spAutoFit/>
            </a:bodyPr>
            <a:lstStyle/>
            <a:p>
              <a:pPr algn="l">
                <a:lnSpc>
                  <a:spcPts val="6598"/>
                </a:lnSpc>
              </a:pPr>
              <a:r>
                <a:rPr lang="en-US" sz="6284" b="true">
                  <a:solidFill>
                    <a:srgbClr val="FFFFFF"/>
                  </a:solidFill>
                  <a:latin typeface="Bebas Neue Bold"/>
                  <a:ea typeface="Bebas Neue Bold"/>
                  <a:cs typeface="Bebas Neue Bold"/>
                  <a:sym typeface="Bebas Neue Bold"/>
                </a:rPr>
                <a:t>CAUSALITIES BETWEEN TEMPORARY ORGANIZATIONS AND LEADERSHIP</a:t>
              </a:r>
            </a:p>
          </p:txBody>
        </p:sp>
      </p:grpSp>
      <p:sp>
        <p:nvSpPr>
          <p:cNvPr name="Freeform 15" id="15"/>
          <p:cNvSpPr/>
          <p:nvPr/>
        </p:nvSpPr>
        <p:spPr>
          <a:xfrm flipH="false" flipV="false" rot="0">
            <a:off x="2718693" y="3300706"/>
            <a:ext cx="14201408" cy="6388539"/>
          </a:xfrm>
          <a:custGeom>
            <a:avLst/>
            <a:gdLst/>
            <a:ahLst/>
            <a:cxnLst/>
            <a:rect r="r" b="b" t="t" l="l"/>
            <a:pathLst>
              <a:path h="6388539" w="14201408">
                <a:moveTo>
                  <a:pt x="0" y="0"/>
                </a:moveTo>
                <a:lnTo>
                  <a:pt x="14201408" y="0"/>
                </a:lnTo>
                <a:lnTo>
                  <a:pt x="14201408" y="6388539"/>
                </a:lnTo>
                <a:lnTo>
                  <a:pt x="0" y="6388539"/>
                </a:lnTo>
                <a:lnTo>
                  <a:pt x="0" y="0"/>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54514" y="0"/>
            <a:ext cx="12310676" cy="10287000"/>
            <a:chOff x="0" y="0"/>
            <a:chExt cx="3242318" cy="2709333"/>
          </a:xfrm>
        </p:grpSpPr>
        <p:sp>
          <p:nvSpPr>
            <p:cNvPr name="Freeform 3" id="3"/>
            <p:cNvSpPr/>
            <p:nvPr/>
          </p:nvSpPr>
          <p:spPr>
            <a:xfrm flipH="false" flipV="false" rot="0">
              <a:off x="0" y="0"/>
              <a:ext cx="3242318" cy="2709333"/>
            </a:xfrm>
            <a:custGeom>
              <a:avLst/>
              <a:gdLst/>
              <a:ahLst/>
              <a:cxnLst/>
              <a:rect r="r" b="b" t="t" l="l"/>
              <a:pathLst>
                <a:path h="2709333" w="3242318">
                  <a:moveTo>
                    <a:pt x="0" y="0"/>
                  </a:moveTo>
                  <a:lnTo>
                    <a:pt x="3242318" y="0"/>
                  </a:lnTo>
                  <a:lnTo>
                    <a:pt x="3242318" y="2709333"/>
                  </a:lnTo>
                  <a:lnTo>
                    <a:pt x="0" y="2709333"/>
                  </a:lnTo>
                  <a:close/>
                </a:path>
              </a:pathLst>
            </a:custGeom>
            <a:solidFill>
              <a:srgbClr val="33261A"/>
            </a:solidFill>
          </p:spPr>
        </p:sp>
        <p:sp>
          <p:nvSpPr>
            <p:cNvPr name="TextBox 4" id="4"/>
            <p:cNvSpPr txBox="true"/>
            <p:nvPr/>
          </p:nvSpPr>
          <p:spPr>
            <a:xfrm>
              <a:off x="0" y="-38100"/>
              <a:ext cx="324231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90596" y="1028700"/>
            <a:ext cx="11046810" cy="1747101"/>
            <a:chOff x="0" y="0"/>
            <a:chExt cx="2909448" cy="460142"/>
          </a:xfrm>
        </p:grpSpPr>
        <p:sp>
          <p:nvSpPr>
            <p:cNvPr name="Freeform 6" id="6"/>
            <p:cNvSpPr/>
            <p:nvPr/>
          </p:nvSpPr>
          <p:spPr>
            <a:xfrm flipH="false" flipV="false" rot="0">
              <a:off x="0" y="0"/>
              <a:ext cx="2909448" cy="460142"/>
            </a:xfrm>
            <a:custGeom>
              <a:avLst/>
              <a:gdLst/>
              <a:ahLst/>
              <a:cxnLst/>
              <a:rect r="r" b="b" t="t" l="l"/>
              <a:pathLst>
                <a:path h="460142" w="2909448">
                  <a:moveTo>
                    <a:pt x="0" y="0"/>
                  </a:moveTo>
                  <a:lnTo>
                    <a:pt x="2909448" y="0"/>
                  </a:lnTo>
                  <a:lnTo>
                    <a:pt x="2909448" y="460142"/>
                  </a:lnTo>
                  <a:lnTo>
                    <a:pt x="0" y="460142"/>
                  </a:lnTo>
                  <a:close/>
                </a:path>
              </a:pathLst>
            </a:custGeom>
            <a:solidFill>
              <a:srgbClr val="9C6942"/>
            </a:solidFill>
          </p:spPr>
        </p:sp>
        <p:sp>
          <p:nvSpPr>
            <p:cNvPr name="TextBox 7" id="7"/>
            <p:cNvSpPr txBox="true"/>
            <p:nvPr/>
          </p:nvSpPr>
          <p:spPr>
            <a:xfrm>
              <a:off x="0" y="-9525"/>
              <a:ext cx="2909448" cy="469667"/>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2198695" y="1180320"/>
            <a:ext cx="5482971" cy="8174095"/>
            <a:chOff x="0" y="0"/>
            <a:chExt cx="849456" cy="1266381"/>
          </a:xfrm>
        </p:grpSpPr>
        <p:sp>
          <p:nvSpPr>
            <p:cNvPr name="Freeform 9" id="9"/>
            <p:cNvSpPr/>
            <p:nvPr/>
          </p:nvSpPr>
          <p:spPr>
            <a:xfrm flipH="false" flipV="false" rot="0">
              <a:off x="0" y="0"/>
              <a:ext cx="849456" cy="1266381"/>
            </a:xfrm>
            <a:custGeom>
              <a:avLst/>
              <a:gdLst/>
              <a:ahLst/>
              <a:cxnLst/>
              <a:rect r="r" b="b" t="t" l="l"/>
              <a:pathLst>
                <a:path h="1266381" w="849456">
                  <a:moveTo>
                    <a:pt x="0" y="0"/>
                  </a:moveTo>
                  <a:lnTo>
                    <a:pt x="849456" y="0"/>
                  </a:lnTo>
                  <a:lnTo>
                    <a:pt x="849456" y="1266381"/>
                  </a:lnTo>
                  <a:lnTo>
                    <a:pt x="0" y="1266381"/>
                  </a:lnTo>
                  <a:close/>
                </a:path>
              </a:pathLst>
            </a:custGeom>
            <a:blipFill>
              <a:blip r:embed="rId3"/>
              <a:stretch>
                <a:fillRect l="0" t="-339" r="0" b="-339"/>
              </a:stretch>
            </a:blipFill>
          </p:spPr>
        </p:sp>
      </p:grpSp>
      <p:sp>
        <p:nvSpPr>
          <p:cNvPr name="Freeform 10" id="10"/>
          <p:cNvSpPr/>
          <p:nvPr/>
        </p:nvSpPr>
        <p:spPr>
          <a:xfrm flipH="false" flipV="false" rot="0">
            <a:off x="6596031" y="9258300"/>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860088" y="-341557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86525" y="3317557"/>
            <a:ext cx="8814663" cy="5410200"/>
          </a:xfrm>
          <a:prstGeom prst="rect">
            <a:avLst/>
          </a:prstGeom>
        </p:spPr>
        <p:txBody>
          <a:bodyPr anchor="t" rtlCol="false" tIns="0" lIns="0" bIns="0" rIns="0">
            <a:spAutoFit/>
          </a:bodyPr>
          <a:lstStyle/>
          <a:p>
            <a:pPr algn="just" marL="863599" indent="-431800" lvl="1">
              <a:lnSpc>
                <a:spcPts val="4799"/>
              </a:lnSpc>
              <a:buFont typeface="Arial"/>
              <a:buChar char="•"/>
            </a:pPr>
            <a:r>
              <a:rPr lang="en-US" b="true" sz="3999">
                <a:solidFill>
                  <a:srgbClr val="FFFFFF"/>
                </a:solidFill>
                <a:latin typeface="Glacial Indifference Bold"/>
                <a:ea typeface="Glacial Indifference Bold"/>
                <a:cs typeface="Glacial Indifference Bold"/>
                <a:sym typeface="Glacial Indifference Bold"/>
              </a:rPr>
              <a:t>Projects with low novelty:</a:t>
            </a:r>
            <a:r>
              <a:rPr lang="en-US" sz="3999">
                <a:solidFill>
                  <a:srgbClr val="FFFFFF"/>
                </a:solidFill>
                <a:latin typeface="Glacial Indifference"/>
                <a:ea typeface="Glacial Indifference"/>
                <a:cs typeface="Glacial Indifference"/>
                <a:sym typeface="Glacial Indifference"/>
              </a:rPr>
              <a:t> Transactional leadership is more effective due to predictability and structured approaches.</a:t>
            </a:r>
          </a:p>
          <a:p>
            <a:pPr algn="just">
              <a:lnSpc>
                <a:spcPts val="4799"/>
              </a:lnSpc>
            </a:pPr>
          </a:p>
          <a:p>
            <a:pPr algn="just" marL="863599" indent="-431800" lvl="1">
              <a:lnSpc>
                <a:spcPts val="4799"/>
              </a:lnSpc>
              <a:buFont typeface="Arial"/>
              <a:buChar char="•"/>
            </a:pPr>
            <a:r>
              <a:rPr lang="en-US" b="true" sz="3999">
                <a:solidFill>
                  <a:srgbClr val="FFFFFF"/>
                </a:solidFill>
                <a:latin typeface="Glacial Indifference Bold"/>
                <a:ea typeface="Glacial Indifference Bold"/>
                <a:cs typeface="Glacial Indifference Bold"/>
                <a:sym typeface="Glacial Indifference Bold"/>
              </a:rPr>
              <a:t>Projects with high novelty:</a:t>
            </a:r>
            <a:r>
              <a:rPr lang="en-US" sz="3999">
                <a:solidFill>
                  <a:srgbClr val="FFFFFF"/>
                </a:solidFill>
                <a:latin typeface="Glacial Indifference"/>
                <a:ea typeface="Glacial Indifference"/>
                <a:cs typeface="Glacial Indifference"/>
                <a:sym typeface="Glacial Indifference"/>
              </a:rPr>
              <a:t> Transformational leadership excels by fostering creativity and innovation.</a:t>
            </a:r>
          </a:p>
        </p:txBody>
      </p:sp>
      <p:sp>
        <p:nvSpPr>
          <p:cNvPr name="TextBox 13" id="13"/>
          <p:cNvSpPr txBox="true"/>
          <p:nvPr/>
        </p:nvSpPr>
        <p:spPr>
          <a:xfrm rot="0">
            <a:off x="972275" y="1476375"/>
            <a:ext cx="9587404" cy="1072515"/>
          </a:xfrm>
          <a:prstGeom prst="rect">
            <a:avLst/>
          </a:prstGeom>
        </p:spPr>
        <p:txBody>
          <a:bodyPr anchor="t" rtlCol="false" tIns="0" lIns="0" bIns="0" rIns="0">
            <a:spAutoFit/>
          </a:bodyPr>
          <a:lstStyle/>
          <a:p>
            <a:pPr algn="l">
              <a:lnSpc>
                <a:spcPts val="7950"/>
              </a:lnSpc>
            </a:pPr>
            <a:r>
              <a:rPr lang="en-US" sz="7500" b="true">
                <a:solidFill>
                  <a:srgbClr val="FFFFFF"/>
                </a:solidFill>
                <a:latin typeface="Bebas Neue Bold"/>
                <a:ea typeface="Bebas Neue Bold"/>
                <a:cs typeface="Bebas Neue Bold"/>
                <a:sym typeface="Bebas Neue Bold"/>
              </a:rPr>
              <a:t>LEADERSHIP AND TASK NOVELTY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7677117" y="-1118794"/>
            <a:ext cx="11151643" cy="11617995"/>
            <a:chOff x="0" y="0"/>
            <a:chExt cx="2937058" cy="3059883"/>
          </a:xfrm>
        </p:grpSpPr>
        <p:sp>
          <p:nvSpPr>
            <p:cNvPr name="Freeform 3" id="3"/>
            <p:cNvSpPr/>
            <p:nvPr/>
          </p:nvSpPr>
          <p:spPr>
            <a:xfrm flipH="false" flipV="false" rot="0">
              <a:off x="0" y="0"/>
              <a:ext cx="2937058" cy="3059883"/>
            </a:xfrm>
            <a:custGeom>
              <a:avLst/>
              <a:gdLst/>
              <a:ahLst/>
              <a:cxnLst/>
              <a:rect r="r" b="b" t="t" l="l"/>
              <a:pathLst>
                <a:path h="3059883" w="2937058">
                  <a:moveTo>
                    <a:pt x="0" y="0"/>
                  </a:moveTo>
                  <a:lnTo>
                    <a:pt x="2937058" y="0"/>
                  </a:lnTo>
                  <a:lnTo>
                    <a:pt x="2937058" y="3059883"/>
                  </a:lnTo>
                  <a:lnTo>
                    <a:pt x="0" y="3059883"/>
                  </a:lnTo>
                  <a:close/>
                </a:path>
              </a:pathLst>
            </a:custGeom>
            <a:solidFill>
              <a:srgbClr val="33261A"/>
            </a:solidFill>
          </p:spPr>
        </p:sp>
        <p:sp>
          <p:nvSpPr>
            <p:cNvPr name="TextBox 4" id="4"/>
            <p:cNvSpPr txBox="true"/>
            <p:nvPr/>
          </p:nvSpPr>
          <p:spPr>
            <a:xfrm>
              <a:off x="0" y="-9525"/>
              <a:ext cx="2937058" cy="3069408"/>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344705" y="0"/>
            <a:ext cx="5721190" cy="10401300"/>
            <a:chOff x="0" y="0"/>
            <a:chExt cx="1506815" cy="2739437"/>
          </a:xfrm>
        </p:grpSpPr>
        <p:sp>
          <p:nvSpPr>
            <p:cNvPr name="Freeform 6" id="6"/>
            <p:cNvSpPr/>
            <p:nvPr/>
          </p:nvSpPr>
          <p:spPr>
            <a:xfrm flipH="false" flipV="false" rot="0">
              <a:off x="0" y="0"/>
              <a:ext cx="1506815" cy="2739437"/>
            </a:xfrm>
            <a:custGeom>
              <a:avLst/>
              <a:gdLst/>
              <a:ahLst/>
              <a:cxnLst/>
              <a:rect r="r" b="b" t="t" l="l"/>
              <a:pathLst>
                <a:path h="2739437" w="1506815">
                  <a:moveTo>
                    <a:pt x="0" y="0"/>
                  </a:moveTo>
                  <a:lnTo>
                    <a:pt x="1506815" y="0"/>
                  </a:lnTo>
                  <a:lnTo>
                    <a:pt x="1506815" y="2739437"/>
                  </a:lnTo>
                  <a:lnTo>
                    <a:pt x="0" y="2739437"/>
                  </a:lnTo>
                  <a:close/>
                </a:path>
              </a:pathLst>
            </a:custGeom>
            <a:solidFill>
              <a:srgbClr val="9C6942"/>
            </a:solidFill>
          </p:spPr>
        </p:sp>
        <p:sp>
          <p:nvSpPr>
            <p:cNvPr name="TextBox 7" id="7"/>
            <p:cNvSpPr txBox="true"/>
            <p:nvPr/>
          </p:nvSpPr>
          <p:spPr>
            <a:xfrm>
              <a:off x="0" y="-9525"/>
              <a:ext cx="1506815" cy="2748962"/>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8576286" y="1028717"/>
            <a:ext cx="10540176" cy="2825027"/>
            <a:chOff x="0" y="0"/>
            <a:chExt cx="2776013" cy="744040"/>
          </a:xfrm>
        </p:grpSpPr>
        <p:sp>
          <p:nvSpPr>
            <p:cNvPr name="Freeform 9" id="9"/>
            <p:cNvSpPr/>
            <p:nvPr/>
          </p:nvSpPr>
          <p:spPr>
            <a:xfrm flipH="false" flipV="false" rot="0">
              <a:off x="0" y="0"/>
              <a:ext cx="2776013" cy="744040"/>
            </a:xfrm>
            <a:custGeom>
              <a:avLst/>
              <a:gdLst/>
              <a:ahLst/>
              <a:cxnLst/>
              <a:rect r="r" b="b" t="t" l="l"/>
              <a:pathLst>
                <a:path h="744040" w="2776013">
                  <a:moveTo>
                    <a:pt x="0" y="0"/>
                  </a:moveTo>
                  <a:lnTo>
                    <a:pt x="2776013" y="0"/>
                  </a:lnTo>
                  <a:lnTo>
                    <a:pt x="2776013" y="744040"/>
                  </a:lnTo>
                  <a:lnTo>
                    <a:pt x="0" y="744040"/>
                  </a:lnTo>
                  <a:close/>
                </a:path>
              </a:pathLst>
            </a:custGeom>
            <a:solidFill>
              <a:srgbClr val="9C6942"/>
            </a:solidFill>
          </p:spPr>
        </p:sp>
        <p:sp>
          <p:nvSpPr>
            <p:cNvPr name="TextBox 10" id="10"/>
            <p:cNvSpPr txBox="true"/>
            <p:nvPr/>
          </p:nvSpPr>
          <p:spPr>
            <a:xfrm>
              <a:off x="0" y="-9525"/>
              <a:ext cx="2776013" cy="753565"/>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2816541" y="92583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3254530" y="2136819"/>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9144000" y="1182934"/>
            <a:ext cx="7302681" cy="2670810"/>
          </a:xfrm>
          <a:prstGeom prst="rect">
            <a:avLst/>
          </a:prstGeom>
        </p:spPr>
        <p:txBody>
          <a:bodyPr anchor="t" rtlCol="false" tIns="0" lIns="0" bIns="0" rIns="0">
            <a:spAutoFit/>
          </a:bodyPr>
          <a:lstStyle/>
          <a:p>
            <a:pPr algn="l">
              <a:lnSpc>
                <a:spcPts val="6825"/>
              </a:lnSpc>
            </a:pPr>
            <a:r>
              <a:rPr lang="en-US" sz="6500" b="true">
                <a:solidFill>
                  <a:srgbClr val="FFFFFF"/>
                </a:solidFill>
                <a:latin typeface="Bebas Neue Bold"/>
                <a:ea typeface="Bebas Neue Bold"/>
                <a:cs typeface="Bebas Neue Bold"/>
                <a:sym typeface="Bebas Neue Bold"/>
              </a:rPr>
              <a:t>LEADERSHIP IN ENVIRONMENTAL UNCERTAINTY</a:t>
            </a:r>
          </a:p>
        </p:txBody>
      </p:sp>
      <p:grpSp>
        <p:nvGrpSpPr>
          <p:cNvPr name="Group 14" id="14"/>
          <p:cNvGrpSpPr/>
          <p:nvPr/>
        </p:nvGrpSpPr>
        <p:grpSpPr>
          <a:xfrm rot="0">
            <a:off x="1028700" y="705370"/>
            <a:ext cx="5834953" cy="8876260"/>
            <a:chOff x="0" y="0"/>
            <a:chExt cx="898927" cy="1367468"/>
          </a:xfrm>
        </p:grpSpPr>
        <p:sp>
          <p:nvSpPr>
            <p:cNvPr name="Freeform 15" id="15"/>
            <p:cNvSpPr/>
            <p:nvPr/>
          </p:nvSpPr>
          <p:spPr>
            <a:xfrm flipH="false" flipV="false" rot="0">
              <a:off x="0" y="0"/>
              <a:ext cx="898927" cy="1367468"/>
            </a:xfrm>
            <a:custGeom>
              <a:avLst/>
              <a:gdLst/>
              <a:ahLst/>
              <a:cxnLst/>
              <a:rect r="r" b="b" t="t" l="l"/>
              <a:pathLst>
                <a:path h="1367468" w="898927">
                  <a:moveTo>
                    <a:pt x="0" y="0"/>
                  </a:moveTo>
                  <a:lnTo>
                    <a:pt x="898927" y="0"/>
                  </a:lnTo>
                  <a:lnTo>
                    <a:pt x="898927" y="1367468"/>
                  </a:lnTo>
                  <a:lnTo>
                    <a:pt x="0" y="1367468"/>
                  </a:lnTo>
                  <a:close/>
                </a:path>
              </a:pathLst>
            </a:custGeom>
            <a:blipFill>
              <a:blip r:embed="rId7"/>
              <a:stretch>
                <a:fillRect l="-675" t="0" r="-675" b="0"/>
              </a:stretch>
            </a:blipFill>
          </p:spPr>
        </p:sp>
      </p:grpSp>
      <p:sp>
        <p:nvSpPr>
          <p:cNvPr name="TextBox 16" id="16"/>
          <p:cNvSpPr txBox="true"/>
          <p:nvPr/>
        </p:nvSpPr>
        <p:spPr>
          <a:xfrm rot="0">
            <a:off x="8576286" y="4317647"/>
            <a:ext cx="9316003" cy="4924425"/>
          </a:xfrm>
          <a:prstGeom prst="rect">
            <a:avLst/>
          </a:prstGeom>
        </p:spPr>
        <p:txBody>
          <a:bodyPr anchor="t" rtlCol="false" tIns="0" lIns="0" bIns="0" rIns="0">
            <a:spAutoFit/>
          </a:bodyPr>
          <a:lstStyle/>
          <a:p>
            <a:pPr algn="just">
              <a:lnSpc>
                <a:spcPts val="3599"/>
              </a:lnSpc>
            </a:pPr>
            <a:r>
              <a:rPr lang="en-US" sz="2999" b="true">
                <a:solidFill>
                  <a:srgbClr val="FFFFFF"/>
                </a:solidFill>
                <a:latin typeface="Glacial Indifference Bold"/>
                <a:ea typeface="Glacial Indifference Bold"/>
                <a:cs typeface="Glacial Indifference Bold"/>
                <a:sym typeface="Glacial Indifference Bold"/>
              </a:rPr>
              <a:t>Role of Transformational Leadership:</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Adapts to dynamic and uncertain environments.</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Builds trust and commitment by reducing follower anxiety.</a:t>
            </a:r>
          </a:p>
          <a:p>
            <a:pPr algn="just">
              <a:lnSpc>
                <a:spcPts val="3599"/>
              </a:lnSpc>
            </a:pPr>
          </a:p>
          <a:p>
            <a:pPr algn="just">
              <a:lnSpc>
                <a:spcPts val="3599"/>
              </a:lnSpc>
            </a:pPr>
            <a:r>
              <a:rPr lang="en-US" sz="2999" b="true">
                <a:solidFill>
                  <a:srgbClr val="FFFFFF"/>
                </a:solidFill>
                <a:latin typeface="Glacial Indifference Bold"/>
                <a:ea typeface="Glacial Indifference Bold"/>
                <a:cs typeface="Glacial Indifference Bold"/>
                <a:sym typeface="Glacial Indifference Bold"/>
              </a:rPr>
              <a:t>Propositions:</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High Uncertainty: Transformational leadership has stronger positive effects on project commitment.</a:t>
            </a:r>
          </a:p>
          <a:p>
            <a:pPr algn="just" marL="647697" indent="-323848" lvl="1">
              <a:lnSpc>
                <a:spcPts val="3599"/>
              </a:lnSpc>
              <a:buFont typeface="Arial"/>
              <a:buChar char="•"/>
            </a:pPr>
            <a:r>
              <a:rPr lang="en-US" sz="2999">
                <a:solidFill>
                  <a:srgbClr val="FFFFFF"/>
                </a:solidFill>
                <a:latin typeface="Glacial Indifference"/>
                <a:ea typeface="Glacial Indifference"/>
                <a:cs typeface="Glacial Indifference"/>
                <a:sym typeface="Glacial Indifference"/>
              </a:rPr>
              <a:t>Low Uncertainty: Lesser reliance on transformational leadership.</a:t>
            </a:r>
          </a:p>
          <a:p>
            <a:pPr algn="just">
              <a:lnSpc>
                <a:spcPts val="35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4423673"/>
            <a:ext cx="9490763" cy="5863327"/>
            <a:chOff x="0" y="0"/>
            <a:chExt cx="3175040" cy="1961518"/>
          </a:xfrm>
        </p:grpSpPr>
        <p:sp>
          <p:nvSpPr>
            <p:cNvPr name="Freeform 3" id="3"/>
            <p:cNvSpPr/>
            <p:nvPr/>
          </p:nvSpPr>
          <p:spPr>
            <a:xfrm flipH="false" flipV="false" rot="0">
              <a:off x="0" y="0"/>
              <a:ext cx="3175040" cy="1961518"/>
            </a:xfrm>
            <a:custGeom>
              <a:avLst/>
              <a:gdLst/>
              <a:ahLst/>
              <a:cxnLst/>
              <a:rect r="r" b="b" t="t" l="l"/>
              <a:pathLst>
                <a:path h="1961518" w="3175040">
                  <a:moveTo>
                    <a:pt x="0" y="0"/>
                  </a:moveTo>
                  <a:lnTo>
                    <a:pt x="3175040" y="0"/>
                  </a:lnTo>
                  <a:lnTo>
                    <a:pt x="3175040" y="1961518"/>
                  </a:lnTo>
                  <a:lnTo>
                    <a:pt x="0" y="1961518"/>
                  </a:lnTo>
                  <a:close/>
                </a:path>
              </a:pathLst>
            </a:custGeom>
            <a:solidFill>
              <a:srgbClr val="33261A"/>
            </a:solidFill>
          </p:spPr>
        </p:sp>
        <p:sp>
          <p:nvSpPr>
            <p:cNvPr name="TextBox 4" id="4"/>
            <p:cNvSpPr txBox="true"/>
            <p:nvPr/>
          </p:nvSpPr>
          <p:spPr>
            <a:xfrm>
              <a:off x="0" y="-38100"/>
              <a:ext cx="3175040" cy="199961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6048" y="638594"/>
            <a:ext cx="11046810" cy="1340964"/>
            <a:chOff x="0" y="0"/>
            <a:chExt cx="2909448" cy="353176"/>
          </a:xfrm>
        </p:grpSpPr>
        <p:sp>
          <p:nvSpPr>
            <p:cNvPr name="Freeform 6" id="6"/>
            <p:cNvSpPr/>
            <p:nvPr/>
          </p:nvSpPr>
          <p:spPr>
            <a:xfrm flipH="false" flipV="false" rot="0">
              <a:off x="0" y="0"/>
              <a:ext cx="2909448" cy="353176"/>
            </a:xfrm>
            <a:custGeom>
              <a:avLst/>
              <a:gdLst/>
              <a:ahLst/>
              <a:cxnLst/>
              <a:rect r="r" b="b" t="t" l="l"/>
              <a:pathLst>
                <a:path h="353176" w="2909448">
                  <a:moveTo>
                    <a:pt x="0" y="0"/>
                  </a:moveTo>
                  <a:lnTo>
                    <a:pt x="2909448" y="0"/>
                  </a:lnTo>
                  <a:lnTo>
                    <a:pt x="2909448" y="353176"/>
                  </a:lnTo>
                  <a:lnTo>
                    <a:pt x="0" y="353176"/>
                  </a:lnTo>
                  <a:close/>
                </a:path>
              </a:pathLst>
            </a:custGeom>
            <a:solidFill>
              <a:srgbClr val="9C6942"/>
            </a:solidFill>
          </p:spPr>
        </p:sp>
        <p:sp>
          <p:nvSpPr>
            <p:cNvPr name="TextBox 7" id="7"/>
            <p:cNvSpPr txBox="true"/>
            <p:nvPr/>
          </p:nvSpPr>
          <p:spPr>
            <a:xfrm>
              <a:off x="0" y="-9525"/>
              <a:ext cx="2909448" cy="362701"/>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2433170" y="0"/>
            <a:ext cx="5854830" cy="10287000"/>
            <a:chOff x="0" y="0"/>
            <a:chExt cx="1542013" cy="2709333"/>
          </a:xfrm>
        </p:grpSpPr>
        <p:sp>
          <p:nvSpPr>
            <p:cNvPr name="Freeform 9" id="9"/>
            <p:cNvSpPr/>
            <p:nvPr/>
          </p:nvSpPr>
          <p:spPr>
            <a:xfrm flipH="false" flipV="false" rot="0">
              <a:off x="0" y="0"/>
              <a:ext cx="1542013" cy="2709333"/>
            </a:xfrm>
            <a:custGeom>
              <a:avLst/>
              <a:gdLst/>
              <a:ahLst/>
              <a:cxnLst/>
              <a:rect r="r" b="b" t="t" l="l"/>
              <a:pathLst>
                <a:path h="2709333" w="1542013">
                  <a:moveTo>
                    <a:pt x="0" y="0"/>
                  </a:moveTo>
                  <a:lnTo>
                    <a:pt x="1542013" y="0"/>
                  </a:lnTo>
                  <a:lnTo>
                    <a:pt x="1542013" y="2709333"/>
                  </a:lnTo>
                  <a:lnTo>
                    <a:pt x="0" y="2709333"/>
                  </a:lnTo>
                  <a:close/>
                </a:path>
              </a:pathLst>
            </a:custGeom>
            <a:solidFill>
              <a:srgbClr val="33261A"/>
            </a:solidFill>
          </p:spPr>
        </p:sp>
        <p:sp>
          <p:nvSpPr>
            <p:cNvPr name="TextBox 10" id="10"/>
            <p:cNvSpPr txBox="true"/>
            <p:nvPr/>
          </p:nvSpPr>
          <p:spPr>
            <a:xfrm>
              <a:off x="0" y="-9525"/>
              <a:ext cx="1542013" cy="2718858"/>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14764261" y="-3086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3312459" y="6946466"/>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2809275" y="2316007"/>
            <a:ext cx="11707125" cy="7653533"/>
          </a:xfrm>
          <a:custGeom>
            <a:avLst/>
            <a:gdLst/>
            <a:ahLst/>
            <a:cxnLst/>
            <a:rect r="r" b="b" t="t" l="l"/>
            <a:pathLst>
              <a:path h="7653533" w="11707125">
                <a:moveTo>
                  <a:pt x="0" y="0"/>
                </a:moveTo>
                <a:lnTo>
                  <a:pt x="11707125" y="0"/>
                </a:lnTo>
                <a:lnTo>
                  <a:pt x="11707125" y="7653534"/>
                </a:lnTo>
                <a:lnTo>
                  <a:pt x="0" y="7653534"/>
                </a:lnTo>
                <a:lnTo>
                  <a:pt x="0" y="0"/>
                </a:lnTo>
                <a:close/>
              </a:path>
            </a:pathLst>
          </a:custGeom>
          <a:blipFill>
            <a:blip r:embed="rId7"/>
            <a:stretch>
              <a:fillRect l="0" t="0" r="0" b="0"/>
            </a:stretch>
          </a:blipFill>
        </p:spPr>
      </p:sp>
      <p:sp>
        <p:nvSpPr>
          <p:cNvPr name="TextBox 14" id="14"/>
          <p:cNvSpPr txBox="true"/>
          <p:nvPr/>
        </p:nvSpPr>
        <p:spPr>
          <a:xfrm rot="0">
            <a:off x="638619" y="952763"/>
            <a:ext cx="8343393" cy="1026795"/>
          </a:xfrm>
          <a:prstGeom prst="rect">
            <a:avLst/>
          </a:prstGeom>
        </p:spPr>
        <p:txBody>
          <a:bodyPr anchor="t" rtlCol="false" tIns="0" lIns="0" bIns="0" rIns="0">
            <a:spAutoFit/>
          </a:bodyPr>
          <a:lstStyle/>
          <a:p>
            <a:pPr algn="l">
              <a:lnSpc>
                <a:spcPts val="7500"/>
              </a:lnSpc>
            </a:pPr>
            <a:r>
              <a:rPr lang="en-US" sz="7500" b="true">
                <a:solidFill>
                  <a:srgbClr val="FFFFFF"/>
                </a:solidFill>
                <a:latin typeface="Bebas Neue Bold"/>
                <a:ea typeface="Bebas Neue Bold"/>
                <a:cs typeface="Bebas Neue Bold"/>
                <a:sym typeface="Bebas Neue Bold"/>
              </a:rPr>
              <a:t>RESEARCH MODEL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3059034" cy="3441413"/>
          </a:xfrm>
        </p:grpSpPr>
        <p:sp>
          <p:nvSpPr>
            <p:cNvPr name="Freeform 3" id="3"/>
            <p:cNvSpPr/>
            <p:nvPr/>
          </p:nvSpPr>
          <p:spPr>
            <a:xfrm flipH="false" flipV="false" rot="0">
              <a:off x="0" y="0"/>
              <a:ext cx="3059034" cy="3441413"/>
            </a:xfrm>
            <a:custGeom>
              <a:avLst/>
              <a:gdLst/>
              <a:ahLst/>
              <a:cxnLst/>
              <a:rect r="r" b="b" t="t" l="l"/>
              <a:pathLst>
                <a:path h="3441413" w="3059034">
                  <a:moveTo>
                    <a:pt x="0" y="0"/>
                  </a:moveTo>
                  <a:lnTo>
                    <a:pt x="3059034" y="0"/>
                  </a:lnTo>
                  <a:lnTo>
                    <a:pt x="3059034" y="3441413"/>
                  </a:lnTo>
                  <a:lnTo>
                    <a:pt x="0" y="3441413"/>
                  </a:lnTo>
                  <a:close/>
                </a:path>
              </a:pathLst>
            </a:custGeom>
            <a:solidFill>
              <a:srgbClr val="33261A"/>
            </a:solidFill>
          </p:spPr>
        </p:sp>
        <p:sp>
          <p:nvSpPr>
            <p:cNvPr name="TextBox 4" id="4"/>
            <p:cNvSpPr txBox="true"/>
            <p:nvPr/>
          </p:nvSpPr>
          <p:spPr>
            <a:xfrm>
              <a:off x="0" y="-38100"/>
              <a:ext cx="3059034"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567978" y="1446931"/>
            <a:ext cx="11296192" cy="2245340"/>
            <a:chOff x="0" y="0"/>
            <a:chExt cx="2975129" cy="591365"/>
          </a:xfrm>
        </p:grpSpPr>
        <p:sp>
          <p:nvSpPr>
            <p:cNvPr name="Freeform 6" id="6"/>
            <p:cNvSpPr/>
            <p:nvPr/>
          </p:nvSpPr>
          <p:spPr>
            <a:xfrm flipH="false" flipV="false" rot="0">
              <a:off x="0" y="0"/>
              <a:ext cx="2975129" cy="591365"/>
            </a:xfrm>
            <a:custGeom>
              <a:avLst/>
              <a:gdLst/>
              <a:ahLst/>
              <a:cxnLst/>
              <a:rect r="r" b="b" t="t" l="l"/>
              <a:pathLst>
                <a:path h="591365" w="2975129">
                  <a:moveTo>
                    <a:pt x="0" y="0"/>
                  </a:moveTo>
                  <a:lnTo>
                    <a:pt x="2975129" y="0"/>
                  </a:lnTo>
                  <a:lnTo>
                    <a:pt x="2975129" y="591365"/>
                  </a:lnTo>
                  <a:lnTo>
                    <a:pt x="0" y="591365"/>
                  </a:lnTo>
                  <a:close/>
                </a:path>
              </a:pathLst>
            </a:custGeom>
            <a:solidFill>
              <a:srgbClr val="9C6942"/>
            </a:solidFill>
          </p:spPr>
        </p:sp>
        <p:sp>
          <p:nvSpPr>
            <p:cNvPr name="TextBox 7" id="7"/>
            <p:cNvSpPr txBox="true"/>
            <p:nvPr/>
          </p:nvSpPr>
          <p:spPr>
            <a:xfrm>
              <a:off x="0" y="-9525"/>
              <a:ext cx="2975129" cy="600890"/>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22198" y="0"/>
            <a:ext cx="5047708" cy="10287000"/>
            <a:chOff x="0" y="0"/>
            <a:chExt cx="1688660" cy="3441413"/>
          </a:xfrm>
        </p:grpSpPr>
        <p:sp>
          <p:nvSpPr>
            <p:cNvPr name="Freeform 9" id="9"/>
            <p:cNvSpPr/>
            <p:nvPr/>
          </p:nvSpPr>
          <p:spPr>
            <a:xfrm flipH="false" flipV="false" rot="0">
              <a:off x="0" y="0"/>
              <a:ext cx="1688660" cy="3441413"/>
            </a:xfrm>
            <a:custGeom>
              <a:avLst/>
              <a:gdLst/>
              <a:ahLst/>
              <a:cxnLst/>
              <a:rect r="r" b="b" t="t" l="l"/>
              <a:pathLst>
                <a:path h="3441413" w="1688660">
                  <a:moveTo>
                    <a:pt x="0" y="0"/>
                  </a:moveTo>
                  <a:lnTo>
                    <a:pt x="1688660" y="0"/>
                  </a:lnTo>
                  <a:lnTo>
                    <a:pt x="1688660" y="3441413"/>
                  </a:lnTo>
                  <a:lnTo>
                    <a:pt x="0" y="3441413"/>
                  </a:lnTo>
                  <a:close/>
                </a:path>
              </a:pathLst>
            </a:custGeom>
            <a:solidFill>
              <a:srgbClr val="9C6942"/>
            </a:solidFill>
          </p:spPr>
        </p:sp>
        <p:sp>
          <p:nvSpPr>
            <p:cNvPr name="TextBox 10" id="10"/>
            <p:cNvSpPr txBox="true"/>
            <p:nvPr/>
          </p:nvSpPr>
          <p:spPr>
            <a:xfrm>
              <a:off x="0" y="-38100"/>
              <a:ext cx="1688660"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92617" y="888877"/>
            <a:ext cx="7714369" cy="8509246"/>
            <a:chOff x="0" y="0"/>
            <a:chExt cx="1195158" cy="1318305"/>
          </a:xfrm>
        </p:grpSpPr>
        <p:sp>
          <p:nvSpPr>
            <p:cNvPr name="Freeform 12" id="12"/>
            <p:cNvSpPr/>
            <p:nvPr/>
          </p:nvSpPr>
          <p:spPr>
            <a:xfrm flipH="false" flipV="false" rot="0">
              <a:off x="0" y="0"/>
              <a:ext cx="1195158" cy="1318305"/>
            </a:xfrm>
            <a:custGeom>
              <a:avLst/>
              <a:gdLst/>
              <a:ahLst/>
              <a:cxnLst/>
              <a:rect r="r" b="b" t="t" l="l"/>
              <a:pathLst>
                <a:path h="1318305" w="1195158">
                  <a:moveTo>
                    <a:pt x="0" y="0"/>
                  </a:moveTo>
                  <a:lnTo>
                    <a:pt x="1195158" y="0"/>
                  </a:lnTo>
                  <a:lnTo>
                    <a:pt x="1195158" y="1318305"/>
                  </a:lnTo>
                  <a:lnTo>
                    <a:pt x="0" y="1318305"/>
                  </a:lnTo>
                  <a:close/>
                </a:path>
              </a:pathLst>
            </a:custGeom>
            <a:blipFill>
              <a:blip r:embed="rId3"/>
              <a:stretch>
                <a:fillRect l="0" t="-36073" r="0" b="0"/>
              </a:stretch>
            </a:blipFill>
          </p:spPr>
        </p:sp>
      </p:grpSp>
      <p:sp>
        <p:nvSpPr>
          <p:cNvPr name="Freeform 13" id="13"/>
          <p:cNvSpPr/>
          <p:nvPr/>
        </p:nvSpPr>
        <p:spPr>
          <a:xfrm flipH="false" flipV="false" rot="0">
            <a:off x="9735868" y="-3086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813782" y="1776876"/>
            <a:ext cx="6164540" cy="1990725"/>
          </a:xfrm>
          <a:prstGeom prst="rect">
            <a:avLst/>
          </a:prstGeom>
        </p:spPr>
        <p:txBody>
          <a:bodyPr anchor="t" rtlCol="false" tIns="0" lIns="0" bIns="0" rIns="0">
            <a:spAutoFit/>
          </a:bodyPr>
          <a:lstStyle/>
          <a:p>
            <a:pPr algn="r">
              <a:lnSpc>
                <a:spcPts val="7500"/>
              </a:lnSpc>
            </a:pPr>
            <a:r>
              <a:rPr lang="en-US" b="true" sz="7500">
                <a:solidFill>
                  <a:srgbClr val="FFFFFF"/>
                </a:solidFill>
                <a:latin typeface="Bebas Neue Bold"/>
                <a:ea typeface="Bebas Neue Bold"/>
                <a:cs typeface="Bebas Neue Bold"/>
                <a:sym typeface="Bebas Neue Bold"/>
              </a:rPr>
              <a:t>DISCUSSION AND INSIGHTS</a:t>
            </a:r>
          </a:p>
        </p:txBody>
      </p:sp>
      <p:sp>
        <p:nvSpPr>
          <p:cNvPr name="TextBox 15" id="15"/>
          <p:cNvSpPr txBox="true"/>
          <p:nvPr/>
        </p:nvSpPr>
        <p:spPr>
          <a:xfrm rot="0">
            <a:off x="9735868" y="3891426"/>
            <a:ext cx="7964903" cy="5861685"/>
          </a:xfrm>
          <a:prstGeom prst="rect">
            <a:avLst/>
          </a:prstGeom>
        </p:spPr>
        <p:txBody>
          <a:bodyPr anchor="t" rtlCol="false" tIns="0" lIns="0" bIns="0" rIns="0">
            <a:spAutoFit/>
          </a:bodyPr>
          <a:lstStyle/>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Temporary Organization:</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Short-term objectives and high uncertainty.</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Adapt quickly to changing conditions.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Lack stable hierarchies, making leadership more dynamic and situational.</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Permanent Organizations: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Long-term goals and relatively stable team structures.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Sustaining operations and gradual growth.</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Leadership Insights: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Transformational leadership is more effective in uncertain and fluid environments.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Transactional leadership ensures task alignment and clarity under tight deadlines.</a:t>
            </a:r>
          </a:p>
          <a:p>
            <a:pPr algn="just" marL="993141" indent="-331047" lvl="2">
              <a:lnSpc>
                <a:spcPts val="3105"/>
              </a:lnSpc>
              <a:buFont typeface="Arial"/>
              <a:buChar char="⚬"/>
            </a:pPr>
            <a:r>
              <a:rPr lang="en-US" sz="2300">
                <a:solidFill>
                  <a:srgbClr val="FFFFFF"/>
                </a:solidFill>
                <a:latin typeface="Glacial Indifference"/>
                <a:ea typeface="Glacial Indifference"/>
                <a:cs typeface="Glacial Indifference"/>
                <a:sym typeface="Glacial Indifference"/>
              </a:rPr>
              <a:t>A balanced approach leverages the strengths of both styles for maximum project success.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183998" y="0"/>
            <a:ext cx="8705909" cy="10287000"/>
            <a:chOff x="0" y="0"/>
            <a:chExt cx="2912475" cy="3441413"/>
          </a:xfrm>
        </p:grpSpPr>
        <p:sp>
          <p:nvSpPr>
            <p:cNvPr name="Freeform 3" id="3"/>
            <p:cNvSpPr/>
            <p:nvPr/>
          </p:nvSpPr>
          <p:spPr>
            <a:xfrm flipH="false" flipV="false" rot="0">
              <a:off x="0" y="0"/>
              <a:ext cx="2912475" cy="3441413"/>
            </a:xfrm>
            <a:custGeom>
              <a:avLst/>
              <a:gdLst/>
              <a:ahLst/>
              <a:cxnLst/>
              <a:rect r="r" b="b" t="t" l="l"/>
              <a:pathLst>
                <a:path h="3441413" w="2912475">
                  <a:moveTo>
                    <a:pt x="0" y="0"/>
                  </a:moveTo>
                  <a:lnTo>
                    <a:pt x="2912475" y="0"/>
                  </a:lnTo>
                  <a:lnTo>
                    <a:pt x="2912475" y="3441413"/>
                  </a:lnTo>
                  <a:lnTo>
                    <a:pt x="0" y="3441413"/>
                  </a:lnTo>
                  <a:close/>
                </a:path>
              </a:pathLst>
            </a:custGeom>
            <a:solidFill>
              <a:srgbClr val="33261A"/>
            </a:solidFill>
          </p:spPr>
        </p:sp>
        <p:sp>
          <p:nvSpPr>
            <p:cNvPr name="TextBox 4" id="4"/>
            <p:cNvSpPr txBox="true"/>
            <p:nvPr/>
          </p:nvSpPr>
          <p:spPr>
            <a:xfrm>
              <a:off x="0" y="-38100"/>
              <a:ext cx="2912475"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7735" y="901895"/>
            <a:ext cx="8754655" cy="3059179"/>
            <a:chOff x="0" y="0"/>
            <a:chExt cx="2305753" cy="805710"/>
          </a:xfrm>
        </p:grpSpPr>
        <p:sp>
          <p:nvSpPr>
            <p:cNvPr name="Freeform 6" id="6"/>
            <p:cNvSpPr/>
            <p:nvPr/>
          </p:nvSpPr>
          <p:spPr>
            <a:xfrm flipH="false" flipV="false" rot="0">
              <a:off x="0" y="0"/>
              <a:ext cx="2305753" cy="805710"/>
            </a:xfrm>
            <a:custGeom>
              <a:avLst/>
              <a:gdLst/>
              <a:ahLst/>
              <a:cxnLst/>
              <a:rect r="r" b="b" t="t" l="l"/>
              <a:pathLst>
                <a:path h="805710" w="2305753">
                  <a:moveTo>
                    <a:pt x="0" y="0"/>
                  </a:moveTo>
                  <a:lnTo>
                    <a:pt x="2305753" y="0"/>
                  </a:lnTo>
                  <a:lnTo>
                    <a:pt x="2305753" y="805710"/>
                  </a:lnTo>
                  <a:lnTo>
                    <a:pt x="0" y="805710"/>
                  </a:lnTo>
                  <a:close/>
                </a:path>
              </a:pathLst>
            </a:custGeom>
            <a:solidFill>
              <a:srgbClr val="9C6942"/>
            </a:solidFill>
          </p:spPr>
        </p:sp>
        <p:sp>
          <p:nvSpPr>
            <p:cNvPr name="TextBox 7" id="7"/>
            <p:cNvSpPr txBox="true"/>
            <p:nvPr/>
          </p:nvSpPr>
          <p:spPr>
            <a:xfrm>
              <a:off x="0" y="-9525"/>
              <a:ext cx="2305753" cy="815235"/>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3314256" y="0"/>
            <a:ext cx="8705909" cy="10287000"/>
            <a:chOff x="0" y="0"/>
            <a:chExt cx="2912475" cy="3441413"/>
          </a:xfrm>
        </p:grpSpPr>
        <p:sp>
          <p:nvSpPr>
            <p:cNvPr name="Freeform 9" id="9"/>
            <p:cNvSpPr/>
            <p:nvPr/>
          </p:nvSpPr>
          <p:spPr>
            <a:xfrm flipH="false" flipV="false" rot="0">
              <a:off x="0" y="0"/>
              <a:ext cx="2912475" cy="3441413"/>
            </a:xfrm>
            <a:custGeom>
              <a:avLst/>
              <a:gdLst/>
              <a:ahLst/>
              <a:cxnLst/>
              <a:rect r="r" b="b" t="t" l="l"/>
              <a:pathLst>
                <a:path h="3441413" w="2912475">
                  <a:moveTo>
                    <a:pt x="0" y="0"/>
                  </a:moveTo>
                  <a:lnTo>
                    <a:pt x="2912475" y="0"/>
                  </a:lnTo>
                  <a:lnTo>
                    <a:pt x="2912475" y="3441413"/>
                  </a:lnTo>
                  <a:lnTo>
                    <a:pt x="0" y="3441413"/>
                  </a:lnTo>
                  <a:close/>
                </a:path>
              </a:pathLst>
            </a:custGeom>
            <a:solidFill>
              <a:srgbClr val="9C6942"/>
            </a:solidFill>
          </p:spPr>
        </p:sp>
        <p:sp>
          <p:nvSpPr>
            <p:cNvPr name="TextBox 10" id="10"/>
            <p:cNvSpPr txBox="true"/>
            <p:nvPr/>
          </p:nvSpPr>
          <p:spPr>
            <a:xfrm>
              <a:off x="0" y="-38100"/>
              <a:ext cx="2912475"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144000" y="1661328"/>
            <a:ext cx="8340511" cy="7596972"/>
            <a:chOff x="0" y="0"/>
            <a:chExt cx="1292163" cy="1176970"/>
          </a:xfrm>
        </p:grpSpPr>
        <p:sp>
          <p:nvSpPr>
            <p:cNvPr name="Freeform 12" id="12"/>
            <p:cNvSpPr/>
            <p:nvPr/>
          </p:nvSpPr>
          <p:spPr>
            <a:xfrm flipH="false" flipV="false" rot="0">
              <a:off x="0" y="0"/>
              <a:ext cx="1292163" cy="1176970"/>
            </a:xfrm>
            <a:custGeom>
              <a:avLst/>
              <a:gdLst/>
              <a:ahLst/>
              <a:cxnLst/>
              <a:rect r="r" b="b" t="t" l="l"/>
              <a:pathLst>
                <a:path h="1176970" w="1292163">
                  <a:moveTo>
                    <a:pt x="0" y="0"/>
                  </a:moveTo>
                  <a:lnTo>
                    <a:pt x="1292163" y="0"/>
                  </a:lnTo>
                  <a:lnTo>
                    <a:pt x="1292163" y="1176970"/>
                  </a:lnTo>
                  <a:lnTo>
                    <a:pt x="0" y="1176970"/>
                  </a:lnTo>
                  <a:close/>
                </a:path>
              </a:pathLst>
            </a:custGeom>
            <a:blipFill>
              <a:blip r:embed="rId3"/>
              <a:stretch>
                <a:fillRect l="-30701" t="0" r="-6011" b="0"/>
              </a:stretch>
            </a:blipFill>
          </p:spPr>
        </p:sp>
      </p:grpSp>
      <p:sp>
        <p:nvSpPr>
          <p:cNvPr name="Freeform 13" id="13"/>
          <p:cNvSpPr/>
          <p:nvPr/>
        </p:nvSpPr>
        <p:spPr>
          <a:xfrm flipH="false" flipV="false" rot="0">
            <a:off x="606360" y="895731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528340" y="-3019425"/>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038225" y="6090457"/>
            <a:ext cx="6280512" cy="1956435"/>
          </a:xfrm>
          <a:prstGeom prst="rect">
            <a:avLst/>
          </a:prstGeom>
        </p:spPr>
        <p:txBody>
          <a:bodyPr anchor="t" rtlCol="false" tIns="0" lIns="0" bIns="0" rIns="0">
            <a:spAutoFit/>
          </a:bodyPr>
          <a:lstStyle/>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Clear Communication</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Build Trust and Collaboration</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Leverage Transformational Leadership</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Use Transactional Leadership When Needed</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Adaptability is Key</a:t>
            </a:r>
          </a:p>
        </p:txBody>
      </p:sp>
      <p:sp>
        <p:nvSpPr>
          <p:cNvPr name="TextBox 16" id="16"/>
          <p:cNvSpPr txBox="true"/>
          <p:nvPr/>
        </p:nvSpPr>
        <p:spPr>
          <a:xfrm rot="0">
            <a:off x="1038225" y="4469216"/>
            <a:ext cx="7108695" cy="1304925"/>
          </a:xfrm>
          <a:prstGeom prst="rect">
            <a:avLst/>
          </a:prstGeom>
        </p:spPr>
        <p:txBody>
          <a:bodyPr anchor="t" rtlCol="false" tIns="0" lIns="0" bIns="0" rIns="0">
            <a:spAutoFit/>
          </a:bodyPr>
          <a:lstStyle/>
          <a:p>
            <a:pPr algn="l">
              <a:lnSpc>
                <a:spcPts val="5040"/>
              </a:lnSpc>
            </a:pPr>
            <a:r>
              <a:rPr lang="en-US" sz="4200" b="true">
                <a:solidFill>
                  <a:srgbClr val="A6A6A6"/>
                </a:solidFill>
                <a:latin typeface="Bebas Neue Bold"/>
                <a:ea typeface="Bebas Neue Bold"/>
                <a:cs typeface="Bebas Neue Bold"/>
                <a:sym typeface="Bebas Neue Bold"/>
              </a:rPr>
              <a:t>RECOMMENDATIONS FOR EFFECTIVE LEADERSHIP IN TEMPORARY ORGANIZATIONS:</a:t>
            </a:r>
          </a:p>
        </p:txBody>
      </p:sp>
      <p:sp>
        <p:nvSpPr>
          <p:cNvPr name="TextBox 17" id="17"/>
          <p:cNvSpPr txBox="true"/>
          <p:nvPr/>
        </p:nvSpPr>
        <p:spPr>
          <a:xfrm rot="0">
            <a:off x="1028700" y="1162050"/>
            <a:ext cx="6290037" cy="2952750"/>
          </a:xfrm>
          <a:prstGeom prst="rect">
            <a:avLst/>
          </a:prstGeom>
        </p:spPr>
        <p:txBody>
          <a:bodyPr anchor="t" rtlCol="false" tIns="0" lIns="0" bIns="0" rIns="0">
            <a:spAutoFit/>
          </a:bodyPr>
          <a:lstStyle/>
          <a:p>
            <a:pPr algn="l">
              <a:lnSpc>
                <a:spcPts val="7500"/>
              </a:lnSpc>
            </a:pPr>
            <a:r>
              <a:rPr lang="en-US" sz="7500" b="true">
                <a:solidFill>
                  <a:srgbClr val="FFFFFF"/>
                </a:solidFill>
                <a:latin typeface="Bebas Neue Bold"/>
                <a:ea typeface="Bebas Neue Bold"/>
                <a:cs typeface="Bebas Neue Bold"/>
                <a:sym typeface="Bebas Neue Bold"/>
              </a:rPr>
              <a:t>PRACTICAL IMPLICATIONS FOR LEADERS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3059034" cy="3441413"/>
          </a:xfrm>
        </p:grpSpPr>
        <p:sp>
          <p:nvSpPr>
            <p:cNvPr name="Freeform 3" id="3"/>
            <p:cNvSpPr/>
            <p:nvPr/>
          </p:nvSpPr>
          <p:spPr>
            <a:xfrm flipH="false" flipV="false" rot="0">
              <a:off x="0" y="0"/>
              <a:ext cx="3059034" cy="3441413"/>
            </a:xfrm>
            <a:custGeom>
              <a:avLst/>
              <a:gdLst/>
              <a:ahLst/>
              <a:cxnLst/>
              <a:rect r="r" b="b" t="t" l="l"/>
              <a:pathLst>
                <a:path h="3441413" w="3059034">
                  <a:moveTo>
                    <a:pt x="0" y="0"/>
                  </a:moveTo>
                  <a:lnTo>
                    <a:pt x="3059034" y="0"/>
                  </a:lnTo>
                  <a:lnTo>
                    <a:pt x="3059034" y="3441413"/>
                  </a:lnTo>
                  <a:lnTo>
                    <a:pt x="0" y="3441413"/>
                  </a:lnTo>
                  <a:close/>
                </a:path>
              </a:pathLst>
            </a:custGeom>
            <a:solidFill>
              <a:srgbClr val="33261A"/>
            </a:solidFill>
          </p:spPr>
        </p:sp>
        <p:sp>
          <p:nvSpPr>
            <p:cNvPr name="TextBox 4" id="4"/>
            <p:cNvSpPr txBox="true"/>
            <p:nvPr/>
          </p:nvSpPr>
          <p:spPr>
            <a:xfrm>
              <a:off x="0" y="-38100"/>
              <a:ext cx="3059034"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567978" y="1843850"/>
            <a:ext cx="11296192" cy="2245340"/>
            <a:chOff x="0" y="0"/>
            <a:chExt cx="2975129" cy="591365"/>
          </a:xfrm>
        </p:grpSpPr>
        <p:sp>
          <p:nvSpPr>
            <p:cNvPr name="Freeform 6" id="6"/>
            <p:cNvSpPr/>
            <p:nvPr/>
          </p:nvSpPr>
          <p:spPr>
            <a:xfrm flipH="false" flipV="false" rot="0">
              <a:off x="0" y="0"/>
              <a:ext cx="2975129" cy="591365"/>
            </a:xfrm>
            <a:custGeom>
              <a:avLst/>
              <a:gdLst/>
              <a:ahLst/>
              <a:cxnLst/>
              <a:rect r="r" b="b" t="t" l="l"/>
              <a:pathLst>
                <a:path h="591365" w="2975129">
                  <a:moveTo>
                    <a:pt x="0" y="0"/>
                  </a:moveTo>
                  <a:lnTo>
                    <a:pt x="2975129" y="0"/>
                  </a:lnTo>
                  <a:lnTo>
                    <a:pt x="2975129" y="591365"/>
                  </a:lnTo>
                  <a:lnTo>
                    <a:pt x="0" y="591365"/>
                  </a:lnTo>
                  <a:close/>
                </a:path>
              </a:pathLst>
            </a:custGeom>
            <a:solidFill>
              <a:srgbClr val="9C6942"/>
            </a:solidFill>
          </p:spPr>
        </p:sp>
        <p:sp>
          <p:nvSpPr>
            <p:cNvPr name="TextBox 7" id="7"/>
            <p:cNvSpPr txBox="true"/>
            <p:nvPr/>
          </p:nvSpPr>
          <p:spPr>
            <a:xfrm>
              <a:off x="0" y="-9525"/>
              <a:ext cx="2975129" cy="600890"/>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22198" y="0"/>
            <a:ext cx="5047708" cy="10287000"/>
            <a:chOff x="0" y="0"/>
            <a:chExt cx="1688660" cy="3441413"/>
          </a:xfrm>
        </p:grpSpPr>
        <p:sp>
          <p:nvSpPr>
            <p:cNvPr name="Freeform 9" id="9"/>
            <p:cNvSpPr/>
            <p:nvPr/>
          </p:nvSpPr>
          <p:spPr>
            <a:xfrm flipH="false" flipV="false" rot="0">
              <a:off x="0" y="0"/>
              <a:ext cx="1688660" cy="3441413"/>
            </a:xfrm>
            <a:custGeom>
              <a:avLst/>
              <a:gdLst/>
              <a:ahLst/>
              <a:cxnLst/>
              <a:rect r="r" b="b" t="t" l="l"/>
              <a:pathLst>
                <a:path h="3441413" w="1688660">
                  <a:moveTo>
                    <a:pt x="0" y="0"/>
                  </a:moveTo>
                  <a:lnTo>
                    <a:pt x="1688660" y="0"/>
                  </a:lnTo>
                  <a:lnTo>
                    <a:pt x="1688660" y="3441413"/>
                  </a:lnTo>
                  <a:lnTo>
                    <a:pt x="0" y="3441413"/>
                  </a:lnTo>
                  <a:close/>
                </a:path>
              </a:pathLst>
            </a:custGeom>
            <a:solidFill>
              <a:srgbClr val="9C6942"/>
            </a:solidFill>
          </p:spPr>
        </p:sp>
        <p:sp>
          <p:nvSpPr>
            <p:cNvPr name="TextBox 10" id="10"/>
            <p:cNvSpPr txBox="true"/>
            <p:nvPr/>
          </p:nvSpPr>
          <p:spPr>
            <a:xfrm>
              <a:off x="0" y="-38100"/>
              <a:ext cx="1688660"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92617" y="888877"/>
            <a:ext cx="7714369" cy="8509246"/>
            <a:chOff x="0" y="0"/>
            <a:chExt cx="1195158" cy="1318305"/>
          </a:xfrm>
        </p:grpSpPr>
        <p:sp>
          <p:nvSpPr>
            <p:cNvPr name="Freeform 12" id="12"/>
            <p:cNvSpPr/>
            <p:nvPr/>
          </p:nvSpPr>
          <p:spPr>
            <a:xfrm flipH="false" flipV="false" rot="0">
              <a:off x="0" y="0"/>
              <a:ext cx="1195158" cy="1318305"/>
            </a:xfrm>
            <a:custGeom>
              <a:avLst/>
              <a:gdLst/>
              <a:ahLst/>
              <a:cxnLst/>
              <a:rect r="r" b="b" t="t" l="l"/>
              <a:pathLst>
                <a:path h="1318305" w="1195158">
                  <a:moveTo>
                    <a:pt x="0" y="0"/>
                  </a:moveTo>
                  <a:lnTo>
                    <a:pt x="1195158" y="0"/>
                  </a:lnTo>
                  <a:lnTo>
                    <a:pt x="1195158" y="1318305"/>
                  </a:lnTo>
                  <a:lnTo>
                    <a:pt x="0" y="1318305"/>
                  </a:lnTo>
                  <a:close/>
                </a:path>
              </a:pathLst>
            </a:custGeom>
            <a:blipFill>
              <a:blip r:embed="rId3"/>
              <a:stretch>
                <a:fillRect l="0" t="-36073" r="0" b="0"/>
              </a:stretch>
            </a:blipFill>
          </p:spPr>
        </p:sp>
      </p:grpSp>
      <p:sp>
        <p:nvSpPr>
          <p:cNvPr name="Freeform 13" id="13"/>
          <p:cNvSpPr/>
          <p:nvPr/>
        </p:nvSpPr>
        <p:spPr>
          <a:xfrm flipH="false" flipV="false" rot="0">
            <a:off x="9735868" y="-308610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813782" y="2173795"/>
            <a:ext cx="6164540" cy="1990725"/>
          </a:xfrm>
          <a:prstGeom prst="rect">
            <a:avLst/>
          </a:prstGeom>
        </p:spPr>
        <p:txBody>
          <a:bodyPr anchor="t" rtlCol="false" tIns="0" lIns="0" bIns="0" rIns="0">
            <a:spAutoFit/>
          </a:bodyPr>
          <a:lstStyle/>
          <a:p>
            <a:pPr algn="r">
              <a:lnSpc>
                <a:spcPts val="7500"/>
              </a:lnSpc>
            </a:pPr>
            <a:r>
              <a:rPr lang="en-US" b="true" sz="7500">
                <a:solidFill>
                  <a:srgbClr val="FFFFFF"/>
                </a:solidFill>
                <a:latin typeface="Bebas Neue Bold"/>
                <a:ea typeface="Bebas Neue Bold"/>
                <a:cs typeface="Bebas Neue Bold"/>
                <a:sym typeface="Bebas Neue Bold"/>
              </a:rPr>
              <a:t>FUTURE RESEARCH DIRECTIONS</a:t>
            </a:r>
          </a:p>
        </p:txBody>
      </p:sp>
      <p:sp>
        <p:nvSpPr>
          <p:cNvPr name="TextBox 15" id="15"/>
          <p:cNvSpPr txBox="true"/>
          <p:nvPr/>
        </p:nvSpPr>
        <p:spPr>
          <a:xfrm rot="0">
            <a:off x="10567978" y="5354526"/>
            <a:ext cx="7132793" cy="1175385"/>
          </a:xfrm>
          <a:prstGeom prst="rect">
            <a:avLst/>
          </a:prstGeom>
        </p:spPr>
        <p:txBody>
          <a:bodyPr anchor="t" rtlCol="false" tIns="0" lIns="0" bIns="0" rIns="0">
            <a:spAutoFit/>
          </a:bodyPr>
          <a:lstStyle/>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Empirical Testing of the Research Model</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Explore Team Dynamics</a:t>
            </a:r>
          </a:p>
          <a:p>
            <a:pPr algn="just" marL="496571" indent="-248285" lvl="1">
              <a:lnSpc>
                <a:spcPts val="3105"/>
              </a:lnSpc>
              <a:buAutoNum type="arabicPeriod" startAt="1"/>
            </a:pPr>
            <a:r>
              <a:rPr lang="en-US" sz="2300">
                <a:solidFill>
                  <a:srgbClr val="FFFFFF"/>
                </a:solidFill>
                <a:latin typeface="Glacial Indifference"/>
                <a:ea typeface="Glacial Indifference"/>
                <a:cs typeface="Glacial Indifference"/>
                <a:sym typeface="Glacial Indifference"/>
              </a:rPr>
              <a:t> Interdisciplinary Approaches</a:t>
            </a:r>
          </a:p>
        </p:txBody>
      </p:sp>
      <p:sp>
        <p:nvSpPr>
          <p:cNvPr name="TextBox 16" id="16"/>
          <p:cNvSpPr txBox="true"/>
          <p:nvPr/>
        </p:nvSpPr>
        <p:spPr>
          <a:xfrm rot="0">
            <a:off x="10813782" y="7155180"/>
            <a:ext cx="7108695" cy="590550"/>
          </a:xfrm>
          <a:prstGeom prst="rect">
            <a:avLst/>
          </a:prstGeom>
        </p:spPr>
        <p:txBody>
          <a:bodyPr anchor="t" rtlCol="false" tIns="0" lIns="0" bIns="0" rIns="0">
            <a:spAutoFit/>
          </a:bodyPr>
          <a:lstStyle/>
          <a:p>
            <a:pPr algn="l">
              <a:lnSpc>
                <a:spcPts val="4560"/>
              </a:lnSpc>
            </a:pPr>
            <a:r>
              <a:rPr lang="en-US" sz="3800" b="true">
                <a:solidFill>
                  <a:srgbClr val="A6A6A6"/>
                </a:solidFill>
                <a:latin typeface="Bebas Neue Bold"/>
                <a:ea typeface="Bebas Neue Bold"/>
                <a:cs typeface="Bebas Neue Bold"/>
                <a:sym typeface="Bebas Neue Bold"/>
              </a:rPr>
              <a:t>GOAL:</a:t>
            </a:r>
          </a:p>
        </p:txBody>
      </p:sp>
      <p:sp>
        <p:nvSpPr>
          <p:cNvPr name="TextBox 17" id="17"/>
          <p:cNvSpPr txBox="true"/>
          <p:nvPr/>
        </p:nvSpPr>
        <p:spPr>
          <a:xfrm rot="0">
            <a:off x="10813782" y="7707630"/>
            <a:ext cx="7132793" cy="784860"/>
          </a:xfrm>
          <a:prstGeom prst="rect">
            <a:avLst/>
          </a:prstGeom>
        </p:spPr>
        <p:txBody>
          <a:bodyPr anchor="t" rtlCol="false" tIns="0" lIns="0" bIns="0" rIns="0">
            <a:spAutoFit/>
          </a:bodyPr>
          <a:lstStyle/>
          <a:p>
            <a:pPr algn="just">
              <a:lnSpc>
                <a:spcPts val="3105"/>
              </a:lnSpc>
            </a:pPr>
            <a:r>
              <a:rPr lang="en-US" sz="2300">
                <a:solidFill>
                  <a:srgbClr val="FFFFFF"/>
                </a:solidFill>
                <a:latin typeface="Glacial Indifference"/>
                <a:ea typeface="Glacial Indifference"/>
                <a:cs typeface="Glacial Indifference"/>
                <a:sym typeface="Glacial Indifference"/>
              </a:rPr>
              <a:t>Advance the understanding of leadership strategies to enhance project success across diverse settings.</a:t>
            </a:r>
          </a:p>
        </p:txBody>
      </p:sp>
      <p:sp>
        <p:nvSpPr>
          <p:cNvPr name="TextBox 18" id="18"/>
          <p:cNvSpPr txBox="true"/>
          <p:nvPr/>
        </p:nvSpPr>
        <p:spPr>
          <a:xfrm rot="0">
            <a:off x="10782576" y="4713589"/>
            <a:ext cx="7108695" cy="590550"/>
          </a:xfrm>
          <a:prstGeom prst="rect">
            <a:avLst/>
          </a:prstGeom>
        </p:spPr>
        <p:txBody>
          <a:bodyPr anchor="t" rtlCol="false" tIns="0" lIns="0" bIns="0" rIns="0">
            <a:spAutoFit/>
          </a:bodyPr>
          <a:lstStyle/>
          <a:p>
            <a:pPr algn="l">
              <a:lnSpc>
                <a:spcPts val="4560"/>
              </a:lnSpc>
            </a:pPr>
            <a:r>
              <a:rPr lang="en-US" sz="3800" b="true">
                <a:solidFill>
                  <a:srgbClr val="A6A6A6"/>
                </a:solidFill>
                <a:latin typeface="Bebas Neue Bold"/>
                <a:ea typeface="Bebas Neue Bold"/>
                <a:cs typeface="Bebas Neue Bold"/>
                <a:sym typeface="Bebas Neue Bold"/>
              </a:rPr>
              <a:t>PROPOSED NEXT STEPS: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075" y="0"/>
            <a:ext cx="8749666" cy="10233831"/>
            <a:chOff x="0" y="0"/>
            <a:chExt cx="2927113" cy="3423626"/>
          </a:xfrm>
        </p:grpSpPr>
        <p:sp>
          <p:nvSpPr>
            <p:cNvPr name="Freeform 3" id="3"/>
            <p:cNvSpPr/>
            <p:nvPr/>
          </p:nvSpPr>
          <p:spPr>
            <a:xfrm flipH="false" flipV="false" rot="0">
              <a:off x="0" y="0"/>
              <a:ext cx="2927113" cy="3423626"/>
            </a:xfrm>
            <a:custGeom>
              <a:avLst/>
              <a:gdLst/>
              <a:ahLst/>
              <a:cxnLst/>
              <a:rect r="r" b="b" t="t" l="l"/>
              <a:pathLst>
                <a:path h="3423626" w="2927113">
                  <a:moveTo>
                    <a:pt x="0" y="0"/>
                  </a:moveTo>
                  <a:lnTo>
                    <a:pt x="2927113" y="0"/>
                  </a:lnTo>
                  <a:lnTo>
                    <a:pt x="2927113" y="3423626"/>
                  </a:lnTo>
                  <a:lnTo>
                    <a:pt x="0" y="3423626"/>
                  </a:lnTo>
                  <a:close/>
                </a:path>
              </a:pathLst>
            </a:custGeom>
            <a:solidFill>
              <a:srgbClr val="33261A"/>
            </a:solidFill>
          </p:spPr>
        </p:sp>
        <p:sp>
          <p:nvSpPr>
            <p:cNvPr name="TextBox 4" id="4"/>
            <p:cNvSpPr txBox="true"/>
            <p:nvPr/>
          </p:nvSpPr>
          <p:spPr>
            <a:xfrm>
              <a:off x="0" y="-38100"/>
              <a:ext cx="2927113" cy="346172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314256" y="0"/>
            <a:ext cx="8705909" cy="10287000"/>
            <a:chOff x="0" y="0"/>
            <a:chExt cx="2912475" cy="3441413"/>
          </a:xfrm>
        </p:grpSpPr>
        <p:sp>
          <p:nvSpPr>
            <p:cNvPr name="Freeform 6" id="6"/>
            <p:cNvSpPr/>
            <p:nvPr/>
          </p:nvSpPr>
          <p:spPr>
            <a:xfrm flipH="false" flipV="false" rot="0">
              <a:off x="0" y="0"/>
              <a:ext cx="2912475" cy="3441413"/>
            </a:xfrm>
            <a:custGeom>
              <a:avLst/>
              <a:gdLst/>
              <a:ahLst/>
              <a:cxnLst/>
              <a:rect r="r" b="b" t="t" l="l"/>
              <a:pathLst>
                <a:path h="3441413" w="2912475">
                  <a:moveTo>
                    <a:pt x="0" y="0"/>
                  </a:moveTo>
                  <a:lnTo>
                    <a:pt x="2912475" y="0"/>
                  </a:lnTo>
                  <a:lnTo>
                    <a:pt x="2912475" y="3441413"/>
                  </a:lnTo>
                  <a:lnTo>
                    <a:pt x="0" y="3441413"/>
                  </a:lnTo>
                  <a:close/>
                </a:path>
              </a:pathLst>
            </a:custGeom>
            <a:solidFill>
              <a:srgbClr val="9C6942"/>
            </a:solidFill>
          </p:spPr>
        </p:sp>
        <p:sp>
          <p:nvSpPr>
            <p:cNvPr name="TextBox 7" id="7"/>
            <p:cNvSpPr txBox="true"/>
            <p:nvPr/>
          </p:nvSpPr>
          <p:spPr>
            <a:xfrm>
              <a:off x="0" y="-38100"/>
              <a:ext cx="2912475" cy="347951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231499" y="1837121"/>
            <a:ext cx="8027801" cy="6566374"/>
            <a:chOff x="0" y="0"/>
            <a:chExt cx="1243716" cy="1017303"/>
          </a:xfrm>
        </p:grpSpPr>
        <p:sp>
          <p:nvSpPr>
            <p:cNvPr name="Freeform 9" id="9"/>
            <p:cNvSpPr/>
            <p:nvPr/>
          </p:nvSpPr>
          <p:spPr>
            <a:xfrm flipH="false" flipV="false" rot="0">
              <a:off x="0" y="0"/>
              <a:ext cx="1243717" cy="1017303"/>
            </a:xfrm>
            <a:custGeom>
              <a:avLst/>
              <a:gdLst/>
              <a:ahLst/>
              <a:cxnLst/>
              <a:rect r="r" b="b" t="t" l="l"/>
              <a:pathLst>
                <a:path h="1017303" w="1243717">
                  <a:moveTo>
                    <a:pt x="0" y="0"/>
                  </a:moveTo>
                  <a:lnTo>
                    <a:pt x="1243717" y="0"/>
                  </a:lnTo>
                  <a:lnTo>
                    <a:pt x="1243717" y="1017303"/>
                  </a:lnTo>
                  <a:lnTo>
                    <a:pt x="0" y="1017303"/>
                  </a:lnTo>
                  <a:close/>
                </a:path>
              </a:pathLst>
            </a:custGeom>
            <a:blipFill>
              <a:blip r:embed="rId3"/>
              <a:stretch>
                <a:fillRect l="-14247" t="0" r="-8522" b="0"/>
              </a:stretch>
            </a:blipFill>
          </p:spPr>
        </p:sp>
      </p:grpSp>
      <p:sp>
        <p:nvSpPr>
          <p:cNvPr name="Freeform 10" id="10"/>
          <p:cNvSpPr/>
          <p:nvPr/>
        </p:nvSpPr>
        <p:spPr>
          <a:xfrm flipH="false" flipV="false" rot="0">
            <a:off x="11234164" y="9000780"/>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234164" y="-2830129"/>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260075" y="1028700"/>
            <a:ext cx="8433567" cy="2273380"/>
            <a:chOff x="0" y="0"/>
            <a:chExt cx="11244755" cy="3031173"/>
          </a:xfrm>
        </p:grpSpPr>
        <p:grpSp>
          <p:nvGrpSpPr>
            <p:cNvPr name="Group 13" id="13"/>
            <p:cNvGrpSpPr/>
            <p:nvPr/>
          </p:nvGrpSpPr>
          <p:grpSpPr>
            <a:xfrm rot="0">
              <a:off x="0" y="0"/>
              <a:ext cx="11244755" cy="3005773"/>
              <a:chOff x="0" y="0"/>
              <a:chExt cx="2221186" cy="593733"/>
            </a:xfrm>
          </p:grpSpPr>
          <p:sp>
            <p:nvSpPr>
              <p:cNvPr name="Freeform 14" id="14"/>
              <p:cNvSpPr/>
              <p:nvPr/>
            </p:nvSpPr>
            <p:spPr>
              <a:xfrm flipH="false" flipV="false" rot="0">
                <a:off x="0" y="0"/>
                <a:ext cx="2221186" cy="593733"/>
              </a:xfrm>
              <a:custGeom>
                <a:avLst/>
                <a:gdLst/>
                <a:ahLst/>
                <a:cxnLst/>
                <a:rect r="r" b="b" t="t" l="l"/>
                <a:pathLst>
                  <a:path h="593733" w="2221186">
                    <a:moveTo>
                      <a:pt x="0" y="0"/>
                    </a:moveTo>
                    <a:lnTo>
                      <a:pt x="2221186" y="0"/>
                    </a:lnTo>
                    <a:lnTo>
                      <a:pt x="2221186" y="593733"/>
                    </a:lnTo>
                    <a:lnTo>
                      <a:pt x="0" y="593733"/>
                    </a:lnTo>
                    <a:close/>
                  </a:path>
                </a:pathLst>
              </a:custGeom>
              <a:solidFill>
                <a:srgbClr val="9C6942"/>
              </a:solidFill>
            </p:spPr>
          </p:sp>
          <p:sp>
            <p:nvSpPr>
              <p:cNvPr name="TextBox 15" id="15"/>
              <p:cNvSpPr txBox="true"/>
              <p:nvPr/>
            </p:nvSpPr>
            <p:spPr>
              <a:xfrm>
                <a:off x="0" y="-9525"/>
                <a:ext cx="2221186" cy="603258"/>
              </a:xfrm>
              <a:prstGeom prst="rect">
                <a:avLst/>
              </a:prstGeom>
            </p:spPr>
            <p:txBody>
              <a:bodyPr anchor="ctr" rtlCol="false" tIns="50800" lIns="50800" bIns="50800" rIns="50800"/>
              <a:lstStyle/>
              <a:p>
                <a:pPr algn="ctr">
                  <a:lnSpc>
                    <a:spcPts val="2640"/>
                  </a:lnSpc>
                </a:pPr>
              </a:p>
            </p:txBody>
          </p:sp>
        </p:grpSp>
        <p:sp>
          <p:nvSpPr>
            <p:cNvPr name="TextBox 16" id="16"/>
            <p:cNvSpPr txBox="true"/>
            <p:nvPr/>
          </p:nvSpPr>
          <p:spPr>
            <a:xfrm rot="0">
              <a:off x="1552687" y="278449"/>
              <a:ext cx="9147037" cy="2752724"/>
            </a:xfrm>
            <a:prstGeom prst="rect">
              <a:avLst/>
            </a:prstGeom>
          </p:spPr>
          <p:txBody>
            <a:bodyPr anchor="t" rtlCol="false" tIns="0" lIns="0" bIns="0" rIns="0">
              <a:spAutoFit/>
            </a:bodyPr>
            <a:lstStyle/>
            <a:p>
              <a:pPr algn="l">
                <a:lnSpc>
                  <a:spcPts val="7874"/>
                </a:lnSpc>
              </a:pPr>
              <a:r>
                <a:rPr lang="en-US" sz="7499" b="true">
                  <a:solidFill>
                    <a:srgbClr val="FFFFFF"/>
                  </a:solidFill>
                  <a:latin typeface="Bebas Neue Bold"/>
                  <a:ea typeface="Bebas Neue Bold"/>
                  <a:cs typeface="Bebas Neue Bold"/>
                  <a:sym typeface="Bebas Neue Bold"/>
                </a:rPr>
                <a:t>CONCLUSION AND TAKEAWAYS</a:t>
              </a:r>
            </a:p>
          </p:txBody>
        </p:sp>
      </p:grpSp>
      <p:grpSp>
        <p:nvGrpSpPr>
          <p:cNvPr name="Group 17" id="17"/>
          <p:cNvGrpSpPr/>
          <p:nvPr/>
        </p:nvGrpSpPr>
        <p:grpSpPr>
          <a:xfrm rot="0">
            <a:off x="727841" y="4237274"/>
            <a:ext cx="7445650" cy="1534522"/>
            <a:chOff x="0" y="0"/>
            <a:chExt cx="9927533" cy="2046029"/>
          </a:xfrm>
        </p:grpSpPr>
        <p:sp>
          <p:nvSpPr>
            <p:cNvPr name="TextBox 18" id="18"/>
            <p:cNvSpPr txBox="true"/>
            <p:nvPr/>
          </p:nvSpPr>
          <p:spPr>
            <a:xfrm rot="0">
              <a:off x="0" y="664904"/>
              <a:ext cx="9927533" cy="1381125"/>
            </a:xfrm>
            <a:prstGeom prst="rect">
              <a:avLst/>
            </a:prstGeom>
          </p:spPr>
          <p:txBody>
            <a:bodyPr anchor="t" rtlCol="false" tIns="0" lIns="0" bIns="0" rIns="0">
              <a:spAutoFit/>
            </a:bodyPr>
            <a:lstStyle/>
            <a:p>
              <a:pPr algn="just" marL="496571" indent="-248285" lvl="1">
                <a:lnSpc>
                  <a:spcPts val="2760"/>
                </a:lnSpc>
                <a:buFont typeface="Arial"/>
                <a:buChar char="•"/>
              </a:pPr>
              <a:r>
                <a:rPr lang="en-US" sz="2300">
                  <a:solidFill>
                    <a:srgbClr val="FFFFFF"/>
                  </a:solidFill>
                  <a:latin typeface="Glacial Indifference"/>
                  <a:ea typeface="Glacial Indifference"/>
                  <a:cs typeface="Glacial Indifference"/>
                  <a:sym typeface="Glacial Indifference"/>
                </a:rPr>
                <a:t>Adaptation is Essential.</a:t>
              </a:r>
            </a:p>
            <a:p>
              <a:pPr algn="just" marL="496571" indent="-248285" lvl="1">
                <a:lnSpc>
                  <a:spcPts val="2760"/>
                </a:lnSpc>
                <a:buFont typeface="Arial"/>
                <a:buChar char="•"/>
              </a:pPr>
              <a:r>
                <a:rPr lang="en-US" sz="2300">
                  <a:solidFill>
                    <a:srgbClr val="FFFFFF"/>
                  </a:solidFill>
                  <a:latin typeface="Glacial Indifference"/>
                  <a:ea typeface="Glacial Indifference"/>
                  <a:cs typeface="Glacial Indifference"/>
                  <a:sym typeface="Glacial Indifference"/>
                </a:rPr>
                <a:t>Leadership Styles are Complementary</a:t>
              </a:r>
            </a:p>
            <a:p>
              <a:pPr algn="just" marL="496571" indent="-248285" lvl="1">
                <a:lnSpc>
                  <a:spcPts val="2760"/>
                </a:lnSpc>
                <a:buFont typeface="Arial"/>
                <a:buChar char="•"/>
              </a:pPr>
              <a:r>
                <a:rPr lang="en-US" sz="2300">
                  <a:solidFill>
                    <a:srgbClr val="FFFFFF"/>
                  </a:solidFill>
                  <a:latin typeface="Glacial Indifference"/>
                  <a:ea typeface="Glacial Indifference"/>
                  <a:cs typeface="Glacial Indifference"/>
                  <a:sym typeface="Glacial Indifference"/>
                </a:rPr>
                <a:t>Research Model Provides a Framework</a:t>
              </a:r>
            </a:p>
          </p:txBody>
        </p:sp>
        <p:sp>
          <p:nvSpPr>
            <p:cNvPr name="TextBox 19" id="19"/>
            <p:cNvSpPr txBox="true"/>
            <p:nvPr/>
          </p:nvSpPr>
          <p:spPr>
            <a:xfrm rot="0">
              <a:off x="0" y="0"/>
              <a:ext cx="9927533" cy="596900"/>
            </a:xfrm>
            <a:prstGeom prst="rect">
              <a:avLst/>
            </a:prstGeom>
          </p:spPr>
          <p:txBody>
            <a:bodyPr anchor="t" rtlCol="false" tIns="0" lIns="0" bIns="0" rIns="0">
              <a:spAutoFit/>
            </a:bodyPr>
            <a:lstStyle/>
            <a:p>
              <a:pPr algn="l">
                <a:lnSpc>
                  <a:spcPts val="3599"/>
                </a:lnSpc>
              </a:pPr>
              <a:r>
                <a:rPr lang="en-US" sz="2999" b="true">
                  <a:solidFill>
                    <a:srgbClr val="A6A6A6"/>
                  </a:solidFill>
                  <a:latin typeface="Bebas Neue Bold"/>
                  <a:ea typeface="Bebas Neue Bold"/>
                  <a:cs typeface="Bebas Neue Bold"/>
                  <a:sym typeface="Bebas Neue Bold"/>
                </a:rPr>
                <a:t>SUMMARY OF KEY POINTS</a:t>
              </a:r>
            </a:p>
          </p:txBody>
        </p:sp>
      </p:grpSp>
      <p:grpSp>
        <p:nvGrpSpPr>
          <p:cNvPr name="Group 20" id="20"/>
          <p:cNvGrpSpPr/>
          <p:nvPr/>
        </p:nvGrpSpPr>
        <p:grpSpPr>
          <a:xfrm rot="0">
            <a:off x="727841" y="6229470"/>
            <a:ext cx="7445650" cy="1533525"/>
            <a:chOff x="0" y="0"/>
            <a:chExt cx="9927533" cy="2044700"/>
          </a:xfrm>
        </p:grpSpPr>
        <p:sp>
          <p:nvSpPr>
            <p:cNvPr name="TextBox 21" id="21"/>
            <p:cNvSpPr txBox="true"/>
            <p:nvPr/>
          </p:nvSpPr>
          <p:spPr>
            <a:xfrm rot="0">
              <a:off x="0" y="0"/>
              <a:ext cx="9927533" cy="596900"/>
            </a:xfrm>
            <a:prstGeom prst="rect">
              <a:avLst/>
            </a:prstGeom>
          </p:spPr>
          <p:txBody>
            <a:bodyPr anchor="t" rtlCol="false" tIns="0" lIns="0" bIns="0" rIns="0">
              <a:spAutoFit/>
            </a:bodyPr>
            <a:lstStyle/>
            <a:p>
              <a:pPr algn="l">
                <a:lnSpc>
                  <a:spcPts val="3599"/>
                </a:lnSpc>
              </a:pPr>
              <a:r>
                <a:rPr lang="en-US" sz="2999" b="true">
                  <a:solidFill>
                    <a:srgbClr val="A6A6A6"/>
                  </a:solidFill>
                  <a:latin typeface="Bebas Neue Bold"/>
                  <a:ea typeface="Bebas Neue Bold"/>
                  <a:cs typeface="Bebas Neue Bold"/>
                  <a:sym typeface="Bebas Neue Bold"/>
                </a:rPr>
                <a:t>FINAL THOUGHT</a:t>
              </a:r>
            </a:p>
          </p:txBody>
        </p:sp>
        <p:sp>
          <p:nvSpPr>
            <p:cNvPr name="TextBox 22" id="22"/>
            <p:cNvSpPr txBox="true"/>
            <p:nvPr/>
          </p:nvSpPr>
          <p:spPr>
            <a:xfrm rot="0">
              <a:off x="0" y="663575"/>
              <a:ext cx="9927533" cy="1381125"/>
            </a:xfrm>
            <a:prstGeom prst="rect">
              <a:avLst/>
            </a:prstGeom>
          </p:spPr>
          <p:txBody>
            <a:bodyPr anchor="t" rtlCol="false" tIns="0" lIns="0" bIns="0" rIns="0">
              <a:spAutoFit/>
            </a:bodyPr>
            <a:lstStyle/>
            <a:p>
              <a:pPr algn="just">
                <a:lnSpc>
                  <a:spcPts val="2760"/>
                </a:lnSpc>
              </a:pPr>
              <a:r>
                <a:rPr lang="en-US" sz="2300">
                  <a:solidFill>
                    <a:srgbClr val="FFFFFF"/>
                  </a:solidFill>
                  <a:latin typeface="Glacial Indifference"/>
                  <a:ea typeface="Glacial Indifference"/>
                  <a:cs typeface="Glacial Indifference"/>
                  <a:sym typeface="Glacial Indifference"/>
                </a:rPr>
                <a:t>Refining leadership approaches in temporary organizations can lead to better project outcomes, fostering innovation and success in dynamic environments.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DAGdMvX2pBM</dc:identifier>
  <dcterms:modified xsi:type="dcterms:W3CDTF">2011-08-01T06:04:30Z</dcterms:modified>
  <cp:revision>1</cp:revision>
  <dc:title>Black Brown Grey Modern Minimalist Business Strategy For Growth Presentation</dc:title>
</cp:coreProperties>
</file>